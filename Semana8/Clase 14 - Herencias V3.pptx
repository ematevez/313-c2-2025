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57"/>
  </p:notesMasterIdLst>
  <p:sldIdLst>
    <p:sldId id="257"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 id="293" r:id="rId36"/>
    <p:sldId id="294" r:id="rId37"/>
    <p:sldId id="295" r:id="rId38"/>
    <p:sldId id="296" r:id="rId39"/>
    <p:sldId id="297" r:id="rId40"/>
    <p:sldId id="298" r:id="rId41"/>
    <p:sldId id="299" r:id="rId42"/>
    <p:sldId id="300" r:id="rId43"/>
    <p:sldId id="301" r:id="rId44"/>
    <p:sldId id="302" r:id="rId45"/>
    <p:sldId id="303" r:id="rId46"/>
    <p:sldId id="304" r:id="rId47"/>
    <p:sldId id="305" r:id="rId48"/>
    <p:sldId id="306" r:id="rId49"/>
    <p:sldId id="307" r:id="rId50"/>
    <p:sldId id="308" r:id="rId51"/>
    <p:sldId id="309" r:id="rId52"/>
    <p:sldId id="310" r:id="rId53"/>
    <p:sldId id="311" r:id="rId54"/>
    <p:sldId id="312" r:id="rId55"/>
    <p:sldId id="313" r:id="rId56"/>
  </p:sldIdLst>
  <p:sldSz cx="9144000" cy="5143500" type="screen16x9"/>
  <p:notesSz cx="6858000" cy="9144000"/>
  <p:embeddedFontLst>
    <p:embeddedFont>
      <p:font typeface="DM Sans" pitchFamily="2" charset="0"/>
      <p:regular r:id="rId58"/>
      <p:bold r:id="rId59"/>
      <p:italic r:id="rId60"/>
      <p:boldItalic r:id="rId61"/>
    </p:embeddedFont>
    <p:embeddedFont>
      <p:font typeface="Helvetica Neue" panose="020B0604020202020204" charset="0"/>
      <p:regular r:id="rId62"/>
      <p:bold r:id="rId63"/>
      <p:italic r:id="rId64"/>
      <p:boldItalic r:id="rId65"/>
    </p:embeddedFont>
    <p:embeddedFont>
      <p:font typeface="Helvetica Neue Light" panose="020B0604020202020204" charset="0"/>
      <p:regular r:id="rId66"/>
      <p:bold r:id="rId67"/>
      <p:italic r:id="rId68"/>
      <p:boldItalic r:id="rId6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95">
          <p15:clr>
            <a:srgbClr val="A4A3A4"/>
          </p15:clr>
        </p15:guide>
        <p15:guide id="2" pos="5460">
          <p15:clr>
            <a:srgbClr val="A4A3A4"/>
          </p15:clr>
        </p15:guide>
        <p15:guide id="3" pos="300">
          <p15:clr>
            <a:srgbClr val="9AA0A6"/>
          </p15:clr>
        </p15:guide>
        <p15:guide id="4" orient="horz" pos="2892">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726" y="90"/>
      </p:cViewPr>
      <p:guideLst>
        <p:guide orient="horz" pos="295"/>
        <p:guide pos="5460"/>
        <p:guide pos="300"/>
        <p:guide orient="horz" pos="289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6.fntdata"/><Relationship Id="rId68"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1.fntdata"/><Relationship Id="rId66" Type="http://schemas.openxmlformats.org/officeDocument/2006/relationships/font" Target="fonts/font9.fntdata"/><Relationship Id="rId5" Type="http://schemas.openxmlformats.org/officeDocument/2006/relationships/slide" Target="slides/slide4.xml"/><Relationship Id="rId61" Type="http://schemas.openxmlformats.org/officeDocument/2006/relationships/font" Target="fonts/font4.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7.fntdata"/><Relationship Id="rId69" Type="http://schemas.openxmlformats.org/officeDocument/2006/relationships/font" Target="fonts/font12.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2.fntdata"/><Relationship Id="rId67"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5.fntdata"/><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3.fntdata"/><Relationship Id="rId65" Type="http://schemas.openxmlformats.org/officeDocument/2006/relationships/font" Target="fonts/font8.fntdata"/><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ellibrodepython.com/herencia-en-python"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 name="Google Shape;44;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4" name="Google Shape;74;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b="1">
              <a:solidFill>
                <a:schemeClr val="dk1"/>
              </a:solidFill>
              <a:latin typeface="DM Sans"/>
              <a:ea typeface="DM Sans"/>
              <a:cs typeface="DM Sans"/>
              <a:sym typeface="DM San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 name="Google Shape;87;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 name="Google Shape;92;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 name="Google Shape;100;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9" name="Google Shape;109;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7" name="Google Shape;117;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2" name="Google Shape;122;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0" name="Google Shape;130;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9" name="Google Shape;139;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8" name="Google Shape;148;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s" sz="1000">
                <a:solidFill>
                  <a:srgbClr val="859900"/>
                </a:solidFill>
                <a:latin typeface="DM Sans"/>
                <a:ea typeface="DM Sans"/>
                <a:cs typeface="DM Sans"/>
                <a:sym typeface="DM Sans"/>
              </a:rPr>
              <a:t>class</a:t>
            </a:r>
            <a:r>
              <a:rPr lang="es" sz="1000">
                <a:solidFill>
                  <a:srgbClr val="5C5962"/>
                </a:solidFill>
                <a:highlight>
                  <a:srgbClr val="F5F6FA"/>
                </a:highlight>
                <a:latin typeface="DM Sans"/>
                <a:ea typeface="DM Sans"/>
                <a:cs typeface="DM Sans"/>
                <a:sym typeface="DM Sans"/>
              </a:rPr>
              <a:t> </a:t>
            </a:r>
            <a:r>
              <a:rPr lang="es" sz="1000">
                <a:solidFill>
                  <a:srgbClr val="268BD2"/>
                </a:solidFill>
                <a:latin typeface="DM Sans"/>
                <a:ea typeface="DM Sans"/>
                <a:cs typeface="DM Sans"/>
                <a:sym typeface="DM Sans"/>
              </a:rPr>
              <a:t>Animal</a:t>
            </a:r>
            <a:r>
              <a:rPr lang="es" sz="1000">
                <a:solidFill>
                  <a:srgbClr val="93A1A1"/>
                </a:solidFill>
                <a:latin typeface="DM Sans"/>
                <a:ea typeface="DM Sans"/>
                <a:cs typeface="DM Sans"/>
                <a:sym typeface="DM Sans"/>
              </a:rPr>
              <a:t>:</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def</a:t>
            </a:r>
            <a:r>
              <a:rPr lang="es" sz="1000">
                <a:solidFill>
                  <a:srgbClr val="5C5962"/>
                </a:solidFill>
                <a:highlight>
                  <a:srgbClr val="F5F6FA"/>
                </a:highlight>
                <a:latin typeface="DM Sans"/>
                <a:ea typeface="DM Sans"/>
                <a:cs typeface="DM Sans"/>
                <a:sym typeface="DM Sans"/>
              </a:rPr>
              <a:t> </a:t>
            </a:r>
            <a:r>
              <a:rPr lang="es" sz="1000">
                <a:solidFill>
                  <a:srgbClr val="268BD2"/>
                </a:solidFill>
                <a:latin typeface="DM Sans"/>
                <a:ea typeface="DM Sans"/>
                <a:cs typeface="DM Sans"/>
                <a:sym typeface="DM Sans"/>
              </a:rPr>
              <a:t>__init__</a:t>
            </a:r>
            <a:r>
              <a:rPr lang="es" sz="1000">
                <a:solidFill>
                  <a:srgbClr val="93A1A1"/>
                </a:solidFill>
                <a:latin typeface="DM Sans"/>
                <a:ea typeface="DM Sans"/>
                <a:cs typeface="DM Sans"/>
                <a:sym typeface="DM Sans"/>
              </a:rPr>
              <a:t>(</a:t>
            </a:r>
            <a:r>
              <a:rPr lang="es" sz="1000">
                <a:solidFill>
                  <a:srgbClr val="268BD2"/>
                </a:solidFill>
                <a:latin typeface="DM Sans"/>
                <a:ea typeface="DM Sans"/>
                <a:cs typeface="DM Sans"/>
                <a:sym typeface="DM Sans"/>
              </a:rPr>
              <a:t>self</a:t>
            </a:r>
            <a:r>
              <a:rPr lang="es" sz="1000">
                <a:solidFill>
                  <a:srgbClr val="93A1A1"/>
                </a:solidFill>
                <a:latin typeface="DM Sans"/>
                <a:ea typeface="DM Sans"/>
                <a:cs typeface="DM Sans"/>
                <a:sym typeface="DM Sans"/>
              </a:rPr>
              <a:t>,</a:t>
            </a:r>
            <a:r>
              <a:rPr lang="es" sz="1000">
                <a:solidFill>
                  <a:srgbClr val="5C5962"/>
                </a:solidFill>
                <a:highlight>
                  <a:srgbClr val="F5F6FA"/>
                </a:highlight>
                <a:latin typeface="DM Sans"/>
                <a:ea typeface="DM Sans"/>
                <a:cs typeface="DM Sans"/>
                <a:sym typeface="DM Sans"/>
              </a:rPr>
              <a:t> </a:t>
            </a:r>
            <a:r>
              <a:rPr lang="es" sz="1000">
                <a:solidFill>
                  <a:srgbClr val="93A1A1"/>
                </a:solidFill>
                <a:latin typeface="DM Sans"/>
                <a:ea typeface="DM Sans"/>
                <a:cs typeface="DM Sans"/>
                <a:sym typeface="DM Sans"/>
              </a:rPr>
              <a:t>especie,</a:t>
            </a:r>
            <a:r>
              <a:rPr lang="es" sz="1000">
                <a:solidFill>
                  <a:srgbClr val="5C5962"/>
                </a:solidFill>
                <a:highlight>
                  <a:srgbClr val="F5F6FA"/>
                </a:highlight>
                <a:latin typeface="DM Sans"/>
                <a:ea typeface="DM Sans"/>
                <a:cs typeface="DM Sans"/>
                <a:sym typeface="DM Sans"/>
              </a:rPr>
              <a:t> </a:t>
            </a:r>
            <a:r>
              <a:rPr lang="es" sz="1000">
                <a:solidFill>
                  <a:srgbClr val="93A1A1"/>
                </a:solidFill>
                <a:latin typeface="DM Sans"/>
                <a:ea typeface="DM Sans"/>
                <a:cs typeface="DM Sans"/>
                <a:sym typeface="DM Sans"/>
              </a:rPr>
              <a:t>edad):</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268BD2"/>
                </a:solidFill>
                <a:latin typeface="DM Sans"/>
                <a:ea typeface="DM Sans"/>
                <a:cs typeface="DM Sans"/>
                <a:sym typeface="DM Sans"/>
              </a:rPr>
              <a:t>self</a:t>
            </a:r>
            <a:r>
              <a:rPr lang="es" sz="1000">
                <a:solidFill>
                  <a:srgbClr val="93A1A1"/>
                </a:solidFill>
                <a:latin typeface="DM Sans"/>
                <a:ea typeface="DM Sans"/>
                <a:cs typeface="DM Sans"/>
                <a:sym typeface="DM Sans"/>
              </a:rPr>
              <a:t>.especie</a:t>
            </a: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a:t>
            </a:r>
            <a:r>
              <a:rPr lang="es" sz="1000">
                <a:solidFill>
                  <a:srgbClr val="5C5962"/>
                </a:solidFill>
                <a:highlight>
                  <a:srgbClr val="F5F6FA"/>
                </a:highlight>
                <a:latin typeface="DM Sans"/>
                <a:ea typeface="DM Sans"/>
                <a:cs typeface="DM Sans"/>
                <a:sym typeface="DM Sans"/>
              </a:rPr>
              <a:t> </a:t>
            </a:r>
            <a:r>
              <a:rPr lang="es" sz="1000">
                <a:solidFill>
                  <a:srgbClr val="93A1A1"/>
                </a:solidFill>
                <a:latin typeface="DM Sans"/>
                <a:ea typeface="DM Sans"/>
                <a:cs typeface="DM Sans"/>
                <a:sym typeface="DM Sans"/>
              </a:rPr>
              <a:t>especie</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268BD2"/>
                </a:solidFill>
                <a:latin typeface="DM Sans"/>
                <a:ea typeface="DM Sans"/>
                <a:cs typeface="DM Sans"/>
                <a:sym typeface="DM Sans"/>
              </a:rPr>
              <a:t>self</a:t>
            </a:r>
            <a:r>
              <a:rPr lang="es" sz="1000">
                <a:solidFill>
                  <a:srgbClr val="93A1A1"/>
                </a:solidFill>
                <a:latin typeface="DM Sans"/>
                <a:ea typeface="DM Sans"/>
                <a:cs typeface="DM Sans"/>
                <a:sym typeface="DM Sans"/>
              </a:rPr>
              <a:t>.edad</a:t>
            </a: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a:t>
            </a:r>
            <a:r>
              <a:rPr lang="es" sz="1000">
                <a:solidFill>
                  <a:srgbClr val="5C5962"/>
                </a:solidFill>
                <a:highlight>
                  <a:srgbClr val="F5F6FA"/>
                </a:highlight>
                <a:latin typeface="DM Sans"/>
                <a:ea typeface="DM Sans"/>
                <a:cs typeface="DM Sans"/>
                <a:sym typeface="DM Sans"/>
              </a:rPr>
              <a:t> </a:t>
            </a:r>
            <a:r>
              <a:rPr lang="es" sz="1000">
                <a:solidFill>
                  <a:srgbClr val="93A1A1"/>
                </a:solidFill>
                <a:latin typeface="DM Sans"/>
                <a:ea typeface="DM Sans"/>
                <a:cs typeface="DM Sans"/>
                <a:sym typeface="DM Sans"/>
              </a:rPr>
              <a:t>edad</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586E75"/>
                </a:solidFill>
                <a:latin typeface="DM Sans"/>
                <a:ea typeface="DM Sans"/>
                <a:cs typeface="DM Sans"/>
                <a:sym typeface="DM Sans"/>
              </a:rPr>
              <a:t># Método genérico pero con implementación particular</a:t>
            </a:r>
            <a:endParaRPr sz="1000">
              <a:solidFill>
                <a:srgbClr val="586E75"/>
              </a:solidFill>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def</a:t>
            </a:r>
            <a:r>
              <a:rPr lang="es" sz="1000">
                <a:solidFill>
                  <a:srgbClr val="5C5962"/>
                </a:solidFill>
                <a:highlight>
                  <a:srgbClr val="F5F6FA"/>
                </a:highlight>
                <a:latin typeface="DM Sans"/>
                <a:ea typeface="DM Sans"/>
                <a:cs typeface="DM Sans"/>
                <a:sym typeface="DM Sans"/>
              </a:rPr>
              <a:t> </a:t>
            </a:r>
            <a:r>
              <a:rPr lang="es" sz="1000">
                <a:solidFill>
                  <a:srgbClr val="268BD2"/>
                </a:solidFill>
                <a:latin typeface="DM Sans"/>
                <a:ea typeface="DM Sans"/>
                <a:cs typeface="DM Sans"/>
                <a:sym typeface="DM Sans"/>
              </a:rPr>
              <a:t>hablar</a:t>
            </a:r>
            <a:r>
              <a:rPr lang="es" sz="1000">
                <a:solidFill>
                  <a:srgbClr val="93A1A1"/>
                </a:solidFill>
                <a:latin typeface="DM Sans"/>
                <a:ea typeface="DM Sans"/>
                <a:cs typeface="DM Sans"/>
                <a:sym typeface="DM Sans"/>
              </a:rPr>
              <a:t>(</a:t>
            </a:r>
            <a:r>
              <a:rPr lang="es" sz="1000">
                <a:solidFill>
                  <a:srgbClr val="268BD2"/>
                </a:solidFill>
                <a:latin typeface="DM Sans"/>
                <a:ea typeface="DM Sans"/>
                <a:cs typeface="DM Sans"/>
                <a:sym typeface="DM Sans"/>
              </a:rPr>
              <a:t>self</a:t>
            </a:r>
            <a:r>
              <a:rPr lang="es" sz="1000">
                <a:solidFill>
                  <a:srgbClr val="93A1A1"/>
                </a:solidFill>
                <a:latin typeface="DM Sans"/>
                <a:ea typeface="DM Sans"/>
                <a:cs typeface="DM Sans"/>
                <a:sym typeface="DM Sans"/>
              </a:rPr>
              <a:t>):</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586E75"/>
                </a:solidFill>
                <a:latin typeface="DM Sans"/>
                <a:ea typeface="DM Sans"/>
                <a:cs typeface="DM Sans"/>
                <a:sym typeface="DM Sans"/>
              </a:rPr>
              <a:t># Método vacío</a:t>
            </a:r>
            <a:endParaRPr sz="1000">
              <a:solidFill>
                <a:srgbClr val="586E75"/>
              </a:solidFill>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pass</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586E75"/>
                </a:solidFill>
                <a:latin typeface="DM Sans"/>
                <a:ea typeface="DM Sans"/>
                <a:cs typeface="DM Sans"/>
                <a:sym typeface="DM Sans"/>
              </a:rPr>
              <a:t># Método genérico pero con implementación particular</a:t>
            </a:r>
            <a:endParaRPr sz="1000">
              <a:solidFill>
                <a:srgbClr val="586E75"/>
              </a:solidFill>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def</a:t>
            </a:r>
            <a:r>
              <a:rPr lang="es" sz="1000">
                <a:solidFill>
                  <a:srgbClr val="5C5962"/>
                </a:solidFill>
                <a:highlight>
                  <a:srgbClr val="F5F6FA"/>
                </a:highlight>
                <a:latin typeface="DM Sans"/>
                <a:ea typeface="DM Sans"/>
                <a:cs typeface="DM Sans"/>
                <a:sym typeface="DM Sans"/>
              </a:rPr>
              <a:t> </a:t>
            </a:r>
            <a:r>
              <a:rPr lang="es" sz="1000">
                <a:solidFill>
                  <a:srgbClr val="268BD2"/>
                </a:solidFill>
                <a:latin typeface="DM Sans"/>
                <a:ea typeface="DM Sans"/>
                <a:cs typeface="DM Sans"/>
                <a:sym typeface="DM Sans"/>
              </a:rPr>
              <a:t>moverse</a:t>
            </a:r>
            <a:r>
              <a:rPr lang="es" sz="1000">
                <a:solidFill>
                  <a:srgbClr val="93A1A1"/>
                </a:solidFill>
                <a:latin typeface="DM Sans"/>
                <a:ea typeface="DM Sans"/>
                <a:cs typeface="DM Sans"/>
                <a:sym typeface="DM Sans"/>
              </a:rPr>
              <a:t>(</a:t>
            </a:r>
            <a:r>
              <a:rPr lang="es" sz="1000">
                <a:solidFill>
                  <a:srgbClr val="268BD2"/>
                </a:solidFill>
                <a:latin typeface="DM Sans"/>
                <a:ea typeface="DM Sans"/>
                <a:cs typeface="DM Sans"/>
                <a:sym typeface="DM Sans"/>
              </a:rPr>
              <a:t>self</a:t>
            </a:r>
            <a:r>
              <a:rPr lang="es" sz="1000">
                <a:solidFill>
                  <a:srgbClr val="93A1A1"/>
                </a:solidFill>
                <a:latin typeface="DM Sans"/>
                <a:ea typeface="DM Sans"/>
                <a:cs typeface="DM Sans"/>
                <a:sym typeface="DM Sans"/>
              </a:rPr>
              <a:t>):</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586E75"/>
                </a:solidFill>
                <a:latin typeface="DM Sans"/>
                <a:ea typeface="DM Sans"/>
                <a:cs typeface="DM Sans"/>
                <a:sym typeface="DM Sans"/>
              </a:rPr>
              <a:t># Método vacío</a:t>
            </a:r>
            <a:endParaRPr sz="1000">
              <a:solidFill>
                <a:srgbClr val="586E75"/>
              </a:solidFill>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pass</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586E75"/>
                </a:solidFill>
                <a:latin typeface="DM Sans"/>
                <a:ea typeface="DM Sans"/>
                <a:cs typeface="DM Sans"/>
                <a:sym typeface="DM Sans"/>
              </a:rPr>
              <a:t># Método genérico con la misma implementación</a:t>
            </a:r>
            <a:endParaRPr sz="1000">
              <a:solidFill>
                <a:srgbClr val="586E75"/>
              </a:solidFill>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def</a:t>
            </a:r>
            <a:r>
              <a:rPr lang="es" sz="1000">
                <a:solidFill>
                  <a:srgbClr val="5C5962"/>
                </a:solidFill>
                <a:highlight>
                  <a:srgbClr val="F5F6FA"/>
                </a:highlight>
                <a:latin typeface="DM Sans"/>
                <a:ea typeface="DM Sans"/>
                <a:cs typeface="DM Sans"/>
                <a:sym typeface="DM Sans"/>
              </a:rPr>
              <a:t> </a:t>
            </a:r>
            <a:r>
              <a:rPr lang="es" sz="1000">
                <a:solidFill>
                  <a:srgbClr val="268BD2"/>
                </a:solidFill>
                <a:latin typeface="DM Sans"/>
                <a:ea typeface="DM Sans"/>
                <a:cs typeface="DM Sans"/>
                <a:sym typeface="DM Sans"/>
              </a:rPr>
              <a:t>describeme</a:t>
            </a:r>
            <a:r>
              <a:rPr lang="es" sz="1000">
                <a:solidFill>
                  <a:srgbClr val="93A1A1"/>
                </a:solidFill>
                <a:latin typeface="DM Sans"/>
                <a:ea typeface="DM Sans"/>
                <a:cs typeface="DM Sans"/>
                <a:sym typeface="DM Sans"/>
              </a:rPr>
              <a:t>(</a:t>
            </a:r>
            <a:r>
              <a:rPr lang="es" sz="1000">
                <a:solidFill>
                  <a:srgbClr val="268BD2"/>
                </a:solidFill>
                <a:latin typeface="DM Sans"/>
                <a:ea typeface="DM Sans"/>
                <a:cs typeface="DM Sans"/>
                <a:sym typeface="DM Sans"/>
              </a:rPr>
              <a:t>self</a:t>
            </a:r>
            <a:r>
              <a:rPr lang="es" sz="1000">
                <a:solidFill>
                  <a:srgbClr val="93A1A1"/>
                </a:solidFill>
                <a:latin typeface="DM Sans"/>
                <a:ea typeface="DM Sans"/>
                <a:cs typeface="DM Sans"/>
                <a:sym typeface="DM Sans"/>
              </a:rPr>
              <a:t>):</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print</a:t>
            </a:r>
            <a:r>
              <a:rPr lang="es" sz="1000">
                <a:solidFill>
                  <a:srgbClr val="93A1A1"/>
                </a:solidFill>
                <a:latin typeface="DM Sans"/>
                <a:ea typeface="DM Sans"/>
                <a:cs typeface="DM Sans"/>
                <a:sym typeface="DM Sans"/>
              </a:rPr>
              <a:t>(</a:t>
            </a:r>
            <a:r>
              <a:rPr lang="es" sz="1000">
                <a:solidFill>
                  <a:srgbClr val="2AA198"/>
                </a:solidFill>
                <a:latin typeface="DM Sans"/>
                <a:ea typeface="DM Sans"/>
                <a:cs typeface="DM Sans"/>
                <a:sym typeface="DM Sans"/>
              </a:rPr>
              <a:t>"Soy un Animal del tipo"</a:t>
            </a:r>
            <a:r>
              <a:rPr lang="es" sz="1000">
                <a:solidFill>
                  <a:srgbClr val="93A1A1"/>
                </a:solidFill>
                <a:latin typeface="DM Sans"/>
                <a:ea typeface="DM Sans"/>
                <a:cs typeface="DM Sans"/>
                <a:sym typeface="DM Sans"/>
              </a:rPr>
              <a:t>,</a:t>
            </a:r>
            <a:r>
              <a:rPr lang="es" sz="1000">
                <a:solidFill>
                  <a:srgbClr val="5C5962"/>
                </a:solidFill>
                <a:highlight>
                  <a:srgbClr val="F5F6FA"/>
                </a:highlight>
                <a:latin typeface="DM Sans"/>
                <a:ea typeface="DM Sans"/>
                <a:cs typeface="DM Sans"/>
                <a:sym typeface="DM Sans"/>
              </a:rPr>
              <a:t> </a:t>
            </a:r>
            <a:r>
              <a:rPr lang="es" sz="1000">
                <a:solidFill>
                  <a:srgbClr val="B58900"/>
                </a:solidFill>
                <a:latin typeface="DM Sans"/>
                <a:ea typeface="DM Sans"/>
                <a:cs typeface="DM Sans"/>
                <a:sym typeface="DM Sans"/>
              </a:rPr>
              <a:t>type</a:t>
            </a:r>
            <a:r>
              <a:rPr lang="es" sz="1000">
                <a:solidFill>
                  <a:srgbClr val="93A1A1"/>
                </a:solidFill>
                <a:latin typeface="DM Sans"/>
                <a:ea typeface="DM Sans"/>
                <a:cs typeface="DM Sans"/>
                <a:sym typeface="DM Sans"/>
              </a:rPr>
              <a:t>(</a:t>
            </a:r>
            <a:r>
              <a:rPr lang="es" sz="1000">
                <a:solidFill>
                  <a:srgbClr val="268BD2"/>
                </a:solidFill>
                <a:latin typeface="DM Sans"/>
                <a:ea typeface="DM Sans"/>
                <a:cs typeface="DM Sans"/>
                <a:sym typeface="DM Sans"/>
              </a:rPr>
              <a:t>self</a:t>
            </a:r>
            <a:r>
              <a:rPr lang="es" sz="1000">
                <a:solidFill>
                  <a:srgbClr val="93A1A1"/>
                </a:solidFill>
                <a:latin typeface="DM Sans"/>
                <a:ea typeface="DM Sans"/>
                <a:cs typeface="DM Sans"/>
                <a:sym typeface="DM Sans"/>
              </a:rPr>
              <a:t>).__name__)</a:t>
            </a:r>
            <a:endParaRPr>
              <a:solidFill>
                <a:schemeClr val="dk1"/>
              </a:solidFill>
              <a:latin typeface="DM Sans"/>
              <a:ea typeface="DM Sans"/>
              <a:cs typeface="DM Sans"/>
              <a:sym typeface="DM San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0" name="Google Shape;160;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s" sz="1000">
                <a:solidFill>
                  <a:srgbClr val="859900"/>
                </a:solidFill>
                <a:latin typeface="DM Sans"/>
                <a:ea typeface="DM Sans"/>
                <a:cs typeface="DM Sans"/>
                <a:sym typeface="DM Sans"/>
              </a:rPr>
              <a:t>class</a:t>
            </a:r>
            <a:r>
              <a:rPr lang="es" sz="1000">
                <a:solidFill>
                  <a:srgbClr val="5C5962"/>
                </a:solidFill>
                <a:highlight>
                  <a:srgbClr val="F5F6FA"/>
                </a:highlight>
                <a:latin typeface="DM Sans"/>
                <a:ea typeface="DM Sans"/>
                <a:cs typeface="DM Sans"/>
                <a:sym typeface="DM Sans"/>
              </a:rPr>
              <a:t> </a:t>
            </a:r>
            <a:r>
              <a:rPr lang="es" sz="1000">
                <a:solidFill>
                  <a:srgbClr val="268BD2"/>
                </a:solidFill>
                <a:latin typeface="DM Sans"/>
                <a:ea typeface="DM Sans"/>
                <a:cs typeface="DM Sans"/>
                <a:sym typeface="DM Sans"/>
              </a:rPr>
              <a:t>Animal</a:t>
            </a:r>
            <a:r>
              <a:rPr lang="es" sz="1000">
                <a:solidFill>
                  <a:srgbClr val="93A1A1"/>
                </a:solidFill>
                <a:latin typeface="DM Sans"/>
                <a:ea typeface="DM Sans"/>
                <a:cs typeface="DM Sans"/>
                <a:sym typeface="DM Sans"/>
              </a:rPr>
              <a:t>:</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def</a:t>
            </a:r>
            <a:r>
              <a:rPr lang="es" sz="1000">
                <a:solidFill>
                  <a:srgbClr val="5C5962"/>
                </a:solidFill>
                <a:highlight>
                  <a:srgbClr val="F5F6FA"/>
                </a:highlight>
                <a:latin typeface="DM Sans"/>
                <a:ea typeface="DM Sans"/>
                <a:cs typeface="DM Sans"/>
                <a:sym typeface="DM Sans"/>
              </a:rPr>
              <a:t> </a:t>
            </a:r>
            <a:r>
              <a:rPr lang="es" sz="1000">
                <a:solidFill>
                  <a:srgbClr val="268BD2"/>
                </a:solidFill>
                <a:latin typeface="DM Sans"/>
                <a:ea typeface="DM Sans"/>
                <a:cs typeface="DM Sans"/>
                <a:sym typeface="DM Sans"/>
              </a:rPr>
              <a:t>__init__</a:t>
            </a:r>
            <a:r>
              <a:rPr lang="es" sz="1000">
                <a:solidFill>
                  <a:srgbClr val="93A1A1"/>
                </a:solidFill>
                <a:latin typeface="DM Sans"/>
                <a:ea typeface="DM Sans"/>
                <a:cs typeface="DM Sans"/>
                <a:sym typeface="DM Sans"/>
              </a:rPr>
              <a:t>(</a:t>
            </a:r>
            <a:r>
              <a:rPr lang="es" sz="1000">
                <a:solidFill>
                  <a:srgbClr val="268BD2"/>
                </a:solidFill>
                <a:latin typeface="DM Sans"/>
                <a:ea typeface="DM Sans"/>
                <a:cs typeface="DM Sans"/>
                <a:sym typeface="DM Sans"/>
              </a:rPr>
              <a:t>self</a:t>
            </a:r>
            <a:r>
              <a:rPr lang="es" sz="1000">
                <a:solidFill>
                  <a:srgbClr val="93A1A1"/>
                </a:solidFill>
                <a:latin typeface="DM Sans"/>
                <a:ea typeface="DM Sans"/>
                <a:cs typeface="DM Sans"/>
                <a:sym typeface="DM Sans"/>
              </a:rPr>
              <a:t>,</a:t>
            </a:r>
            <a:r>
              <a:rPr lang="es" sz="1000">
                <a:solidFill>
                  <a:srgbClr val="5C5962"/>
                </a:solidFill>
                <a:highlight>
                  <a:srgbClr val="F5F6FA"/>
                </a:highlight>
                <a:latin typeface="DM Sans"/>
                <a:ea typeface="DM Sans"/>
                <a:cs typeface="DM Sans"/>
                <a:sym typeface="DM Sans"/>
              </a:rPr>
              <a:t> </a:t>
            </a:r>
            <a:r>
              <a:rPr lang="es" sz="1000">
                <a:solidFill>
                  <a:srgbClr val="93A1A1"/>
                </a:solidFill>
                <a:latin typeface="DM Sans"/>
                <a:ea typeface="DM Sans"/>
                <a:cs typeface="DM Sans"/>
                <a:sym typeface="DM Sans"/>
              </a:rPr>
              <a:t>especie,</a:t>
            </a:r>
            <a:r>
              <a:rPr lang="es" sz="1000">
                <a:solidFill>
                  <a:srgbClr val="5C5962"/>
                </a:solidFill>
                <a:highlight>
                  <a:srgbClr val="F5F6FA"/>
                </a:highlight>
                <a:latin typeface="DM Sans"/>
                <a:ea typeface="DM Sans"/>
                <a:cs typeface="DM Sans"/>
                <a:sym typeface="DM Sans"/>
              </a:rPr>
              <a:t> </a:t>
            </a:r>
            <a:r>
              <a:rPr lang="es" sz="1000">
                <a:solidFill>
                  <a:srgbClr val="93A1A1"/>
                </a:solidFill>
                <a:latin typeface="DM Sans"/>
                <a:ea typeface="DM Sans"/>
                <a:cs typeface="DM Sans"/>
                <a:sym typeface="DM Sans"/>
              </a:rPr>
              <a:t>edad):</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268BD2"/>
                </a:solidFill>
                <a:latin typeface="DM Sans"/>
                <a:ea typeface="DM Sans"/>
                <a:cs typeface="DM Sans"/>
                <a:sym typeface="DM Sans"/>
              </a:rPr>
              <a:t>self</a:t>
            </a:r>
            <a:r>
              <a:rPr lang="es" sz="1000">
                <a:solidFill>
                  <a:srgbClr val="93A1A1"/>
                </a:solidFill>
                <a:latin typeface="DM Sans"/>
                <a:ea typeface="DM Sans"/>
                <a:cs typeface="DM Sans"/>
                <a:sym typeface="DM Sans"/>
              </a:rPr>
              <a:t>.especie</a:t>
            </a: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a:t>
            </a:r>
            <a:r>
              <a:rPr lang="es" sz="1000">
                <a:solidFill>
                  <a:srgbClr val="5C5962"/>
                </a:solidFill>
                <a:highlight>
                  <a:srgbClr val="F5F6FA"/>
                </a:highlight>
                <a:latin typeface="DM Sans"/>
                <a:ea typeface="DM Sans"/>
                <a:cs typeface="DM Sans"/>
                <a:sym typeface="DM Sans"/>
              </a:rPr>
              <a:t> </a:t>
            </a:r>
            <a:r>
              <a:rPr lang="es" sz="1000">
                <a:solidFill>
                  <a:srgbClr val="93A1A1"/>
                </a:solidFill>
                <a:latin typeface="DM Sans"/>
                <a:ea typeface="DM Sans"/>
                <a:cs typeface="DM Sans"/>
                <a:sym typeface="DM Sans"/>
              </a:rPr>
              <a:t>especie</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268BD2"/>
                </a:solidFill>
                <a:latin typeface="DM Sans"/>
                <a:ea typeface="DM Sans"/>
                <a:cs typeface="DM Sans"/>
                <a:sym typeface="DM Sans"/>
              </a:rPr>
              <a:t>self</a:t>
            </a:r>
            <a:r>
              <a:rPr lang="es" sz="1000">
                <a:solidFill>
                  <a:srgbClr val="93A1A1"/>
                </a:solidFill>
                <a:latin typeface="DM Sans"/>
                <a:ea typeface="DM Sans"/>
                <a:cs typeface="DM Sans"/>
                <a:sym typeface="DM Sans"/>
              </a:rPr>
              <a:t>.edad</a:t>
            </a: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a:t>
            </a:r>
            <a:r>
              <a:rPr lang="es" sz="1000">
                <a:solidFill>
                  <a:srgbClr val="5C5962"/>
                </a:solidFill>
                <a:highlight>
                  <a:srgbClr val="F5F6FA"/>
                </a:highlight>
                <a:latin typeface="DM Sans"/>
                <a:ea typeface="DM Sans"/>
                <a:cs typeface="DM Sans"/>
                <a:sym typeface="DM Sans"/>
              </a:rPr>
              <a:t> </a:t>
            </a:r>
            <a:r>
              <a:rPr lang="es" sz="1000">
                <a:solidFill>
                  <a:srgbClr val="93A1A1"/>
                </a:solidFill>
                <a:latin typeface="DM Sans"/>
                <a:ea typeface="DM Sans"/>
                <a:cs typeface="DM Sans"/>
                <a:sym typeface="DM Sans"/>
              </a:rPr>
              <a:t>edad</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586E75"/>
                </a:solidFill>
                <a:latin typeface="DM Sans"/>
                <a:ea typeface="DM Sans"/>
                <a:cs typeface="DM Sans"/>
                <a:sym typeface="DM Sans"/>
              </a:rPr>
              <a:t># Método genérico pero con implementación particular</a:t>
            </a:r>
            <a:endParaRPr sz="1000">
              <a:solidFill>
                <a:srgbClr val="586E75"/>
              </a:solidFill>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def</a:t>
            </a:r>
            <a:r>
              <a:rPr lang="es" sz="1000">
                <a:solidFill>
                  <a:srgbClr val="5C5962"/>
                </a:solidFill>
                <a:highlight>
                  <a:srgbClr val="F5F6FA"/>
                </a:highlight>
                <a:latin typeface="DM Sans"/>
                <a:ea typeface="DM Sans"/>
                <a:cs typeface="DM Sans"/>
                <a:sym typeface="DM Sans"/>
              </a:rPr>
              <a:t> </a:t>
            </a:r>
            <a:r>
              <a:rPr lang="es" sz="1000">
                <a:solidFill>
                  <a:srgbClr val="268BD2"/>
                </a:solidFill>
                <a:latin typeface="DM Sans"/>
                <a:ea typeface="DM Sans"/>
                <a:cs typeface="DM Sans"/>
                <a:sym typeface="DM Sans"/>
              </a:rPr>
              <a:t>hablar</a:t>
            </a:r>
            <a:r>
              <a:rPr lang="es" sz="1000">
                <a:solidFill>
                  <a:srgbClr val="93A1A1"/>
                </a:solidFill>
                <a:latin typeface="DM Sans"/>
                <a:ea typeface="DM Sans"/>
                <a:cs typeface="DM Sans"/>
                <a:sym typeface="DM Sans"/>
              </a:rPr>
              <a:t>(</a:t>
            </a:r>
            <a:r>
              <a:rPr lang="es" sz="1000">
                <a:solidFill>
                  <a:srgbClr val="268BD2"/>
                </a:solidFill>
                <a:latin typeface="DM Sans"/>
                <a:ea typeface="DM Sans"/>
                <a:cs typeface="DM Sans"/>
                <a:sym typeface="DM Sans"/>
              </a:rPr>
              <a:t>self</a:t>
            </a:r>
            <a:r>
              <a:rPr lang="es" sz="1000">
                <a:solidFill>
                  <a:srgbClr val="93A1A1"/>
                </a:solidFill>
                <a:latin typeface="DM Sans"/>
                <a:ea typeface="DM Sans"/>
                <a:cs typeface="DM Sans"/>
                <a:sym typeface="DM Sans"/>
              </a:rPr>
              <a:t>):</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586E75"/>
                </a:solidFill>
                <a:latin typeface="DM Sans"/>
                <a:ea typeface="DM Sans"/>
                <a:cs typeface="DM Sans"/>
                <a:sym typeface="DM Sans"/>
              </a:rPr>
              <a:t># Método vacío</a:t>
            </a:r>
            <a:endParaRPr sz="1000">
              <a:solidFill>
                <a:srgbClr val="586E75"/>
              </a:solidFill>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pass</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586E75"/>
                </a:solidFill>
                <a:latin typeface="DM Sans"/>
                <a:ea typeface="DM Sans"/>
                <a:cs typeface="DM Sans"/>
                <a:sym typeface="DM Sans"/>
              </a:rPr>
              <a:t># Método genérico pero con implementación particular</a:t>
            </a:r>
            <a:endParaRPr sz="1000">
              <a:solidFill>
                <a:srgbClr val="586E75"/>
              </a:solidFill>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def</a:t>
            </a:r>
            <a:r>
              <a:rPr lang="es" sz="1000">
                <a:solidFill>
                  <a:srgbClr val="5C5962"/>
                </a:solidFill>
                <a:highlight>
                  <a:srgbClr val="F5F6FA"/>
                </a:highlight>
                <a:latin typeface="DM Sans"/>
                <a:ea typeface="DM Sans"/>
                <a:cs typeface="DM Sans"/>
                <a:sym typeface="DM Sans"/>
              </a:rPr>
              <a:t> </a:t>
            </a:r>
            <a:r>
              <a:rPr lang="es" sz="1000">
                <a:solidFill>
                  <a:srgbClr val="268BD2"/>
                </a:solidFill>
                <a:latin typeface="DM Sans"/>
                <a:ea typeface="DM Sans"/>
                <a:cs typeface="DM Sans"/>
                <a:sym typeface="DM Sans"/>
              </a:rPr>
              <a:t>moverse</a:t>
            </a:r>
            <a:r>
              <a:rPr lang="es" sz="1000">
                <a:solidFill>
                  <a:srgbClr val="93A1A1"/>
                </a:solidFill>
                <a:latin typeface="DM Sans"/>
                <a:ea typeface="DM Sans"/>
                <a:cs typeface="DM Sans"/>
                <a:sym typeface="DM Sans"/>
              </a:rPr>
              <a:t>(</a:t>
            </a:r>
            <a:r>
              <a:rPr lang="es" sz="1000">
                <a:solidFill>
                  <a:srgbClr val="268BD2"/>
                </a:solidFill>
                <a:latin typeface="DM Sans"/>
                <a:ea typeface="DM Sans"/>
                <a:cs typeface="DM Sans"/>
                <a:sym typeface="DM Sans"/>
              </a:rPr>
              <a:t>self</a:t>
            </a:r>
            <a:r>
              <a:rPr lang="es" sz="1000">
                <a:solidFill>
                  <a:srgbClr val="93A1A1"/>
                </a:solidFill>
                <a:latin typeface="DM Sans"/>
                <a:ea typeface="DM Sans"/>
                <a:cs typeface="DM Sans"/>
                <a:sym typeface="DM Sans"/>
              </a:rPr>
              <a:t>):</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586E75"/>
                </a:solidFill>
                <a:latin typeface="DM Sans"/>
                <a:ea typeface="DM Sans"/>
                <a:cs typeface="DM Sans"/>
                <a:sym typeface="DM Sans"/>
              </a:rPr>
              <a:t># Método vacío</a:t>
            </a:r>
            <a:endParaRPr sz="1000">
              <a:solidFill>
                <a:srgbClr val="586E75"/>
              </a:solidFill>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pass</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586E75"/>
                </a:solidFill>
                <a:latin typeface="DM Sans"/>
                <a:ea typeface="DM Sans"/>
                <a:cs typeface="DM Sans"/>
                <a:sym typeface="DM Sans"/>
              </a:rPr>
              <a:t># Método genérico con la misma implementación</a:t>
            </a:r>
            <a:endParaRPr sz="1000">
              <a:solidFill>
                <a:srgbClr val="586E75"/>
              </a:solidFill>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def</a:t>
            </a:r>
            <a:r>
              <a:rPr lang="es" sz="1000">
                <a:solidFill>
                  <a:srgbClr val="5C5962"/>
                </a:solidFill>
                <a:highlight>
                  <a:srgbClr val="F5F6FA"/>
                </a:highlight>
                <a:latin typeface="DM Sans"/>
                <a:ea typeface="DM Sans"/>
                <a:cs typeface="DM Sans"/>
                <a:sym typeface="DM Sans"/>
              </a:rPr>
              <a:t> </a:t>
            </a:r>
            <a:r>
              <a:rPr lang="es" sz="1000">
                <a:solidFill>
                  <a:srgbClr val="268BD2"/>
                </a:solidFill>
                <a:latin typeface="DM Sans"/>
                <a:ea typeface="DM Sans"/>
                <a:cs typeface="DM Sans"/>
                <a:sym typeface="DM Sans"/>
              </a:rPr>
              <a:t>describeme</a:t>
            </a:r>
            <a:r>
              <a:rPr lang="es" sz="1000">
                <a:solidFill>
                  <a:srgbClr val="93A1A1"/>
                </a:solidFill>
                <a:latin typeface="DM Sans"/>
                <a:ea typeface="DM Sans"/>
                <a:cs typeface="DM Sans"/>
                <a:sym typeface="DM Sans"/>
              </a:rPr>
              <a:t>(</a:t>
            </a:r>
            <a:r>
              <a:rPr lang="es" sz="1000">
                <a:solidFill>
                  <a:srgbClr val="268BD2"/>
                </a:solidFill>
                <a:latin typeface="DM Sans"/>
                <a:ea typeface="DM Sans"/>
                <a:cs typeface="DM Sans"/>
                <a:sym typeface="DM Sans"/>
              </a:rPr>
              <a:t>self</a:t>
            </a:r>
            <a:r>
              <a:rPr lang="es" sz="1000">
                <a:solidFill>
                  <a:srgbClr val="93A1A1"/>
                </a:solidFill>
                <a:latin typeface="DM Sans"/>
                <a:ea typeface="DM Sans"/>
                <a:cs typeface="DM Sans"/>
                <a:sym typeface="DM Sans"/>
              </a:rPr>
              <a:t>):</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print</a:t>
            </a:r>
            <a:r>
              <a:rPr lang="es" sz="1000">
                <a:solidFill>
                  <a:srgbClr val="93A1A1"/>
                </a:solidFill>
                <a:latin typeface="DM Sans"/>
                <a:ea typeface="DM Sans"/>
                <a:cs typeface="DM Sans"/>
                <a:sym typeface="DM Sans"/>
              </a:rPr>
              <a:t>(</a:t>
            </a:r>
            <a:r>
              <a:rPr lang="es" sz="1000">
                <a:solidFill>
                  <a:srgbClr val="2AA198"/>
                </a:solidFill>
                <a:latin typeface="DM Sans"/>
                <a:ea typeface="DM Sans"/>
                <a:cs typeface="DM Sans"/>
                <a:sym typeface="DM Sans"/>
              </a:rPr>
              <a:t>"Soy un Animal del tipo"</a:t>
            </a:r>
            <a:r>
              <a:rPr lang="es" sz="1000">
                <a:solidFill>
                  <a:srgbClr val="93A1A1"/>
                </a:solidFill>
                <a:latin typeface="DM Sans"/>
                <a:ea typeface="DM Sans"/>
                <a:cs typeface="DM Sans"/>
                <a:sym typeface="DM Sans"/>
              </a:rPr>
              <a:t>,</a:t>
            </a:r>
            <a:r>
              <a:rPr lang="es" sz="1000">
                <a:solidFill>
                  <a:srgbClr val="5C5962"/>
                </a:solidFill>
                <a:highlight>
                  <a:srgbClr val="F5F6FA"/>
                </a:highlight>
                <a:latin typeface="DM Sans"/>
                <a:ea typeface="DM Sans"/>
                <a:cs typeface="DM Sans"/>
                <a:sym typeface="DM Sans"/>
              </a:rPr>
              <a:t> </a:t>
            </a:r>
            <a:r>
              <a:rPr lang="es" sz="1000">
                <a:solidFill>
                  <a:srgbClr val="B58900"/>
                </a:solidFill>
                <a:latin typeface="DM Sans"/>
                <a:ea typeface="DM Sans"/>
                <a:cs typeface="DM Sans"/>
                <a:sym typeface="DM Sans"/>
              </a:rPr>
              <a:t>type</a:t>
            </a:r>
            <a:r>
              <a:rPr lang="es" sz="1000">
                <a:solidFill>
                  <a:srgbClr val="93A1A1"/>
                </a:solidFill>
                <a:latin typeface="DM Sans"/>
                <a:ea typeface="DM Sans"/>
                <a:cs typeface="DM Sans"/>
                <a:sym typeface="DM Sans"/>
              </a:rPr>
              <a:t>(</a:t>
            </a:r>
            <a:r>
              <a:rPr lang="es" sz="1000">
                <a:solidFill>
                  <a:srgbClr val="268BD2"/>
                </a:solidFill>
                <a:latin typeface="DM Sans"/>
                <a:ea typeface="DM Sans"/>
                <a:cs typeface="DM Sans"/>
                <a:sym typeface="DM Sans"/>
              </a:rPr>
              <a:t>self</a:t>
            </a:r>
            <a:r>
              <a:rPr lang="es" sz="1000">
                <a:solidFill>
                  <a:srgbClr val="93A1A1"/>
                </a:solidFill>
                <a:latin typeface="DM Sans"/>
                <a:ea typeface="DM Sans"/>
                <a:cs typeface="DM Sans"/>
                <a:sym typeface="DM Sans"/>
              </a:rPr>
              <a:t>).__name__)</a:t>
            </a:r>
            <a:endParaRPr sz="1000">
              <a:solidFill>
                <a:srgbClr val="859900"/>
              </a:solidFill>
              <a:latin typeface="DM Sans"/>
              <a:ea typeface="DM Sans"/>
              <a:cs typeface="DM Sans"/>
              <a:sym typeface="DM San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2" name="Google Shape;172;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s" sz="1000">
                <a:solidFill>
                  <a:srgbClr val="586E75"/>
                </a:solidFill>
                <a:latin typeface="DM Sans"/>
                <a:ea typeface="DM Sans"/>
                <a:cs typeface="DM Sans"/>
                <a:sym typeface="DM Sans"/>
              </a:rPr>
              <a:t># Perro hereda de Animal</a:t>
            </a:r>
            <a:endParaRPr sz="1000">
              <a:solidFill>
                <a:srgbClr val="586E75"/>
              </a:solidFill>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859900"/>
                </a:solidFill>
                <a:latin typeface="DM Sans"/>
                <a:ea typeface="DM Sans"/>
                <a:cs typeface="DM Sans"/>
                <a:sym typeface="DM Sans"/>
              </a:rPr>
              <a:t>class</a:t>
            </a:r>
            <a:r>
              <a:rPr lang="es" sz="1000">
                <a:solidFill>
                  <a:srgbClr val="5C5962"/>
                </a:solidFill>
                <a:highlight>
                  <a:srgbClr val="F5F6FA"/>
                </a:highlight>
                <a:latin typeface="DM Sans"/>
                <a:ea typeface="DM Sans"/>
                <a:cs typeface="DM Sans"/>
                <a:sym typeface="DM Sans"/>
              </a:rPr>
              <a:t> </a:t>
            </a:r>
            <a:r>
              <a:rPr lang="es" sz="1000">
                <a:solidFill>
                  <a:srgbClr val="268BD2"/>
                </a:solidFill>
                <a:latin typeface="DM Sans"/>
                <a:ea typeface="DM Sans"/>
                <a:cs typeface="DM Sans"/>
                <a:sym typeface="DM Sans"/>
              </a:rPr>
              <a:t>Perro</a:t>
            </a:r>
            <a:r>
              <a:rPr lang="es" sz="1000">
                <a:solidFill>
                  <a:srgbClr val="93A1A1"/>
                </a:solidFill>
                <a:latin typeface="DM Sans"/>
                <a:ea typeface="DM Sans"/>
                <a:cs typeface="DM Sans"/>
                <a:sym typeface="DM Sans"/>
              </a:rPr>
              <a:t>(Animal):</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pass</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93A1A1"/>
                </a:solidFill>
                <a:latin typeface="DM Sans"/>
                <a:ea typeface="DM Sans"/>
                <a:cs typeface="DM Sans"/>
                <a:sym typeface="DM Sans"/>
              </a:rPr>
              <a:t>mi_perro</a:t>
            </a: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a:t>
            </a:r>
            <a:r>
              <a:rPr lang="es" sz="1000">
                <a:solidFill>
                  <a:srgbClr val="5C5962"/>
                </a:solidFill>
                <a:highlight>
                  <a:srgbClr val="F5F6FA"/>
                </a:highlight>
                <a:latin typeface="DM Sans"/>
                <a:ea typeface="DM Sans"/>
                <a:cs typeface="DM Sans"/>
                <a:sym typeface="DM Sans"/>
              </a:rPr>
              <a:t> </a:t>
            </a:r>
            <a:r>
              <a:rPr lang="es" sz="1000">
                <a:solidFill>
                  <a:srgbClr val="93A1A1"/>
                </a:solidFill>
                <a:latin typeface="DM Sans"/>
                <a:ea typeface="DM Sans"/>
                <a:cs typeface="DM Sans"/>
                <a:sym typeface="DM Sans"/>
              </a:rPr>
              <a:t>Perro(</a:t>
            </a:r>
            <a:r>
              <a:rPr lang="es" sz="1000">
                <a:solidFill>
                  <a:srgbClr val="2AA198"/>
                </a:solidFill>
                <a:latin typeface="DM Sans"/>
                <a:ea typeface="DM Sans"/>
                <a:cs typeface="DM Sans"/>
                <a:sym typeface="DM Sans"/>
              </a:rPr>
              <a:t>'mamífero'</a:t>
            </a:r>
            <a:r>
              <a:rPr lang="es" sz="1000">
                <a:solidFill>
                  <a:srgbClr val="93A1A1"/>
                </a:solidFill>
                <a:latin typeface="DM Sans"/>
                <a:ea typeface="DM Sans"/>
                <a:cs typeface="DM Sans"/>
                <a:sym typeface="DM Sans"/>
              </a:rPr>
              <a:t>,</a:t>
            </a:r>
            <a:r>
              <a:rPr lang="es" sz="1000">
                <a:solidFill>
                  <a:srgbClr val="5C5962"/>
                </a:solidFill>
                <a:highlight>
                  <a:srgbClr val="F5F6FA"/>
                </a:highlight>
                <a:latin typeface="DM Sans"/>
                <a:ea typeface="DM Sans"/>
                <a:cs typeface="DM Sans"/>
                <a:sym typeface="DM Sans"/>
              </a:rPr>
              <a:t> </a:t>
            </a:r>
            <a:r>
              <a:rPr lang="es" sz="1000">
                <a:solidFill>
                  <a:srgbClr val="2AA198"/>
                </a:solidFill>
                <a:latin typeface="DM Sans"/>
                <a:ea typeface="DM Sans"/>
                <a:cs typeface="DM Sans"/>
                <a:sym typeface="DM Sans"/>
              </a:rPr>
              <a:t>10</a:t>
            </a:r>
            <a:r>
              <a:rPr lang="es" sz="1000">
                <a:solidFill>
                  <a:srgbClr val="93A1A1"/>
                </a:solidFill>
                <a:latin typeface="DM Sans"/>
                <a:ea typeface="DM Sans"/>
                <a:cs typeface="DM Sans"/>
                <a:sym typeface="DM Sans"/>
              </a:rPr>
              <a:t>)</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93A1A1"/>
                </a:solidFill>
                <a:latin typeface="DM Sans"/>
                <a:ea typeface="DM Sans"/>
                <a:cs typeface="DM Sans"/>
                <a:sym typeface="DM Sans"/>
              </a:rPr>
              <a:t>mi_perro.describeme()</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86E75"/>
                </a:solidFill>
                <a:latin typeface="DM Sans"/>
                <a:ea typeface="DM Sans"/>
                <a:cs typeface="DM Sans"/>
                <a:sym typeface="DM Sans"/>
              </a:rPr>
              <a:t># Soy un Animal del tipo Perro</a:t>
            </a:r>
            <a:endParaRPr>
              <a:solidFill>
                <a:schemeClr val="dk1"/>
              </a:solidFill>
              <a:latin typeface="DM Sans"/>
              <a:ea typeface="DM Sans"/>
              <a:cs typeface="DM Sans"/>
              <a:sym typeface="DM San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0" name="Google Shape;180;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s" sz="1000">
                <a:solidFill>
                  <a:srgbClr val="586E75"/>
                </a:solidFill>
                <a:latin typeface="DM Sans"/>
                <a:ea typeface="DM Sans"/>
                <a:cs typeface="DM Sans"/>
                <a:sym typeface="DM Sans"/>
              </a:rPr>
              <a:t># Perro hereda de Animal</a:t>
            </a:r>
            <a:endParaRPr sz="1000">
              <a:solidFill>
                <a:srgbClr val="586E75"/>
              </a:solidFill>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859900"/>
                </a:solidFill>
                <a:latin typeface="DM Sans"/>
                <a:ea typeface="DM Sans"/>
                <a:cs typeface="DM Sans"/>
                <a:sym typeface="DM Sans"/>
              </a:rPr>
              <a:t>class</a:t>
            </a:r>
            <a:r>
              <a:rPr lang="es" sz="1000">
                <a:solidFill>
                  <a:srgbClr val="5C5962"/>
                </a:solidFill>
                <a:highlight>
                  <a:srgbClr val="F5F6FA"/>
                </a:highlight>
                <a:latin typeface="DM Sans"/>
                <a:ea typeface="DM Sans"/>
                <a:cs typeface="DM Sans"/>
                <a:sym typeface="DM Sans"/>
              </a:rPr>
              <a:t> </a:t>
            </a:r>
            <a:r>
              <a:rPr lang="es" sz="1000">
                <a:solidFill>
                  <a:srgbClr val="268BD2"/>
                </a:solidFill>
                <a:latin typeface="DM Sans"/>
                <a:ea typeface="DM Sans"/>
                <a:cs typeface="DM Sans"/>
                <a:sym typeface="DM Sans"/>
              </a:rPr>
              <a:t>Perro</a:t>
            </a:r>
            <a:r>
              <a:rPr lang="es" sz="1000">
                <a:solidFill>
                  <a:srgbClr val="93A1A1"/>
                </a:solidFill>
                <a:latin typeface="DM Sans"/>
                <a:ea typeface="DM Sans"/>
                <a:cs typeface="DM Sans"/>
                <a:sym typeface="DM Sans"/>
              </a:rPr>
              <a:t>(Animal):</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pass</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93A1A1"/>
                </a:solidFill>
                <a:latin typeface="DM Sans"/>
                <a:ea typeface="DM Sans"/>
                <a:cs typeface="DM Sans"/>
                <a:sym typeface="DM Sans"/>
              </a:rPr>
              <a:t>mi_perro</a:t>
            </a: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a:t>
            </a:r>
            <a:r>
              <a:rPr lang="es" sz="1000">
                <a:solidFill>
                  <a:srgbClr val="5C5962"/>
                </a:solidFill>
                <a:highlight>
                  <a:srgbClr val="F5F6FA"/>
                </a:highlight>
                <a:latin typeface="DM Sans"/>
                <a:ea typeface="DM Sans"/>
                <a:cs typeface="DM Sans"/>
                <a:sym typeface="DM Sans"/>
              </a:rPr>
              <a:t> </a:t>
            </a:r>
            <a:r>
              <a:rPr lang="es" sz="1000">
                <a:solidFill>
                  <a:srgbClr val="93A1A1"/>
                </a:solidFill>
                <a:latin typeface="DM Sans"/>
                <a:ea typeface="DM Sans"/>
                <a:cs typeface="DM Sans"/>
                <a:sym typeface="DM Sans"/>
              </a:rPr>
              <a:t>Perro(</a:t>
            </a:r>
            <a:r>
              <a:rPr lang="es" sz="1000">
                <a:solidFill>
                  <a:srgbClr val="2AA198"/>
                </a:solidFill>
                <a:latin typeface="DM Sans"/>
                <a:ea typeface="DM Sans"/>
                <a:cs typeface="DM Sans"/>
                <a:sym typeface="DM Sans"/>
              </a:rPr>
              <a:t>'mamífero'</a:t>
            </a:r>
            <a:r>
              <a:rPr lang="es" sz="1000">
                <a:solidFill>
                  <a:srgbClr val="93A1A1"/>
                </a:solidFill>
                <a:latin typeface="DM Sans"/>
                <a:ea typeface="DM Sans"/>
                <a:cs typeface="DM Sans"/>
                <a:sym typeface="DM Sans"/>
              </a:rPr>
              <a:t>,</a:t>
            </a:r>
            <a:r>
              <a:rPr lang="es" sz="1000">
                <a:solidFill>
                  <a:srgbClr val="5C5962"/>
                </a:solidFill>
                <a:highlight>
                  <a:srgbClr val="F5F6FA"/>
                </a:highlight>
                <a:latin typeface="DM Sans"/>
                <a:ea typeface="DM Sans"/>
                <a:cs typeface="DM Sans"/>
                <a:sym typeface="DM Sans"/>
              </a:rPr>
              <a:t> </a:t>
            </a:r>
            <a:r>
              <a:rPr lang="es" sz="1000">
                <a:solidFill>
                  <a:srgbClr val="2AA198"/>
                </a:solidFill>
                <a:latin typeface="DM Sans"/>
                <a:ea typeface="DM Sans"/>
                <a:cs typeface="DM Sans"/>
                <a:sym typeface="DM Sans"/>
              </a:rPr>
              <a:t>10</a:t>
            </a:r>
            <a:r>
              <a:rPr lang="es" sz="1000">
                <a:solidFill>
                  <a:srgbClr val="93A1A1"/>
                </a:solidFill>
                <a:latin typeface="DM Sans"/>
                <a:ea typeface="DM Sans"/>
                <a:cs typeface="DM Sans"/>
                <a:sym typeface="DM Sans"/>
              </a:rPr>
              <a:t>)</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93A1A1"/>
                </a:solidFill>
                <a:latin typeface="DM Sans"/>
                <a:ea typeface="DM Sans"/>
                <a:cs typeface="DM Sans"/>
                <a:sym typeface="DM Sans"/>
              </a:rPr>
              <a:t>mi_perro.describeme()</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86E75"/>
                </a:solidFill>
                <a:latin typeface="DM Sans"/>
                <a:ea typeface="DM Sans"/>
                <a:cs typeface="DM Sans"/>
                <a:sym typeface="DM Sans"/>
              </a:rPr>
              <a:t># Soy un Animal del tipo Perro</a:t>
            </a:r>
            <a:endParaRPr>
              <a:solidFill>
                <a:schemeClr val="dk1"/>
              </a:solidFill>
              <a:latin typeface="DM Sans"/>
              <a:ea typeface="DM Sans"/>
              <a:cs typeface="DM Sans"/>
              <a:sym typeface="DM San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1" name="Google Shape;191;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s" sz="1000">
                <a:solidFill>
                  <a:srgbClr val="859900"/>
                </a:solidFill>
                <a:latin typeface="DM Sans"/>
                <a:ea typeface="DM Sans"/>
                <a:cs typeface="DM Sans"/>
                <a:sym typeface="DM Sans"/>
              </a:rPr>
              <a:t>class</a:t>
            </a:r>
            <a:r>
              <a:rPr lang="es" sz="1000">
                <a:solidFill>
                  <a:srgbClr val="5C5962"/>
                </a:solidFill>
                <a:highlight>
                  <a:srgbClr val="F5F6FA"/>
                </a:highlight>
                <a:latin typeface="DM Sans"/>
                <a:ea typeface="DM Sans"/>
                <a:cs typeface="DM Sans"/>
                <a:sym typeface="DM Sans"/>
              </a:rPr>
              <a:t> </a:t>
            </a:r>
            <a:r>
              <a:rPr lang="es" sz="1000">
                <a:solidFill>
                  <a:srgbClr val="268BD2"/>
                </a:solidFill>
                <a:latin typeface="DM Sans"/>
                <a:ea typeface="DM Sans"/>
                <a:cs typeface="DM Sans"/>
                <a:sym typeface="DM Sans"/>
              </a:rPr>
              <a:t>Perro</a:t>
            </a:r>
            <a:r>
              <a:rPr lang="es" sz="1000">
                <a:solidFill>
                  <a:srgbClr val="93A1A1"/>
                </a:solidFill>
                <a:latin typeface="DM Sans"/>
                <a:ea typeface="DM Sans"/>
                <a:cs typeface="DM Sans"/>
                <a:sym typeface="DM Sans"/>
              </a:rPr>
              <a:t>(Animal):</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def</a:t>
            </a:r>
            <a:r>
              <a:rPr lang="es" sz="1000">
                <a:solidFill>
                  <a:srgbClr val="5C5962"/>
                </a:solidFill>
                <a:highlight>
                  <a:srgbClr val="F5F6FA"/>
                </a:highlight>
                <a:latin typeface="DM Sans"/>
                <a:ea typeface="DM Sans"/>
                <a:cs typeface="DM Sans"/>
                <a:sym typeface="DM Sans"/>
              </a:rPr>
              <a:t> </a:t>
            </a:r>
            <a:r>
              <a:rPr lang="es" sz="1000">
                <a:solidFill>
                  <a:srgbClr val="268BD2"/>
                </a:solidFill>
                <a:latin typeface="DM Sans"/>
                <a:ea typeface="DM Sans"/>
                <a:cs typeface="DM Sans"/>
                <a:sym typeface="DM Sans"/>
              </a:rPr>
              <a:t>hablar</a:t>
            </a:r>
            <a:r>
              <a:rPr lang="es" sz="1000">
                <a:solidFill>
                  <a:srgbClr val="93A1A1"/>
                </a:solidFill>
                <a:latin typeface="DM Sans"/>
                <a:ea typeface="DM Sans"/>
                <a:cs typeface="DM Sans"/>
                <a:sym typeface="DM Sans"/>
              </a:rPr>
              <a:t>(</a:t>
            </a:r>
            <a:r>
              <a:rPr lang="es" sz="1000">
                <a:solidFill>
                  <a:srgbClr val="268BD2"/>
                </a:solidFill>
                <a:latin typeface="DM Sans"/>
                <a:ea typeface="DM Sans"/>
                <a:cs typeface="DM Sans"/>
                <a:sym typeface="DM Sans"/>
              </a:rPr>
              <a:t>self</a:t>
            </a:r>
            <a:r>
              <a:rPr lang="es" sz="1000">
                <a:solidFill>
                  <a:srgbClr val="93A1A1"/>
                </a:solidFill>
                <a:latin typeface="DM Sans"/>
                <a:ea typeface="DM Sans"/>
                <a:cs typeface="DM Sans"/>
                <a:sym typeface="DM Sans"/>
              </a:rPr>
              <a:t>):</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print</a:t>
            </a:r>
            <a:r>
              <a:rPr lang="es" sz="1000">
                <a:solidFill>
                  <a:srgbClr val="93A1A1"/>
                </a:solidFill>
                <a:latin typeface="DM Sans"/>
                <a:ea typeface="DM Sans"/>
                <a:cs typeface="DM Sans"/>
                <a:sym typeface="DM Sans"/>
              </a:rPr>
              <a:t>(</a:t>
            </a:r>
            <a:r>
              <a:rPr lang="es" sz="1000">
                <a:solidFill>
                  <a:srgbClr val="2AA198"/>
                </a:solidFill>
                <a:latin typeface="DM Sans"/>
                <a:ea typeface="DM Sans"/>
                <a:cs typeface="DM Sans"/>
                <a:sym typeface="DM Sans"/>
              </a:rPr>
              <a:t>"Guau!"</a:t>
            </a:r>
            <a:r>
              <a:rPr lang="es" sz="1000">
                <a:solidFill>
                  <a:srgbClr val="93A1A1"/>
                </a:solidFill>
                <a:latin typeface="DM Sans"/>
                <a:ea typeface="DM Sans"/>
                <a:cs typeface="DM Sans"/>
                <a:sym typeface="DM Sans"/>
              </a:rPr>
              <a:t>)</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def</a:t>
            </a:r>
            <a:r>
              <a:rPr lang="es" sz="1000">
                <a:solidFill>
                  <a:srgbClr val="5C5962"/>
                </a:solidFill>
                <a:highlight>
                  <a:srgbClr val="F5F6FA"/>
                </a:highlight>
                <a:latin typeface="DM Sans"/>
                <a:ea typeface="DM Sans"/>
                <a:cs typeface="DM Sans"/>
                <a:sym typeface="DM Sans"/>
              </a:rPr>
              <a:t> </a:t>
            </a:r>
            <a:r>
              <a:rPr lang="es" sz="1000">
                <a:solidFill>
                  <a:srgbClr val="268BD2"/>
                </a:solidFill>
                <a:latin typeface="DM Sans"/>
                <a:ea typeface="DM Sans"/>
                <a:cs typeface="DM Sans"/>
                <a:sym typeface="DM Sans"/>
              </a:rPr>
              <a:t>moverse</a:t>
            </a:r>
            <a:r>
              <a:rPr lang="es" sz="1000">
                <a:solidFill>
                  <a:srgbClr val="93A1A1"/>
                </a:solidFill>
                <a:latin typeface="DM Sans"/>
                <a:ea typeface="DM Sans"/>
                <a:cs typeface="DM Sans"/>
                <a:sym typeface="DM Sans"/>
              </a:rPr>
              <a:t>(</a:t>
            </a:r>
            <a:r>
              <a:rPr lang="es" sz="1000">
                <a:solidFill>
                  <a:srgbClr val="268BD2"/>
                </a:solidFill>
                <a:latin typeface="DM Sans"/>
                <a:ea typeface="DM Sans"/>
                <a:cs typeface="DM Sans"/>
                <a:sym typeface="DM Sans"/>
              </a:rPr>
              <a:t>self</a:t>
            </a:r>
            <a:r>
              <a:rPr lang="es" sz="1000">
                <a:solidFill>
                  <a:srgbClr val="93A1A1"/>
                </a:solidFill>
                <a:latin typeface="DM Sans"/>
                <a:ea typeface="DM Sans"/>
                <a:cs typeface="DM Sans"/>
                <a:sym typeface="DM Sans"/>
              </a:rPr>
              <a:t>):</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print</a:t>
            </a:r>
            <a:r>
              <a:rPr lang="es" sz="1000">
                <a:solidFill>
                  <a:srgbClr val="93A1A1"/>
                </a:solidFill>
                <a:latin typeface="DM Sans"/>
                <a:ea typeface="DM Sans"/>
                <a:cs typeface="DM Sans"/>
                <a:sym typeface="DM Sans"/>
              </a:rPr>
              <a:t>(</a:t>
            </a:r>
            <a:r>
              <a:rPr lang="es" sz="1000">
                <a:solidFill>
                  <a:srgbClr val="2AA198"/>
                </a:solidFill>
                <a:latin typeface="DM Sans"/>
                <a:ea typeface="DM Sans"/>
                <a:cs typeface="DM Sans"/>
                <a:sym typeface="DM Sans"/>
              </a:rPr>
              <a:t>"Caminando con 4 patas"</a:t>
            </a:r>
            <a:r>
              <a:rPr lang="es" sz="1000">
                <a:solidFill>
                  <a:srgbClr val="93A1A1"/>
                </a:solidFill>
                <a:latin typeface="DM Sans"/>
                <a:ea typeface="DM Sans"/>
                <a:cs typeface="DM Sans"/>
                <a:sym typeface="DM Sans"/>
              </a:rPr>
              <a:t>)</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859900"/>
                </a:solidFill>
                <a:latin typeface="DM Sans"/>
                <a:ea typeface="DM Sans"/>
                <a:cs typeface="DM Sans"/>
                <a:sym typeface="DM Sans"/>
              </a:rPr>
              <a:t>class</a:t>
            </a:r>
            <a:r>
              <a:rPr lang="es" sz="1000">
                <a:solidFill>
                  <a:srgbClr val="5C5962"/>
                </a:solidFill>
                <a:highlight>
                  <a:srgbClr val="F5F6FA"/>
                </a:highlight>
                <a:latin typeface="DM Sans"/>
                <a:ea typeface="DM Sans"/>
                <a:cs typeface="DM Sans"/>
                <a:sym typeface="DM Sans"/>
              </a:rPr>
              <a:t> </a:t>
            </a:r>
            <a:r>
              <a:rPr lang="es" sz="1000">
                <a:solidFill>
                  <a:srgbClr val="268BD2"/>
                </a:solidFill>
                <a:latin typeface="DM Sans"/>
                <a:ea typeface="DM Sans"/>
                <a:cs typeface="DM Sans"/>
                <a:sym typeface="DM Sans"/>
              </a:rPr>
              <a:t>Vaca</a:t>
            </a:r>
            <a:r>
              <a:rPr lang="es" sz="1000">
                <a:solidFill>
                  <a:srgbClr val="93A1A1"/>
                </a:solidFill>
                <a:latin typeface="DM Sans"/>
                <a:ea typeface="DM Sans"/>
                <a:cs typeface="DM Sans"/>
                <a:sym typeface="DM Sans"/>
              </a:rPr>
              <a:t>(Animal):</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def</a:t>
            </a:r>
            <a:r>
              <a:rPr lang="es" sz="1000">
                <a:solidFill>
                  <a:srgbClr val="5C5962"/>
                </a:solidFill>
                <a:highlight>
                  <a:srgbClr val="F5F6FA"/>
                </a:highlight>
                <a:latin typeface="DM Sans"/>
                <a:ea typeface="DM Sans"/>
                <a:cs typeface="DM Sans"/>
                <a:sym typeface="DM Sans"/>
              </a:rPr>
              <a:t> </a:t>
            </a:r>
            <a:r>
              <a:rPr lang="es" sz="1000">
                <a:solidFill>
                  <a:srgbClr val="268BD2"/>
                </a:solidFill>
                <a:latin typeface="DM Sans"/>
                <a:ea typeface="DM Sans"/>
                <a:cs typeface="DM Sans"/>
                <a:sym typeface="DM Sans"/>
              </a:rPr>
              <a:t>hablar</a:t>
            </a:r>
            <a:r>
              <a:rPr lang="es" sz="1000">
                <a:solidFill>
                  <a:srgbClr val="93A1A1"/>
                </a:solidFill>
                <a:latin typeface="DM Sans"/>
                <a:ea typeface="DM Sans"/>
                <a:cs typeface="DM Sans"/>
                <a:sym typeface="DM Sans"/>
              </a:rPr>
              <a:t>(</a:t>
            </a:r>
            <a:r>
              <a:rPr lang="es" sz="1000">
                <a:solidFill>
                  <a:srgbClr val="268BD2"/>
                </a:solidFill>
                <a:latin typeface="DM Sans"/>
                <a:ea typeface="DM Sans"/>
                <a:cs typeface="DM Sans"/>
                <a:sym typeface="DM Sans"/>
              </a:rPr>
              <a:t>self</a:t>
            </a:r>
            <a:r>
              <a:rPr lang="es" sz="1000">
                <a:solidFill>
                  <a:srgbClr val="93A1A1"/>
                </a:solidFill>
                <a:latin typeface="DM Sans"/>
                <a:ea typeface="DM Sans"/>
                <a:cs typeface="DM Sans"/>
                <a:sym typeface="DM Sans"/>
              </a:rPr>
              <a:t>):</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print</a:t>
            </a:r>
            <a:r>
              <a:rPr lang="es" sz="1000">
                <a:solidFill>
                  <a:srgbClr val="93A1A1"/>
                </a:solidFill>
                <a:latin typeface="DM Sans"/>
                <a:ea typeface="DM Sans"/>
                <a:cs typeface="DM Sans"/>
                <a:sym typeface="DM Sans"/>
              </a:rPr>
              <a:t>(</a:t>
            </a:r>
            <a:r>
              <a:rPr lang="es" sz="1000">
                <a:solidFill>
                  <a:srgbClr val="2AA198"/>
                </a:solidFill>
                <a:latin typeface="DM Sans"/>
                <a:ea typeface="DM Sans"/>
                <a:cs typeface="DM Sans"/>
                <a:sym typeface="DM Sans"/>
              </a:rPr>
              <a:t>"Muuu!"</a:t>
            </a:r>
            <a:r>
              <a:rPr lang="es" sz="1000">
                <a:solidFill>
                  <a:srgbClr val="93A1A1"/>
                </a:solidFill>
                <a:latin typeface="DM Sans"/>
                <a:ea typeface="DM Sans"/>
                <a:cs typeface="DM Sans"/>
                <a:sym typeface="DM Sans"/>
              </a:rPr>
              <a:t>)</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def</a:t>
            </a:r>
            <a:r>
              <a:rPr lang="es" sz="1000">
                <a:solidFill>
                  <a:srgbClr val="5C5962"/>
                </a:solidFill>
                <a:highlight>
                  <a:srgbClr val="F5F6FA"/>
                </a:highlight>
                <a:latin typeface="DM Sans"/>
                <a:ea typeface="DM Sans"/>
                <a:cs typeface="DM Sans"/>
                <a:sym typeface="DM Sans"/>
              </a:rPr>
              <a:t> </a:t>
            </a:r>
            <a:r>
              <a:rPr lang="es" sz="1000">
                <a:solidFill>
                  <a:srgbClr val="268BD2"/>
                </a:solidFill>
                <a:latin typeface="DM Sans"/>
                <a:ea typeface="DM Sans"/>
                <a:cs typeface="DM Sans"/>
                <a:sym typeface="DM Sans"/>
              </a:rPr>
              <a:t>moverse</a:t>
            </a:r>
            <a:r>
              <a:rPr lang="es" sz="1000">
                <a:solidFill>
                  <a:srgbClr val="93A1A1"/>
                </a:solidFill>
                <a:latin typeface="DM Sans"/>
                <a:ea typeface="DM Sans"/>
                <a:cs typeface="DM Sans"/>
                <a:sym typeface="DM Sans"/>
              </a:rPr>
              <a:t>(</a:t>
            </a:r>
            <a:r>
              <a:rPr lang="es" sz="1000">
                <a:solidFill>
                  <a:srgbClr val="268BD2"/>
                </a:solidFill>
                <a:latin typeface="DM Sans"/>
                <a:ea typeface="DM Sans"/>
                <a:cs typeface="DM Sans"/>
                <a:sym typeface="DM Sans"/>
              </a:rPr>
              <a:t>self</a:t>
            </a:r>
            <a:r>
              <a:rPr lang="es" sz="1000">
                <a:solidFill>
                  <a:srgbClr val="93A1A1"/>
                </a:solidFill>
                <a:latin typeface="DM Sans"/>
                <a:ea typeface="DM Sans"/>
                <a:cs typeface="DM Sans"/>
                <a:sym typeface="DM Sans"/>
              </a:rPr>
              <a:t>):</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print</a:t>
            </a:r>
            <a:r>
              <a:rPr lang="es" sz="1000">
                <a:solidFill>
                  <a:srgbClr val="93A1A1"/>
                </a:solidFill>
                <a:latin typeface="DM Sans"/>
                <a:ea typeface="DM Sans"/>
                <a:cs typeface="DM Sans"/>
                <a:sym typeface="DM Sans"/>
              </a:rPr>
              <a:t>(</a:t>
            </a:r>
            <a:r>
              <a:rPr lang="es" sz="1000">
                <a:solidFill>
                  <a:srgbClr val="2AA198"/>
                </a:solidFill>
                <a:latin typeface="DM Sans"/>
                <a:ea typeface="DM Sans"/>
                <a:cs typeface="DM Sans"/>
                <a:sym typeface="DM Sans"/>
              </a:rPr>
              <a:t>"Caminando con 4 patas"</a:t>
            </a:r>
            <a:r>
              <a:rPr lang="es" sz="1000">
                <a:solidFill>
                  <a:srgbClr val="93A1A1"/>
                </a:solidFill>
                <a:latin typeface="DM Sans"/>
                <a:ea typeface="DM Sans"/>
                <a:cs typeface="DM Sans"/>
                <a:sym typeface="DM Sans"/>
              </a:rPr>
              <a:t>)</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859900"/>
                </a:solidFill>
                <a:latin typeface="DM Sans"/>
                <a:ea typeface="DM Sans"/>
                <a:cs typeface="DM Sans"/>
                <a:sym typeface="DM Sans"/>
              </a:rPr>
              <a:t>class</a:t>
            </a:r>
            <a:r>
              <a:rPr lang="es" sz="1000">
                <a:solidFill>
                  <a:srgbClr val="5C5962"/>
                </a:solidFill>
                <a:highlight>
                  <a:srgbClr val="F5F6FA"/>
                </a:highlight>
                <a:latin typeface="DM Sans"/>
                <a:ea typeface="DM Sans"/>
                <a:cs typeface="DM Sans"/>
                <a:sym typeface="DM Sans"/>
              </a:rPr>
              <a:t> </a:t>
            </a:r>
            <a:r>
              <a:rPr lang="es" sz="1000">
                <a:solidFill>
                  <a:srgbClr val="268BD2"/>
                </a:solidFill>
                <a:latin typeface="DM Sans"/>
                <a:ea typeface="DM Sans"/>
                <a:cs typeface="DM Sans"/>
                <a:sym typeface="DM Sans"/>
              </a:rPr>
              <a:t>Abeja</a:t>
            </a:r>
            <a:r>
              <a:rPr lang="es" sz="1000">
                <a:solidFill>
                  <a:srgbClr val="93A1A1"/>
                </a:solidFill>
                <a:latin typeface="DM Sans"/>
                <a:ea typeface="DM Sans"/>
                <a:cs typeface="DM Sans"/>
                <a:sym typeface="DM Sans"/>
              </a:rPr>
              <a:t>(Animal):</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def</a:t>
            </a:r>
            <a:r>
              <a:rPr lang="es" sz="1000">
                <a:solidFill>
                  <a:srgbClr val="5C5962"/>
                </a:solidFill>
                <a:highlight>
                  <a:srgbClr val="F5F6FA"/>
                </a:highlight>
                <a:latin typeface="DM Sans"/>
                <a:ea typeface="DM Sans"/>
                <a:cs typeface="DM Sans"/>
                <a:sym typeface="DM Sans"/>
              </a:rPr>
              <a:t> </a:t>
            </a:r>
            <a:r>
              <a:rPr lang="es" sz="1000">
                <a:solidFill>
                  <a:srgbClr val="268BD2"/>
                </a:solidFill>
                <a:latin typeface="DM Sans"/>
                <a:ea typeface="DM Sans"/>
                <a:cs typeface="DM Sans"/>
                <a:sym typeface="DM Sans"/>
              </a:rPr>
              <a:t>hablar</a:t>
            </a:r>
            <a:r>
              <a:rPr lang="es" sz="1000">
                <a:solidFill>
                  <a:srgbClr val="93A1A1"/>
                </a:solidFill>
                <a:latin typeface="DM Sans"/>
                <a:ea typeface="DM Sans"/>
                <a:cs typeface="DM Sans"/>
                <a:sym typeface="DM Sans"/>
              </a:rPr>
              <a:t>(</a:t>
            </a:r>
            <a:r>
              <a:rPr lang="es" sz="1000">
                <a:solidFill>
                  <a:srgbClr val="268BD2"/>
                </a:solidFill>
                <a:latin typeface="DM Sans"/>
                <a:ea typeface="DM Sans"/>
                <a:cs typeface="DM Sans"/>
                <a:sym typeface="DM Sans"/>
              </a:rPr>
              <a:t>self</a:t>
            </a:r>
            <a:r>
              <a:rPr lang="es" sz="1000">
                <a:solidFill>
                  <a:srgbClr val="93A1A1"/>
                </a:solidFill>
                <a:latin typeface="DM Sans"/>
                <a:ea typeface="DM Sans"/>
                <a:cs typeface="DM Sans"/>
                <a:sym typeface="DM Sans"/>
              </a:rPr>
              <a:t>):</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print</a:t>
            </a:r>
            <a:r>
              <a:rPr lang="es" sz="1000">
                <a:solidFill>
                  <a:srgbClr val="93A1A1"/>
                </a:solidFill>
                <a:latin typeface="DM Sans"/>
                <a:ea typeface="DM Sans"/>
                <a:cs typeface="DM Sans"/>
                <a:sym typeface="DM Sans"/>
              </a:rPr>
              <a:t>(</a:t>
            </a:r>
            <a:r>
              <a:rPr lang="es" sz="1000">
                <a:solidFill>
                  <a:srgbClr val="2AA198"/>
                </a:solidFill>
                <a:latin typeface="DM Sans"/>
                <a:ea typeface="DM Sans"/>
                <a:cs typeface="DM Sans"/>
                <a:sym typeface="DM Sans"/>
              </a:rPr>
              <a:t>"Bzzzz!"</a:t>
            </a:r>
            <a:r>
              <a:rPr lang="es" sz="1000">
                <a:solidFill>
                  <a:srgbClr val="93A1A1"/>
                </a:solidFill>
                <a:latin typeface="DM Sans"/>
                <a:ea typeface="DM Sans"/>
                <a:cs typeface="DM Sans"/>
                <a:sym typeface="DM Sans"/>
              </a:rPr>
              <a:t>)</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def</a:t>
            </a:r>
            <a:r>
              <a:rPr lang="es" sz="1000">
                <a:solidFill>
                  <a:srgbClr val="5C5962"/>
                </a:solidFill>
                <a:highlight>
                  <a:srgbClr val="F5F6FA"/>
                </a:highlight>
                <a:latin typeface="DM Sans"/>
                <a:ea typeface="DM Sans"/>
                <a:cs typeface="DM Sans"/>
                <a:sym typeface="DM Sans"/>
              </a:rPr>
              <a:t> </a:t>
            </a:r>
            <a:r>
              <a:rPr lang="es" sz="1000">
                <a:solidFill>
                  <a:srgbClr val="268BD2"/>
                </a:solidFill>
                <a:latin typeface="DM Sans"/>
                <a:ea typeface="DM Sans"/>
                <a:cs typeface="DM Sans"/>
                <a:sym typeface="DM Sans"/>
              </a:rPr>
              <a:t>moverse</a:t>
            </a:r>
            <a:r>
              <a:rPr lang="es" sz="1000">
                <a:solidFill>
                  <a:srgbClr val="93A1A1"/>
                </a:solidFill>
                <a:latin typeface="DM Sans"/>
                <a:ea typeface="DM Sans"/>
                <a:cs typeface="DM Sans"/>
                <a:sym typeface="DM Sans"/>
              </a:rPr>
              <a:t>(</a:t>
            </a:r>
            <a:r>
              <a:rPr lang="es" sz="1000">
                <a:solidFill>
                  <a:srgbClr val="268BD2"/>
                </a:solidFill>
                <a:latin typeface="DM Sans"/>
                <a:ea typeface="DM Sans"/>
                <a:cs typeface="DM Sans"/>
                <a:sym typeface="DM Sans"/>
              </a:rPr>
              <a:t>self</a:t>
            </a:r>
            <a:r>
              <a:rPr lang="es" sz="1000">
                <a:solidFill>
                  <a:srgbClr val="93A1A1"/>
                </a:solidFill>
                <a:latin typeface="DM Sans"/>
                <a:ea typeface="DM Sans"/>
                <a:cs typeface="DM Sans"/>
                <a:sym typeface="DM Sans"/>
              </a:rPr>
              <a:t>):</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print</a:t>
            </a:r>
            <a:r>
              <a:rPr lang="es" sz="1000">
                <a:solidFill>
                  <a:srgbClr val="93A1A1"/>
                </a:solidFill>
                <a:latin typeface="DM Sans"/>
                <a:ea typeface="DM Sans"/>
                <a:cs typeface="DM Sans"/>
                <a:sym typeface="DM Sans"/>
              </a:rPr>
              <a:t>(</a:t>
            </a:r>
            <a:r>
              <a:rPr lang="es" sz="1000">
                <a:solidFill>
                  <a:srgbClr val="2AA198"/>
                </a:solidFill>
                <a:latin typeface="DM Sans"/>
                <a:ea typeface="DM Sans"/>
                <a:cs typeface="DM Sans"/>
                <a:sym typeface="DM Sans"/>
              </a:rPr>
              <a:t>"Volando"</a:t>
            </a:r>
            <a:r>
              <a:rPr lang="es" sz="1000">
                <a:solidFill>
                  <a:srgbClr val="93A1A1"/>
                </a:solidFill>
                <a:latin typeface="DM Sans"/>
                <a:ea typeface="DM Sans"/>
                <a:cs typeface="DM Sans"/>
                <a:sym typeface="DM Sans"/>
              </a:rPr>
              <a:t>)</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586E75"/>
                </a:solidFill>
                <a:latin typeface="DM Sans"/>
                <a:ea typeface="DM Sans"/>
                <a:cs typeface="DM Sans"/>
                <a:sym typeface="DM Sans"/>
              </a:rPr>
              <a:t># Nuevo método</a:t>
            </a:r>
            <a:endParaRPr sz="1000">
              <a:solidFill>
                <a:srgbClr val="586E75"/>
              </a:solidFill>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def</a:t>
            </a:r>
            <a:r>
              <a:rPr lang="es" sz="1000">
                <a:solidFill>
                  <a:srgbClr val="5C5962"/>
                </a:solidFill>
                <a:highlight>
                  <a:srgbClr val="F5F6FA"/>
                </a:highlight>
                <a:latin typeface="DM Sans"/>
                <a:ea typeface="DM Sans"/>
                <a:cs typeface="DM Sans"/>
                <a:sym typeface="DM Sans"/>
              </a:rPr>
              <a:t> </a:t>
            </a:r>
            <a:r>
              <a:rPr lang="es" sz="1000">
                <a:solidFill>
                  <a:srgbClr val="268BD2"/>
                </a:solidFill>
                <a:latin typeface="DM Sans"/>
                <a:ea typeface="DM Sans"/>
                <a:cs typeface="DM Sans"/>
                <a:sym typeface="DM Sans"/>
              </a:rPr>
              <a:t>picar</a:t>
            </a:r>
            <a:r>
              <a:rPr lang="es" sz="1000">
                <a:solidFill>
                  <a:srgbClr val="93A1A1"/>
                </a:solidFill>
                <a:latin typeface="DM Sans"/>
                <a:ea typeface="DM Sans"/>
                <a:cs typeface="DM Sans"/>
                <a:sym typeface="DM Sans"/>
              </a:rPr>
              <a:t>(</a:t>
            </a:r>
            <a:r>
              <a:rPr lang="es" sz="1000">
                <a:solidFill>
                  <a:srgbClr val="268BD2"/>
                </a:solidFill>
                <a:latin typeface="DM Sans"/>
                <a:ea typeface="DM Sans"/>
                <a:cs typeface="DM Sans"/>
                <a:sym typeface="DM Sans"/>
              </a:rPr>
              <a:t>self</a:t>
            </a:r>
            <a:r>
              <a:rPr lang="es" sz="1000">
                <a:solidFill>
                  <a:srgbClr val="93A1A1"/>
                </a:solidFill>
                <a:latin typeface="DM Sans"/>
                <a:ea typeface="DM Sans"/>
                <a:cs typeface="DM Sans"/>
                <a:sym typeface="DM Sans"/>
              </a:rPr>
              <a:t>):</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print</a:t>
            </a:r>
            <a:r>
              <a:rPr lang="es" sz="1000">
                <a:solidFill>
                  <a:srgbClr val="93A1A1"/>
                </a:solidFill>
                <a:latin typeface="DM Sans"/>
                <a:ea typeface="DM Sans"/>
                <a:cs typeface="DM Sans"/>
                <a:sym typeface="DM Sans"/>
              </a:rPr>
              <a:t>(</a:t>
            </a:r>
            <a:r>
              <a:rPr lang="es" sz="1000">
                <a:solidFill>
                  <a:srgbClr val="2AA198"/>
                </a:solidFill>
                <a:latin typeface="DM Sans"/>
                <a:ea typeface="DM Sans"/>
                <a:cs typeface="DM Sans"/>
                <a:sym typeface="DM Sans"/>
              </a:rPr>
              <a:t>"Picar!"</a:t>
            </a:r>
            <a:r>
              <a:rPr lang="es" sz="1000">
                <a:solidFill>
                  <a:srgbClr val="93A1A1"/>
                </a:solidFill>
                <a:latin typeface="DM Sans"/>
                <a:ea typeface="DM Sans"/>
                <a:cs typeface="DM Sans"/>
                <a:sym typeface="DM Sans"/>
              </a:rPr>
              <a:t>)</a:t>
            </a:r>
            <a:endParaRPr>
              <a:solidFill>
                <a:schemeClr val="dk1"/>
              </a:solidFill>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endParaRPr sz="1000">
              <a:solidFill>
                <a:srgbClr val="586E75"/>
              </a:solidFill>
              <a:latin typeface="DM Sans"/>
              <a:ea typeface="DM Sans"/>
              <a:cs typeface="DM Sans"/>
              <a:sym typeface="DM San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2" name="Google Shape;202;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s" sz="1000">
                <a:solidFill>
                  <a:srgbClr val="859900"/>
                </a:solidFill>
                <a:latin typeface="DM Sans"/>
                <a:ea typeface="DM Sans"/>
                <a:cs typeface="DM Sans"/>
                <a:sym typeface="DM Sans"/>
              </a:rPr>
              <a:t>class</a:t>
            </a:r>
            <a:r>
              <a:rPr lang="es" sz="1000">
                <a:solidFill>
                  <a:srgbClr val="5C5962"/>
                </a:solidFill>
                <a:highlight>
                  <a:srgbClr val="F5F6FA"/>
                </a:highlight>
                <a:latin typeface="DM Sans"/>
                <a:ea typeface="DM Sans"/>
                <a:cs typeface="DM Sans"/>
                <a:sym typeface="DM Sans"/>
              </a:rPr>
              <a:t> </a:t>
            </a:r>
            <a:r>
              <a:rPr lang="es" sz="1000">
                <a:solidFill>
                  <a:srgbClr val="268BD2"/>
                </a:solidFill>
                <a:latin typeface="DM Sans"/>
                <a:ea typeface="DM Sans"/>
                <a:cs typeface="DM Sans"/>
                <a:sym typeface="DM Sans"/>
              </a:rPr>
              <a:t>Perro</a:t>
            </a:r>
            <a:r>
              <a:rPr lang="es" sz="1000">
                <a:solidFill>
                  <a:srgbClr val="93A1A1"/>
                </a:solidFill>
                <a:latin typeface="DM Sans"/>
                <a:ea typeface="DM Sans"/>
                <a:cs typeface="DM Sans"/>
                <a:sym typeface="DM Sans"/>
              </a:rPr>
              <a:t>(Animal):</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def</a:t>
            </a:r>
            <a:r>
              <a:rPr lang="es" sz="1000">
                <a:solidFill>
                  <a:srgbClr val="5C5962"/>
                </a:solidFill>
                <a:highlight>
                  <a:srgbClr val="F5F6FA"/>
                </a:highlight>
                <a:latin typeface="DM Sans"/>
                <a:ea typeface="DM Sans"/>
                <a:cs typeface="DM Sans"/>
                <a:sym typeface="DM Sans"/>
              </a:rPr>
              <a:t> </a:t>
            </a:r>
            <a:r>
              <a:rPr lang="es" sz="1000">
                <a:solidFill>
                  <a:srgbClr val="268BD2"/>
                </a:solidFill>
                <a:latin typeface="DM Sans"/>
                <a:ea typeface="DM Sans"/>
                <a:cs typeface="DM Sans"/>
                <a:sym typeface="DM Sans"/>
              </a:rPr>
              <a:t>hablar</a:t>
            </a:r>
            <a:r>
              <a:rPr lang="es" sz="1000">
                <a:solidFill>
                  <a:srgbClr val="93A1A1"/>
                </a:solidFill>
                <a:latin typeface="DM Sans"/>
                <a:ea typeface="DM Sans"/>
                <a:cs typeface="DM Sans"/>
                <a:sym typeface="DM Sans"/>
              </a:rPr>
              <a:t>(</a:t>
            </a:r>
            <a:r>
              <a:rPr lang="es" sz="1000">
                <a:solidFill>
                  <a:srgbClr val="268BD2"/>
                </a:solidFill>
                <a:latin typeface="DM Sans"/>
                <a:ea typeface="DM Sans"/>
                <a:cs typeface="DM Sans"/>
                <a:sym typeface="DM Sans"/>
              </a:rPr>
              <a:t>self</a:t>
            </a:r>
            <a:r>
              <a:rPr lang="es" sz="1000">
                <a:solidFill>
                  <a:srgbClr val="93A1A1"/>
                </a:solidFill>
                <a:latin typeface="DM Sans"/>
                <a:ea typeface="DM Sans"/>
                <a:cs typeface="DM Sans"/>
                <a:sym typeface="DM Sans"/>
              </a:rPr>
              <a:t>):</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print</a:t>
            </a:r>
            <a:r>
              <a:rPr lang="es" sz="1000">
                <a:solidFill>
                  <a:srgbClr val="93A1A1"/>
                </a:solidFill>
                <a:latin typeface="DM Sans"/>
                <a:ea typeface="DM Sans"/>
                <a:cs typeface="DM Sans"/>
                <a:sym typeface="DM Sans"/>
              </a:rPr>
              <a:t>(</a:t>
            </a:r>
            <a:r>
              <a:rPr lang="es" sz="1000">
                <a:solidFill>
                  <a:srgbClr val="2AA198"/>
                </a:solidFill>
                <a:latin typeface="DM Sans"/>
                <a:ea typeface="DM Sans"/>
                <a:cs typeface="DM Sans"/>
                <a:sym typeface="DM Sans"/>
              </a:rPr>
              <a:t>"Guau!"</a:t>
            </a:r>
            <a:r>
              <a:rPr lang="es" sz="1000">
                <a:solidFill>
                  <a:srgbClr val="93A1A1"/>
                </a:solidFill>
                <a:latin typeface="DM Sans"/>
                <a:ea typeface="DM Sans"/>
                <a:cs typeface="DM Sans"/>
                <a:sym typeface="DM Sans"/>
              </a:rPr>
              <a:t>)</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def</a:t>
            </a:r>
            <a:r>
              <a:rPr lang="es" sz="1000">
                <a:solidFill>
                  <a:srgbClr val="5C5962"/>
                </a:solidFill>
                <a:highlight>
                  <a:srgbClr val="F5F6FA"/>
                </a:highlight>
                <a:latin typeface="DM Sans"/>
                <a:ea typeface="DM Sans"/>
                <a:cs typeface="DM Sans"/>
                <a:sym typeface="DM Sans"/>
              </a:rPr>
              <a:t> </a:t>
            </a:r>
            <a:r>
              <a:rPr lang="es" sz="1000">
                <a:solidFill>
                  <a:srgbClr val="268BD2"/>
                </a:solidFill>
                <a:latin typeface="DM Sans"/>
                <a:ea typeface="DM Sans"/>
                <a:cs typeface="DM Sans"/>
                <a:sym typeface="DM Sans"/>
              </a:rPr>
              <a:t>moverse</a:t>
            </a:r>
            <a:r>
              <a:rPr lang="es" sz="1000">
                <a:solidFill>
                  <a:srgbClr val="93A1A1"/>
                </a:solidFill>
                <a:latin typeface="DM Sans"/>
                <a:ea typeface="DM Sans"/>
                <a:cs typeface="DM Sans"/>
                <a:sym typeface="DM Sans"/>
              </a:rPr>
              <a:t>(</a:t>
            </a:r>
            <a:r>
              <a:rPr lang="es" sz="1000">
                <a:solidFill>
                  <a:srgbClr val="268BD2"/>
                </a:solidFill>
                <a:latin typeface="DM Sans"/>
                <a:ea typeface="DM Sans"/>
                <a:cs typeface="DM Sans"/>
                <a:sym typeface="DM Sans"/>
              </a:rPr>
              <a:t>self</a:t>
            </a:r>
            <a:r>
              <a:rPr lang="es" sz="1000">
                <a:solidFill>
                  <a:srgbClr val="93A1A1"/>
                </a:solidFill>
                <a:latin typeface="DM Sans"/>
                <a:ea typeface="DM Sans"/>
                <a:cs typeface="DM Sans"/>
                <a:sym typeface="DM Sans"/>
              </a:rPr>
              <a:t>):</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print</a:t>
            </a:r>
            <a:r>
              <a:rPr lang="es" sz="1000">
                <a:solidFill>
                  <a:srgbClr val="93A1A1"/>
                </a:solidFill>
                <a:latin typeface="DM Sans"/>
                <a:ea typeface="DM Sans"/>
                <a:cs typeface="DM Sans"/>
                <a:sym typeface="DM Sans"/>
              </a:rPr>
              <a:t>(</a:t>
            </a:r>
            <a:r>
              <a:rPr lang="es" sz="1000">
                <a:solidFill>
                  <a:srgbClr val="2AA198"/>
                </a:solidFill>
                <a:latin typeface="DM Sans"/>
                <a:ea typeface="DM Sans"/>
                <a:cs typeface="DM Sans"/>
                <a:sym typeface="DM Sans"/>
              </a:rPr>
              <a:t>"Caminando con 4 patas"</a:t>
            </a:r>
            <a:r>
              <a:rPr lang="es" sz="1000">
                <a:solidFill>
                  <a:srgbClr val="93A1A1"/>
                </a:solidFill>
                <a:latin typeface="DM Sans"/>
                <a:ea typeface="DM Sans"/>
                <a:cs typeface="DM Sans"/>
                <a:sym typeface="DM Sans"/>
              </a:rPr>
              <a:t>)</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859900"/>
                </a:solidFill>
                <a:latin typeface="DM Sans"/>
                <a:ea typeface="DM Sans"/>
                <a:cs typeface="DM Sans"/>
                <a:sym typeface="DM Sans"/>
              </a:rPr>
              <a:t>class</a:t>
            </a:r>
            <a:r>
              <a:rPr lang="es" sz="1000">
                <a:solidFill>
                  <a:srgbClr val="5C5962"/>
                </a:solidFill>
                <a:highlight>
                  <a:srgbClr val="F5F6FA"/>
                </a:highlight>
                <a:latin typeface="DM Sans"/>
                <a:ea typeface="DM Sans"/>
                <a:cs typeface="DM Sans"/>
                <a:sym typeface="DM Sans"/>
              </a:rPr>
              <a:t> </a:t>
            </a:r>
            <a:r>
              <a:rPr lang="es" sz="1000">
                <a:solidFill>
                  <a:srgbClr val="268BD2"/>
                </a:solidFill>
                <a:latin typeface="DM Sans"/>
                <a:ea typeface="DM Sans"/>
                <a:cs typeface="DM Sans"/>
                <a:sym typeface="DM Sans"/>
              </a:rPr>
              <a:t>Vaca</a:t>
            </a:r>
            <a:r>
              <a:rPr lang="es" sz="1000">
                <a:solidFill>
                  <a:srgbClr val="93A1A1"/>
                </a:solidFill>
                <a:latin typeface="DM Sans"/>
                <a:ea typeface="DM Sans"/>
                <a:cs typeface="DM Sans"/>
                <a:sym typeface="DM Sans"/>
              </a:rPr>
              <a:t>(Animal):</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def</a:t>
            </a:r>
            <a:r>
              <a:rPr lang="es" sz="1000">
                <a:solidFill>
                  <a:srgbClr val="5C5962"/>
                </a:solidFill>
                <a:highlight>
                  <a:srgbClr val="F5F6FA"/>
                </a:highlight>
                <a:latin typeface="DM Sans"/>
                <a:ea typeface="DM Sans"/>
                <a:cs typeface="DM Sans"/>
                <a:sym typeface="DM Sans"/>
              </a:rPr>
              <a:t> </a:t>
            </a:r>
            <a:r>
              <a:rPr lang="es" sz="1000">
                <a:solidFill>
                  <a:srgbClr val="268BD2"/>
                </a:solidFill>
                <a:latin typeface="DM Sans"/>
                <a:ea typeface="DM Sans"/>
                <a:cs typeface="DM Sans"/>
                <a:sym typeface="DM Sans"/>
              </a:rPr>
              <a:t>hablar</a:t>
            </a:r>
            <a:r>
              <a:rPr lang="es" sz="1000">
                <a:solidFill>
                  <a:srgbClr val="93A1A1"/>
                </a:solidFill>
                <a:latin typeface="DM Sans"/>
                <a:ea typeface="DM Sans"/>
                <a:cs typeface="DM Sans"/>
                <a:sym typeface="DM Sans"/>
              </a:rPr>
              <a:t>(</a:t>
            </a:r>
            <a:r>
              <a:rPr lang="es" sz="1000">
                <a:solidFill>
                  <a:srgbClr val="268BD2"/>
                </a:solidFill>
                <a:latin typeface="DM Sans"/>
                <a:ea typeface="DM Sans"/>
                <a:cs typeface="DM Sans"/>
                <a:sym typeface="DM Sans"/>
              </a:rPr>
              <a:t>self</a:t>
            </a:r>
            <a:r>
              <a:rPr lang="es" sz="1000">
                <a:solidFill>
                  <a:srgbClr val="93A1A1"/>
                </a:solidFill>
                <a:latin typeface="DM Sans"/>
                <a:ea typeface="DM Sans"/>
                <a:cs typeface="DM Sans"/>
                <a:sym typeface="DM Sans"/>
              </a:rPr>
              <a:t>):</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print</a:t>
            </a:r>
            <a:r>
              <a:rPr lang="es" sz="1000">
                <a:solidFill>
                  <a:srgbClr val="93A1A1"/>
                </a:solidFill>
                <a:latin typeface="DM Sans"/>
                <a:ea typeface="DM Sans"/>
                <a:cs typeface="DM Sans"/>
                <a:sym typeface="DM Sans"/>
              </a:rPr>
              <a:t>(</a:t>
            </a:r>
            <a:r>
              <a:rPr lang="es" sz="1000">
                <a:solidFill>
                  <a:srgbClr val="2AA198"/>
                </a:solidFill>
                <a:latin typeface="DM Sans"/>
                <a:ea typeface="DM Sans"/>
                <a:cs typeface="DM Sans"/>
                <a:sym typeface="DM Sans"/>
              </a:rPr>
              <a:t>"Muuu!"</a:t>
            </a:r>
            <a:r>
              <a:rPr lang="es" sz="1000">
                <a:solidFill>
                  <a:srgbClr val="93A1A1"/>
                </a:solidFill>
                <a:latin typeface="DM Sans"/>
                <a:ea typeface="DM Sans"/>
                <a:cs typeface="DM Sans"/>
                <a:sym typeface="DM Sans"/>
              </a:rPr>
              <a:t>)</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def</a:t>
            </a:r>
            <a:r>
              <a:rPr lang="es" sz="1000">
                <a:solidFill>
                  <a:srgbClr val="5C5962"/>
                </a:solidFill>
                <a:highlight>
                  <a:srgbClr val="F5F6FA"/>
                </a:highlight>
                <a:latin typeface="DM Sans"/>
                <a:ea typeface="DM Sans"/>
                <a:cs typeface="DM Sans"/>
                <a:sym typeface="DM Sans"/>
              </a:rPr>
              <a:t> </a:t>
            </a:r>
            <a:r>
              <a:rPr lang="es" sz="1000">
                <a:solidFill>
                  <a:srgbClr val="268BD2"/>
                </a:solidFill>
                <a:latin typeface="DM Sans"/>
                <a:ea typeface="DM Sans"/>
                <a:cs typeface="DM Sans"/>
                <a:sym typeface="DM Sans"/>
              </a:rPr>
              <a:t>moverse</a:t>
            </a:r>
            <a:r>
              <a:rPr lang="es" sz="1000">
                <a:solidFill>
                  <a:srgbClr val="93A1A1"/>
                </a:solidFill>
                <a:latin typeface="DM Sans"/>
                <a:ea typeface="DM Sans"/>
                <a:cs typeface="DM Sans"/>
                <a:sym typeface="DM Sans"/>
              </a:rPr>
              <a:t>(</a:t>
            </a:r>
            <a:r>
              <a:rPr lang="es" sz="1000">
                <a:solidFill>
                  <a:srgbClr val="268BD2"/>
                </a:solidFill>
                <a:latin typeface="DM Sans"/>
                <a:ea typeface="DM Sans"/>
                <a:cs typeface="DM Sans"/>
                <a:sym typeface="DM Sans"/>
              </a:rPr>
              <a:t>self</a:t>
            </a:r>
            <a:r>
              <a:rPr lang="es" sz="1000">
                <a:solidFill>
                  <a:srgbClr val="93A1A1"/>
                </a:solidFill>
                <a:latin typeface="DM Sans"/>
                <a:ea typeface="DM Sans"/>
                <a:cs typeface="DM Sans"/>
                <a:sym typeface="DM Sans"/>
              </a:rPr>
              <a:t>):</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print</a:t>
            </a:r>
            <a:r>
              <a:rPr lang="es" sz="1000">
                <a:solidFill>
                  <a:srgbClr val="93A1A1"/>
                </a:solidFill>
                <a:latin typeface="DM Sans"/>
                <a:ea typeface="DM Sans"/>
                <a:cs typeface="DM Sans"/>
                <a:sym typeface="DM Sans"/>
              </a:rPr>
              <a:t>(</a:t>
            </a:r>
            <a:r>
              <a:rPr lang="es" sz="1000">
                <a:solidFill>
                  <a:srgbClr val="2AA198"/>
                </a:solidFill>
                <a:latin typeface="DM Sans"/>
                <a:ea typeface="DM Sans"/>
                <a:cs typeface="DM Sans"/>
                <a:sym typeface="DM Sans"/>
              </a:rPr>
              <a:t>"Caminando con 4 patas"</a:t>
            </a:r>
            <a:r>
              <a:rPr lang="es" sz="1000">
                <a:solidFill>
                  <a:srgbClr val="93A1A1"/>
                </a:solidFill>
                <a:latin typeface="DM Sans"/>
                <a:ea typeface="DM Sans"/>
                <a:cs typeface="DM Sans"/>
                <a:sym typeface="DM Sans"/>
              </a:rPr>
              <a:t>)</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859900"/>
                </a:solidFill>
                <a:latin typeface="DM Sans"/>
                <a:ea typeface="DM Sans"/>
                <a:cs typeface="DM Sans"/>
                <a:sym typeface="DM Sans"/>
              </a:rPr>
              <a:t>class</a:t>
            </a:r>
            <a:r>
              <a:rPr lang="es" sz="1000">
                <a:solidFill>
                  <a:srgbClr val="5C5962"/>
                </a:solidFill>
                <a:highlight>
                  <a:srgbClr val="F5F6FA"/>
                </a:highlight>
                <a:latin typeface="DM Sans"/>
                <a:ea typeface="DM Sans"/>
                <a:cs typeface="DM Sans"/>
                <a:sym typeface="DM Sans"/>
              </a:rPr>
              <a:t> </a:t>
            </a:r>
            <a:r>
              <a:rPr lang="es" sz="1000">
                <a:solidFill>
                  <a:srgbClr val="268BD2"/>
                </a:solidFill>
                <a:latin typeface="DM Sans"/>
                <a:ea typeface="DM Sans"/>
                <a:cs typeface="DM Sans"/>
                <a:sym typeface="DM Sans"/>
              </a:rPr>
              <a:t>Abeja</a:t>
            </a:r>
            <a:r>
              <a:rPr lang="es" sz="1000">
                <a:solidFill>
                  <a:srgbClr val="93A1A1"/>
                </a:solidFill>
                <a:latin typeface="DM Sans"/>
                <a:ea typeface="DM Sans"/>
                <a:cs typeface="DM Sans"/>
                <a:sym typeface="DM Sans"/>
              </a:rPr>
              <a:t>(Animal):</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def</a:t>
            </a:r>
            <a:r>
              <a:rPr lang="es" sz="1000">
                <a:solidFill>
                  <a:srgbClr val="5C5962"/>
                </a:solidFill>
                <a:highlight>
                  <a:srgbClr val="F5F6FA"/>
                </a:highlight>
                <a:latin typeface="DM Sans"/>
                <a:ea typeface="DM Sans"/>
                <a:cs typeface="DM Sans"/>
                <a:sym typeface="DM Sans"/>
              </a:rPr>
              <a:t> </a:t>
            </a:r>
            <a:r>
              <a:rPr lang="es" sz="1000">
                <a:solidFill>
                  <a:srgbClr val="268BD2"/>
                </a:solidFill>
                <a:latin typeface="DM Sans"/>
                <a:ea typeface="DM Sans"/>
                <a:cs typeface="DM Sans"/>
                <a:sym typeface="DM Sans"/>
              </a:rPr>
              <a:t>hablar</a:t>
            </a:r>
            <a:r>
              <a:rPr lang="es" sz="1000">
                <a:solidFill>
                  <a:srgbClr val="93A1A1"/>
                </a:solidFill>
                <a:latin typeface="DM Sans"/>
                <a:ea typeface="DM Sans"/>
                <a:cs typeface="DM Sans"/>
                <a:sym typeface="DM Sans"/>
              </a:rPr>
              <a:t>(</a:t>
            </a:r>
            <a:r>
              <a:rPr lang="es" sz="1000">
                <a:solidFill>
                  <a:srgbClr val="268BD2"/>
                </a:solidFill>
                <a:latin typeface="DM Sans"/>
                <a:ea typeface="DM Sans"/>
                <a:cs typeface="DM Sans"/>
                <a:sym typeface="DM Sans"/>
              </a:rPr>
              <a:t>self</a:t>
            </a:r>
            <a:r>
              <a:rPr lang="es" sz="1000">
                <a:solidFill>
                  <a:srgbClr val="93A1A1"/>
                </a:solidFill>
                <a:latin typeface="DM Sans"/>
                <a:ea typeface="DM Sans"/>
                <a:cs typeface="DM Sans"/>
                <a:sym typeface="DM Sans"/>
              </a:rPr>
              <a:t>):</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print</a:t>
            </a:r>
            <a:r>
              <a:rPr lang="es" sz="1000">
                <a:solidFill>
                  <a:srgbClr val="93A1A1"/>
                </a:solidFill>
                <a:latin typeface="DM Sans"/>
                <a:ea typeface="DM Sans"/>
                <a:cs typeface="DM Sans"/>
                <a:sym typeface="DM Sans"/>
              </a:rPr>
              <a:t>(</a:t>
            </a:r>
            <a:r>
              <a:rPr lang="es" sz="1000">
                <a:solidFill>
                  <a:srgbClr val="2AA198"/>
                </a:solidFill>
                <a:latin typeface="DM Sans"/>
                <a:ea typeface="DM Sans"/>
                <a:cs typeface="DM Sans"/>
                <a:sym typeface="DM Sans"/>
              </a:rPr>
              <a:t>"Bzzzz!"</a:t>
            </a:r>
            <a:r>
              <a:rPr lang="es" sz="1000">
                <a:solidFill>
                  <a:srgbClr val="93A1A1"/>
                </a:solidFill>
                <a:latin typeface="DM Sans"/>
                <a:ea typeface="DM Sans"/>
                <a:cs typeface="DM Sans"/>
                <a:sym typeface="DM Sans"/>
              </a:rPr>
              <a:t>)</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def</a:t>
            </a:r>
            <a:r>
              <a:rPr lang="es" sz="1000">
                <a:solidFill>
                  <a:srgbClr val="5C5962"/>
                </a:solidFill>
                <a:highlight>
                  <a:srgbClr val="F5F6FA"/>
                </a:highlight>
                <a:latin typeface="DM Sans"/>
                <a:ea typeface="DM Sans"/>
                <a:cs typeface="DM Sans"/>
                <a:sym typeface="DM Sans"/>
              </a:rPr>
              <a:t> </a:t>
            </a:r>
            <a:r>
              <a:rPr lang="es" sz="1000">
                <a:solidFill>
                  <a:srgbClr val="268BD2"/>
                </a:solidFill>
                <a:latin typeface="DM Sans"/>
                <a:ea typeface="DM Sans"/>
                <a:cs typeface="DM Sans"/>
                <a:sym typeface="DM Sans"/>
              </a:rPr>
              <a:t>moverse</a:t>
            </a:r>
            <a:r>
              <a:rPr lang="es" sz="1000">
                <a:solidFill>
                  <a:srgbClr val="93A1A1"/>
                </a:solidFill>
                <a:latin typeface="DM Sans"/>
                <a:ea typeface="DM Sans"/>
                <a:cs typeface="DM Sans"/>
                <a:sym typeface="DM Sans"/>
              </a:rPr>
              <a:t>(</a:t>
            </a:r>
            <a:r>
              <a:rPr lang="es" sz="1000">
                <a:solidFill>
                  <a:srgbClr val="268BD2"/>
                </a:solidFill>
                <a:latin typeface="DM Sans"/>
                <a:ea typeface="DM Sans"/>
                <a:cs typeface="DM Sans"/>
                <a:sym typeface="DM Sans"/>
              </a:rPr>
              <a:t>self</a:t>
            </a:r>
            <a:r>
              <a:rPr lang="es" sz="1000">
                <a:solidFill>
                  <a:srgbClr val="93A1A1"/>
                </a:solidFill>
                <a:latin typeface="DM Sans"/>
                <a:ea typeface="DM Sans"/>
                <a:cs typeface="DM Sans"/>
                <a:sym typeface="DM Sans"/>
              </a:rPr>
              <a:t>):</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print</a:t>
            </a:r>
            <a:r>
              <a:rPr lang="es" sz="1000">
                <a:solidFill>
                  <a:srgbClr val="93A1A1"/>
                </a:solidFill>
                <a:latin typeface="DM Sans"/>
                <a:ea typeface="DM Sans"/>
                <a:cs typeface="DM Sans"/>
                <a:sym typeface="DM Sans"/>
              </a:rPr>
              <a:t>(</a:t>
            </a:r>
            <a:r>
              <a:rPr lang="es" sz="1000">
                <a:solidFill>
                  <a:srgbClr val="2AA198"/>
                </a:solidFill>
                <a:latin typeface="DM Sans"/>
                <a:ea typeface="DM Sans"/>
                <a:cs typeface="DM Sans"/>
                <a:sym typeface="DM Sans"/>
              </a:rPr>
              <a:t>"Volando"</a:t>
            </a:r>
            <a:r>
              <a:rPr lang="es" sz="1000">
                <a:solidFill>
                  <a:srgbClr val="93A1A1"/>
                </a:solidFill>
                <a:latin typeface="DM Sans"/>
                <a:ea typeface="DM Sans"/>
                <a:cs typeface="DM Sans"/>
                <a:sym typeface="DM Sans"/>
              </a:rPr>
              <a:t>)</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586E75"/>
                </a:solidFill>
                <a:latin typeface="DM Sans"/>
                <a:ea typeface="DM Sans"/>
                <a:cs typeface="DM Sans"/>
                <a:sym typeface="DM Sans"/>
              </a:rPr>
              <a:t># Nuevo método</a:t>
            </a:r>
            <a:endParaRPr sz="1000">
              <a:solidFill>
                <a:srgbClr val="586E75"/>
              </a:solidFill>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def</a:t>
            </a:r>
            <a:r>
              <a:rPr lang="es" sz="1000">
                <a:solidFill>
                  <a:srgbClr val="5C5962"/>
                </a:solidFill>
                <a:highlight>
                  <a:srgbClr val="F5F6FA"/>
                </a:highlight>
                <a:latin typeface="DM Sans"/>
                <a:ea typeface="DM Sans"/>
                <a:cs typeface="DM Sans"/>
                <a:sym typeface="DM Sans"/>
              </a:rPr>
              <a:t> </a:t>
            </a:r>
            <a:r>
              <a:rPr lang="es" sz="1000">
                <a:solidFill>
                  <a:srgbClr val="268BD2"/>
                </a:solidFill>
                <a:latin typeface="DM Sans"/>
                <a:ea typeface="DM Sans"/>
                <a:cs typeface="DM Sans"/>
                <a:sym typeface="DM Sans"/>
              </a:rPr>
              <a:t>picar</a:t>
            </a:r>
            <a:r>
              <a:rPr lang="es" sz="1000">
                <a:solidFill>
                  <a:srgbClr val="93A1A1"/>
                </a:solidFill>
                <a:latin typeface="DM Sans"/>
                <a:ea typeface="DM Sans"/>
                <a:cs typeface="DM Sans"/>
                <a:sym typeface="DM Sans"/>
              </a:rPr>
              <a:t>(</a:t>
            </a:r>
            <a:r>
              <a:rPr lang="es" sz="1000">
                <a:solidFill>
                  <a:srgbClr val="268BD2"/>
                </a:solidFill>
                <a:latin typeface="DM Sans"/>
                <a:ea typeface="DM Sans"/>
                <a:cs typeface="DM Sans"/>
                <a:sym typeface="DM Sans"/>
              </a:rPr>
              <a:t>self</a:t>
            </a:r>
            <a:r>
              <a:rPr lang="es" sz="1000">
                <a:solidFill>
                  <a:srgbClr val="93A1A1"/>
                </a:solidFill>
                <a:latin typeface="DM Sans"/>
                <a:ea typeface="DM Sans"/>
                <a:cs typeface="DM Sans"/>
                <a:sym typeface="DM Sans"/>
              </a:rPr>
              <a:t>):</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print</a:t>
            </a:r>
            <a:r>
              <a:rPr lang="es" sz="1000">
                <a:solidFill>
                  <a:srgbClr val="93A1A1"/>
                </a:solidFill>
                <a:latin typeface="DM Sans"/>
                <a:ea typeface="DM Sans"/>
                <a:cs typeface="DM Sans"/>
                <a:sym typeface="DM Sans"/>
              </a:rPr>
              <a:t>(</a:t>
            </a:r>
            <a:r>
              <a:rPr lang="es" sz="1000">
                <a:solidFill>
                  <a:srgbClr val="2AA198"/>
                </a:solidFill>
                <a:latin typeface="DM Sans"/>
                <a:ea typeface="DM Sans"/>
                <a:cs typeface="DM Sans"/>
                <a:sym typeface="DM Sans"/>
              </a:rPr>
              <a:t>"Picar!"</a:t>
            </a:r>
            <a:r>
              <a:rPr lang="es" sz="1000">
                <a:solidFill>
                  <a:srgbClr val="93A1A1"/>
                </a:solidFill>
                <a:latin typeface="DM Sans"/>
                <a:ea typeface="DM Sans"/>
                <a:cs typeface="DM Sans"/>
                <a:sym typeface="DM Sans"/>
              </a:rPr>
              <a:t>)</a:t>
            </a:r>
            <a:endParaRPr>
              <a:solidFill>
                <a:schemeClr val="dk1"/>
              </a:solidFill>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endParaRPr sz="1000">
              <a:solidFill>
                <a:srgbClr val="586E75"/>
              </a:solidFill>
              <a:latin typeface="DM Sans"/>
              <a:ea typeface="DM Sans"/>
              <a:cs typeface="DM Sans"/>
              <a:sym typeface="DM San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3" name="Google Shape;213;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s" sz="1000">
                <a:solidFill>
                  <a:srgbClr val="93A1A1"/>
                </a:solidFill>
                <a:latin typeface="DM Sans"/>
                <a:ea typeface="DM Sans"/>
                <a:cs typeface="DM Sans"/>
                <a:sym typeface="DM Sans"/>
              </a:rPr>
              <a:t>mi_perro</a:t>
            </a: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a:t>
            </a:r>
            <a:r>
              <a:rPr lang="es" sz="1000">
                <a:solidFill>
                  <a:srgbClr val="5C5962"/>
                </a:solidFill>
                <a:highlight>
                  <a:srgbClr val="F5F6FA"/>
                </a:highlight>
                <a:latin typeface="DM Sans"/>
                <a:ea typeface="DM Sans"/>
                <a:cs typeface="DM Sans"/>
                <a:sym typeface="DM Sans"/>
              </a:rPr>
              <a:t> </a:t>
            </a:r>
            <a:r>
              <a:rPr lang="es" sz="1000">
                <a:solidFill>
                  <a:srgbClr val="93A1A1"/>
                </a:solidFill>
                <a:latin typeface="DM Sans"/>
                <a:ea typeface="DM Sans"/>
                <a:cs typeface="DM Sans"/>
                <a:sym typeface="DM Sans"/>
              </a:rPr>
              <a:t>Perro(</a:t>
            </a:r>
            <a:r>
              <a:rPr lang="es" sz="1000">
                <a:solidFill>
                  <a:srgbClr val="2AA198"/>
                </a:solidFill>
                <a:latin typeface="DM Sans"/>
                <a:ea typeface="DM Sans"/>
                <a:cs typeface="DM Sans"/>
                <a:sym typeface="DM Sans"/>
              </a:rPr>
              <a:t>'mamífero'</a:t>
            </a:r>
            <a:r>
              <a:rPr lang="es" sz="1000">
                <a:solidFill>
                  <a:srgbClr val="93A1A1"/>
                </a:solidFill>
                <a:latin typeface="DM Sans"/>
                <a:ea typeface="DM Sans"/>
                <a:cs typeface="DM Sans"/>
                <a:sym typeface="DM Sans"/>
              </a:rPr>
              <a:t>,</a:t>
            </a:r>
            <a:r>
              <a:rPr lang="es" sz="1000">
                <a:solidFill>
                  <a:srgbClr val="5C5962"/>
                </a:solidFill>
                <a:highlight>
                  <a:srgbClr val="F5F6FA"/>
                </a:highlight>
                <a:latin typeface="DM Sans"/>
                <a:ea typeface="DM Sans"/>
                <a:cs typeface="DM Sans"/>
                <a:sym typeface="DM Sans"/>
              </a:rPr>
              <a:t> </a:t>
            </a:r>
            <a:r>
              <a:rPr lang="es" sz="1000">
                <a:solidFill>
                  <a:srgbClr val="2AA198"/>
                </a:solidFill>
                <a:latin typeface="DM Sans"/>
                <a:ea typeface="DM Sans"/>
                <a:cs typeface="DM Sans"/>
                <a:sym typeface="DM Sans"/>
              </a:rPr>
              <a:t>10</a:t>
            </a:r>
            <a:r>
              <a:rPr lang="es" sz="1000">
                <a:solidFill>
                  <a:srgbClr val="93A1A1"/>
                </a:solidFill>
                <a:latin typeface="DM Sans"/>
                <a:ea typeface="DM Sans"/>
                <a:cs typeface="DM Sans"/>
                <a:sym typeface="DM Sans"/>
              </a:rPr>
              <a:t>)</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93A1A1"/>
                </a:solidFill>
                <a:latin typeface="DM Sans"/>
                <a:ea typeface="DM Sans"/>
                <a:cs typeface="DM Sans"/>
                <a:sym typeface="DM Sans"/>
              </a:rPr>
              <a:t>mi_vaca</a:t>
            </a: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a:t>
            </a:r>
            <a:r>
              <a:rPr lang="es" sz="1000">
                <a:solidFill>
                  <a:srgbClr val="5C5962"/>
                </a:solidFill>
                <a:highlight>
                  <a:srgbClr val="F5F6FA"/>
                </a:highlight>
                <a:latin typeface="DM Sans"/>
                <a:ea typeface="DM Sans"/>
                <a:cs typeface="DM Sans"/>
                <a:sym typeface="DM Sans"/>
              </a:rPr>
              <a:t> </a:t>
            </a:r>
            <a:r>
              <a:rPr lang="es" sz="1000">
                <a:solidFill>
                  <a:srgbClr val="93A1A1"/>
                </a:solidFill>
                <a:latin typeface="DM Sans"/>
                <a:ea typeface="DM Sans"/>
                <a:cs typeface="DM Sans"/>
                <a:sym typeface="DM Sans"/>
              </a:rPr>
              <a:t>Vaca(</a:t>
            </a:r>
            <a:r>
              <a:rPr lang="es" sz="1000">
                <a:solidFill>
                  <a:srgbClr val="2AA198"/>
                </a:solidFill>
                <a:latin typeface="DM Sans"/>
                <a:ea typeface="DM Sans"/>
                <a:cs typeface="DM Sans"/>
                <a:sym typeface="DM Sans"/>
              </a:rPr>
              <a:t>'mamífero'</a:t>
            </a:r>
            <a:r>
              <a:rPr lang="es" sz="1000">
                <a:solidFill>
                  <a:srgbClr val="93A1A1"/>
                </a:solidFill>
                <a:latin typeface="DM Sans"/>
                <a:ea typeface="DM Sans"/>
                <a:cs typeface="DM Sans"/>
                <a:sym typeface="DM Sans"/>
              </a:rPr>
              <a:t>,</a:t>
            </a:r>
            <a:r>
              <a:rPr lang="es" sz="1000">
                <a:solidFill>
                  <a:srgbClr val="5C5962"/>
                </a:solidFill>
                <a:highlight>
                  <a:srgbClr val="F5F6FA"/>
                </a:highlight>
                <a:latin typeface="DM Sans"/>
                <a:ea typeface="DM Sans"/>
                <a:cs typeface="DM Sans"/>
                <a:sym typeface="DM Sans"/>
              </a:rPr>
              <a:t> </a:t>
            </a:r>
            <a:r>
              <a:rPr lang="es" sz="1000">
                <a:solidFill>
                  <a:srgbClr val="2AA198"/>
                </a:solidFill>
                <a:latin typeface="DM Sans"/>
                <a:ea typeface="DM Sans"/>
                <a:cs typeface="DM Sans"/>
                <a:sym typeface="DM Sans"/>
              </a:rPr>
              <a:t>23</a:t>
            </a:r>
            <a:r>
              <a:rPr lang="es" sz="1000">
                <a:solidFill>
                  <a:srgbClr val="93A1A1"/>
                </a:solidFill>
                <a:latin typeface="DM Sans"/>
                <a:ea typeface="DM Sans"/>
                <a:cs typeface="DM Sans"/>
                <a:sym typeface="DM Sans"/>
              </a:rPr>
              <a:t>)</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93A1A1"/>
                </a:solidFill>
                <a:latin typeface="DM Sans"/>
                <a:ea typeface="DM Sans"/>
                <a:cs typeface="DM Sans"/>
                <a:sym typeface="DM Sans"/>
              </a:rPr>
              <a:t>mi_abeja</a:t>
            </a: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a:t>
            </a:r>
            <a:r>
              <a:rPr lang="es" sz="1000">
                <a:solidFill>
                  <a:srgbClr val="5C5962"/>
                </a:solidFill>
                <a:highlight>
                  <a:srgbClr val="F5F6FA"/>
                </a:highlight>
                <a:latin typeface="DM Sans"/>
                <a:ea typeface="DM Sans"/>
                <a:cs typeface="DM Sans"/>
                <a:sym typeface="DM Sans"/>
              </a:rPr>
              <a:t> </a:t>
            </a:r>
            <a:r>
              <a:rPr lang="es" sz="1000">
                <a:solidFill>
                  <a:srgbClr val="93A1A1"/>
                </a:solidFill>
                <a:latin typeface="DM Sans"/>
                <a:ea typeface="DM Sans"/>
                <a:cs typeface="DM Sans"/>
                <a:sym typeface="DM Sans"/>
              </a:rPr>
              <a:t>Abeja(</a:t>
            </a:r>
            <a:r>
              <a:rPr lang="es" sz="1000">
                <a:solidFill>
                  <a:srgbClr val="2AA198"/>
                </a:solidFill>
                <a:latin typeface="DM Sans"/>
                <a:ea typeface="DM Sans"/>
                <a:cs typeface="DM Sans"/>
                <a:sym typeface="DM Sans"/>
              </a:rPr>
              <a:t>'insecto'</a:t>
            </a:r>
            <a:r>
              <a:rPr lang="es" sz="1000">
                <a:solidFill>
                  <a:srgbClr val="93A1A1"/>
                </a:solidFill>
                <a:latin typeface="DM Sans"/>
                <a:ea typeface="DM Sans"/>
                <a:cs typeface="DM Sans"/>
                <a:sym typeface="DM Sans"/>
              </a:rPr>
              <a:t>,</a:t>
            </a:r>
            <a:r>
              <a:rPr lang="es" sz="1000">
                <a:solidFill>
                  <a:srgbClr val="5C5962"/>
                </a:solidFill>
                <a:highlight>
                  <a:srgbClr val="F5F6FA"/>
                </a:highlight>
                <a:latin typeface="DM Sans"/>
                <a:ea typeface="DM Sans"/>
                <a:cs typeface="DM Sans"/>
                <a:sym typeface="DM Sans"/>
              </a:rPr>
              <a:t> </a:t>
            </a:r>
            <a:r>
              <a:rPr lang="es" sz="1000">
                <a:solidFill>
                  <a:srgbClr val="2AA198"/>
                </a:solidFill>
                <a:latin typeface="DM Sans"/>
                <a:ea typeface="DM Sans"/>
                <a:cs typeface="DM Sans"/>
                <a:sym typeface="DM Sans"/>
              </a:rPr>
              <a:t>1</a:t>
            </a:r>
            <a:r>
              <a:rPr lang="es" sz="1000">
                <a:solidFill>
                  <a:srgbClr val="93A1A1"/>
                </a:solidFill>
                <a:latin typeface="DM Sans"/>
                <a:ea typeface="DM Sans"/>
                <a:cs typeface="DM Sans"/>
                <a:sym typeface="DM Sans"/>
              </a:rPr>
              <a:t>)</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93A1A1"/>
                </a:solidFill>
                <a:latin typeface="DM Sans"/>
                <a:ea typeface="DM Sans"/>
                <a:cs typeface="DM Sans"/>
                <a:sym typeface="DM Sans"/>
              </a:rPr>
              <a:t>mi_perro.hablar()</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93A1A1"/>
                </a:solidFill>
                <a:latin typeface="DM Sans"/>
                <a:ea typeface="DM Sans"/>
                <a:cs typeface="DM Sans"/>
                <a:sym typeface="DM Sans"/>
              </a:rPr>
              <a:t>mi_vaca.hablar()</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86E75"/>
                </a:solidFill>
                <a:latin typeface="DM Sans"/>
                <a:ea typeface="DM Sans"/>
                <a:cs typeface="DM Sans"/>
                <a:sym typeface="DM Sans"/>
              </a:rPr>
              <a:t># Guau!</a:t>
            </a:r>
            <a:endParaRPr sz="1000">
              <a:solidFill>
                <a:srgbClr val="586E75"/>
              </a:solidFill>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86E75"/>
                </a:solidFill>
                <a:latin typeface="DM Sans"/>
                <a:ea typeface="DM Sans"/>
                <a:cs typeface="DM Sans"/>
                <a:sym typeface="DM Sans"/>
              </a:rPr>
              <a:t># Muuu!</a:t>
            </a:r>
            <a:endParaRPr sz="1000">
              <a:solidFill>
                <a:srgbClr val="586E75"/>
              </a:solidFill>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93A1A1"/>
                </a:solidFill>
                <a:latin typeface="DM Sans"/>
                <a:ea typeface="DM Sans"/>
                <a:cs typeface="DM Sans"/>
                <a:sym typeface="DM Sans"/>
              </a:rPr>
              <a:t>mi_vaca.describeme()</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93A1A1"/>
                </a:solidFill>
                <a:latin typeface="DM Sans"/>
                <a:ea typeface="DM Sans"/>
                <a:cs typeface="DM Sans"/>
                <a:sym typeface="DM Sans"/>
              </a:rPr>
              <a:t>mi_abeja.describeme()</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86E75"/>
                </a:solidFill>
                <a:latin typeface="DM Sans"/>
                <a:ea typeface="DM Sans"/>
                <a:cs typeface="DM Sans"/>
                <a:sym typeface="DM Sans"/>
              </a:rPr>
              <a:t># Soy un Animal del tipo Vaca</a:t>
            </a:r>
            <a:endParaRPr sz="1000">
              <a:solidFill>
                <a:srgbClr val="586E75"/>
              </a:solidFill>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86E75"/>
                </a:solidFill>
                <a:latin typeface="DM Sans"/>
                <a:ea typeface="DM Sans"/>
                <a:cs typeface="DM Sans"/>
                <a:sym typeface="DM Sans"/>
              </a:rPr>
              <a:t># Soy un Animal del tipo Abeja</a:t>
            </a:r>
            <a:endParaRPr sz="1000">
              <a:solidFill>
                <a:srgbClr val="586E75"/>
              </a:solidFill>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93A1A1"/>
                </a:solidFill>
                <a:latin typeface="DM Sans"/>
                <a:ea typeface="DM Sans"/>
                <a:cs typeface="DM Sans"/>
                <a:sym typeface="DM Sans"/>
              </a:rPr>
              <a:t>mi_abeja.picar()</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86E75"/>
                </a:solidFill>
                <a:latin typeface="DM Sans"/>
                <a:ea typeface="DM Sans"/>
                <a:cs typeface="DM Sans"/>
                <a:sym typeface="DM Sans"/>
              </a:rPr>
              <a:t># Picar!</a:t>
            </a:r>
            <a:endParaRPr sz="1000">
              <a:solidFill>
                <a:srgbClr val="859900"/>
              </a:solidFill>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endParaRPr sz="1000">
              <a:solidFill>
                <a:srgbClr val="586E75"/>
              </a:solidFill>
              <a:latin typeface="DM Sans"/>
              <a:ea typeface="DM Sans"/>
              <a:cs typeface="DM Sans"/>
              <a:sym typeface="DM Sa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4" name="Google Shape;224;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s" sz="1000">
                <a:solidFill>
                  <a:srgbClr val="93A1A1"/>
                </a:solidFill>
                <a:latin typeface="DM Sans"/>
                <a:ea typeface="DM Sans"/>
                <a:cs typeface="DM Sans"/>
                <a:sym typeface="DM Sans"/>
              </a:rPr>
              <a:t>mi_perro</a:t>
            </a: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a:t>
            </a:r>
            <a:r>
              <a:rPr lang="es" sz="1000">
                <a:solidFill>
                  <a:srgbClr val="5C5962"/>
                </a:solidFill>
                <a:highlight>
                  <a:srgbClr val="F5F6FA"/>
                </a:highlight>
                <a:latin typeface="DM Sans"/>
                <a:ea typeface="DM Sans"/>
                <a:cs typeface="DM Sans"/>
                <a:sym typeface="DM Sans"/>
              </a:rPr>
              <a:t> </a:t>
            </a:r>
            <a:r>
              <a:rPr lang="es" sz="1000">
                <a:solidFill>
                  <a:srgbClr val="93A1A1"/>
                </a:solidFill>
                <a:latin typeface="DM Sans"/>
                <a:ea typeface="DM Sans"/>
                <a:cs typeface="DM Sans"/>
                <a:sym typeface="DM Sans"/>
              </a:rPr>
              <a:t>Perro(</a:t>
            </a:r>
            <a:r>
              <a:rPr lang="es" sz="1000">
                <a:solidFill>
                  <a:srgbClr val="2AA198"/>
                </a:solidFill>
                <a:latin typeface="DM Sans"/>
                <a:ea typeface="DM Sans"/>
                <a:cs typeface="DM Sans"/>
                <a:sym typeface="DM Sans"/>
              </a:rPr>
              <a:t>'mamífero'</a:t>
            </a:r>
            <a:r>
              <a:rPr lang="es" sz="1000">
                <a:solidFill>
                  <a:srgbClr val="93A1A1"/>
                </a:solidFill>
                <a:latin typeface="DM Sans"/>
                <a:ea typeface="DM Sans"/>
                <a:cs typeface="DM Sans"/>
                <a:sym typeface="DM Sans"/>
              </a:rPr>
              <a:t>,</a:t>
            </a:r>
            <a:r>
              <a:rPr lang="es" sz="1000">
                <a:solidFill>
                  <a:srgbClr val="5C5962"/>
                </a:solidFill>
                <a:highlight>
                  <a:srgbClr val="F5F6FA"/>
                </a:highlight>
                <a:latin typeface="DM Sans"/>
                <a:ea typeface="DM Sans"/>
                <a:cs typeface="DM Sans"/>
                <a:sym typeface="DM Sans"/>
              </a:rPr>
              <a:t> </a:t>
            </a:r>
            <a:r>
              <a:rPr lang="es" sz="1000">
                <a:solidFill>
                  <a:srgbClr val="2AA198"/>
                </a:solidFill>
                <a:latin typeface="DM Sans"/>
                <a:ea typeface="DM Sans"/>
                <a:cs typeface="DM Sans"/>
                <a:sym typeface="DM Sans"/>
              </a:rPr>
              <a:t>10</a:t>
            </a:r>
            <a:r>
              <a:rPr lang="es" sz="1000">
                <a:solidFill>
                  <a:srgbClr val="93A1A1"/>
                </a:solidFill>
                <a:latin typeface="DM Sans"/>
                <a:ea typeface="DM Sans"/>
                <a:cs typeface="DM Sans"/>
                <a:sym typeface="DM Sans"/>
              </a:rPr>
              <a:t>)</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93A1A1"/>
                </a:solidFill>
                <a:latin typeface="DM Sans"/>
                <a:ea typeface="DM Sans"/>
                <a:cs typeface="DM Sans"/>
                <a:sym typeface="DM Sans"/>
              </a:rPr>
              <a:t>mi_vaca</a:t>
            </a: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a:t>
            </a:r>
            <a:r>
              <a:rPr lang="es" sz="1000">
                <a:solidFill>
                  <a:srgbClr val="5C5962"/>
                </a:solidFill>
                <a:highlight>
                  <a:srgbClr val="F5F6FA"/>
                </a:highlight>
                <a:latin typeface="DM Sans"/>
                <a:ea typeface="DM Sans"/>
                <a:cs typeface="DM Sans"/>
                <a:sym typeface="DM Sans"/>
              </a:rPr>
              <a:t> </a:t>
            </a:r>
            <a:r>
              <a:rPr lang="es" sz="1000">
                <a:solidFill>
                  <a:srgbClr val="93A1A1"/>
                </a:solidFill>
                <a:latin typeface="DM Sans"/>
                <a:ea typeface="DM Sans"/>
                <a:cs typeface="DM Sans"/>
                <a:sym typeface="DM Sans"/>
              </a:rPr>
              <a:t>Vaca(</a:t>
            </a:r>
            <a:r>
              <a:rPr lang="es" sz="1000">
                <a:solidFill>
                  <a:srgbClr val="2AA198"/>
                </a:solidFill>
                <a:latin typeface="DM Sans"/>
                <a:ea typeface="DM Sans"/>
                <a:cs typeface="DM Sans"/>
                <a:sym typeface="DM Sans"/>
              </a:rPr>
              <a:t>'mamífero'</a:t>
            </a:r>
            <a:r>
              <a:rPr lang="es" sz="1000">
                <a:solidFill>
                  <a:srgbClr val="93A1A1"/>
                </a:solidFill>
                <a:latin typeface="DM Sans"/>
                <a:ea typeface="DM Sans"/>
                <a:cs typeface="DM Sans"/>
                <a:sym typeface="DM Sans"/>
              </a:rPr>
              <a:t>,</a:t>
            </a:r>
            <a:r>
              <a:rPr lang="es" sz="1000">
                <a:solidFill>
                  <a:srgbClr val="5C5962"/>
                </a:solidFill>
                <a:highlight>
                  <a:srgbClr val="F5F6FA"/>
                </a:highlight>
                <a:latin typeface="DM Sans"/>
                <a:ea typeface="DM Sans"/>
                <a:cs typeface="DM Sans"/>
                <a:sym typeface="DM Sans"/>
              </a:rPr>
              <a:t> </a:t>
            </a:r>
            <a:r>
              <a:rPr lang="es" sz="1000">
                <a:solidFill>
                  <a:srgbClr val="2AA198"/>
                </a:solidFill>
                <a:latin typeface="DM Sans"/>
                <a:ea typeface="DM Sans"/>
                <a:cs typeface="DM Sans"/>
                <a:sym typeface="DM Sans"/>
              </a:rPr>
              <a:t>23</a:t>
            </a:r>
            <a:r>
              <a:rPr lang="es" sz="1000">
                <a:solidFill>
                  <a:srgbClr val="93A1A1"/>
                </a:solidFill>
                <a:latin typeface="DM Sans"/>
                <a:ea typeface="DM Sans"/>
                <a:cs typeface="DM Sans"/>
                <a:sym typeface="DM Sans"/>
              </a:rPr>
              <a:t>)</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93A1A1"/>
                </a:solidFill>
                <a:latin typeface="DM Sans"/>
                <a:ea typeface="DM Sans"/>
                <a:cs typeface="DM Sans"/>
                <a:sym typeface="DM Sans"/>
              </a:rPr>
              <a:t>mi_abeja</a:t>
            </a: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a:t>
            </a:r>
            <a:r>
              <a:rPr lang="es" sz="1000">
                <a:solidFill>
                  <a:srgbClr val="5C5962"/>
                </a:solidFill>
                <a:highlight>
                  <a:srgbClr val="F5F6FA"/>
                </a:highlight>
                <a:latin typeface="DM Sans"/>
                <a:ea typeface="DM Sans"/>
                <a:cs typeface="DM Sans"/>
                <a:sym typeface="DM Sans"/>
              </a:rPr>
              <a:t> </a:t>
            </a:r>
            <a:r>
              <a:rPr lang="es" sz="1000">
                <a:solidFill>
                  <a:srgbClr val="93A1A1"/>
                </a:solidFill>
                <a:latin typeface="DM Sans"/>
                <a:ea typeface="DM Sans"/>
                <a:cs typeface="DM Sans"/>
                <a:sym typeface="DM Sans"/>
              </a:rPr>
              <a:t>Abeja(</a:t>
            </a:r>
            <a:r>
              <a:rPr lang="es" sz="1000">
                <a:solidFill>
                  <a:srgbClr val="2AA198"/>
                </a:solidFill>
                <a:latin typeface="DM Sans"/>
                <a:ea typeface="DM Sans"/>
                <a:cs typeface="DM Sans"/>
                <a:sym typeface="DM Sans"/>
              </a:rPr>
              <a:t>'insecto'</a:t>
            </a:r>
            <a:r>
              <a:rPr lang="es" sz="1000">
                <a:solidFill>
                  <a:srgbClr val="93A1A1"/>
                </a:solidFill>
                <a:latin typeface="DM Sans"/>
                <a:ea typeface="DM Sans"/>
                <a:cs typeface="DM Sans"/>
                <a:sym typeface="DM Sans"/>
              </a:rPr>
              <a:t>,</a:t>
            </a:r>
            <a:r>
              <a:rPr lang="es" sz="1000">
                <a:solidFill>
                  <a:srgbClr val="5C5962"/>
                </a:solidFill>
                <a:highlight>
                  <a:srgbClr val="F5F6FA"/>
                </a:highlight>
                <a:latin typeface="DM Sans"/>
                <a:ea typeface="DM Sans"/>
                <a:cs typeface="DM Sans"/>
                <a:sym typeface="DM Sans"/>
              </a:rPr>
              <a:t> </a:t>
            </a:r>
            <a:r>
              <a:rPr lang="es" sz="1000">
                <a:solidFill>
                  <a:srgbClr val="2AA198"/>
                </a:solidFill>
                <a:latin typeface="DM Sans"/>
                <a:ea typeface="DM Sans"/>
                <a:cs typeface="DM Sans"/>
                <a:sym typeface="DM Sans"/>
              </a:rPr>
              <a:t>1</a:t>
            </a:r>
            <a:r>
              <a:rPr lang="es" sz="1000">
                <a:solidFill>
                  <a:srgbClr val="93A1A1"/>
                </a:solidFill>
                <a:latin typeface="DM Sans"/>
                <a:ea typeface="DM Sans"/>
                <a:cs typeface="DM Sans"/>
                <a:sym typeface="DM Sans"/>
              </a:rPr>
              <a:t>)</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93A1A1"/>
                </a:solidFill>
                <a:latin typeface="DM Sans"/>
                <a:ea typeface="DM Sans"/>
                <a:cs typeface="DM Sans"/>
                <a:sym typeface="DM Sans"/>
              </a:rPr>
              <a:t>mi_perro.hablar()</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93A1A1"/>
                </a:solidFill>
                <a:latin typeface="DM Sans"/>
                <a:ea typeface="DM Sans"/>
                <a:cs typeface="DM Sans"/>
                <a:sym typeface="DM Sans"/>
              </a:rPr>
              <a:t>mi_vaca.hablar()</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86E75"/>
                </a:solidFill>
                <a:latin typeface="DM Sans"/>
                <a:ea typeface="DM Sans"/>
                <a:cs typeface="DM Sans"/>
                <a:sym typeface="DM Sans"/>
              </a:rPr>
              <a:t># Guau!</a:t>
            </a:r>
            <a:endParaRPr sz="1000">
              <a:solidFill>
                <a:srgbClr val="586E75"/>
              </a:solidFill>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86E75"/>
                </a:solidFill>
                <a:latin typeface="DM Sans"/>
                <a:ea typeface="DM Sans"/>
                <a:cs typeface="DM Sans"/>
                <a:sym typeface="DM Sans"/>
              </a:rPr>
              <a:t># Muuu!</a:t>
            </a:r>
            <a:endParaRPr sz="1000">
              <a:solidFill>
                <a:srgbClr val="586E75"/>
              </a:solidFill>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93A1A1"/>
                </a:solidFill>
                <a:latin typeface="DM Sans"/>
                <a:ea typeface="DM Sans"/>
                <a:cs typeface="DM Sans"/>
                <a:sym typeface="DM Sans"/>
              </a:rPr>
              <a:t>mi_vaca.describeme()</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93A1A1"/>
                </a:solidFill>
                <a:latin typeface="DM Sans"/>
                <a:ea typeface="DM Sans"/>
                <a:cs typeface="DM Sans"/>
                <a:sym typeface="DM Sans"/>
              </a:rPr>
              <a:t>mi_abeja.describeme()</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86E75"/>
                </a:solidFill>
                <a:latin typeface="DM Sans"/>
                <a:ea typeface="DM Sans"/>
                <a:cs typeface="DM Sans"/>
                <a:sym typeface="DM Sans"/>
              </a:rPr>
              <a:t># Soy un Animal del tipo Vaca</a:t>
            </a:r>
            <a:endParaRPr sz="1000">
              <a:solidFill>
                <a:srgbClr val="586E75"/>
              </a:solidFill>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86E75"/>
                </a:solidFill>
                <a:latin typeface="DM Sans"/>
                <a:ea typeface="DM Sans"/>
                <a:cs typeface="DM Sans"/>
                <a:sym typeface="DM Sans"/>
              </a:rPr>
              <a:t># Soy un Animal del tipo Abeja</a:t>
            </a:r>
            <a:endParaRPr sz="1000">
              <a:solidFill>
                <a:srgbClr val="586E75"/>
              </a:solidFill>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93A1A1"/>
                </a:solidFill>
                <a:latin typeface="DM Sans"/>
                <a:ea typeface="DM Sans"/>
                <a:cs typeface="DM Sans"/>
                <a:sym typeface="DM Sans"/>
              </a:rPr>
              <a:t>mi_abeja.picar()</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86E75"/>
                </a:solidFill>
                <a:latin typeface="DM Sans"/>
                <a:ea typeface="DM Sans"/>
                <a:cs typeface="DM Sans"/>
                <a:sym typeface="DM Sans"/>
              </a:rPr>
              <a:t># Picar!</a:t>
            </a:r>
            <a:endParaRPr>
              <a:solidFill>
                <a:schemeClr val="dk1"/>
              </a:solidFill>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endParaRPr sz="1000">
              <a:solidFill>
                <a:srgbClr val="586E75"/>
              </a:solidFill>
              <a:latin typeface="DM Sans"/>
              <a:ea typeface="DM Sans"/>
              <a:cs typeface="DM Sans"/>
              <a:sym typeface="DM San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5" name="Google Shape;235;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0" name="Google Shape;240;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s" sz="1000">
                <a:solidFill>
                  <a:srgbClr val="859900"/>
                </a:solidFill>
                <a:latin typeface="DM Sans"/>
                <a:ea typeface="DM Sans"/>
                <a:cs typeface="DM Sans"/>
                <a:sym typeface="DM Sans"/>
              </a:rPr>
              <a:t>class</a:t>
            </a:r>
            <a:r>
              <a:rPr lang="es" sz="1000">
                <a:solidFill>
                  <a:srgbClr val="5C5962"/>
                </a:solidFill>
                <a:highlight>
                  <a:srgbClr val="F5F6FA"/>
                </a:highlight>
                <a:latin typeface="DM Sans"/>
                <a:ea typeface="DM Sans"/>
                <a:cs typeface="DM Sans"/>
                <a:sym typeface="DM Sans"/>
              </a:rPr>
              <a:t> </a:t>
            </a:r>
            <a:r>
              <a:rPr lang="es" sz="1000">
                <a:solidFill>
                  <a:srgbClr val="268BD2"/>
                </a:solidFill>
                <a:latin typeface="DM Sans"/>
                <a:ea typeface="DM Sans"/>
                <a:cs typeface="DM Sans"/>
                <a:sym typeface="DM Sans"/>
              </a:rPr>
              <a:t>Animal</a:t>
            </a:r>
            <a:r>
              <a:rPr lang="es" sz="1000">
                <a:solidFill>
                  <a:srgbClr val="93A1A1"/>
                </a:solidFill>
                <a:latin typeface="DM Sans"/>
                <a:ea typeface="DM Sans"/>
                <a:cs typeface="DM Sans"/>
                <a:sym typeface="DM Sans"/>
              </a:rPr>
              <a:t>:</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def</a:t>
            </a:r>
            <a:r>
              <a:rPr lang="es" sz="1000">
                <a:solidFill>
                  <a:srgbClr val="5C5962"/>
                </a:solidFill>
                <a:highlight>
                  <a:srgbClr val="F5F6FA"/>
                </a:highlight>
                <a:latin typeface="DM Sans"/>
                <a:ea typeface="DM Sans"/>
                <a:cs typeface="DM Sans"/>
                <a:sym typeface="DM Sans"/>
              </a:rPr>
              <a:t> </a:t>
            </a:r>
            <a:r>
              <a:rPr lang="es" sz="1000">
                <a:solidFill>
                  <a:srgbClr val="268BD2"/>
                </a:solidFill>
                <a:latin typeface="DM Sans"/>
                <a:ea typeface="DM Sans"/>
                <a:cs typeface="DM Sans"/>
                <a:sym typeface="DM Sans"/>
              </a:rPr>
              <a:t>__init__</a:t>
            </a:r>
            <a:r>
              <a:rPr lang="es" sz="1000">
                <a:solidFill>
                  <a:srgbClr val="93A1A1"/>
                </a:solidFill>
                <a:latin typeface="DM Sans"/>
                <a:ea typeface="DM Sans"/>
                <a:cs typeface="DM Sans"/>
                <a:sym typeface="DM Sans"/>
              </a:rPr>
              <a:t>(</a:t>
            </a:r>
            <a:r>
              <a:rPr lang="es" sz="1000">
                <a:solidFill>
                  <a:srgbClr val="268BD2"/>
                </a:solidFill>
                <a:latin typeface="DM Sans"/>
                <a:ea typeface="DM Sans"/>
                <a:cs typeface="DM Sans"/>
                <a:sym typeface="DM Sans"/>
              </a:rPr>
              <a:t>self</a:t>
            </a:r>
            <a:r>
              <a:rPr lang="es" sz="1000">
                <a:solidFill>
                  <a:srgbClr val="93A1A1"/>
                </a:solidFill>
                <a:latin typeface="DM Sans"/>
                <a:ea typeface="DM Sans"/>
                <a:cs typeface="DM Sans"/>
                <a:sym typeface="DM Sans"/>
              </a:rPr>
              <a:t>,</a:t>
            </a:r>
            <a:r>
              <a:rPr lang="es" sz="1000">
                <a:solidFill>
                  <a:srgbClr val="5C5962"/>
                </a:solidFill>
                <a:highlight>
                  <a:srgbClr val="F5F6FA"/>
                </a:highlight>
                <a:latin typeface="DM Sans"/>
                <a:ea typeface="DM Sans"/>
                <a:cs typeface="DM Sans"/>
                <a:sym typeface="DM Sans"/>
              </a:rPr>
              <a:t> </a:t>
            </a:r>
            <a:r>
              <a:rPr lang="es" sz="1000">
                <a:solidFill>
                  <a:srgbClr val="93A1A1"/>
                </a:solidFill>
                <a:latin typeface="DM Sans"/>
                <a:ea typeface="DM Sans"/>
                <a:cs typeface="DM Sans"/>
                <a:sym typeface="DM Sans"/>
              </a:rPr>
              <a:t>especie,</a:t>
            </a:r>
            <a:r>
              <a:rPr lang="es" sz="1000">
                <a:solidFill>
                  <a:srgbClr val="5C5962"/>
                </a:solidFill>
                <a:highlight>
                  <a:srgbClr val="F5F6FA"/>
                </a:highlight>
                <a:latin typeface="DM Sans"/>
                <a:ea typeface="DM Sans"/>
                <a:cs typeface="DM Sans"/>
                <a:sym typeface="DM Sans"/>
              </a:rPr>
              <a:t> </a:t>
            </a:r>
            <a:r>
              <a:rPr lang="es" sz="1000">
                <a:solidFill>
                  <a:srgbClr val="93A1A1"/>
                </a:solidFill>
                <a:latin typeface="DM Sans"/>
                <a:ea typeface="DM Sans"/>
                <a:cs typeface="DM Sans"/>
                <a:sym typeface="DM Sans"/>
              </a:rPr>
              <a:t>edad):</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268BD2"/>
                </a:solidFill>
                <a:latin typeface="DM Sans"/>
                <a:ea typeface="DM Sans"/>
                <a:cs typeface="DM Sans"/>
                <a:sym typeface="DM Sans"/>
              </a:rPr>
              <a:t>self</a:t>
            </a:r>
            <a:r>
              <a:rPr lang="es" sz="1000">
                <a:solidFill>
                  <a:srgbClr val="93A1A1"/>
                </a:solidFill>
                <a:latin typeface="DM Sans"/>
                <a:ea typeface="DM Sans"/>
                <a:cs typeface="DM Sans"/>
                <a:sym typeface="DM Sans"/>
              </a:rPr>
              <a:t>.especie</a:t>
            </a: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a:t>
            </a:r>
            <a:r>
              <a:rPr lang="es" sz="1000">
                <a:solidFill>
                  <a:srgbClr val="5C5962"/>
                </a:solidFill>
                <a:highlight>
                  <a:srgbClr val="F5F6FA"/>
                </a:highlight>
                <a:latin typeface="DM Sans"/>
                <a:ea typeface="DM Sans"/>
                <a:cs typeface="DM Sans"/>
                <a:sym typeface="DM Sans"/>
              </a:rPr>
              <a:t> </a:t>
            </a:r>
            <a:r>
              <a:rPr lang="es" sz="1000">
                <a:solidFill>
                  <a:srgbClr val="93A1A1"/>
                </a:solidFill>
                <a:latin typeface="DM Sans"/>
                <a:ea typeface="DM Sans"/>
                <a:cs typeface="DM Sans"/>
                <a:sym typeface="DM Sans"/>
              </a:rPr>
              <a:t>especie</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268BD2"/>
                </a:solidFill>
                <a:latin typeface="DM Sans"/>
                <a:ea typeface="DM Sans"/>
                <a:cs typeface="DM Sans"/>
                <a:sym typeface="DM Sans"/>
              </a:rPr>
              <a:t>self</a:t>
            </a:r>
            <a:r>
              <a:rPr lang="es" sz="1000">
                <a:solidFill>
                  <a:srgbClr val="93A1A1"/>
                </a:solidFill>
                <a:latin typeface="DM Sans"/>
                <a:ea typeface="DM Sans"/>
                <a:cs typeface="DM Sans"/>
                <a:sym typeface="DM Sans"/>
              </a:rPr>
              <a:t>.edad</a:t>
            </a: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a:t>
            </a:r>
            <a:r>
              <a:rPr lang="es" sz="1000">
                <a:solidFill>
                  <a:srgbClr val="5C5962"/>
                </a:solidFill>
                <a:highlight>
                  <a:srgbClr val="F5F6FA"/>
                </a:highlight>
                <a:latin typeface="DM Sans"/>
                <a:ea typeface="DM Sans"/>
                <a:cs typeface="DM Sans"/>
                <a:sym typeface="DM Sans"/>
              </a:rPr>
              <a:t> </a:t>
            </a:r>
            <a:r>
              <a:rPr lang="es" sz="1000">
                <a:solidFill>
                  <a:srgbClr val="93A1A1"/>
                </a:solidFill>
                <a:latin typeface="DM Sans"/>
                <a:ea typeface="DM Sans"/>
                <a:cs typeface="DM Sans"/>
                <a:sym typeface="DM Sans"/>
              </a:rPr>
              <a:t>edad</a:t>
            </a:r>
            <a:r>
              <a:rPr lang="es" sz="1000">
                <a:solidFill>
                  <a:srgbClr val="5C5962"/>
                </a:solidFill>
                <a:highlight>
                  <a:srgbClr val="F5F6FA"/>
                </a:highlight>
                <a:latin typeface="DM Sans"/>
                <a:ea typeface="DM Sans"/>
                <a:cs typeface="DM Sans"/>
                <a:sym typeface="DM Sans"/>
              </a:rPr>
              <a:t>        </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def</a:t>
            </a:r>
            <a:r>
              <a:rPr lang="es" sz="1000">
                <a:solidFill>
                  <a:srgbClr val="5C5962"/>
                </a:solidFill>
                <a:highlight>
                  <a:srgbClr val="F5F6FA"/>
                </a:highlight>
                <a:latin typeface="DM Sans"/>
                <a:ea typeface="DM Sans"/>
                <a:cs typeface="DM Sans"/>
                <a:sym typeface="DM Sans"/>
              </a:rPr>
              <a:t> </a:t>
            </a:r>
            <a:r>
              <a:rPr lang="es" sz="1000">
                <a:solidFill>
                  <a:srgbClr val="268BD2"/>
                </a:solidFill>
                <a:latin typeface="DM Sans"/>
                <a:ea typeface="DM Sans"/>
                <a:cs typeface="DM Sans"/>
                <a:sym typeface="DM Sans"/>
              </a:rPr>
              <a:t>hablar</a:t>
            </a:r>
            <a:r>
              <a:rPr lang="es" sz="1000">
                <a:solidFill>
                  <a:srgbClr val="93A1A1"/>
                </a:solidFill>
                <a:latin typeface="DM Sans"/>
                <a:ea typeface="DM Sans"/>
                <a:cs typeface="DM Sans"/>
                <a:sym typeface="DM Sans"/>
              </a:rPr>
              <a:t>(</a:t>
            </a:r>
            <a:r>
              <a:rPr lang="es" sz="1000">
                <a:solidFill>
                  <a:srgbClr val="268BD2"/>
                </a:solidFill>
                <a:latin typeface="DM Sans"/>
                <a:ea typeface="DM Sans"/>
                <a:cs typeface="DM Sans"/>
                <a:sym typeface="DM Sans"/>
              </a:rPr>
              <a:t>self</a:t>
            </a:r>
            <a:r>
              <a:rPr lang="es" sz="1000">
                <a:solidFill>
                  <a:srgbClr val="93A1A1"/>
                </a:solidFill>
                <a:latin typeface="DM Sans"/>
                <a:ea typeface="DM Sans"/>
                <a:cs typeface="DM Sans"/>
                <a:sym typeface="DM Sans"/>
              </a:rPr>
              <a:t>):</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pass</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def</a:t>
            </a:r>
            <a:r>
              <a:rPr lang="es" sz="1000">
                <a:solidFill>
                  <a:srgbClr val="5C5962"/>
                </a:solidFill>
                <a:highlight>
                  <a:srgbClr val="F5F6FA"/>
                </a:highlight>
                <a:latin typeface="DM Sans"/>
                <a:ea typeface="DM Sans"/>
                <a:cs typeface="DM Sans"/>
                <a:sym typeface="DM Sans"/>
              </a:rPr>
              <a:t> </a:t>
            </a:r>
            <a:r>
              <a:rPr lang="es" sz="1000">
                <a:solidFill>
                  <a:srgbClr val="268BD2"/>
                </a:solidFill>
                <a:latin typeface="DM Sans"/>
                <a:ea typeface="DM Sans"/>
                <a:cs typeface="DM Sans"/>
                <a:sym typeface="DM Sans"/>
              </a:rPr>
              <a:t>moverse</a:t>
            </a:r>
            <a:r>
              <a:rPr lang="es" sz="1000">
                <a:solidFill>
                  <a:srgbClr val="93A1A1"/>
                </a:solidFill>
                <a:latin typeface="DM Sans"/>
                <a:ea typeface="DM Sans"/>
                <a:cs typeface="DM Sans"/>
                <a:sym typeface="DM Sans"/>
              </a:rPr>
              <a:t>(</a:t>
            </a:r>
            <a:r>
              <a:rPr lang="es" sz="1000">
                <a:solidFill>
                  <a:srgbClr val="268BD2"/>
                </a:solidFill>
                <a:latin typeface="DM Sans"/>
                <a:ea typeface="DM Sans"/>
                <a:cs typeface="DM Sans"/>
                <a:sym typeface="DM Sans"/>
              </a:rPr>
              <a:t>self</a:t>
            </a:r>
            <a:r>
              <a:rPr lang="es" sz="1000">
                <a:solidFill>
                  <a:srgbClr val="93A1A1"/>
                </a:solidFill>
                <a:latin typeface="DM Sans"/>
                <a:ea typeface="DM Sans"/>
                <a:cs typeface="DM Sans"/>
                <a:sym typeface="DM Sans"/>
              </a:rPr>
              <a:t>):</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pass</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def</a:t>
            </a:r>
            <a:r>
              <a:rPr lang="es" sz="1000">
                <a:solidFill>
                  <a:srgbClr val="5C5962"/>
                </a:solidFill>
                <a:highlight>
                  <a:srgbClr val="F5F6FA"/>
                </a:highlight>
                <a:latin typeface="DM Sans"/>
                <a:ea typeface="DM Sans"/>
                <a:cs typeface="DM Sans"/>
                <a:sym typeface="DM Sans"/>
              </a:rPr>
              <a:t> </a:t>
            </a:r>
            <a:r>
              <a:rPr lang="es" sz="1000">
                <a:solidFill>
                  <a:srgbClr val="268BD2"/>
                </a:solidFill>
                <a:latin typeface="DM Sans"/>
                <a:ea typeface="DM Sans"/>
                <a:cs typeface="DM Sans"/>
                <a:sym typeface="DM Sans"/>
              </a:rPr>
              <a:t>describeme</a:t>
            </a:r>
            <a:r>
              <a:rPr lang="es" sz="1000">
                <a:solidFill>
                  <a:srgbClr val="93A1A1"/>
                </a:solidFill>
                <a:latin typeface="DM Sans"/>
                <a:ea typeface="DM Sans"/>
                <a:cs typeface="DM Sans"/>
                <a:sym typeface="DM Sans"/>
              </a:rPr>
              <a:t>(</a:t>
            </a:r>
            <a:r>
              <a:rPr lang="es" sz="1000">
                <a:solidFill>
                  <a:srgbClr val="268BD2"/>
                </a:solidFill>
                <a:latin typeface="DM Sans"/>
                <a:ea typeface="DM Sans"/>
                <a:cs typeface="DM Sans"/>
                <a:sym typeface="DM Sans"/>
              </a:rPr>
              <a:t>self</a:t>
            </a:r>
            <a:r>
              <a:rPr lang="es" sz="1000">
                <a:solidFill>
                  <a:srgbClr val="93A1A1"/>
                </a:solidFill>
                <a:latin typeface="DM Sans"/>
                <a:ea typeface="DM Sans"/>
                <a:cs typeface="DM Sans"/>
                <a:sym typeface="DM Sans"/>
              </a:rPr>
              <a:t>):</a:t>
            </a:r>
            <a:endParaRPr sz="1000">
              <a:solidFill>
                <a:srgbClr val="5C5962"/>
              </a:solidFill>
              <a:highlight>
                <a:srgbClr val="F5F6FA"/>
              </a:highlight>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sz="1000">
                <a:solidFill>
                  <a:srgbClr val="5C5962"/>
                </a:solidFill>
                <a:highlight>
                  <a:srgbClr val="F5F6FA"/>
                </a:highlight>
                <a:latin typeface="DM Sans"/>
                <a:ea typeface="DM Sans"/>
                <a:cs typeface="DM Sans"/>
                <a:sym typeface="DM Sans"/>
              </a:rPr>
              <a:t>        </a:t>
            </a:r>
            <a:r>
              <a:rPr lang="es" sz="1000">
                <a:solidFill>
                  <a:srgbClr val="859900"/>
                </a:solidFill>
                <a:latin typeface="DM Sans"/>
                <a:ea typeface="DM Sans"/>
                <a:cs typeface="DM Sans"/>
                <a:sym typeface="DM Sans"/>
              </a:rPr>
              <a:t>print</a:t>
            </a:r>
            <a:r>
              <a:rPr lang="es" sz="1000">
                <a:solidFill>
                  <a:srgbClr val="93A1A1"/>
                </a:solidFill>
                <a:latin typeface="DM Sans"/>
                <a:ea typeface="DM Sans"/>
                <a:cs typeface="DM Sans"/>
                <a:sym typeface="DM Sans"/>
              </a:rPr>
              <a:t>(</a:t>
            </a:r>
            <a:r>
              <a:rPr lang="es" sz="1000">
                <a:solidFill>
                  <a:srgbClr val="2AA198"/>
                </a:solidFill>
                <a:latin typeface="DM Sans"/>
                <a:ea typeface="DM Sans"/>
                <a:cs typeface="DM Sans"/>
                <a:sym typeface="DM Sans"/>
              </a:rPr>
              <a:t>"Soy un Animal del tipo"</a:t>
            </a:r>
            <a:r>
              <a:rPr lang="es" sz="1000">
                <a:solidFill>
                  <a:srgbClr val="93A1A1"/>
                </a:solidFill>
                <a:latin typeface="DM Sans"/>
                <a:ea typeface="DM Sans"/>
                <a:cs typeface="DM Sans"/>
                <a:sym typeface="DM Sans"/>
              </a:rPr>
              <a:t>,</a:t>
            </a:r>
            <a:r>
              <a:rPr lang="es" sz="1000">
                <a:solidFill>
                  <a:srgbClr val="5C5962"/>
                </a:solidFill>
                <a:highlight>
                  <a:srgbClr val="F5F6FA"/>
                </a:highlight>
                <a:latin typeface="DM Sans"/>
                <a:ea typeface="DM Sans"/>
                <a:cs typeface="DM Sans"/>
                <a:sym typeface="DM Sans"/>
              </a:rPr>
              <a:t> </a:t>
            </a:r>
            <a:r>
              <a:rPr lang="es" sz="1000">
                <a:solidFill>
                  <a:srgbClr val="B58900"/>
                </a:solidFill>
                <a:latin typeface="DM Sans"/>
                <a:ea typeface="DM Sans"/>
                <a:cs typeface="DM Sans"/>
                <a:sym typeface="DM Sans"/>
              </a:rPr>
              <a:t>type</a:t>
            </a:r>
            <a:r>
              <a:rPr lang="es" sz="1000">
                <a:solidFill>
                  <a:srgbClr val="93A1A1"/>
                </a:solidFill>
                <a:latin typeface="DM Sans"/>
                <a:ea typeface="DM Sans"/>
                <a:cs typeface="DM Sans"/>
                <a:sym typeface="DM Sans"/>
              </a:rPr>
              <a:t>(</a:t>
            </a:r>
            <a:r>
              <a:rPr lang="es" sz="1000">
                <a:solidFill>
                  <a:srgbClr val="268BD2"/>
                </a:solidFill>
                <a:latin typeface="DM Sans"/>
                <a:ea typeface="DM Sans"/>
                <a:cs typeface="DM Sans"/>
                <a:sym typeface="DM Sans"/>
              </a:rPr>
              <a:t>self</a:t>
            </a:r>
            <a:r>
              <a:rPr lang="es" sz="1000">
                <a:solidFill>
                  <a:srgbClr val="93A1A1"/>
                </a:solidFill>
                <a:latin typeface="DM Sans"/>
                <a:ea typeface="DM Sans"/>
                <a:cs typeface="DM Sans"/>
                <a:sym typeface="DM Sans"/>
              </a:rPr>
              <a:t>).__name__)</a:t>
            </a:r>
            <a:endParaRPr sz="1000">
              <a:solidFill>
                <a:srgbClr val="586E75"/>
              </a:solidFill>
              <a:latin typeface="DM Sans"/>
              <a:ea typeface="DM Sans"/>
              <a:cs typeface="DM Sans"/>
              <a:sym typeface="DM San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2" name="Google Shape;252;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sz="1000">
              <a:solidFill>
                <a:srgbClr val="586E75"/>
              </a:solidFill>
              <a:latin typeface="DM Sans"/>
              <a:ea typeface="DM Sans"/>
              <a:cs typeface="DM Sans"/>
              <a:sym typeface="DM San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3" name="Google Shape;263;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sz="1000">
              <a:solidFill>
                <a:srgbClr val="586E75"/>
              </a:solidFill>
              <a:latin typeface="DM Sans"/>
              <a:ea typeface="DM Sans"/>
              <a:cs typeface="DM Sans"/>
              <a:sym typeface="DM San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5" name="Google Shape;285;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3" name="Google Shape;293;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304800" algn="l" rtl="0">
              <a:lnSpc>
                <a:spcPct val="115000"/>
              </a:lnSpc>
              <a:spcBef>
                <a:spcPts val="0"/>
              </a:spcBef>
              <a:spcAft>
                <a:spcPts val="0"/>
              </a:spcAft>
              <a:buClr>
                <a:schemeClr val="dk1"/>
              </a:buClr>
              <a:buSzPts val="1200"/>
              <a:buChar char="-"/>
            </a:pPr>
            <a:r>
              <a:rPr lang="es" sz="1400" b="1">
                <a:solidFill>
                  <a:schemeClr val="dk1"/>
                </a:solidFill>
                <a:latin typeface="DM Sans"/>
                <a:ea typeface="DM Sans"/>
                <a:cs typeface="DM Sans"/>
                <a:sym typeface="DM Sans"/>
              </a:rPr>
              <a:t>Fuente</a:t>
            </a:r>
            <a:r>
              <a:rPr lang="es" sz="1400">
                <a:solidFill>
                  <a:schemeClr val="dk1"/>
                </a:solidFill>
                <a:latin typeface="DM Sans"/>
                <a:ea typeface="DM Sans"/>
                <a:cs typeface="DM Sans"/>
                <a:sym typeface="DM Sans"/>
              </a:rPr>
              <a:t>:</a:t>
            </a:r>
            <a:r>
              <a:rPr lang="es" sz="1400">
                <a:solidFill>
                  <a:schemeClr val="lt1"/>
                </a:solidFill>
                <a:latin typeface="DM Sans"/>
                <a:ea typeface="DM Sans"/>
                <a:cs typeface="DM Sans"/>
                <a:sym typeface="DM Sans"/>
              </a:rPr>
              <a:t> </a:t>
            </a:r>
            <a:r>
              <a:rPr lang="es" sz="1400">
                <a:solidFill>
                  <a:schemeClr val="hlink"/>
                </a:solidFill>
                <a:uFill>
                  <a:noFill/>
                </a:uFill>
                <a:latin typeface="DM Sans"/>
                <a:ea typeface="DM Sans"/>
                <a:cs typeface="DM Sans"/>
                <a:sym typeface="DM Sans"/>
                <a:hlinkClick r:id="rId3"/>
              </a:rPr>
              <a:t>ElLibroDePython</a:t>
            </a:r>
            <a:endParaRPr>
              <a:latin typeface="DM Sans"/>
              <a:ea typeface="DM Sans"/>
              <a:cs typeface="DM Sans"/>
              <a:sym typeface="DM San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5" name="Google Shape;305;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3" name="Google Shape;313;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4" name="Google Shape;324;p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5" name="Google Shape;335;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4" name="Google Shape;344;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2" name="Google Shape;352;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3" name="Google Shape;363;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4" name="Google Shape;374;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9" name="Google Shape;379;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7" name="Google Shape;387;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6" name="Google Shape;396;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6" name="Google Shape;406;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1" name="Google Shape;411;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9" name="Google Shape;419;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8" name="Google Shape;428;p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3" name="Google Shape;443;p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5" name="Google Shape;455;p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8" name="Google Shape;468;p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p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1" name="Google Shape;481;p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p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5" name="Google Shape;495;p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3" name="Google Shape;503;p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p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15" name="Google Shape;515;p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p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6" name="Google Shape;526;p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p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7" name="Google Shape;537;p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p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46" name="Google Shape;546;p5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p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51" name="Google Shape;551;p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p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57" name="Google Shape;557;p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5"/>
        <p:cNvGrpSpPr/>
        <p:nvPr/>
      </p:nvGrpSpPr>
      <p:grpSpPr>
        <a:xfrm>
          <a:off x="0" y="0"/>
          <a:ext cx="0" cy="0"/>
          <a:chOff x="0" y="0"/>
          <a:chExt cx="0" cy="0"/>
        </a:xfrm>
      </p:grpSpPr>
      <p:sp>
        <p:nvSpPr>
          <p:cNvPr id="566" name="Google Shape;566;p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7" name="Google Shape;567;p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9"/>
        <p:cNvGrpSpPr/>
        <p:nvPr/>
      </p:nvGrpSpPr>
      <p:grpSpPr>
        <a:xfrm>
          <a:off x="0" y="0"/>
          <a:ext cx="0" cy="0"/>
          <a:chOff x="0" y="0"/>
          <a:chExt cx="0" cy="0"/>
        </a:xfrm>
      </p:grpSpPr>
      <p:sp>
        <p:nvSpPr>
          <p:cNvPr id="580" name="Google Shape;580;p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1" name="Google Shape;581;p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solidFill>
                <a:schemeClr val="accent1"/>
              </a:solidFill>
              <a:latin typeface="DM Sans"/>
              <a:ea typeface="DM Sans"/>
              <a:cs typeface="DM Sans"/>
              <a:sym typeface="DM Sans"/>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p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2" name="Google Shape;592;p5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02-B">
  <p:cSld name="SECTION_HEADER_1">
    <p:bg>
      <p:bgPr>
        <a:blipFill>
          <a:blip r:embed="rId2">
            <a:alphaModFix/>
          </a:blip>
          <a:stretch>
            <a:fillRect/>
          </a:stretch>
        </a:blipFill>
        <a:effectLst/>
      </p:bgPr>
    </p:bg>
    <p:spTree>
      <p:nvGrpSpPr>
        <p:cNvPr id="1" name="Shape 9"/>
        <p:cNvGrpSpPr/>
        <p:nvPr/>
      </p:nvGrpSpPr>
      <p:grpSpPr>
        <a:xfrm>
          <a:off x="0" y="0"/>
          <a:ext cx="0" cy="0"/>
          <a:chOff x="0" y="0"/>
          <a:chExt cx="0" cy="0"/>
        </a:xfrm>
      </p:grpSpPr>
      <p:pic>
        <p:nvPicPr>
          <p:cNvPr id="10" name="Google Shape;10;p2" title="logo coderhouse"/>
          <p:cNvPicPr preferRelativeResize="0"/>
          <p:nvPr/>
        </p:nvPicPr>
        <p:blipFill rotWithShape="1">
          <a:blip r:embed="rId3">
            <a:alphaModFix/>
          </a:blip>
          <a:srcRect/>
          <a:stretch/>
        </p:blipFill>
        <p:spPr>
          <a:xfrm>
            <a:off x="7874775" y="4720250"/>
            <a:ext cx="1024025" cy="2116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02-A">
  <p:cSld name="SECTION_HEADER_1_1_1_1_1_1_1_1_1_1">
    <p:bg>
      <p:bgPr>
        <a:blipFill>
          <a:blip r:embed="rId2">
            <a:alphaModFix/>
          </a:blip>
          <a:stretch>
            <a:fillRect/>
          </a:stretch>
        </a:blipFill>
        <a:effectLst/>
      </p:bgPr>
    </p:bg>
    <p:spTree>
      <p:nvGrpSpPr>
        <p:cNvPr id="1" name="Shape 11"/>
        <p:cNvGrpSpPr/>
        <p:nvPr/>
      </p:nvGrpSpPr>
      <p:grpSpPr>
        <a:xfrm>
          <a:off x="0" y="0"/>
          <a:ext cx="0" cy="0"/>
          <a:chOff x="0" y="0"/>
          <a:chExt cx="0" cy="0"/>
        </a:xfrm>
      </p:grpSpPr>
      <p:pic>
        <p:nvPicPr>
          <p:cNvPr id="12" name="Google Shape;12;p3"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03-B">
  <p:cSld name="SECTION_HEADER_1_1_1_1_1_1_1_1_1">
    <p:bg>
      <p:bgPr>
        <a:blipFill>
          <a:blip r:embed="rId2">
            <a:alphaModFix/>
          </a:blip>
          <a:stretch>
            <a:fillRect/>
          </a:stretch>
        </a:blipFill>
        <a:effectLst/>
      </p:bgPr>
    </p:bg>
    <p:spTree>
      <p:nvGrpSpPr>
        <p:cNvPr id="1" name="Shape 13"/>
        <p:cNvGrpSpPr/>
        <p:nvPr/>
      </p:nvGrpSpPr>
      <p:grpSpPr>
        <a:xfrm>
          <a:off x="0" y="0"/>
          <a:ext cx="0" cy="0"/>
          <a:chOff x="0" y="0"/>
          <a:chExt cx="0" cy="0"/>
        </a:xfrm>
      </p:grpSpPr>
      <p:pic>
        <p:nvPicPr>
          <p:cNvPr id="14" name="Google Shape;14;p4"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Fondo blanco">
  <p:cSld name="SECTION_HEADER_1_1_1_1_1_1_1_1">
    <p:spTree>
      <p:nvGrpSpPr>
        <p:cNvPr id="1" name="Shape 15"/>
        <p:cNvGrpSpPr/>
        <p:nvPr/>
      </p:nvGrpSpPr>
      <p:grpSpPr>
        <a:xfrm>
          <a:off x="0" y="0"/>
          <a:ext cx="0" cy="0"/>
          <a:chOff x="0" y="0"/>
          <a:chExt cx="0" cy="0"/>
        </a:xfrm>
      </p:grpSpPr>
      <p:pic>
        <p:nvPicPr>
          <p:cNvPr id="16" name="Google Shape;16;p5" title="logo coderhouse"/>
          <p:cNvPicPr preferRelativeResize="0"/>
          <p:nvPr/>
        </p:nvPicPr>
        <p:blipFill rotWithShape="1">
          <a:blip r:embed="rId2">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uadro">
  <p:cSld name="SECTION_HEADER_1_1_1_1_1_1">
    <p:bg>
      <p:bgPr>
        <a:blipFill>
          <a:blip r:embed="rId2">
            <a:alphaModFix/>
          </a:blip>
          <a:stretch>
            <a:fillRect/>
          </a:stretch>
        </a:blipFill>
        <a:effectLst/>
      </p:bgPr>
    </p:bg>
    <p:spTree>
      <p:nvGrpSpPr>
        <p:cNvPr id="1" name="Shape 17"/>
        <p:cNvGrpSpPr/>
        <p:nvPr/>
      </p:nvGrpSpPr>
      <p:grpSpPr>
        <a:xfrm>
          <a:off x="0" y="0"/>
          <a:ext cx="0" cy="0"/>
          <a:chOff x="0" y="0"/>
          <a:chExt cx="0" cy="0"/>
        </a:xfrm>
      </p:grpSpPr>
      <p:pic>
        <p:nvPicPr>
          <p:cNvPr id="18" name="Google Shape;18;p6"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rátula 1">
  <p:cSld name="SECTION_HEADER_1_1_1">
    <p:bg>
      <p:bgPr>
        <a:blipFill>
          <a:blip r:embed="rId2">
            <a:alphaModFix/>
          </a:blip>
          <a:stretch>
            <a:fillRect/>
          </a:stretch>
        </a:blipFill>
        <a:effectLst/>
      </p:bgPr>
    </p:bg>
    <p:spTree>
      <p:nvGrpSpPr>
        <p:cNvPr id="1" name="Shape 19"/>
        <p:cNvGrpSpPr/>
        <p:nvPr/>
      </p:nvGrpSpPr>
      <p:grpSpPr>
        <a:xfrm>
          <a:off x="0" y="0"/>
          <a:ext cx="0" cy="0"/>
          <a:chOff x="0" y="0"/>
          <a:chExt cx="0" cy="0"/>
        </a:xfrm>
      </p:grpSpPr>
      <p:pic>
        <p:nvPicPr>
          <p:cNvPr id="20" name="Google Shape;20;p7"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 imagen">
  <p:cSld name="SECTION_HEADER_1_1_1_1_1_1_1">
    <p:bg>
      <p:bgPr>
        <a:blipFill>
          <a:blip r:embed="rId2">
            <a:alphaModFix/>
          </a:blip>
          <a:stretch>
            <a:fillRect/>
          </a:stretch>
        </a:blipFill>
        <a:effectLst/>
      </p:bgPr>
    </p:bg>
    <p:spTree>
      <p:nvGrpSpPr>
        <p:cNvPr id="1" name="Shape 21"/>
        <p:cNvGrpSpPr/>
        <p:nvPr/>
      </p:nvGrpSpPr>
      <p:grpSpPr>
        <a:xfrm>
          <a:off x="0" y="0"/>
          <a:ext cx="0" cy="0"/>
          <a:chOff x="0" y="0"/>
          <a:chExt cx="0" cy="0"/>
        </a:xfrm>
      </p:grpSpPr>
      <p:sp>
        <p:nvSpPr>
          <p:cNvPr id="22" name="Google Shape;22;p8"/>
          <p:cNvSpPr/>
          <p:nvPr/>
        </p:nvSpPr>
        <p:spPr>
          <a:xfrm>
            <a:off x="6592475" y="0"/>
            <a:ext cx="2551500" cy="5143500"/>
          </a:xfrm>
          <a:prstGeom prst="rect">
            <a:avLst/>
          </a:prstGeom>
          <a:solidFill>
            <a:srgbClr val="EAFF6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3" name="Google Shape;23;p8"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rátula 2">
  <p:cSld name="SECTION_HEADER_1_1_1_1">
    <p:bg>
      <p:bgPr>
        <a:blipFill>
          <a:blip r:embed="rId2">
            <a:alphaModFix/>
          </a:blip>
          <a:stretch>
            <a:fillRect/>
          </a:stretch>
        </a:blipFill>
        <a:effectLst/>
      </p:bgPr>
    </p:bg>
    <p:spTree>
      <p:nvGrpSpPr>
        <p:cNvPr id="1" name="Shape 24"/>
        <p:cNvGrpSpPr/>
        <p:nvPr/>
      </p:nvGrpSpPr>
      <p:grpSpPr>
        <a:xfrm>
          <a:off x="0" y="0"/>
          <a:ext cx="0" cy="0"/>
          <a:chOff x="0" y="0"/>
          <a:chExt cx="0" cy="0"/>
        </a:xfrm>
      </p:grpSpPr>
      <p:pic>
        <p:nvPicPr>
          <p:cNvPr id="25" name="Google Shape;25;p9"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rátula 3">
  <p:cSld name="SECTION_HEADER_1_1_1_1_1">
    <p:bg>
      <p:bgPr>
        <a:blipFill>
          <a:blip r:embed="rId2">
            <a:alphaModFix/>
          </a:blip>
          <a:stretch>
            <a:fillRect/>
          </a:stretch>
        </a:blipFill>
        <a:effectLst/>
      </p:bgPr>
    </p:bg>
    <p:spTree>
      <p:nvGrpSpPr>
        <p:cNvPr id="1" name="Shape 26"/>
        <p:cNvGrpSpPr/>
        <p:nvPr/>
      </p:nvGrpSpPr>
      <p:grpSpPr>
        <a:xfrm>
          <a:off x="0" y="0"/>
          <a:ext cx="0" cy="0"/>
          <a:chOff x="0" y="0"/>
          <a:chExt cx="0" cy="0"/>
        </a:xfrm>
      </p:grpSpPr>
      <p:pic>
        <p:nvPicPr>
          <p:cNvPr id="27" name="Google Shape;27;p10"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co 1" type="title">
  <p:cSld name="TITLE">
    <p:spTree>
      <p:nvGrpSpPr>
        <p:cNvPr id="1" name="Shape 28"/>
        <p:cNvGrpSpPr/>
        <p:nvPr/>
      </p:nvGrpSpPr>
      <p:grpSpPr>
        <a:xfrm>
          <a:off x="0" y="0"/>
          <a:ext cx="0" cy="0"/>
          <a:chOff x="0" y="0"/>
          <a:chExt cx="0" cy="0"/>
        </a:xfrm>
      </p:grpSpPr>
      <p:sp>
        <p:nvSpPr>
          <p:cNvPr id="29" name="Google Shape;29;p11"/>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000"/>
              <a:buFont typeface="DM Sans"/>
              <a:buNone/>
              <a:defRPr sz="4000" b="1">
                <a:latin typeface="DM Sans"/>
                <a:ea typeface="DM Sans"/>
                <a:cs typeface="DM Sans"/>
                <a:sym typeface="DM Sans"/>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30" name="Google Shape;30;p11"/>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000"/>
              <a:buFont typeface="Helvetica Neue Light"/>
              <a:buNone/>
              <a:defRPr sz="2000">
                <a:latin typeface="Helvetica Neue Light"/>
                <a:ea typeface="Helvetica Neue Light"/>
                <a:cs typeface="Helvetica Neue Light"/>
                <a:sym typeface="Helvetica Neue Ligh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pic>
        <p:nvPicPr>
          <p:cNvPr id="31" name="Google Shape;31;p11" title="logo CoderHouse"/>
          <p:cNvPicPr preferRelativeResize="0"/>
          <p:nvPr/>
        </p:nvPicPr>
        <p:blipFill rotWithShape="1">
          <a:blip r:embed="rId2">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03-A">
  <p:cSld name="SECTION_HEADER_1_1">
    <p:bg>
      <p:bgPr>
        <a:blipFill>
          <a:blip r:embed="rId2">
            <a:alphaModFix/>
          </a:blip>
          <a:stretch>
            <a:fillRect/>
          </a:stretch>
        </a:blipFill>
        <a:effectLst/>
      </p:bgPr>
    </p:bg>
    <p:spTree>
      <p:nvGrpSpPr>
        <p:cNvPr id="1" name="Shape 32"/>
        <p:cNvGrpSpPr/>
        <p:nvPr/>
      </p:nvGrpSpPr>
      <p:grpSpPr>
        <a:xfrm>
          <a:off x="0" y="0"/>
          <a:ext cx="0" cy="0"/>
          <a:chOff x="0" y="0"/>
          <a:chExt cx="0" cy="0"/>
        </a:xfrm>
      </p:grpSpPr>
      <p:pic>
        <p:nvPicPr>
          <p:cNvPr id="33" name="Google Shape;33;p12"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hyperlink" Target="https://ellibrodepython.com/herencia-en-python" TargetMode="External"/><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hyperlink" Target="https://ellibrodepython.com/herencia-en-python"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ellibrodepython.com/herencia-en-python" TargetMode="External"/><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hyperlink" Target="https://ellibrodepython.com/herencia-en-python"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image" Target="../media/image16.png"/><Relationship Id="rId4" Type="http://schemas.openxmlformats.org/officeDocument/2006/relationships/hyperlink" Target="https://ellibrodepython.com/herencia-en-python"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ellibrodepython.com/herencia-en-python" TargetMode="External"/><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hyperlink" Target="https://ellibrodepython.com/herencia-en-python"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ellibrodepython.com/herencia-en-python" TargetMode="External"/><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hyperlink" Target="https://ellibrodepython.com/herencia-en-python" TargetMode="External"/><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hyperlink" Target="https://ellibrodepython.com/herencia-en-python" TargetMode="External"/><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hyperlink" Target="https://ellibrodepython.com/herencia-en-python" TargetMode="External"/><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hyperlink" Target="https://ellibrodepython.com/herencia-en-python" TargetMode="External"/><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hyperlink" Target="https://ellibrodepython.com/herencia-en-python" TargetMode="External"/><Relationship Id="rId2" Type="http://schemas.openxmlformats.org/officeDocument/2006/relationships/notesSlide" Target="../notesSlides/notesSlide20.xml"/><Relationship Id="rId1" Type="http://schemas.openxmlformats.org/officeDocument/2006/relationships/slideLayout" Target="../slideLayouts/slideLayout4.xml"/><Relationship Id="rId5" Type="http://schemas.openxmlformats.org/officeDocument/2006/relationships/image" Target="../media/image16.pn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hyperlink" Target="https://ellibrodepython.com/herencia-en-python" TargetMode="External"/><Relationship Id="rId2" Type="http://schemas.openxmlformats.org/officeDocument/2006/relationships/notesSlide" Target="../notesSlides/notesSlide21.xml"/><Relationship Id="rId1" Type="http://schemas.openxmlformats.org/officeDocument/2006/relationships/slideLayout" Target="../slideLayouts/slideLayout4.xml"/><Relationship Id="rId5" Type="http://schemas.openxmlformats.org/officeDocument/2006/relationships/image" Target="../media/image16.png"/><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hyperlink" Target="https://ellibrodepython.com/herencia-en-python" TargetMode="External"/><Relationship Id="rId2" Type="http://schemas.openxmlformats.org/officeDocument/2006/relationships/notesSlide" Target="../notesSlides/notesSlide22.xml"/><Relationship Id="rId1" Type="http://schemas.openxmlformats.org/officeDocument/2006/relationships/slideLayout" Target="../slideLayouts/slideLayout4.xml"/><Relationship Id="rId5" Type="http://schemas.openxmlformats.org/officeDocument/2006/relationships/image" Target="../media/image16.png"/><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hyperlink" Target="https://ellibrodepython.com/herencia-en-python" TargetMode="External"/><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3" Type="http://schemas.openxmlformats.org/officeDocument/2006/relationships/hyperlink" Target="https://ellibrodepython.com/herencia-en-python" TargetMode="External"/><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hyperlink" Target="https://ellibrodepython.com/herencia-en-python" TargetMode="External"/><Relationship Id="rId2" Type="http://schemas.openxmlformats.org/officeDocument/2006/relationships/notesSlide" Target="../notesSlides/notesSlide27.xml"/><Relationship Id="rId1" Type="http://schemas.openxmlformats.org/officeDocument/2006/relationships/slideLayout" Target="../slideLayouts/slideLayout4.xml"/><Relationship Id="rId5" Type="http://schemas.openxmlformats.org/officeDocument/2006/relationships/image" Target="../media/image25.png"/><Relationship Id="rId4" Type="http://schemas.openxmlformats.org/officeDocument/2006/relationships/image" Target="../media/image16.png"/></Relationships>
</file>

<file path=ppt/slides/_rels/slide28.xml.rels><?xml version="1.0" encoding="UTF-8" standalone="yes"?>
<Relationships xmlns="http://schemas.openxmlformats.org/package/2006/relationships"><Relationship Id="rId3" Type="http://schemas.openxmlformats.org/officeDocument/2006/relationships/hyperlink" Target="https://ellibrodepython.com/herencia-en-python" TargetMode="External"/><Relationship Id="rId2" Type="http://schemas.openxmlformats.org/officeDocument/2006/relationships/notesSlide" Target="../notesSlides/notesSlide28.xml"/><Relationship Id="rId1" Type="http://schemas.openxmlformats.org/officeDocument/2006/relationships/slideLayout" Target="../slideLayouts/slideLayout4.xml"/><Relationship Id="rId5" Type="http://schemas.openxmlformats.org/officeDocument/2006/relationships/image" Target="../media/image26.png"/><Relationship Id="rId4" Type="http://schemas.openxmlformats.org/officeDocument/2006/relationships/image" Target="../media/image16.png"/></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hyperlink" Target="https://ellibrodepython.com/herencia-en-python" TargetMode="External"/><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4.xml"/><Relationship Id="rId5" Type="http://schemas.openxmlformats.org/officeDocument/2006/relationships/hyperlink" Target="https://ellibrodepython.com/herencia-en-python" TargetMode="External"/><Relationship Id="rId4" Type="http://schemas.openxmlformats.org/officeDocument/2006/relationships/image" Target="../media/image27.png"/></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2.xml"/><Relationship Id="rId1" Type="http://schemas.openxmlformats.org/officeDocument/2006/relationships/slideLayout" Target="../slideLayouts/slideLayout4.xml"/><Relationship Id="rId5" Type="http://schemas.openxmlformats.org/officeDocument/2006/relationships/hyperlink" Target="https://ellibrodepython.com/herencia-en-python" TargetMode="External"/><Relationship Id="rId4" Type="http://schemas.openxmlformats.org/officeDocument/2006/relationships/image" Target="../media/image28.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hyperlink" Target="https://ellibrodepython.com/herencia-en-python" TargetMode="External"/><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hyperlink" Target="https://ellibrodepython.com/herencia-en-python" TargetMode="External"/><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6.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hyperlink" Target="https://ellibrodepython.com/herencia-en-python" TargetMode="External"/></Relationships>
</file>

<file path=ppt/slides/_rels/slide3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30.png"/><Relationship Id="rId2" Type="http://schemas.openxmlformats.org/officeDocument/2006/relationships/notesSlide" Target="../notesSlides/notesSlide40.xml"/><Relationship Id="rId1" Type="http://schemas.openxmlformats.org/officeDocument/2006/relationships/slideLayout" Target="../slideLayouts/slideLayout4.xml"/><Relationship Id="rId6" Type="http://schemas.openxmlformats.org/officeDocument/2006/relationships/hyperlink" Target="https://ellibrodepython.com/herencia-en-python" TargetMode="External"/><Relationship Id="rId5" Type="http://schemas.openxmlformats.org/officeDocument/2006/relationships/image" Target="../media/image32.png"/><Relationship Id="rId4" Type="http://schemas.openxmlformats.org/officeDocument/2006/relationships/image" Target="../media/image31.png"/></Relationships>
</file>

<file path=ppt/slides/_rels/slide4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1.xml"/><Relationship Id="rId1" Type="http://schemas.openxmlformats.org/officeDocument/2006/relationships/slideLayout" Target="../slideLayouts/slideLayout4.xml"/><Relationship Id="rId6" Type="http://schemas.openxmlformats.org/officeDocument/2006/relationships/image" Target="../media/image33.png"/><Relationship Id="rId5" Type="http://schemas.openxmlformats.org/officeDocument/2006/relationships/image" Target="../media/image30.png"/><Relationship Id="rId4" Type="http://schemas.openxmlformats.org/officeDocument/2006/relationships/hyperlink" Target="https://ellibrodepython.com/herencia-en-python" TargetMode="External"/></Relationships>
</file>

<file path=ppt/slides/_rels/slide4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2.xml"/><Relationship Id="rId1" Type="http://schemas.openxmlformats.org/officeDocument/2006/relationships/slideLayout" Target="../slideLayouts/slideLayout4.xml"/><Relationship Id="rId6" Type="http://schemas.openxmlformats.org/officeDocument/2006/relationships/image" Target="../media/image33.png"/><Relationship Id="rId5" Type="http://schemas.openxmlformats.org/officeDocument/2006/relationships/image" Target="../media/image30.png"/><Relationship Id="rId4" Type="http://schemas.openxmlformats.org/officeDocument/2006/relationships/hyperlink" Target="https://ellibrodepython.com/herencia-en-python" TargetMode="External"/></Relationships>
</file>

<file path=ppt/slides/_rels/slide4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3.xml"/><Relationship Id="rId1" Type="http://schemas.openxmlformats.org/officeDocument/2006/relationships/slideLayout" Target="../slideLayouts/slideLayout4.xml"/><Relationship Id="rId6" Type="http://schemas.openxmlformats.org/officeDocument/2006/relationships/image" Target="../media/image34.png"/><Relationship Id="rId5" Type="http://schemas.openxmlformats.org/officeDocument/2006/relationships/image" Target="../media/image30.png"/><Relationship Id="rId4" Type="http://schemas.openxmlformats.org/officeDocument/2006/relationships/hyperlink" Target="https://ellibrodepython.com/herencia-en-python" TargetMode="External"/></Relationships>
</file>

<file path=ppt/slides/_rels/slide44.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36.png"/><Relationship Id="rId2" Type="http://schemas.openxmlformats.org/officeDocument/2006/relationships/notesSlide" Target="../notesSlides/notesSlide44.xml"/><Relationship Id="rId1" Type="http://schemas.openxmlformats.org/officeDocument/2006/relationships/slideLayout" Target="../slideLayouts/slideLayout4.xml"/><Relationship Id="rId6" Type="http://schemas.openxmlformats.org/officeDocument/2006/relationships/image" Target="../media/image35.png"/><Relationship Id="rId5" Type="http://schemas.openxmlformats.org/officeDocument/2006/relationships/image" Target="../media/image30.png"/><Relationship Id="rId4" Type="http://schemas.openxmlformats.org/officeDocument/2006/relationships/hyperlink" Target="https://ellibrodepython.com/herencia-en-python" TargetMode="External"/></Relationships>
</file>

<file path=ppt/slides/_rels/slide45.xml.rels><?xml version="1.0" encoding="UTF-8" standalone="yes"?>
<Relationships xmlns="http://schemas.openxmlformats.org/package/2006/relationships"><Relationship Id="rId3" Type="http://schemas.openxmlformats.org/officeDocument/2006/relationships/hyperlink" Target="https://ellibrodepython.com/herencia-en-python" TargetMode="External"/><Relationship Id="rId2" Type="http://schemas.openxmlformats.org/officeDocument/2006/relationships/notesSlide" Target="../notesSlides/notesSlide45.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4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6.xml"/><Relationship Id="rId1" Type="http://schemas.openxmlformats.org/officeDocument/2006/relationships/slideLayout" Target="../slideLayouts/slideLayout4.xml"/><Relationship Id="rId5" Type="http://schemas.openxmlformats.org/officeDocument/2006/relationships/image" Target="../media/image37.png"/><Relationship Id="rId4" Type="http://schemas.openxmlformats.org/officeDocument/2006/relationships/hyperlink" Target="https://ellibrodepython.com/herencia-en-python" TargetMode="External"/></Relationships>
</file>

<file path=ppt/slides/_rels/slide4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7.xml"/><Relationship Id="rId1" Type="http://schemas.openxmlformats.org/officeDocument/2006/relationships/slideLayout" Target="../slideLayouts/slideLayout4.xml"/><Relationship Id="rId5" Type="http://schemas.openxmlformats.org/officeDocument/2006/relationships/image" Target="../media/image38.png"/><Relationship Id="rId4" Type="http://schemas.openxmlformats.org/officeDocument/2006/relationships/hyperlink" Target="https://ellibrodepython.com/herencia-en-python" TargetMode="External"/></Relationships>
</file>

<file path=ppt/slides/_rels/slide4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8.xml"/><Relationship Id="rId1" Type="http://schemas.openxmlformats.org/officeDocument/2006/relationships/slideLayout" Target="../slideLayouts/slideLayout4.xml"/><Relationship Id="rId5" Type="http://schemas.openxmlformats.org/officeDocument/2006/relationships/image" Target="../media/image39.png"/><Relationship Id="rId4" Type="http://schemas.openxmlformats.org/officeDocument/2006/relationships/hyperlink" Target="https://ellibrodepython.com/herencia-en-python" TargetMode="External"/></Relationships>
</file>

<file path=ppt/slides/_rels/slide4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3" Type="http://schemas.openxmlformats.org/officeDocument/2006/relationships/hyperlink" Target="https://colab.research.google.com/drive/1fVM8GtAPn7LP9HMsvaOnC9HyMqoUa9fc" TargetMode="External"/><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2.xml"/><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hyperlink" Target="https://ellibrodepython.com/herencia-en-python" TargetMode="External"/><Relationship Id="rId2" Type="http://schemas.openxmlformats.org/officeDocument/2006/relationships/notesSlide" Target="../notesSlides/notesSlide53.xml"/><Relationship Id="rId1" Type="http://schemas.openxmlformats.org/officeDocument/2006/relationships/slideLayout" Target="../slideLayouts/slideLayout4.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png"/></Relationships>
</file>

<file path=ppt/slides/_rels/slide5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4.xml"/><Relationship Id="rId1" Type="http://schemas.openxmlformats.org/officeDocument/2006/relationships/slideLayout" Target="../slideLayouts/slideLayout4.xml"/><Relationship Id="rId5" Type="http://schemas.openxmlformats.org/officeDocument/2006/relationships/hyperlink" Target="https://colab.research.google.com/drive/1uy7R3ymLcT5qQxKt7JEzsq0hpb7Aprh3?usp=sharing" TargetMode="External"/><Relationship Id="rId4" Type="http://schemas.openxmlformats.org/officeDocument/2006/relationships/hyperlink" Target="https://colab.research.google.com/drive/1aMgw8_HBg5UKrZ-WVek1B8JG4MgD2zB5?usp=sharing" TargetMode="Externa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46" name="Google Shape;46;p14"/>
          <p:cNvSpPr txBox="1"/>
          <p:nvPr/>
        </p:nvSpPr>
        <p:spPr>
          <a:xfrm>
            <a:off x="1461300" y="2252975"/>
            <a:ext cx="6221400" cy="7389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4000"/>
              <a:buFont typeface="Arial"/>
              <a:buNone/>
            </a:pPr>
            <a:r>
              <a:rPr lang="es" sz="4000" b="1" i="0" u="none" strike="noStrike" cap="none">
                <a:solidFill>
                  <a:srgbClr val="EAFF6A"/>
                </a:solidFill>
                <a:latin typeface="DM Sans"/>
                <a:ea typeface="DM Sans"/>
                <a:cs typeface="DM Sans"/>
                <a:sym typeface="DM Sans"/>
              </a:rPr>
              <a:t>Herencias</a:t>
            </a:r>
            <a:endParaRPr sz="4000" b="1" i="0" u="none" strike="noStrike" cap="none">
              <a:solidFill>
                <a:srgbClr val="EAFF6A"/>
              </a:solidFill>
              <a:latin typeface="DM Sans"/>
              <a:ea typeface="DM Sans"/>
              <a:cs typeface="DM Sans"/>
              <a:sym typeface="DM Sans"/>
            </a:endParaRPr>
          </a:p>
        </p:txBody>
      </p:sp>
      <p:sp>
        <p:nvSpPr>
          <p:cNvPr id="47" name="Google Shape;47;p14"/>
          <p:cNvSpPr txBox="1"/>
          <p:nvPr/>
        </p:nvSpPr>
        <p:spPr>
          <a:xfrm>
            <a:off x="1461300" y="1665250"/>
            <a:ext cx="6221400" cy="4617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s" sz="1800" b="1" i="0" u="none" strike="noStrike" cap="none">
                <a:solidFill>
                  <a:schemeClr val="lt1"/>
                </a:solidFill>
                <a:latin typeface="DM Sans"/>
                <a:ea typeface="DM Sans"/>
                <a:cs typeface="DM Sans"/>
                <a:sym typeface="DM Sans"/>
              </a:rPr>
              <a:t>Clase 14.</a:t>
            </a:r>
            <a:r>
              <a:rPr lang="es" sz="1800" b="0" i="0" u="none" strike="noStrike" cap="none">
                <a:solidFill>
                  <a:schemeClr val="lt1"/>
                </a:solidFill>
                <a:latin typeface="DM Sans"/>
                <a:ea typeface="DM Sans"/>
                <a:cs typeface="DM Sans"/>
                <a:sym typeface="DM Sans"/>
              </a:rPr>
              <a:t> PYTHON</a:t>
            </a:r>
            <a:endParaRPr sz="1600" b="0" i="0" u="none" strike="noStrike" cap="none">
              <a:solidFill>
                <a:schemeClr val="lt1"/>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B0821C83-5D1F-DDFC-8D32-F03DCA1797B5}"/>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6"/>
          <p:cNvSpPr txBox="1"/>
          <p:nvPr/>
        </p:nvSpPr>
        <p:spPr>
          <a:xfrm>
            <a:off x="501450" y="468275"/>
            <a:ext cx="8141100" cy="6003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000"/>
              <a:buFont typeface="Arial"/>
              <a:buNone/>
            </a:pPr>
            <a:r>
              <a:rPr lang="es" sz="3000" b="1" i="0" u="none" strike="noStrike" cap="none">
                <a:solidFill>
                  <a:srgbClr val="EAFF6A"/>
                </a:solidFill>
                <a:latin typeface="DM Sans"/>
                <a:ea typeface="DM Sans"/>
                <a:cs typeface="DM Sans"/>
                <a:sym typeface="DM Sans"/>
              </a:rPr>
              <a:t>Objetivos de la clase</a:t>
            </a:r>
            <a:endParaRPr sz="3000" b="1" i="0" u="none" strike="noStrike" cap="none">
              <a:solidFill>
                <a:srgbClr val="EAFF6A"/>
              </a:solidFill>
              <a:latin typeface="DM Sans"/>
              <a:ea typeface="DM Sans"/>
              <a:cs typeface="DM Sans"/>
              <a:sym typeface="DM Sans"/>
            </a:endParaRPr>
          </a:p>
        </p:txBody>
      </p:sp>
      <p:pic>
        <p:nvPicPr>
          <p:cNvPr id="77" name="Google Shape;77;p16"/>
          <p:cNvPicPr preferRelativeResize="0"/>
          <p:nvPr/>
        </p:nvPicPr>
        <p:blipFill rotWithShape="1">
          <a:blip r:embed="rId3">
            <a:alphaModFix/>
          </a:blip>
          <a:srcRect/>
          <a:stretch/>
        </p:blipFill>
        <p:spPr>
          <a:xfrm>
            <a:off x="2172438" y="1815150"/>
            <a:ext cx="196975" cy="196975"/>
          </a:xfrm>
          <a:prstGeom prst="rect">
            <a:avLst/>
          </a:prstGeom>
          <a:noFill/>
          <a:ln>
            <a:noFill/>
          </a:ln>
        </p:spPr>
      </p:pic>
      <p:sp>
        <p:nvSpPr>
          <p:cNvPr id="78" name="Google Shape;78;p16"/>
          <p:cNvSpPr txBox="1"/>
          <p:nvPr/>
        </p:nvSpPr>
        <p:spPr>
          <a:xfrm>
            <a:off x="2690561" y="1721450"/>
            <a:ext cx="4281300" cy="392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1" i="0" u="none" strike="noStrike" cap="none">
                <a:solidFill>
                  <a:schemeClr val="lt1"/>
                </a:solidFill>
                <a:latin typeface="DM Sans"/>
                <a:ea typeface="DM Sans"/>
                <a:cs typeface="DM Sans"/>
                <a:sym typeface="DM Sans"/>
              </a:rPr>
              <a:t>Aplicar </a:t>
            </a:r>
            <a:r>
              <a:rPr lang="es" sz="1350" b="0" i="0" u="none" strike="noStrike" cap="none">
                <a:solidFill>
                  <a:schemeClr val="lt1"/>
                </a:solidFill>
                <a:latin typeface="DM Sans"/>
                <a:ea typeface="DM Sans"/>
                <a:cs typeface="DM Sans"/>
                <a:sym typeface="DM Sans"/>
              </a:rPr>
              <a:t>Herencias.</a:t>
            </a:r>
            <a:endParaRPr sz="1350" b="1" i="0" u="none" strike="noStrike" cap="none">
              <a:solidFill>
                <a:schemeClr val="lt1"/>
              </a:solidFill>
              <a:latin typeface="DM Sans"/>
              <a:ea typeface="DM Sans"/>
              <a:cs typeface="DM Sans"/>
              <a:sym typeface="DM Sans"/>
            </a:endParaRPr>
          </a:p>
        </p:txBody>
      </p:sp>
      <p:pic>
        <p:nvPicPr>
          <p:cNvPr id="79" name="Google Shape;79;p16"/>
          <p:cNvPicPr preferRelativeResize="0"/>
          <p:nvPr/>
        </p:nvPicPr>
        <p:blipFill rotWithShape="1">
          <a:blip r:embed="rId3">
            <a:alphaModFix/>
          </a:blip>
          <a:srcRect/>
          <a:stretch/>
        </p:blipFill>
        <p:spPr>
          <a:xfrm>
            <a:off x="2172138" y="2448550"/>
            <a:ext cx="196975" cy="196975"/>
          </a:xfrm>
          <a:prstGeom prst="rect">
            <a:avLst/>
          </a:prstGeom>
          <a:noFill/>
          <a:ln>
            <a:noFill/>
          </a:ln>
        </p:spPr>
      </p:pic>
      <p:sp>
        <p:nvSpPr>
          <p:cNvPr id="80" name="Google Shape;80;p16"/>
          <p:cNvSpPr txBox="1"/>
          <p:nvPr/>
        </p:nvSpPr>
        <p:spPr>
          <a:xfrm>
            <a:off x="2690561" y="2324575"/>
            <a:ext cx="4281300" cy="392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1" i="0" u="none" strike="noStrike" cap="none">
                <a:solidFill>
                  <a:schemeClr val="lt1"/>
                </a:solidFill>
                <a:latin typeface="DM Sans"/>
                <a:ea typeface="DM Sans"/>
                <a:cs typeface="DM Sans"/>
                <a:sym typeface="DM Sans"/>
              </a:rPr>
              <a:t>Conocer</a:t>
            </a:r>
            <a:r>
              <a:rPr lang="es" sz="1350" b="0" i="0" u="none" strike="noStrike" cap="none">
                <a:solidFill>
                  <a:schemeClr val="lt1"/>
                </a:solidFill>
                <a:latin typeface="DM Sans"/>
                <a:ea typeface="DM Sans"/>
                <a:cs typeface="DM Sans"/>
                <a:sym typeface="DM Sans"/>
              </a:rPr>
              <a:t> los polimorfismos.</a:t>
            </a:r>
            <a:endParaRPr sz="1350" b="1" i="0" u="none" strike="noStrike" cap="none">
              <a:solidFill>
                <a:schemeClr val="lt1"/>
              </a:solidFill>
              <a:latin typeface="DM Sans"/>
              <a:ea typeface="DM Sans"/>
              <a:cs typeface="DM Sans"/>
              <a:sym typeface="DM Sans"/>
            </a:endParaRPr>
          </a:p>
        </p:txBody>
      </p:sp>
      <p:pic>
        <p:nvPicPr>
          <p:cNvPr id="81" name="Google Shape;81;p16"/>
          <p:cNvPicPr preferRelativeResize="0"/>
          <p:nvPr/>
        </p:nvPicPr>
        <p:blipFill rotWithShape="1">
          <a:blip r:embed="rId3">
            <a:alphaModFix/>
          </a:blip>
          <a:srcRect/>
          <a:stretch/>
        </p:blipFill>
        <p:spPr>
          <a:xfrm>
            <a:off x="2172138" y="3127375"/>
            <a:ext cx="196975" cy="196975"/>
          </a:xfrm>
          <a:prstGeom prst="rect">
            <a:avLst/>
          </a:prstGeom>
          <a:noFill/>
          <a:ln>
            <a:noFill/>
          </a:ln>
        </p:spPr>
      </p:pic>
      <p:sp>
        <p:nvSpPr>
          <p:cNvPr id="82" name="Google Shape;82;p16"/>
          <p:cNvSpPr txBox="1"/>
          <p:nvPr/>
        </p:nvSpPr>
        <p:spPr>
          <a:xfrm>
            <a:off x="2690561" y="3029650"/>
            <a:ext cx="4281300" cy="392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1" i="0" u="none" strike="noStrike" cap="none">
                <a:solidFill>
                  <a:schemeClr val="lt1"/>
                </a:solidFill>
                <a:latin typeface="DM Sans"/>
                <a:ea typeface="DM Sans"/>
                <a:cs typeface="DM Sans"/>
                <a:sym typeface="DM Sans"/>
              </a:rPr>
              <a:t>Ejecutar </a:t>
            </a:r>
            <a:r>
              <a:rPr lang="es" sz="1350" b="0" i="0" u="none" strike="noStrike" cap="none">
                <a:solidFill>
                  <a:schemeClr val="lt1"/>
                </a:solidFill>
                <a:latin typeface="DM Sans"/>
                <a:ea typeface="DM Sans"/>
                <a:cs typeface="DM Sans"/>
                <a:sym typeface="DM Sans"/>
              </a:rPr>
              <a:t>Herencias múltiples.</a:t>
            </a:r>
            <a:endParaRPr sz="1350" b="1" i="0" u="none" strike="noStrike" cap="none">
              <a:solidFill>
                <a:schemeClr val="lt1"/>
              </a:solidFill>
              <a:latin typeface="DM Sans"/>
              <a:ea typeface="DM Sans"/>
              <a:cs typeface="DM Sans"/>
              <a:sym typeface="DM Sans"/>
            </a:endParaRPr>
          </a:p>
        </p:txBody>
      </p:sp>
      <p:cxnSp>
        <p:nvCxnSpPr>
          <p:cNvPr id="83" name="Google Shape;83;p16"/>
          <p:cNvCxnSpPr>
            <a:stCxn id="77" idx="2"/>
            <a:endCxn id="79" idx="0"/>
          </p:cNvCxnSpPr>
          <p:nvPr/>
        </p:nvCxnSpPr>
        <p:spPr>
          <a:xfrm rot="-5400000" flipH="1">
            <a:off x="2052976" y="2230075"/>
            <a:ext cx="436500" cy="600"/>
          </a:xfrm>
          <a:prstGeom prst="bentConnector3">
            <a:avLst>
              <a:gd name="adj1" fmla="val 49991"/>
            </a:avLst>
          </a:prstGeom>
          <a:noFill/>
          <a:ln w="9525" cap="flat" cmpd="sng">
            <a:solidFill>
              <a:srgbClr val="EAFF6A"/>
            </a:solidFill>
            <a:prstDash val="solid"/>
            <a:round/>
            <a:headEnd type="none" w="sm" len="sm"/>
            <a:tailEnd type="none" w="sm" len="sm"/>
          </a:ln>
        </p:spPr>
      </p:cxnSp>
      <p:cxnSp>
        <p:nvCxnSpPr>
          <p:cNvPr id="84" name="Google Shape;84;p16"/>
          <p:cNvCxnSpPr>
            <a:stCxn id="79" idx="2"/>
            <a:endCxn id="81" idx="0"/>
          </p:cNvCxnSpPr>
          <p:nvPr/>
        </p:nvCxnSpPr>
        <p:spPr>
          <a:xfrm rot="-5400000" flipH="1">
            <a:off x="2030026" y="2886125"/>
            <a:ext cx="481800" cy="600"/>
          </a:xfrm>
          <a:prstGeom prst="bentConnector3">
            <a:avLst>
              <a:gd name="adj1" fmla="val 50005"/>
            </a:avLst>
          </a:prstGeom>
          <a:noFill/>
          <a:ln w="9525" cap="flat" cmpd="sng">
            <a:solidFill>
              <a:srgbClr val="EAFF6A"/>
            </a:solidFill>
            <a:prstDash val="solid"/>
            <a:round/>
            <a:headEnd type="none" w="sm" len="sm"/>
            <a:tailEnd type="none" w="sm" len="sm"/>
          </a:ln>
        </p:spPr>
      </p:cxnSp>
      <p:sp>
        <p:nvSpPr>
          <p:cNvPr id="2" name="Rectángulo 1">
            <a:extLst>
              <a:ext uri="{FF2B5EF4-FFF2-40B4-BE49-F238E27FC236}">
                <a16:creationId xmlns:a16="http://schemas.microsoft.com/office/drawing/2014/main" id="{B0821C83-5D1F-DDFC-8D32-F03DCA1797B5}"/>
              </a:ext>
            </a:extLst>
          </p:cNvPr>
          <p:cNvSpPr/>
          <p:nvPr/>
        </p:nvSpPr>
        <p:spPr>
          <a:xfrm>
            <a:off x="0" y="4408968"/>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7"/>
          <p:cNvSpPr txBox="1"/>
          <p:nvPr/>
        </p:nvSpPr>
        <p:spPr>
          <a:xfrm>
            <a:off x="1404863" y="2202300"/>
            <a:ext cx="6221400" cy="7389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4000"/>
              <a:buFont typeface="Arial"/>
              <a:buNone/>
            </a:pPr>
            <a:r>
              <a:rPr lang="es" sz="4000" b="1" i="0" u="none" strike="noStrike" cap="none">
                <a:solidFill>
                  <a:srgbClr val="EAFF6A"/>
                </a:solidFill>
                <a:latin typeface="DM Sans"/>
                <a:ea typeface="DM Sans"/>
                <a:cs typeface="DM Sans"/>
                <a:sym typeface="DM Sans"/>
              </a:rPr>
              <a:t>Herencia</a:t>
            </a:r>
            <a:endParaRPr sz="4000" b="1" i="0" u="none" strike="noStrike" cap="none">
              <a:solidFill>
                <a:srgbClr val="EAFF6A"/>
              </a:solidFill>
              <a:latin typeface="DM Sans"/>
              <a:ea typeface="DM Sans"/>
              <a:cs typeface="DM Sans"/>
              <a:sym typeface="DM Sans"/>
            </a:endParaRPr>
          </a:p>
        </p:txBody>
      </p:sp>
      <p:sp>
        <p:nvSpPr>
          <p:cNvPr id="4" name="Rectángulo 3">
            <a:extLst>
              <a:ext uri="{FF2B5EF4-FFF2-40B4-BE49-F238E27FC236}">
                <a16:creationId xmlns:a16="http://schemas.microsoft.com/office/drawing/2014/main" id="{C3840ECC-D8DC-1461-FB25-897D6E5DBA14}"/>
              </a:ext>
            </a:extLst>
          </p:cNvPr>
          <p:cNvSpPr/>
          <p:nvPr/>
        </p:nvSpPr>
        <p:spPr>
          <a:xfrm>
            <a:off x="0" y="4408968"/>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8"/>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¿Qué es?</a:t>
            </a:r>
            <a:endParaRPr sz="4000" b="1" i="0" u="none" strike="noStrike" cap="none">
              <a:solidFill>
                <a:schemeClr val="dk1"/>
              </a:solidFill>
              <a:latin typeface="DM Sans"/>
              <a:ea typeface="DM Sans"/>
              <a:cs typeface="DM Sans"/>
              <a:sym typeface="DM Sans"/>
            </a:endParaRPr>
          </a:p>
        </p:txBody>
      </p:sp>
      <p:sp>
        <p:nvSpPr>
          <p:cNvPr id="95" name="Google Shape;95;p18"/>
          <p:cNvSpPr txBox="1"/>
          <p:nvPr/>
        </p:nvSpPr>
        <p:spPr>
          <a:xfrm>
            <a:off x="473350" y="2063850"/>
            <a:ext cx="3834600" cy="1015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La herencia es un proceso mediante el cual se puede crear una </a:t>
            </a:r>
            <a:r>
              <a:rPr lang="es" sz="1350" b="1" i="0" u="none" strike="noStrike" cap="none">
                <a:solidFill>
                  <a:srgbClr val="000000"/>
                </a:solidFill>
                <a:highlight>
                  <a:schemeClr val="accent6"/>
                </a:highlight>
                <a:latin typeface="DM Sans"/>
                <a:ea typeface="DM Sans"/>
                <a:cs typeface="DM Sans"/>
                <a:sym typeface="DM Sans"/>
              </a:rPr>
              <a:t>clase hija</a:t>
            </a:r>
            <a:r>
              <a:rPr lang="es" sz="1350" b="1" i="0" u="none" strike="noStrike" cap="none">
                <a:solidFill>
                  <a:srgbClr val="000000"/>
                </a:solidFill>
                <a:latin typeface="DM Sans"/>
                <a:ea typeface="DM Sans"/>
                <a:cs typeface="DM Sans"/>
                <a:sym typeface="DM Sans"/>
              </a:rPr>
              <a:t> </a:t>
            </a:r>
            <a:r>
              <a:rPr lang="es" sz="1350" b="0" i="0" u="none" strike="noStrike" cap="none">
                <a:solidFill>
                  <a:srgbClr val="000000"/>
                </a:solidFill>
                <a:latin typeface="DM Sans"/>
                <a:ea typeface="DM Sans"/>
                <a:cs typeface="DM Sans"/>
                <a:sym typeface="DM Sans"/>
              </a:rPr>
              <a:t>que hereda de una </a:t>
            </a:r>
            <a:r>
              <a:rPr lang="es" sz="1350" b="1" i="0" u="none" strike="noStrike" cap="none">
                <a:solidFill>
                  <a:srgbClr val="000000"/>
                </a:solidFill>
                <a:highlight>
                  <a:schemeClr val="accent6"/>
                </a:highlight>
                <a:latin typeface="DM Sans"/>
                <a:ea typeface="DM Sans"/>
                <a:cs typeface="DM Sans"/>
                <a:sym typeface="DM Sans"/>
              </a:rPr>
              <a:t>clase padre</a:t>
            </a:r>
            <a:r>
              <a:rPr lang="es" sz="1350" b="0" i="0" u="none" strike="noStrike" cap="none">
                <a:solidFill>
                  <a:srgbClr val="000000"/>
                </a:solidFill>
                <a:latin typeface="DM Sans"/>
                <a:ea typeface="DM Sans"/>
                <a:cs typeface="DM Sans"/>
                <a:sym typeface="DM Sans"/>
              </a:rPr>
              <a:t>, compartiendo sus métodos y atributos.</a:t>
            </a:r>
            <a:endParaRPr sz="1350" b="0" i="0" u="none" strike="noStrike" cap="none">
              <a:solidFill>
                <a:srgbClr val="000000"/>
              </a:solidFill>
              <a:latin typeface="DM Sans"/>
              <a:ea typeface="DM Sans"/>
              <a:cs typeface="DM Sans"/>
              <a:sym typeface="DM Sans"/>
            </a:endParaRPr>
          </a:p>
        </p:txBody>
      </p:sp>
      <p:sp>
        <p:nvSpPr>
          <p:cNvPr id="96" name="Google Shape;96;p18"/>
          <p:cNvSpPr txBox="1"/>
          <p:nvPr/>
        </p:nvSpPr>
        <p:spPr>
          <a:xfrm>
            <a:off x="4527575" y="2063850"/>
            <a:ext cx="3834600" cy="808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Además de ello, una clase hija puede sobreescribir los métodos o atributos, o incluso definir unos nuevos.</a:t>
            </a:r>
            <a:endParaRPr sz="1350" b="0" i="0" u="none" strike="noStrike" cap="none">
              <a:solidFill>
                <a:srgbClr val="000000"/>
              </a:solidFill>
              <a:latin typeface="DM Sans"/>
              <a:ea typeface="DM Sans"/>
              <a:cs typeface="DM Sans"/>
              <a:sym typeface="DM Sans"/>
            </a:endParaRPr>
          </a:p>
        </p:txBody>
      </p:sp>
      <p:sp>
        <p:nvSpPr>
          <p:cNvPr id="97" name="Google Shape;97;p18"/>
          <p:cNvSpPr txBox="1"/>
          <p:nvPr/>
        </p:nvSpPr>
        <p:spPr>
          <a:xfrm>
            <a:off x="476250" y="4591050"/>
            <a:ext cx="300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chemeClr val="dk2"/>
                </a:solidFill>
                <a:latin typeface="DM Sans"/>
                <a:ea typeface="DM Sans"/>
                <a:cs typeface="DM Sans"/>
                <a:sym typeface="DM Sans"/>
              </a:rPr>
              <a:t>Fuente: </a:t>
            </a:r>
            <a:r>
              <a:rPr lang="es" sz="1100" b="0" i="0" u="none" strike="noStrike" cap="none">
                <a:solidFill>
                  <a:schemeClr val="hlink"/>
                </a:solidFill>
                <a:uFill>
                  <a:noFill/>
                </a:uFill>
                <a:latin typeface="DM Sans"/>
                <a:ea typeface="DM Sans"/>
                <a:cs typeface="DM Sans"/>
                <a:sym typeface="DM Sans"/>
                <a:hlinkClick r:id="rId3"/>
              </a:rPr>
              <a:t>ElLibroDePython</a:t>
            </a:r>
            <a:endParaRPr sz="1100" b="0" i="0" u="none" strike="noStrike" cap="none">
              <a:solidFill>
                <a:schemeClr val="accent5"/>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0EC6CF6C-8E5F-72DC-86DF-A108B83CCCC1}"/>
              </a:ext>
            </a:extLst>
          </p:cNvPr>
          <p:cNvSpPr/>
          <p:nvPr/>
        </p:nvSpPr>
        <p:spPr>
          <a:xfrm>
            <a:off x="0" y="4408968"/>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9"/>
          <p:cNvSpPr/>
          <p:nvPr/>
        </p:nvSpPr>
        <p:spPr>
          <a:xfrm>
            <a:off x="647400" y="1189150"/>
            <a:ext cx="7849200" cy="3317400"/>
          </a:xfrm>
          <a:prstGeom prst="rect">
            <a:avLst/>
          </a:prstGeom>
          <a:solidFill>
            <a:srgbClr val="EAFF6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 name="Google Shape;103;p19"/>
          <p:cNvSpPr txBox="1"/>
          <p:nvPr/>
        </p:nvSpPr>
        <p:spPr>
          <a:xfrm>
            <a:off x="1461300" y="345975"/>
            <a:ext cx="6221400" cy="6696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3500"/>
              <a:buFont typeface="Arial"/>
              <a:buNone/>
            </a:pPr>
            <a:r>
              <a:rPr lang="es" sz="3500" b="1" i="0" u="none" strike="noStrike" cap="none">
                <a:solidFill>
                  <a:schemeClr val="lt1"/>
                </a:solidFill>
                <a:latin typeface="DM Sans"/>
                <a:ea typeface="DM Sans"/>
                <a:cs typeface="DM Sans"/>
                <a:sym typeface="DM Sans"/>
              </a:rPr>
              <a:t>¿De qué se trata?</a:t>
            </a:r>
            <a:endParaRPr sz="3500" b="1" i="0" u="none" strike="noStrike" cap="none">
              <a:solidFill>
                <a:schemeClr val="lt1"/>
              </a:solidFill>
              <a:latin typeface="DM Sans"/>
              <a:ea typeface="DM Sans"/>
              <a:cs typeface="DM Sans"/>
              <a:sym typeface="DM Sans"/>
            </a:endParaRPr>
          </a:p>
        </p:txBody>
      </p:sp>
      <p:sp>
        <p:nvSpPr>
          <p:cNvPr id="104" name="Google Shape;104;p19"/>
          <p:cNvSpPr txBox="1"/>
          <p:nvPr/>
        </p:nvSpPr>
        <p:spPr>
          <a:xfrm>
            <a:off x="5949025" y="1959900"/>
            <a:ext cx="2166300" cy="1223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Se puede crear una clase hija con tan solo pasar como parámetro la clase de la que queremos heredar. </a:t>
            </a:r>
            <a:endParaRPr sz="1350" b="0" i="0" u="none" strike="noStrike" cap="none">
              <a:solidFill>
                <a:srgbClr val="000000"/>
              </a:solidFill>
              <a:latin typeface="DM Sans"/>
              <a:ea typeface="DM Sans"/>
              <a:cs typeface="DM Sans"/>
              <a:sym typeface="DM Sans"/>
            </a:endParaRPr>
          </a:p>
        </p:txBody>
      </p:sp>
      <p:pic>
        <p:nvPicPr>
          <p:cNvPr id="105" name="Google Shape;105;p19"/>
          <p:cNvPicPr preferRelativeResize="0"/>
          <p:nvPr/>
        </p:nvPicPr>
        <p:blipFill rotWithShape="1">
          <a:blip r:embed="rId3">
            <a:alphaModFix/>
          </a:blip>
          <a:srcRect r="23307"/>
          <a:stretch/>
        </p:blipFill>
        <p:spPr>
          <a:xfrm>
            <a:off x="841275" y="1662238"/>
            <a:ext cx="4858276" cy="2222062"/>
          </a:xfrm>
          <a:prstGeom prst="rect">
            <a:avLst/>
          </a:prstGeom>
          <a:noFill/>
          <a:ln>
            <a:noFill/>
          </a:ln>
        </p:spPr>
      </p:pic>
      <p:sp>
        <p:nvSpPr>
          <p:cNvPr id="106" name="Google Shape;106;p19"/>
          <p:cNvSpPr txBox="1"/>
          <p:nvPr/>
        </p:nvSpPr>
        <p:spPr>
          <a:xfrm>
            <a:off x="476250" y="4591050"/>
            <a:ext cx="300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chemeClr val="dk2"/>
                </a:solidFill>
                <a:latin typeface="DM Sans"/>
                <a:ea typeface="DM Sans"/>
                <a:cs typeface="DM Sans"/>
                <a:sym typeface="DM Sans"/>
              </a:rPr>
              <a:t>Fuente:</a:t>
            </a:r>
            <a:r>
              <a:rPr lang="es" sz="1100" b="0" i="0" u="none" strike="noStrike" cap="none">
                <a:solidFill>
                  <a:schemeClr val="accent5"/>
                </a:solidFill>
                <a:latin typeface="DM Sans"/>
                <a:ea typeface="DM Sans"/>
                <a:cs typeface="DM Sans"/>
                <a:sym typeface="DM Sans"/>
              </a:rPr>
              <a:t> </a:t>
            </a:r>
            <a:r>
              <a:rPr lang="es" sz="1100" b="0" i="0" u="none" strike="noStrike" cap="none">
                <a:solidFill>
                  <a:schemeClr val="hlink"/>
                </a:solidFill>
                <a:uFill>
                  <a:noFill/>
                </a:uFill>
                <a:latin typeface="DM Sans"/>
                <a:ea typeface="DM Sans"/>
                <a:cs typeface="DM Sans"/>
                <a:sym typeface="DM Sans"/>
                <a:hlinkClick r:id="rId4"/>
              </a:rPr>
              <a:t>ElLibroDePython</a:t>
            </a:r>
            <a:endParaRPr sz="1100" b="0" i="0" u="none" strike="noStrike" cap="none">
              <a:solidFill>
                <a:schemeClr val="accent5"/>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CCDB998F-4A5D-B024-4CD3-50BF2E3E0FBF}"/>
              </a:ext>
            </a:extLst>
          </p:cNvPr>
          <p:cNvSpPr/>
          <p:nvPr/>
        </p:nvSpPr>
        <p:spPr>
          <a:xfrm>
            <a:off x="0" y="4408968"/>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0"/>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¿Cómo funciona?</a:t>
            </a:r>
            <a:endParaRPr sz="4000" b="1" i="0" u="none" strike="noStrike" cap="none">
              <a:solidFill>
                <a:schemeClr val="dk1"/>
              </a:solidFill>
              <a:latin typeface="DM Sans"/>
              <a:ea typeface="DM Sans"/>
              <a:cs typeface="DM Sans"/>
              <a:sym typeface="DM Sans"/>
            </a:endParaRPr>
          </a:p>
        </p:txBody>
      </p:sp>
      <p:sp>
        <p:nvSpPr>
          <p:cNvPr id="112" name="Google Shape;112;p20"/>
          <p:cNvSpPr txBox="1"/>
          <p:nvPr/>
        </p:nvSpPr>
        <p:spPr>
          <a:xfrm>
            <a:off x="473350" y="2063850"/>
            <a:ext cx="3834600" cy="1015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Dado que </a:t>
            </a:r>
            <a:r>
              <a:rPr lang="es" sz="1350" b="0" i="0" u="none" strike="noStrike" cap="none">
                <a:solidFill>
                  <a:srgbClr val="000000"/>
                </a:solidFill>
                <a:highlight>
                  <a:schemeClr val="accent6"/>
                </a:highlight>
                <a:latin typeface="DM Sans"/>
                <a:ea typeface="DM Sans"/>
                <a:cs typeface="DM Sans"/>
                <a:sym typeface="DM Sans"/>
              </a:rPr>
              <a:t>una clase hija hereda los atributos y métodos de la padre</a:t>
            </a:r>
            <a:r>
              <a:rPr lang="es" sz="1350" b="0" i="0" u="none" strike="noStrike" cap="none">
                <a:solidFill>
                  <a:srgbClr val="000000"/>
                </a:solidFill>
                <a:latin typeface="DM Sans"/>
                <a:ea typeface="DM Sans"/>
                <a:cs typeface="DM Sans"/>
                <a:sym typeface="DM Sans"/>
              </a:rPr>
              <a:t>, nos puede ser muy útil cuando tengamos clases que se parecen entre sí pero tienen ciertas particularidades.</a:t>
            </a:r>
            <a:endParaRPr sz="1350" b="0" i="0" u="none" strike="noStrike" cap="none">
              <a:solidFill>
                <a:srgbClr val="000000"/>
              </a:solidFill>
              <a:latin typeface="DM Sans"/>
              <a:ea typeface="DM Sans"/>
              <a:cs typeface="DM Sans"/>
              <a:sym typeface="DM Sans"/>
            </a:endParaRPr>
          </a:p>
        </p:txBody>
      </p:sp>
      <p:sp>
        <p:nvSpPr>
          <p:cNvPr id="113" name="Google Shape;113;p20"/>
          <p:cNvSpPr txBox="1"/>
          <p:nvPr/>
        </p:nvSpPr>
        <p:spPr>
          <a:xfrm>
            <a:off x="4527575" y="2063850"/>
            <a:ext cx="3834600" cy="1431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En este caso, siguiendo el ejemplo anterior, en vez de definir muchas clases para cada animal, </a:t>
            </a:r>
            <a:r>
              <a:rPr lang="es" sz="1350" b="1" i="0" u="none" strike="noStrike" cap="none">
                <a:solidFill>
                  <a:srgbClr val="000000"/>
                </a:solidFill>
                <a:latin typeface="DM Sans"/>
                <a:ea typeface="DM Sans"/>
                <a:cs typeface="DM Sans"/>
                <a:sym typeface="DM Sans"/>
              </a:rPr>
              <a:t>podemos tomar los elementos comunes y crear una clase Animal de la que hereden el resto,</a:t>
            </a:r>
            <a:r>
              <a:rPr lang="es" sz="1350" b="0" i="0" u="none" strike="noStrike" cap="none">
                <a:solidFill>
                  <a:srgbClr val="000000"/>
                </a:solidFill>
                <a:latin typeface="DM Sans"/>
                <a:ea typeface="DM Sans"/>
                <a:cs typeface="DM Sans"/>
                <a:sym typeface="DM Sans"/>
              </a:rPr>
              <a:t> respetando por tanto la filosofía </a:t>
            </a:r>
            <a:r>
              <a:rPr lang="es" sz="1350" b="1" i="0" u="none" strike="noStrike" cap="none">
                <a:solidFill>
                  <a:srgbClr val="000000"/>
                </a:solidFill>
                <a:latin typeface="DM Sans"/>
                <a:ea typeface="DM Sans"/>
                <a:cs typeface="DM Sans"/>
                <a:sym typeface="DM Sans"/>
              </a:rPr>
              <a:t>DRY.</a:t>
            </a:r>
            <a:endParaRPr sz="1350" b="1" i="0" u="none" strike="noStrike" cap="none">
              <a:solidFill>
                <a:srgbClr val="000000"/>
              </a:solidFill>
              <a:latin typeface="DM Sans"/>
              <a:ea typeface="DM Sans"/>
              <a:cs typeface="DM Sans"/>
              <a:sym typeface="DM Sans"/>
            </a:endParaRPr>
          </a:p>
        </p:txBody>
      </p:sp>
      <p:sp>
        <p:nvSpPr>
          <p:cNvPr id="114" name="Google Shape;114;p20"/>
          <p:cNvSpPr txBox="1"/>
          <p:nvPr/>
        </p:nvSpPr>
        <p:spPr>
          <a:xfrm>
            <a:off x="476250" y="4591050"/>
            <a:ext cx="300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chemeClr val="dk2"/>
                </a:solidFill>
                <a:latin typeface="DM Sans"/>
                <a:ea typeface="DM Sans"/>
                <a:cs typeface="DM Sans"/>
                <a:sym typeface="DM Sans"/>
              </a:rPr>
              <a:t>Fuente: </a:t>
            </a:r>
            <a:r>
              <a:rPr lang="es" sz="1100" b="0" i="0" u="none" strike="noStrike" cap="none">
                <a:solidFill>
                  <a:schemeClr val="hlink"/>
                </a:solidFill>
                <a:uFill>
                  <a:noFill/>
                </a:uFill>
                <a:latin typeface="DM Sans"/>
                <a:ea typeface="DM Sans"/>
                <a:cs typeface="DM Sans"/>
                <a:sym typeface="DM Sans"/>
                <a:hlinkClick r:id="rId3"/>
              </a:rPr>
              <a:t>ElLibroDePython</a:t>
            </a:r>
            <a:endParaRPr sz="1100" b="0" i="0" u="none" strike="noStrike" cap="none">
              <a:solidFill>
                <a:schemeClr val="accent5"/>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F7EBBBD9-FD59-1B54-BCCE-AFC47F88A4B1}"/>
              </a:ext>
            </a:extLst>
          </p:cNvPr>
          <p:cNvSpPr/>
          <p:nvPr/>
        </p:nvSpPr>
        <p:spPr>
          <a:xfrm>
            <a:off x="0" y="4408968"/>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1"/>
          <p:cNvSpPr txBox="1"/>
          <p:nvPr/>
        </p:nvSpPr>
        <p:spPr>
          <a:xfrm>
            <a:off x="1461300" y="2202300"/>
            <a:ext cx="6221400" cy="7389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Principio de DRY</a:t>
            </a:r>
            <a:endParaRPr sz="4000" b="1" i="0" u="none" strike="noStrike" cap="none">
              <a:solidFill>
                <a:schemeClr val="dk1"/>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79AB07CF-0FDB-77CC-9FDA-7B1F4E0C6A0B}"/>
              </a:ext>
            </a:extLst>
          </p:cNvPr>
          <p:cNvSpPr/>
          <p:nvPr/>
        </p:nvSpPr>
        <p:spPr>
          <a:xfrm>
            <a:off x="0" y="4408968"/>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2"/>
          <p:cNvSpPr txBox="1"/>
          <p:nvPr/>
        </p:nvSpPr>
        <p:spPr>
          <a:xfrm>
            <a:off x="3649575" y="876275"/>
            <a:ext cx="4987200" cy="24012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chemeClr val="dk1"/>
              </a:buClr>
              <a:buSzPts val="1100"/>
              <a:buFont typeface="Arial"/>
              <a:buNone/>
            </a:pPr>
            <a:r>
              <a:rPr lang="es" sz="4000" b="1" i="0" u="none" strike="noStrike" cap="none">
                <a:solidFill>
                  <a:schemeClr val="dk1"/>
                </a:solidFill>
                <a:latin typeface="DM Sans"/>
                <a:ea typeface="DM Sans"/>
                <a:cs typeface="DM Sans"/>
                <a:sym typeface="DM Sans"/>
              </a:rPr>
              <a:t>Don't repeat yourself</a:t>
            </a:r>
            <a:endParaRPr sz="4000" b="1" i="0" u="none" strike="noStrike" cap="none">
              <a:solidFill>
                <a:schemeClr val="dk1"/>
              </a:solidFill>
              <a:latin typeface="DM Sans"/>
              <a:ea typeface="DM Sans"/>
              <a:cs typeface="DM Sans"/>
              <a:sym typeface="DM Sans"/>
            </a:endParaRPr>
          </a:p>
          <a:p>
            <a:pPr marL="0" marR="0" lvl="0" indent="0" algn="l" rtl="0">
              <a:lnSpc>
                <a:spcPct val="90000"/>
              </a:lnSpc>
              <a:spcBef>
                <a:spcPts val="0"/>
              </a:spcBef>
              <a:spcAft>
                <a:spcPts val="0"/>
              </a:spcAft>
              <a:buClr>
                <a:schemeClr val="dk1"/>
              </a:buClr>
              <a:buSzPts val="1100"/>
              <a:buFont typeface="Arial"/>
              <a:buNone/>
            </a:pPr>
            <a:endParaRPr sz="4000" b="1" i="0" u="none" strike="noStrike" cap="none">
              <a:solidFill>
                <a:schemeClr val="dk1"/>
              </a:solidFill>
              <a:latin typeface="DM Sans"/>
              <a:ea typeface="DM Sans"/>
              <a:cs typeface="DM Sans"/>
              <a:sym typeface="DM Sans"/>
            </a:endParaRPr>
          </a:p>
          <a:p>
            <a:pPr marL="0" marR="0" lvl="0" indent="0" algn="l" rtl="0">
              <a:lnSpc>
                <a:spcPct val="90000"/>
              </a:lnSpc>
              <a:spcBef>
                <a:spcPts val="0"/>
              </a:spcBef>
              <a:spcAft>
                <a:spcPts val="0"/>
              </a:spcAft>
              <a:buClr>
                <a:srgbClr val="000000"/>
              </a:buClr>
              <a:buSzPts val="4000"/>
              <a:buFont typeface="Arial"/>
              <a:buNone/>
            </a:pPr>
            <a:endParaRPr sz="4000" b="1" i="0" u="none" strike="noStrike" cap="none">
              <a:solidFill>
                <a:schemeClr val="dk1"/>
              </a:solidFill>
              <a:latin typeface="DM Sans"/>
              <a:ea typeface="DM Sans"/>
              <a:cs typeface="DM Sans"/>
              <a:sym typeface="DM Sans"/>
            </a:endParaRPr>
          </a:p>
        </p:txBody>
      </p:sp>
      <p:sp>
        <p:nvSpPr>
          <p:cNvPr id="125" name="Google Shape;125;p22"/>
          <p:cNvSpPr txBox="1"/>
          <p:nvPr/>
        </p:nvSpPr>
        <p:spPr>
          <a:xfrm>
            <a:off x="3649500" y="2211613"/>
            <a:ext cx="4987200" cy="1223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Cuanto más código duplicado exista, más difícil será de modificar y más fácil será crear inconsistencias.</a:t>
            </a:r>
            <a:endParaRPr sz="135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endParaRPr sz="135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highlight>
                  <a:schemeClr val="accent6"/>
                </a:highlight>
                <a:latin typeface="DM Sans"/>
                <a:ea typeface="DM Sans"/>
                <a:cs typeface="DM Sans"/>
                <a:sym typeface="DM Sans"/>
              </a:rPr>
              <a:t>Las clases y la herencia ayudan a no repetir código de manera innecesaria.</a:t>
            </a:r>
            <a:endParaRPr sz="1350" b="0" i="0" u="none" strike="noStrike" cap="none">
              <a:solidFill>
                <a:srgbClr val="000000"/>
              </a:solidFill>
              <a:highlight>
                <a:schemeClr val="accent6"/>
              </a:highlight>
              <a:latin typeface="DM Sans"/>
              <a:ea typeface="DM Sans"/>
              <a:cs typeface="DM Sans"/>
              <a:sym typeface="DM Sans"/>
            </a:endParaRPr>
          </a:p>
        </p:txBody>
      </p:sp>
      <p:pic>
        <p:nvPicPr>
          <p:cNvPr id="126" name="Google Shape;126;p22"/>
          <p:cNvPicPr preferRelativeResize="0"/>
          <p:nvPr/>
        </p:nvPicPr>
        <p:blipFill rotWithShape="1">
          <a:blip r:embed="rId3">
            <a:alphaModFix/>
          </a:blip>
          <a:srcRect/>
          <a:stretch/>
        </p:blipFill>
        <p:spPr>
          <a:xfrm>
            <a:off x="616025" y="1603825"/>
            <a:ext cx="2599100" cy="2077825"/>
          </a:xfrm>
          <a:prstGeom prst="rect">
            <a:avLst/>
          </a:prstGeom>
          <a:noFill/>
          <a:ln>
            <a:noFill/>
          </a:ln>
        </p:spPr>
      </p:pic>
      <p:sp>
        <p:nvSpPr>
          <p:cNvPr id="127" name="Google Shape;127;p22"/>
          <p:cNvSpPr txBox="1"/>
          <p:nvPr/>
        </p:nvSpPr>
        <p:spPr>
          <a:xfrm>
            <a:off x="443450" y="4590900"/>
            <a:ext cx="300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chemeClr val="dk2"/>
                </a:solidFill>
                <a:latin typeface="DM Sans"/>
                <a:ea typeface="DM Sans"/>
                <a:cs typeface="DM Sans"/>
                <a:sym typeface="DM Sans"/>
              </a:rPr>
              <a:t>Fuente:</a:t>
            </a:r>
            <a:r>
              <a:rPr lang="es" sz="1100" b="0" i="0" u="none" strike="noStrike" cap="none">
                <a:solidFill>
                  <a:schemeClr val="accent5"/>
                </a:solidFill>
                <a:latin typeface="DM Sans"/>
                <a:ea typeface="DM Sans"/>
                <a:cs typeface="DM Sans"/>
                <a:sym typeface="DM Sans"/>
              </a:rPr>
              <a:t> </a:t>
            </a:r>
            <a:r>
              <a:rPr lang="es" sz="1100" b="0" i="0" u="none" strike="noStrike" cap="none">
                <a:solidFill>
                  <a:schemeClr val="hlink"/>
                </a:solidFill>
                <a:uFill>
                  <a:noFill/>
                </a:uFill>
                <a:latin typeface="DM Sans"/>
                <a:ea typeface="DM Sans"/>
                <a:cs typeface="DM Sans"/>
                <a:sym typeface="DM Sans"/>
                <a:hlinkClick r:id="rId4"/>
              </a:rPr>
              <a:t>ElLibroDePython</a:t>
            </a:r>
            <a:endParaRPr sz="1100" b="0" i="0" u="none" strike="noStrike" cap="none">
              <a:solidFill>
                <a:schemeClr val="accent5"/>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790E7228-C097-67E1-AA5D-1ABA8E35F750}"/>
              </a:ext>
            </a:extLst>
          </p:cNvPr>
          <p:cNvSpPr/>
          <p:nvPr/>
        </p:nvSpPr>
        <p:spPr>
          <a:xfrm>
            <a:off x="0" y="4408968"/>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grpSp>
        <p:nvGrpSpPr>
          <p:cNvPr id="132" name="Google Shape;132;p23"/>
          <p:cNvGrpSpPr/>
          <p:nvPr/>
        </p:nvGrpSpPr>
        <p:grpSpPr>
          <a:xfrm>
            <a:off x="457338" y="468286"/>
            <a:ext cx="431100" cy="431100"/>
            <a:chOff x="4616400" y="1950761"/>
            <a:chExt cx="431100" cy="431100"/>
          </a:xfrm>
        </p:grpSpPr>
        <p:sp>
          <p:nvSpPr>
            <p:cNvPr id="133" name="Google Shape;133;p23"/>
            <p:cNvSpPr/>
            <p:nvPr/>
          </p:nvSpPr>
          <p:spPr>
            <a:xfrm>
              <a:off x="4616400" y="1950761"/>
              <a:ext cx="431100" cy="4311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34" name="Google Shape;134;p23" title="ícono para recordar"/>
            <p:cNvPicPr preferRelativeResize="0"/>
            <p:nvPr/>
          </p:nvPicPr>
          <p:blipFill rotWithShape="1">
            <a:blip r:embed="rId3">
              <a:alphaModFix/>
            </a:blip>
            <a:srcRect/>
            <a:stretch/>
          </p:blipFill>
          <p:spPr>
            <a:xfrm>
              <a:off x="4699911" y="2034249"/>
              <a:ext cx="264076" cy="264076"/>
            </a:xfrm>
            <a:prstGeom prst="rect">
              <a:avLst/>
            </a:prstGeom>
            <a:noFill/>
            <a:ln>
              <a:noFill/>
            </a:ln>
          </p:spPr>
        </p:pic>
      </p:grpSp>
      <p:sp>
        <p:nvSpPr>
          <p:cNvPr id="135" name="Google Shape;135;p23"/>
          <p:cNvSpPr txBox="1"/>
          <p:nvPr/>
        </p:nvSpPr>
        <p:spPr>
          <a:xfrm>
            <a:off x="457350" y="1517400"/>
            <a:ext cx="7169400" cy="210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2500" b="0" i="0" u="none" strike="noStrike" cap="none">
                <a:solidFill>
                  <a:schemeClr val="lt1"/>
                </a:solidFill>
                <a:latin typeface="DM Sans"/>
                <a:ea typeface="DM Sans"/>
                <a:cs typeface="DM Sans"/>
                <a:sym typeface="DM Sans"/>
              </a:rPr>
              <a:t>Realizar </a:t>
            </a:r>
            <a:r>
              <a:rPr lang="es" sz="2500" b="1" i="0" u="none" strike="noStrike" cap="none">
                <a:solidFill>
                  <a:schemeClr val="accent6"/>
                </a:solidFill>
                <a:latin typeface="DM Sans"/>
                <a:ea typeface="DM Sans"/>
                <a:cs typeface="DM Sans"/>
                <a:sym typeface="DM Sans"/>
              </a:rPr>
              <a:t>estas abstracciones y buscar el denominador  común para definir una clase de la que hereden las demás,</a:t>
            </a:r>
            <a:r>
              <a:rPr lang="es" sz="2500" b="0" i="0" u="none" strike="noStrike" cap="none">
                <a:solidFill>
                  <a:schemeClr val="lt1"/>
                </a:solidFill>
                <a:latin typeface="DM Sans"/>
                <a:ea typeface="DM Sans"/>
                <a:cs typeface="DM Sans"/>
                <a:sym typeface="DM Sans"/>
              </a:rPr>
              <a:t> es una tarea de lo más compleja en el mundo de la programación.</a:t>
            </a:r>
            <a:endParaRPr sz="2500" b="0" i="0" u="none" strike="noStrike" cap="none">
              <a:solidFill>
                <a:schemeClr val="lt1"/>
              </a:solidFill>
              <a:latin typeface="DM Sans"/>
              <a:ea typeface="DM Sans"/>
              <a:cs typeface="DM Sans"/>
              <a:sym typeface="DM Sans"/>
            </a:endParaRPr>
          </a:p>
        </p:txBody>
      </p:sp>
      <p:sp>
        <p:nvSpPr>
          <p:cNvPr id="136" name="Google Shape;136;p23"/>
          <p:cNvSpPr txBox="1"/>
          <p:nvPr/>
        </p:nvSpPr>
        <p:spPr>
          <a:xfrm>
            <a:off x="930550" y="468275"/>
            <a:ext cx="29175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 sz="1600" b="0" i="0" u="none" strike="noStrike" cap="none">
                <a:solidFill>
                  <a:schemeClr val="lt1"/>
                </a:solidFill>
                <a:latin typeface="DM Sans"/>
                <a:ea typeface="DM Sans"/>
                <a:cs typeface="DM Sans"/>
                <a:sym typeface="DM Sans"/>
              </a:rPr>
              <a:t>PARA RECORDAR</a:t>
            </a:r>
            <a:endParaRPr sz="1400" b="0" i="0" u="none" strike="noStrike" cap="none">
              <a:solidFill>
                <a:schemeClr val="lt1"/>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9BF7CD7D-C5BD-A01F-0EE9-783B01F56062}"/>
              </a:ext>
            </a:extLst>
          </p:cNvPr>
          <p:cNvSpPr/>
          <p:nvPr/>
        </p:nvSpPr>
        <p:spPr>
          <a:xfrm>
            <a:off x="0" y="4408968"/>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4"/>
          <p:cNvSpPr txBox="1"/>
          <p:nvPr/>
        </p:nvSpPr>
        <p:spPr>
          <a:xfrm>
            <a:off x="1445150" y="688825"/>
            <a:ext cx="7169400" cy="6696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500"/>
              <a:buFont typeface="Arial"/>
              <a:buNone/>
            </a:pPr>
            <a:r>
              <a:rPr lang="es" sz="3500" b="1" i="0" u="none" strike="noStrike" cap="none">
                <a:solidFill>
                  <a:srgbClr val="EAFF6A"/>
                </a:solidFill>
                <a:latin typeface="DM Sans"/>
                <a:ea typeface="DM Sans"/>
                <a:cs typeface="DM Sans"/>
                <a:sym typeface="DM Sans"/>
              </a:rPr>
              <a:t>Ejemplo en vivo</a:t>
            </a:r>
            <a:endParaRPr sz="3500" b="1" i="0" u="none" strike="noStrike" cap="none">
              <a:solidFill>
                <a:srgbClr val="EAFF6A"/>
              </a:solidFill>
              <a:latin typeface="DM Sans"/>
              <a:ea typeface="DM Sans"/>
              <a:cs typeface="DM Sans"/>
              <a:sym typeface="DM Sans"/>
            </a:endParaRPr>
          </a:p>
        </p:txBody>
      </p:sp>
      <p:sp>
        <p:nvSpPr>
          <p:cNvPr id="142" name="Google Shape;142;p24"/>
          <p:cNvSpPr txBox="1"/>
          <p:nvPr/>
        </p:nvSpPr>
        <p:spPr>
          <a:xfrm>
            <a:off x="473350" y="1626100"/>
            <a:ext cx="7169400" cy="210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endParaRPr sz="2500" b="0" i="0" u="none" strike="noStrike" cap="none">
              <a:solidFill>
                <a:srgbClr val="B7B7B7"/>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r>
              <a:rPr lang="es" sz="2500" b="0" i="0" u="none" strike="noStrike" cap="none">
                <a:solidFill>
                  <a:srgbClr val="B7B7B7"/>
                </a:solidFill>
                <a:latin typeface="DM Sans"/>
                <a:ea typeface="DM Sans"/>
                <a:cs typeface="DM Sans"/>
                <a:sym typeface="DM Sans"/>
              </a:rPr>
              <a:t>Vamos a definir una clase padre </a:t>
            </a:r>
            <a:r>
              <a:rPr lang="es" sz="2500" b="1" i="0" u="none" strike="noStrike" cap="none">
                <a:solidFill>
                  <a:srgbClr val="B7B7B7"/>
                </a:solidFill>
                <a:latin typeface="DM Sans"/>
                <a:ea typeface="DM Sans"/>
                <a:cs typeface="DM Sans"/>
                <a:sym typeface="DM Sans"/>
              </a:rPr>
              <a:t>Animal</a:t>
            </a:r>
            <a:r>
              <a:rPr lang="es" sz="2500" b="0" i="0" u="none" strike="noStrike" cap="none">
                <a:solidFill>
                  <a:srgbClr val="B7B7B7"/>
                </a:solidFill>
                <a:latin typeface="DM Sans"/>
                <a:ea typeface="DM Sans"/>
                <a:cs typeface="DM Sans"/>
                <a:sym typeface="DM Sans"/>
              </a:rPr>
              <a:t> que tendrá todos los atributos y métodos genéricos que los animales pueden tener. </a:t>
            </a:r>
            <a:endParaRPr sz="2500" b="0" i="0" u="none" strike="noStrike" cap="none">
              <a:solidFill>
                <a:srgbClr val="B7B7B7"/>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2500"/>
              <a:buFont typeface="Arial"/>
              <a:buNone/>
            </a:pPr>
            <a:endParaRPr sz="2500" b="1" i="0" u="none" strike="noStrike" cap="none">
              <a:solidFill>
                <a:srgbClr val="B7B7B7"/>
              </a:solidFill>
              <a:latin typeface="Helvetica Neue"/>
              <a:ea typeface="Helvetica Neue"/>
              <a:cs typeface="Helvetica Neue"/>
              <a:sym typeface="Helvetica Neue"/>
            </a:endParaRPr>
          </a:p>
        </p:txBody>
      </p:sp>
      <p:grpSp>
        <p:nvGrpSpPr>
          <p:cNvPr id="143" name="Google Shape;143;p24"/>
          <p:cNvGrpSpPr/>
          <p:nvPr/>
        </p:nvGrpSpPr>
        <p:grpSpPr>
          <a:xfrm>
            <a:off x="473351" y="619523"/>
            <a:ext cx="738900" cy="738900"/>
            <a:chOff x="473351" y="619523"/>
            <a:chExt cx="738900" cy="738900"/>
          </a:xfrm>
        </p:grpSpPr>
        <p:sp>
          <p:nvSpPr>
            <p:cNvPr id="144" name="Google Shape;144;p24"/>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45" name="Google Shape;145;p24" title="ícono de ejemplo en vivo"/>
            <p:cNvPicPr preferRelativeResize="0"/>
            <p:nvPr/>
          </p:nvPicPr>
          <p:blipFill rotWithShape="1">
            <a:blip r:embed="rId3">
              <a:alphaModFix/>
            </a:blip>
            <a:srcRect/>
            <a:stretch/>
          </p:blipFill>
          <p:spPr>
            <a:xfrm>
              <a:off x="616475" y="762650"/>
              <a:ext cx="452650" cy="452650"/>
            </a:xfrm>
            <a:prstGeom prst="rect">
              <a:avLst/>
            </a:prstGeom>
            <a:noFill/>
            <a:ln>
              <a:noFill/>
            </a:ln>
          </p:spPr>
        </p:pic>
      </p:grpSp>
      <p:sp>
        <p:nvSpPr>
          <p:cNvPr id="2" name="Rectángulo 1">
            <a:extLst>
              <a:ext uri="{FF2B5EF4-FFF2-40B4-BE49-F238E27FC236}">
                <a16:creationId xmlns:a16="http://schemas.microsoft.com/office/drawing/2014/main" id="{0BA8F674-B180-861D-843F-F076698CF84F}"/>
              </a:ext>
            </a:extLst>
          </p:cNvPr>
          <p:cNvSpPr/>
          <p:nvPr/>
        </p:nvSpPr>
        <p:spPr>
          <a:xfrm>
            <a:off x="0" y="4408968"/>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5"/>
          <p:cNvSpPr/>
          <p:nvPr/>
        </p:nvSpPr>
        <p:spPr>
          <a:xfrm>
            <a:off x="0" y="0"/>
            <a:ext cx="2525100" cy="5143500"/>
          </a:xfrm>
          <a:prstGeom prst="rect">
            <a:avLst/>
          </a:prstGeom>
          <a:solidFill>
            <a:srgbClr val="EAFF6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 name="Google Shape;151;p25"/>
          <p:cNvSpPr txBox="1"/>
          <p:nvPr/>
        </p:nvSpPr>
        <p:spPr>
          <a:xfrm>
            <a:off x="4704525" y="1181075"/>
            <a:ext cx="39633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Atributos</a:t>
            </a:r>
            <a:endParaRPr sz="4000" b="1" i="0" u="none" strike="noStrike" cap="none">
              <a:solidFill>
                <a:schemeClr val="dk1"/>
              </a:solidFill>
              <a:latin typeface="DM Sans"/>
              <a:ea typeface="DM Sans"/>
              <a:cs typeface="DM Sans"/>
              <a:sym typeface="DM Sans"/>
            </a:endParaRPr>
          </a:p>
        </p:txBody>
      </p:sp>
      <p:sp>
        <p:nvSpPr>
          <p:cNvPr id="152" name="Google Shape;152;p25"/>
          <p:cNvSpPr txBox="1"/>
          <p:nvPr/>
        </p:nvSpPr>
        <p:spPr>
          <a:xfrm>
            <a:off x="4487700" y="2205463"/>
            <a:ext cx="4180200" cy="1015800"/>
          </a:xfrm>
          <a:prstGeom prst="rect">
            <a:avLst/>
          </a:prstGeom>
          <a:noFill/>
          <a:ln>
            <a:noFill/>
          </a:ln>
        </p:spPr>
        <p:txBody>
          <a:bodyPr spcFirstLastPara="1" wrap="square" lIns="91425" tIns="91425" rIns="91425" bIns="91425" anchor="t" anchorCtr="0">
            <a:spAutoFit/>
          </a:bodyPr>
          <a:lstStyle/>
          <a:p>
            <a:pPr marL="457200" marR="0" lvl="0" indent="-314325" algn="l" rtl="0">
              <a:lnSpc>
                <a:spcPct val="100000"/>
              </a:lnSpc>
              <a:spcBef>
                <a:spcPts val="0"/>
              </a:spcBef>
              <a:spcAft>
                <a:spcPts val="0"/>
              </a:spcAft>
              <a:buClr>
                <a:schemeClr val="accent4"/>
              </a:buClr>
              <a:buSzPts val="1350"/>
              <a:buFont typeface="DM Sans"/>
              <a:buChar char="✓"/>
            </a:pPr>
            <a:r>
              <a:rPr lang="es" sz="1350" b="1" i="0" u="none" strike="noStrike" cap="none">
                <a:solidFill>
                  <a:srgbClr val="000000"/>
                </a:solidFill>
                <a:latin typeface="DM Sans"/>
                <a:ea typeface="DM Sans"/>
                <a:cs typeface="DM Sans"/>
                <a:sym typeface="DM Sans"/>
              </a:rPr>
              <a:t>Especie:</a:t>
            </a:r>
            <a:r>
              <a:rPr lang="es" sz="1350" b="0" i="0" u="none" strike="noStrike" cap="none">
                <a:solidFill>
                  <a:srgbClr val="000000"/>
                </a:solidFill>
                <a:latin typeface="DM Sans"/>
                <a:ea typeface="DM Sans"/>
                <a:cs typeface="DM Sans"/>
                <a:sym typeface="DM Sans"/>
              </a:rPr>
              <a:t> todos los animales pertenecen a una. </a:t>
            </a:r>
            <a:endParaRPr sz="1350" b="0" i="0" u="none" strike="noStrike" cap="none">
              <a:solidFill>
                <a:srgbClr val="000000"/>
              </a:solidFill>
              <a:latin typeface="DM Sans"/>
              <a:ea typeface="DM Sans"/>
              <a:cs typeface="DM Sans"/>
              <a:sym typeface="DM Sans"/>
            </a:endParaRPr>
          </a:p>
          <a:p>
            <a:pPr marL="45720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DM Sans"/>
              <a:buChar char="✓"/>
            </a:pPr>
            <a:r>
              <a:rPr lang="es" sz="1350" b="1" i="0" u="none" strike="noStrike" cap="none">
                <a:solidFill>
                  <a:srgbClr val="000000"/>
                </a:solidFill>
                <a:latin typeface="DM Sans"/>
                <a:ea typeface="DM Sans"/>
                <a:cs typeface="DM Sans"/>
                <a:sym typeface="DM Sans"/>
              </a:rPr>
              <a:t>Edad:</a:t>
            </a:r>
            <a:r>
              <a:rPr lang="es" sz="1350" b="0" i="0" u="none" strike="noStrike" cap="none">
                <a:solidFill>
                  <a:srgbClr val="000000"/>
                </a:solidFill>
                <a:latin typeface="DM Sans"/>
                <a:ea typeface="DM Sans"/>
                <a:cs typeface="DM Sans"/>
                <a:sym typeface="DM Sans"/>
              </a:rPr>
              <a:t> momento cronológico.</a:t>
            </a:r>
            <a:endParaRPr sz="1350" b="0" i="0" u="none" strike="noStrike" cap="none">
              <a:solidFill>
                <a:srgbClr val="000000"/>
              </a:solidFill>
              <a:latin typeface="DM Sans"/>
              <a:ea typeface="DM Sans"/>
              <a:cs typeface="DM Sans"/>
              <a:sym typeface="DM Sans"/>
            </a:endParaRPr>
          </a:p>
        </p:txBody>
      </p:sp>
      <p:pic>
        <p:nvPicPr>
          <p:cNvPr id="153" name="Google Shape;153;p25"/>
          <p:cNvPicPr preferRelativeResize="0"/>
          <p:nvPr/>
        </p:nvPicPr>
        <p:blipFill rotWithShape="1">
          <a:blip r:embed="rId3">
            <a:alphaModFix/>
          </a:blip>
          <a:srcRect r="15188"/>
          <a:stretch/>
        </p:blipFill>
        <p:spPr>
          <a:xfrm>
            <a:off x="619125" y="1165575"/>
            <a:ext cx="3725700" cy="3095575"/>
          </a:xfrm>
          <a:prstGeom prst="rect">
            <a:avLst/>
          </a:prstGeom>
          <a:noFill/>
          <a:ln w="19050" cap="flat" cmpd="sng">
            <a:solidFill>
              <a:srgbClr val="595959"/>
            </a:solidFill>
            <a:prstDash val="solid"/>
            <a:round/>
            <a:headEnd type="none" w="sm" len="sm"/>
            <a:tailEnd type="none" w="sm" len="sm"/>
          </a:ln>
        </p:spPr>
      </p:pic>
      <p:sp>
        <p:nvSpPr>
          <p:cNvPr id="154" name="Google Shape;154;p25"/>
          <p:cNvSpPr txBox="1"/>
          <p:nvPr/>
        </p:nvSpPr>
        <p:spPr>
          <a:xfrm>
            <a:off x="4487693" y="4591041"/>
            <a:ext cx="300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chemeClr val="dk2"/>
                </a:solidFill>
                <a:latin typeface="DM Sans"/>
                <a:ea typeface="DM Sans"/>
                <a:cs typeface="DM Sans"/>
                <a:sym typeface="DM Sans"/>
              </a:rPr>
              <a:t>Fuente: </a:t>
            </a:r>
            <a:r>
              <a:rPr lang="es" sz="1100" b="0" i="0" u="none" strike="noStrike" cap="none">
                <a:solidFill>
                  <a:schemeClr val="hlink"/>
                </a:solidFill>
                <a:uFill>
                  <a:noFill/>
                </a:uFill>
                <a:latin typeface="DM Sans"/>
                <a:ea typeface="DM Sans"/>
                <a:cs typeface="DM Sans"/>
                <a:sym typeface="DM Sans"/>
                <a:hlinkClick r:id="rId4"/>
              </a:rPr>
              <a:t>ElLibroDePython</a:t>
            </a:r>
            <a:endParaRPr sz="1100" b="0" i="0" u="none" strike="noStrike" cap="none">
              <a:solidFill>
                <a:schemeClr val="accent5"/>
              </a:solidFill>
              <a:latin typeface="DM Sans"/>
              <a:ea typeface="DM Sans"/>
              <a:cs typeface="DM Sans"/>
              <a:sym typeface="DM Sans"/>
            </a:endParaRPr>
          </a:p>
        </p:txBody>
      </p:sp>
      <p:grpSp>
        <p:nvGrpSpPr>
          <p:cNvPr id="155" name="Google Shape;155;p25"/>
          <p:cNvGrpSpPr/>
          <p:nvPr/>
        </p:nvGrpSpPr>
        <p:grpSpPr>
          <a:xfrm>
            <a:off x="7928851" y="468323"/>
            <a:ext cx="738900" cy="738900"/>
            <a:chOff x="473351" y="619523"/>
            <a:chExt cx="738900" cy="738900"/>
          </a:xfrm>
        </p:grpSpPr>
        <p:sp>
          <p:nvSpPr>
            <p:cNvPr id="156" name="Google Shape;156;p25"/>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57" name="Google Shape;157;p25" title="ícono de ejemplo en vivo"/>
            <p:cNvPicPr preferRelativeResize="0"/>
            <p:nvPr/>
          </p:nvPicPr>
          <p:blipFill rotWithShape="1">
            <a:blip r:embed="rId5">
              <a:alphaModFix/>
            </a:blip>
            <a:srcRect/>
            <a:stretch/>
          </p:blipFill>
          <p:spPr>
            <a:xfrm>
              <a:off x="616475" y="762650"/>
              <a:ext cx="452650" cy="452650"/>
            </a:xfrm>
            <a:prstGeom prst="rect">
              <a:avLst/>
            </a:prstGeom>
            <a:noFill/>
            <a:ln>
              <a:noFill/>
            </a:ln>
          </p:spPr>
        </p:pic>
      </p:grpSp>
      <p:sp>
        <p:nvSpPr>
          <p:cNvPr id="2" name="Rectángulo 1">
            <a:extLst>
              <a:ext uri="{FF2B5EF4-FFF2-40B4-BE49-F238E27FC236}">
                <a16:creationId xmlns:a16="http://schemas.microsoft.com/office/drawing/2014/main" id="{C24C086E-6B34-C84C-F0EB-F7D5A607644C}"/>
              </a:ext>
            </a:extLst>
          </p:cNvPr>
          <p:cNvSpPr/>
          <p:nvPr/>
        </p:nvSpPr>
        <p:spPr>
          <a:xfrm>
            <a:off x="0" y="4408968"/>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6"/>
          <p:cNvSpPr/>
          <p:nvPr/>
        </p:nvSpPr>
        <p:spPr>
          <a:xfrm>
            <a:off x="0" y="0"/>
            <a:ext cx="2525100" cy="5143500"/>
          </a:xfrm>
          <a:prstGeom prst="rect">
            <a:avLst/>
          </a:prstGeom>
          <a:solidFill>
            <a:srgbClr val="EAFF6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 name="Google Shape;163;p26"/>
          <p:cNvSpPr txBox="1"/>
          <p:nvPr/>
        </p:nvSpPr>
        <p:spPr>
          <a:xfrm>
            <a:off x="4487625" y="952475"/>
            <a:ext cx="4180200" cy="12930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Métodos o funcionalidades</a:t>
            </a:r>
            <a:endParaRPr sz="4000" b="1" i="0" u="none" strike="noStrike" cap="none">
              <a:solidFill>
                <a:schemeClr val="dk1"/>
              </a:solidFill>
              <a:latin typeface="DM Sans"/>
              <a:ea typeface="DM Sans"/>
              <a:cs typeface="DM Sans"/>
              <a:sym typeface="DM Sans"/>
            </a:endParaRPr>
          </a:p>
        </p:txBody>
      </p:sp>
      <p:sp>
        <p:nvSpPr>
          <p:cNvPr id="164" name="Google Shape;164;p26"/>
          <p:cNvSpPr txBox="1"/>
          <p:nvPr/>
        </p:nvSpPr>
        <p:spPr>
          <a:xfrm>
            <a:off x="4487625" y="2360088"/>
            <a:ext cx="4180200" cy="1431600"/>
          </a:xfrm>
          <a:prstGeom prst="rect">
            <a:avLst/>
          </a:prstGeom>
          <a:noFill/>
          <a:ln>
            <a:noFill/>
          </a:ln>
        </p:spPr>
        <p:txBody>
          <a:bodyPr spcFirstLastPara="1" wrap="square" lIns="91425" tIns="91425" rIns="91425" bIns="91425" anchor="t" anchorCtr="0">
            <a:spAutoFit/>
          </a:bodyPr>
          <a:lstStyle/>
          <a:p>
            <a:pPr marL="457200" marR="0" lvl="0" indent="-314325" algn="l" rtl="0">
              <a:lnSpc>
                <a:spcPct val="100000"/>
              </a:lnSpc>
              <a:spcBef>
                <a:spcPts val="0"/>
              </a:spcBef>
              <a:spcAft>
                <a:spcPts val="0"/>
              </a:spcAft>
              <a:buClr>
                <a:schemeClr val="accent4"/>
              </a:buClr>
              <a:buSzPts val="1350"/>
              <a:buFont typeface="DM Sans"/>
              <a:buChar char="✓"/>
            </a:pPr>
            <a:r>
              <a:rPr lang="es" sz="1350" b="0" i="0" u="none" strike="noStrike" cap="none">
                <a:solidFill>
                  <a:srgbClr val="000000"/>
                </a:solidFill>
                <a:latin typeface="DM Sans"/>
                <a:ea typeface="DM Sans"/>
                <a:cs typeface="DM Sans"/>
                <a:sym typeface="DM Sans"/>
              </a:rPr>
              <a:t>Método</a:t>
            </a:r>
            <a:r>
              <a:rPr lang="es" sz="1350" b="1" i="0" u="none" strike="noStrike" cap="none">
                <a:solidFill>
                  <a:srgbClr val="000000"/>
                </a:solidFill>
                <a:latin typeface="DM Sans"/>
                <a:ea typeface="DM Sans"/>
                <a:cs typeface="DM Sans"/>
                <a:sym typeface="DM Sans"/>
              </a:rPr>
              <a:t> hablar: </a:t>
            </a:r>
            <a:r>
              <a:rPr lang="es" sz="1350" b="0" i="0" u="none" strike="noStrike" cap="none">
                <a:solidFill>
                  <a:srgbClr val="000000"/>
                </a:solidFill>
                <a:latin typeface="DM Sans"/>
                <a:ea typeface="DM Sans"/>
                <a:cs typeface="DM Sans"/>
                <a:sym typeface="DM Sans"/>
              </a:rPr>
              <a:t>que cada animal implementará de una forma.</a:t>
            </a:r>
            <a:endParaRPr sz="1350" b="0" i="0" u="none" strike="noStrike" cap="none">
              <a:solidFill>
                <a:srgbClr val="000000"/>
              </a:solidFill>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DM Sans"/>
              <a:buChar char="✓"/>
            </a:pPr>
            <a:r>
              <a:rPr lang="es" sz="1350" b="0" i="0" u="none" strike="noStrike" cap="none">
                <a:solidFill>
                  <a:srgbClr val="000000"/>
                </a:solidFill>
                <a:latin typeface="DM Sans"/>
                <a:ea typeface="DM Sans"/>
                <a:cs typeface="DM Sans"/>
                <a:sym typeface="DM Sans"/>
              </a:rPr>
              <a:t>Método</a:t>
            </a:r>
            <a:r>
              <a:rPr lang="es" sz="1350" b="1" i="0" u="none" strike="noStrike" cap="none">
                <a:solidFill>
                  <a:srgbClr val="000000"/>
                </a:solidFill>
                <a:latin typeface="DM Sans"/>
                <a:ea typeface="DM Sans"/>
                <a:cs typeface="DM Sans"/>
                <a:sym typeface="DM Sans"/>
              </a:rPr>
              <a:t> moverse: </a:t>
            </a:r>
            <a:r>
              <a:rPr lang="es" sz="1350" b="0" i="0" u="none" strike="noStrike" cap="none">
                <a:solidFill>
                  <a:srgbClr val="000000"/>
                </a:solidFill>
                <a:latin typeface="DM Sans"/>
                <a:ea typeface="DM Sans"/>
                <a:cs typeface="DM Sans"/>
                <a:sym typeface="DM Sans"/>
              </a:rPr>
              <a:t> Unos animales lo harán caminando, otros volando.</a:t>
            </a:r>
            <a:endParaRPr sz="1350" b="0" i="0" u="none" strike="noStrike" cap="none">
              <a:solidFill>
                <a:srgbClr val="000000"/>
              </a:solidFill>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DM Sans"/>
              <a:buChar char="✓"/>
            </a:pPr>
            <a:r>
              <a:rPr lang="es" sz="1350" b="0" i="0" u="none" strike="noStrike" cap="none">
                <a:solidFill>
                  <a:srgbClr val="000000"/>
                </a:solidFill>
                <a:latin typeface="DM Sans"/>
                <a:ea typeface="DM Sans"/>
                <a:cs typeface="DM Sans"/>
                <a:sym typeface="DM Sans"/>
              </a:rPr>
              <a:t>Método</a:t>
            </a:r>
            <a:r>
              <a:rPr lang="es" sz="1350" b="1" i="0" u="none" strike="noStrike" cap="none">
                <a:solidFill>
                  <a:srgbClr val="000000"/>
                </a:solidFill>
                <a:latin typeface="DM Sans"/>
                <a:ea typeface="DM Sans"/>
                <a:cs typeface="DM Sans"/>
                <a:sym typeface="DM Sans"/>
              </a:rPr>
              <a:t> descríbeme </a:t>
            </a:r>
            <a:r>
              <a:rPr lang="es" sz="1350" b="0" i="0" u="none" strike="noStrike" cap="none">
                <a:solidFill>
                  <a:srgbClr val="000000"/>
                </a:solidFill>
                <a:latin typeface="DM Sans"/>
                <a:ea typeface="DM Sans"/>
                <a:cs typeface="DM Sans"/>
                <a:sym typeface="DM Sans"/>
              </a:rPr>
              <a:t>que será común a todos los animales.</a:t>
            </a:r>
            <a:endParaRPr sz="1350" b="0" i="0" u="none" strike="noStrike" cap="none">
              <a:solidFill>
                <a:srgbClr val="000000"/>
              </a:solidFill>
              <a:latin typeface="DM Sans"/>
              <a:ea typeface="DM Sans"/>
              <a:cs typeface="DM Sans"/>
              <a:sym typeface="DM Sans"/>
            </a:endParaRPr>
          </a:p>
        </p:txBody>
      </p:sp>
      <p:sp>
        <p:nvSpPr>
          <p:cNvPr id="165" name="Google Shape;165;p26"/>
          <p:cNvSpPr txBox="1"/>
          <p:nvPr/>
        </p:nvSpPr>
        <p:spPr>
          <a:xfrm>
            <a:off x="4487693" y="4591041"/>
            <a:ext cx="300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chemeClr val="dk2"/>
                </a:solidFill>
                <a:latin typeface="DM Sans"/>
                <a:ea typeface="DM Sans"/>
                <a:cs typeface="DM Sans"/>
                <a:sym typeface="DM Sans"/>
              </a:rPr>
              <a:t>Fuente: </a:t>
            </a:r>
            <a:r>
              <a:rPr lang="es" sz="1100" b="0" i="0" u="none" strike="noStrike" cap="none">
                <a:solidFill>
                  <a:schemeClr val="hlink"/>
                </a:solidFill>
                <a:uFill>
                  <a:noFill/>
                </a:uFill>
                <a:latin typeface="DM Sans"/>
                <a:ea typeface="DM Sans"/>
                <a:cs typeface="DM Sans"/>
                <a:sym typeface="DM Sans"/>
                <a:hlinkClick r:id="rId3"/>
              </a:rPr>
              <a:t>ElLibroDePython</a:t>
            </a:r>
            <a:endParaRPr sz="1100" b="0" i="0" u="none" strike="noStrike" cap="none">
              <a:solidFill>
                <a:schemeClr val="accent5"/>
              </a:solidFill>
              <a:latin typeface="DM Sans"/>
              <a:ea typeface="DM Sans"/>
              <a:cs typeface="DM Sans"/>
              <a:sym typeface="DM Sans"/>
            </a:endParaRPr>
          </a:p>
        </p:txBody>
      </p:sp>
      <p:grpSp>
        <p:nvGrpSpPr>
          <p:cNvPr id="166" name="Google Shape;166;p26"/>
          <p:cNvGrpSpPr/>
          <p:nvPr/>
        </p:nvGrpSpPr>
        <p:grpSpPr>
          <a:xfrm>
            <a:off x="7928851" y="468323"/>
            <a:ext cx="738900" cy="738900"/>
            <a:chOff x="473351" y="619523"/>
            <a:chExt cx="738900" cy="738900"/>
          </a:xfrm>
        </p:grpSpPr>
        <p:sp>
          <p:nvSpPr>
            <p:cNvPr id="167" name="Google Shape;167;p26"/>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68" name="Google Shape;168;p26" title="ícono de ejemplo en vivo"/>
            <p:cNvPicPr preferRelativeResize="0"/>
            <p:nvPr/>
          </p:nvPicPr>
          <p:blipFill rotWithShape="1">
            <a:blip r:embed="rId4">
              <a:alphaModFix/>
            </a:blip>
            <a:srcRect/>
            <a:stretch/>
          </p:blipFill>
          <p:spPr>
            <a:xfrm>
              <a:off x="616475" y="762650"/>
              <a:ext cx="452650" cy="452650"/>
            </a:xfrm>
            <a:prstGeom prst="rect">
              <a:avLst/>
            </a:prstGeom>
            <a:noFill/>
            <a:ln>
              <a:noFill/>
            </a:ln>
          </p:spPr>
        </p:pic>
      </p:grpSp>
      <p:pic>
        <p:nvPicPr>
          <p:cNvPr id="169" name="Google Shape;169;p26"/>
          <p:cNvPicPr preferRelativeResize="0"/>
          <p:nvPr/>
        </p:nvPicPr>
        <p:blipFill rotWithShape="1">
          <a:blip r:embed="rId5">
            <a:alphaModFix/>
          </a:blip>
          <a:srcRect r="15188"/>
          <a:stretch/>
        </p:blipFill>
        <p:spPr>
          <a:xfrm>
            <a:off x="564600" y="1013424"/>
            <a:ext cx="3751100" cy="3116650"/>
          </a:xfrm>
          <a:prstGeom prst="rect">
            <a:avLst/>
          </a:prstGeom>
          <a:noFill/>
          <a:ln w="19050" cap="flat" cmpd="sng">
            <a:solidFill>
              <a:srgbClr val="595959"/>
            </a:solidFill>
            <a:prstDash val="solid"/>
            <a:round/>
            <a:headEnd type="none" w="sm" len="sm"/>
            <a:tailEnd type="none" w="sm" len="sm"/>
          </a:ln>
        </p:spPr>
      </p:pic>
      <p:sp>
        <p:nvSpPr>
          <p:cNvPr id="2" name="Rectángulo 1">
            <a:extLst>
              <a:ext uri="{FF2B5EF4-FFF2-40B4-BE49-F238E27FC236}">
                <a16:creationId xmlns:a16="http://schemas.microsoft.com/office/drawing/2014/main" id="{8379201E-6848-2A4C-8DAE-63592081510F}"/>
              </a:ext>
            </a:extLst>
          </p:cNvPr>
          <p:cNvSpPr/>
          <p:nvPr/>
        </p:nvSpPr>
        <p:spPr>
          <a:xfrm>
            <a:off x="0" y="4408968"/>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7"/>
          <p:cNvSpPr txBox="1"/>
          <p:nvPr/>
        </p:nvSpPr>
        <p:spPr>
          <a:xfrm>
            <a:off x="457725" y="1071050"/>
            <a:ext cx="4730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Clase vacía</a:t>
            </a:r>
            <a:endParaRPr sz="4000" b="1" i="0" u="none" strike="noStrike" cap="none">
              <a:solidFill>
                <a:schemeClr val="dk1"/>
              </a:solidFill>
              <a:latin typeface="DM Sans"/>
              <a:ea typeface="DM Sans"/>
              <a:cs typeface="DM Sans"/>
              <a:sym typeface="DM Sans"/>
            </a:endParaRPr>
          </a:p>
        </p:txBody>
      </p:sp>
      <p:sp>
        <p:nvSpPr>
          <p:cNvPr id="175" name="Google Shape;175;p27"/>
          <p:cNvSpPr txBox="1"/>
          <p:nvPr/>
        </p:nvSpPr>
        <p:spPr>
          <a:xfrm>
            <a:off x="457725" y="2211625"/>
            <a:ext cx="4730100" cy="1431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Tenemos ya por lo tanto una clase genérica </a:t>
            </a:r>
            <a:r>
              <a:rPr lang="es" sz="1350" b="1" i="0" u="none" strike="noStrike" cap="none">
                <a:solidFill>
                  <a:srgbClr val="000000"/>
                </a:solidFill>
                <a:latin typeface="DM Sans"/>
                <a:ea typeface="DM Sans"/>
                <a:cs typeface="DM Sans"/>
                <a:sym typeface="DM Sans"/>
              </a:rPr>
              <a:t>Animal</a:t>
            </a:r>
            <a:r>
              <a:rPr lang="es" sz="1350" b="0" i="0" u="none" strike="noStrike" cap="none">
                <a:solidFill>
                  <a:srgbClr val="000000"/>
                </a:solidFill>
                <a:latin typeface="DM Sans"/>
                <a:ea typeface="DM Sans"/>
                <a:cs typeface="DM Sans"/>
                <a:sym typeface="DM Sans"/>
              </a:rPr>
              <a:t>, que generaliza las características y funcionalidades que todo animal puede tener. </a:t>
            </a:r>
            <a:endParaRPr sz="135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endParaRPr sz="135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Ahora creamos una clase </a:t>
            </a:r>
            <a:r>
              <a:rPr lang="es" sz="1350" b="1" i="0" u="none" strike="noStrike" cap="none">
                <a:solidFill>
                  <a:srgbClr val="000000"/>
                </a:solidFill>
                <a:latin typeface="DM Sans"/>
                <a:ea typeface="DM Sans"/>
                <a:cs typeface="DM Sans"/>
                <a:sym typeface="DM Sans"/>
              </a:rPr>
              <a:t>Perro </a:t>
            </a:r>
            <a:r>
              <a:rPr lang="es" sz="1350" b="0" i="0" u="none" strike="noStrike" cap="none">
                <a:solidFill>
                  <a:srgbClr val="000000"/>
                </a:solidFill>
                <a:latin typeface="DM Sans"/>
                <a:ea typeface="DM Sans"/>
                <a:cs typeface="DM Sans"/>
                <a:sym typeface="DM Sans"/>
              </a:rPr>
              <a:t>que hereda del Animal.👉</a:t>
            </a:r>
            <a:endParaRPr sz="1350" b="0" i="0" u="none" strike="noStrike" cap="none" baseline="30000">
              <a:solidFill>
                <a:srgbClr val="000000"/>
              </a:solidFill>
              <a:latin typeface="DM Sans"/>
              <a:ea typeface="DM Sans"/>
              <a:cs typeface="DM Sans"/>
              <a:sym typeface="DM Sans"/>
            </a:endParaRPr>
          </a:p>
        </p:txBody>
      </p:sp>
      <p:pic>
        <p:nvPicPr>
          <p:cNvPr id="176" name="Google Shape;176;p27"/>
          <p:cNvPicPr preferRelativeResize="0"/>
          <p:nvPr/>
        </p:nvPicPr>
        <p:blipFill rotWithShape="1">
          <a:blip r:embed="rId3">
            <a:alphaModFix/>
          </a:blip>
          <a:srcRect/>
          <a:stretch/>
        </p:blipFill>
        <p:spPr>
          <a:xfrm>
            <a:off x="5528655" y="1704918"/>
            <a:ext cx="2140225" cy="2140225"/>
          </a:xfrm>
          <a:prstGeom prst="rect">
            <a:avLst/>
          </a:prstGeom>
          <a:noFill/>
          <a:ln>
            <a:noFill/>
          </a:ln>
        </p:spPr>
      </p:pic>
      <p:sp>
        <p:nvSpPr>
          <p:cNvPr id="177" name="Google Shape;177;p27"/>
          <p:cNvSpPr txBox="1"/>
          <p:nvPr/>
        </p:nvSpPr>
        <p:spPr>
          <a:xfrm>
            <a:off x="476243" y="4591041"/>
            <a:ext cx="300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chemeClr val="dk2"/>
                </a:solidFill>
                <a:latin typeface="DM Sans"/>
                <a:ea typeface="DM Sans"/>
                <a:cs typeface="DM Sans"/>
                <a:sym typeface="DM Sans"/>
              </a:rPr>
              <a:t>Fuente: </a:t>
            </a:r>
            <a:r>
              <a:rPr lang="es" sz="1100" b="0" i="0" u="none" strike="noStrike" cap="none">
                <a:solidFill>
                  <a:schemeClr val="hlink"/>
                </a:solidFill>
                <a:uFill>
                  <a:noFill/>
                </a:uFill>
                <a:latin typeface="DM Sans"/>
                <a:ea typeface="DM Sans"/>
                <a:cs typeface="DM Sans"/>
                <a:sym typeface="DM Sans"/>
                <a:hlinkClick r:id="rId4"/>
              </a:rPr>
              <a:t>ElLibroDePython</a:t>
            </a:r>
            <a:endParaRPr sz="1100" b="0" i="0" u="none" strike="noStrike" cap="none">
              <a:solidFill>
                <a:schemeClr val="accent5"/>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99F94599-641F-0913-FF6F-177B77858B2E}"/>
              </a:ext>
            </a:extLst>
          </p:cNvPr>
          <p:cNvSpPr/>
          <p:nvPr/>
        </p:nvSpPr>
        <p:spPr>
          <a:xfrm>
            <a:off x="0" y="4408968"/>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8"/>
          <p:cNvSpPr txBox="1"/>
          <p:nvPr/>
        </p:nvSpPr>
        <p:spPr>
          <a:xfrm>
            <a:off x="457725" y="1071050"/>
            <a:ext cx="4730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Clase vacía</a:t>
            </a:r>
            <a:endParaRPr sz="4000" b="1" i="0" u="none" strike="noStrike" cap="none">
              <a:solidFill>
                <a:schemeClr val="dk1"/>
              </a:solidFill>
              <a:latin typeface="DM Sans"/>
              <a:ea typeface="DM Sans"/>
              <a:cs typeface="DM Sans"/>
              <a:sym typeface="DM Sans"/>
            </a:endParaRPr>
          </a:p>
        </p:txBody>
      </p:sp>
      <p:sp>
        <p:nvSpPr>
          <p:cNvPr id="183" name="Google Shape;183;p28"/>
          <p:cNvSpPr txBox="1"/>
          <p:nvPr/>
        </p:nvSpPr>
        <p:spPr>
          <a:xfrm>
            <a:off x="457725" y="2396250"/>
            <a:ext cx="4730100" cy="808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Como primer ejemplo vamos a crear una clase vacía, para ver cómo los métodos y atributos son heredados por defecto.</a:t>
            </a:r>
            <a:endParaRPr sz="1350" b="0" i="0" u="none" strike="noStrike" cap="none">
              <a:solidFill>
                <a:srgbClr val="000000"/>
              </a:solidFill>
              <a:latin typeface="DM Sans"/>
              <a:ea typeface="DM Sans"/>
              <a:cs typeface="DM Sans"/>
              <a:sym typeface="DM Sans"/>
            </a:endParaRPr>
          </a:p>
        </p:txBody>
      </p:sp>
      <p:sp>
        <p:nvSpPr>
          <p:cNvPr id="184" name="Google Shape;184;p28"/>
          <p:cNvSpPr txBox="1"/>
          <p:nvPr/>
        </p:nvSpPr>
        <p:spPr>
          <a:xfrm>
            <a:off x="476243" y="4591041"/>
            <a:ext cx="300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chemeClr val="dk2"/>
                </a:solidFill>
                <a:latin typeface="DM Sans"/>
                <a:ea typeface="DM Sans"/>
                <a:cs typeface="DM Sans"/>
                <a:sym typeface="DM Sans"/>
              </a:rPr>
              <a:t>Fuente: </a:t>
            </a:r>
            <a:r>
              <a:rPr lang="es" sz="1100" b="0" i="0" u="none" strike="noStrike" cap="none">
                <a:solidFill>
                  <a:schemeClr val="hlink"/>
                </a:solidFill>
                <a:uFill>
                  <a:noFill/>
                </a:uFill>
                <a:latin typeface="DM Sans"/>
                <a:ea typeface="DM Sans"/>
                <a:cs typeface="DM Sans"/>
                <a:sym typeface="DM Sans"/>
                <a:hlinkClick r:id="rId3"/>
              </a:rPr>
              <a:t>ElLibroDePython</a:t>
            </a:r>
            <a:endParaRPr sz="1100" b="0" i="0" u="none" strike="noStrike" cap="none">
              <a:solidFill>
                <a:schemeClr val="accent5"/>
              </a:solidFill>
              <a:latin typeface="DM Sans"/>
              <a:ea typeface="DM Sans"/>
              <a:cs typeface="DM Sans"/>
              <a:sym typeface="DM Sans"/>
            </a:endParaRPr>
          </a:p>
        </p:txBody>
      </p:sp>
      <p:pic>
        <p:nvPicPr>
          <p:cNvPr id="185" name="Google Shape;185;p28"/>
          <p:cNvPicPr preferRelativeResize="0"/>
          <p:nvPr/>
        </p:nvPicPr>
        <p:blipFill rotWithShape="1">
          <a:blip r:embed="rId4">
            <a:alphaModFix/>
          </a:blip>
          <a:srcRect r="33866"/>
          <a:stretch/>
        </p:blipFill>
        <p:spPr>
          <a:xfrm>
            <a:off x="5297000" y="1765013"/>
            <a:ext cx="3370750" cy="2070675"/>
          </a:xfrm>
          <a:prstGeom prst="rect">
            <a:avLst/>
          </a:prstGeom>
          <a:noFill/>
          <a:ln w="19050" cap="flat" cmpd="sng">
            <a:solidFill>
              <a:srgbClr val="595959"/>
            </a:solidFill>
            <a:prstDash val="solid"/>
            <a:round/>
            <a:headEnd type="none" w="sm" len="sm"/>
            <a:tailEnd type="none" w="sm" len="sm"/>
          </a:ln>
        </p:spPr>
      </p:pic>
      <p:grpSp>
        <p:nvGrpSpPr>
          <p:cNvPr id="186" name="Google Shape;186;p28"/>
          <p:cNvGrpSpPr/>
          <p:nvPr/>
        </p:nvGrpSpPr>
        <p:grpSpPr>
          <a:xfrm>
            <a:off x="7928851" y="468323"/>
            <a:ext cx="738900" cy="738900"/>
            <a:chOff x="473351" y="619523"/>
            <a:chExt cx="738900" cy="738900"/>
          </a:xfrm>
        </p:grpSpPr>
        <p:sp>
          <p:nvSpPr>
            <p:cNvPr id="187" name="Google Shape;187;p28"/>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88" name="Google Shape;188;p28" title="ícono de ejemplo en vivo"/>
            <p:cNvPicPr preferRelativeResize="0"/>
            <p:nvPr/>
          </p:nvPicPr>
          <p:blipFill rotWithShape="1">
            <a:blip r:embed="rId5">
              <a:alphaModFix/>
            </a:blip>
            <a:srcRect/>
            <a:stretch/>
          </p:blipFill>
          <p:spPr>
            <a:xfrm>
              <a:off x="616475" y="762650"/>
              <a:ext cx="452650" cy="452650"/>
            </a:xfrm>
            <a:prstGeom prst="rect">
              <a:avLst/>
            </a:prstGeom>
            <a:noFill/>
            <a:ln>
              <a:noFill/>
            </a:ln>
          </p:spPr>
        </p:pic>
      </p:grpSp>
      <p:sp>
        <p:nvSpPr>
          <p:cNvPr id="2" name="Rectángulo 1">
            <a:extLst>
              <a:ext uri="{FF2B5EF4-FFF2-40B4-BE49-F238E27FC236}">
                <a16:creationId xmlns:a16="http://schemas.microsoft.com/office/drawing/2014/main" id="{34B60F11-ECB7-60F0-FEE6-88E03F32909A}"/>
              </a:ext>
            </a:extLst>
          </p:cNvPr>
          <p:cNvSpPr/>
          <p:nvPr/>
        </p:nvSpPr>
        <p:spPr>
          <a:xfrm>
            <a:off x="0" y="4408968"/>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9"/>
          <p:cNvSpPr txBox="1"/>
          <p:nvPr/>
        </p:nvSpPr>
        <p:spPr>
          <a:xfrm>
            <a:off x="457725" y="1071050"/>
            <a:ext cx="4730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Creando clases</a:t>
            </a:r>
            <a:endParaRPr sz="4000" b="1" i="0" u="none" strike="noStrike" cap="none">
              <a:solidFill>
                <a:schemeClr val="dk1"/>
              </a:solidFill>
              <a:latin typeface="DM Sans"/>
              <a:ea typeface="DM Sans"/>
              <a:cs typeface="DM Sans"/>
              <a:sym typeface="DM Sans"/>
            </a:endParaRPr>
          </a:p>
        </p:txBody>
      </p:sp>
      <p:sp>
        <p:nvSpPr>
          <p:cNvPr id="194" name="Google Shape;194;p29"/>
          <p:cNvSpPr txBox="1"/>
          <p:nvPr/>
        </p:nvSpPr>
        <p:spPr>
          <a:xfrm>
            <a:off x="457725" y="2042850"/>
            <a:ext cx="4730100" cy="2055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Con tan solo un par de líneas de código, hemos creado una clase nueva que tiene todo el contenido que la clase padre tiene.</a:t>
            </a:r>
            <a:endParaRPr sz="135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endParaRPr sz="135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A continuación, vamos a crear varios animales concretos y sobreescribir algunos de los métodos que habían sido definidos en la clase </a:t>
            </a:r>
            <a:r>
              <a:rPr lang="es" sz="1350" b="1" i="0" u="none" strike="noStrike" cap="none">
                <a:solidFill>
                  <a:srgbClr val="000000"/>
                </a:solidFill>
                <a:latin typeface="DM Sans"/>
                <a:ea typeface="DM Sans"/>
                <a:cs typeface="DM Sans"/>
                <a:sym typeface="DM Sans"/>
              </a:rPr>
              <a:t>Animal,</a:t>
            </a:r>
            <a:r>
              <a:rPr lang="es" sz="1350" b="0" i="0" u="none" strike="noStrike" cap="none">
                <a:solidFill>
                  <a:srgbClr val="000000"/>
                </a:solidFill>
                <a:latin typeface="DM Sans"/>
                <a:ea typeface="DM Sans"/>
                <a:cs typeface="DM Sans"/>
                <a:sym typeface="DM Sans"/>
              </a:rPr>
              <a:t> como el </a:t>
            </a:r>
            <a:r>
              <a:rPr lang="es" sz="1350" b="1" i="0" u="none" strike="noStrike" cap="none">
                <a:solidFill>
                  <a:srgbClr val="000000"/>
                </a:solidFill>
                <a:latin typeface="DM Sans"/>
                <a:ea typeface="DM Sans"/>
                <a:cs typeface="DM Sans"/>
                <a:sym typeface="DM Sans"/>
              </a:rPr>
              <a:t>hablar </a:t>
            </a:r>
            <a:r>
              <a:rPr lang="es" sz="1350" b="0" i="0" u="none" strike="noStrike" cap="none">
                <a:solidFill>
                  <a:srgbClr val="000000"/>
                </a:solidFill>
                <a:latin typeface="DM Sans"/>
                <a:ea typeface="DM Sans"/>
                <a:cs typeface="DM Sans"/>
                <a:sym typeface="DM Sans"/>
              </a:rPr>
              <a:t>o el </a:t>
            </a:r>
            <a:r>
              <a:rPr lang="es" sz="1350" b="1" i="0" u="none" strike="noStrike" cap="none">
                <a:solidFill>
                  <a:srgbClr val="000000"/>
                </a:solidFill>
                <a:latin typeface="DM Sans"/>
                <a:ea typeface="DM Sans"/>
                <a:cs typeface="DM Sans"/>
                <a:sym typeface="DM Sans"/>
              </a:rPr>
              <a:t>moverse,</a:t>
            </a:r>
            <a:r>
              <a:rPr lang="es" sz="1350" b="0" i="0" u="none" strike="noStrike" cap="none">
                <a:solidFill>
                  <a:srgbClr val="000000"/>
                </a:solidFill>
                <a:latin typeface="DM Sans"/>
                <a:ea typeface="DM Sans"/>
                <a:cs typeface="DM Sans"/>
                <a:sym typeface="DM Sans"/>
              </a:rPr>
              <a:t> ya que cada animal se comporta de una manera distinta. </a:t>
            </a:r>
            <a:endParaRPr sz="1350" b="0" i="0" u="none" strike="noStrike" cap="none">
              <a:solidFill>
                <a:srgbClr val="000000"/>
              </a:solidFill>
              <a:latin typeface="DM Sans"/>
              <a:ea typeface="DM Sans"/>
              <a:cs typeface="DM Sans"/>
              <a:sym typeface="DM Sans"/>
            </a:endParaRPr>
          </a:p>
        </p:txBody>
      </p:sp>
      <p:sp>
        <p:nvSpPr>
          <p:cNvPr id="195" name="Google Shape;195;p29"/>
          <p:cNvSpPr txBox="1"/>
          <p:nvPr/>
        </p:nvSpPr>
        <p:spPr>
          <a:xfrm>
            <a:off x="476243" y="4591041"/>
            <a:ext cx="300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chemeClr val="dk2"/>
                </a:solidFill>
                <a:latin typeface="DM Sans"/>
                <a:ea typeface="DM Sans"/>
                <a:cs typeface="DM Sans"/>
                <a:sym typeface="DM Sans"/>
              </a:rPr>
              <a:t>Fuente: </a:t>
            </a:r>
            <a:r>
              <a:rPr lang="es" sz="1100" b="0" i="0" u="none" strike="noStrike" cap="none">
                <a:solidFill>
                  <a:schemeClr val="hlink"/>
                </a:solidFill>
                <a:uFill>
                  <a:noFill/>
                </a:uFill>
                <a:latin typeface="DM Sans"/>
                <a:ea typeface="DM Sans"/>
                <a:cs typeface="DM Sans"/>
                <a:sym typeface="DM Sans"/>
                <a:hlinkClick r:id="rId3"/>
              </a:rPr>
              <a:t>ElLibroDePython</a:t>
            </a:r>
            <a:endParaRPr sz="1100" b="0" i="0" u="none" strike="noStrike" cap="none">
              <a:solidFill>
                <a:schemeClr val="accent5"/>
              </a:solidFill>
              <a:latin typeface="DM Sans"/>
              <a:ea typeface="DM Sans"/>
              <a:cs typeface="DM Sans"/>
              <a:sym typeface="DM Sans"/>
            </a:endParaRPr>
          </a:p>
        </p:txBody>
      </p:sp>
      <p:pic>
        <p:nvPicPr>
          <p:cNvPr id="196" name="Google Shape;196;p29"/>
          <p:cNvPicPr preferRelativeResize="0"/>
          <p:nvPr/>
        </p:nvPicPr>
        <p:blipFill rotWithShape="1">
          <a:blip r:embed="rId4">
            <a:alphaModFix/>
          </a:blip>
          <a:srcRect r="26894" b="3835"/>
          <a:stretch/>
        </p:blipFill>
        <p:spPr>
          <a:xfrm>
            <a:off x="5282125" y="1045588"/>
            <a:ext cx="2595425" cy="3357125"/>
          </a:xfrm>
          <a:prstGeom prst="rect">
            <a:avLst/>
          </a:prstGeom>
          <a:noFill/>
          <a:ln w="19050" cap="flat" cmpd="sng">
            <a:solidFill>
              <a:srgbClr val="595959"/>
            </a:solidFill>
            <a:prstDash val="solid"/>
            <a:round/>
            <a:headEnd type="none" w="sm" len="sm"/>
            <a:tailEnd type="none" w="sm" len="sm"/>
          </a:ln>
        </p:spPr>
      </p:pic>
      <p:grpSp>
        <p:nvGrpSpPr>
          <p:cNvPr id="197" name="Google Shape;197;p29"/>
          <p:cNvGrpSpPr/>
          <p:nvPr/>
        </p:nvGrpSpPr>
        <p:grpSpPr>
          <a:xfrm>
            <a:off x="7928851" y="468323"/>
            <a:ext cx="738900" cy="738900"/>
            <a:chOff x="473351" y="619523"/>
            <a:chExt cx="738900" cy="738900"/>
          </a:xfrm>
        </p:grpSpPr>
        <p:sp>
          <p:nvSpPr>
            <p:cNvPr id="198" name="Google Shape;198;p29"/>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99" name="Google Shape;199;p29" title="ícono de ejemplo en vivo"/>
            <p:cNvPicPr preferRelativeResize="0"/>
            <p:nvPr/>
          </p:nvPicPr>
          <p:blipFill rotWithShape="1">
            <a:blip r:embed="rId5">
              <a:alphaModFix/>
            </a:blip>
            <a:srcRect/>
            <a:stretch/>
          </p:blipFill>
          <p:spPr>
            <a:xfrm>
              <a:off x="616475" y="762650"/>
              <a:ext cx="452650" cy="452650"/>
            </a:xfrm>
            <a:prstGeom prst="rect">
              <a:avLst/>
            </a:prstGeom>
            <a:noFill/>
            <a:ln>
              <a:noFill/>
            </a:ln>
          </p:spPr>
        </p:pic>
      </p:grpSp>
      <p:sp>
        <p:nvSpPr>
          <p:cNvPr id="2" name="Rectángulo 1">
            <a:extLst>
              <a:ext uri="{FF2B5EF4-FFF2-40B4-BE49-F238E27FC236}">
                <a16:creationId xmlns:a16="http://schemas.microsoft.com/office/drawing/2014/main" id="{D67A44E7-D991-F5D0-E6CF-23D99D4A812F}"/>
              </a:ext>
            </a:extLst>
          </p:cNvPr>
          <p:cNvSpPr/>
          <p:nvPr/>
        </p:nvSpPr>
        <p:spPr>
          <a:xfrm>
            <a:off x="0" y="4675177"/>
            <a:ext cx="9144000" cy="49022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0"/>
          <p:cNvSpPr txBox="1"/>
          <p:nvPr/>
        </p:nvSpPr>
        <p:spPr>
          <a:xfrm>
            <a:off x="457725" y="1071050"/>
            <a:ext cx="4730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Creando clases</a:t>
            </a:r>
            <a:endParaRPr sz="4000" b="1" i="0" u="none" strike="noStrike" cap="none">
              <a:solidFill>
                <a:schemeClr val="dk1"/>
              </a:solidFill>
              <a:latin typeface="DM Sans"/>
              <a:ea typeface="DM Sans"/>
              <a:cs typeface="DM Sans"/>
              <a:sym typeface="DM Sans"/>
            </a:endParaRPr>
          </a:p>
        </p:txBody>
      </p:sp>
      <p:sp>
        <p:nvSpPr>
          <p:cNvPr id="205" name="Google Shape;205;p30"/>
          <p:cNvSpPr txBox="1"/>
          <p:nvPr/>
        </p:nvSpPr>
        <p:spPr>
          <a:xfrm>
            <a:off x="457725" y="2396250"/>
            <a:ext cx="4730100" cy="1015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Podemos, incluso, crear nuevos métodos que se añadirán a los ya heredados, como en el caso de la </a:t>
            </a:r>
            <a:r>
              <a:rPr lang="es" sz="1350" b="1" i="0" u="none" strike="noStrike" cap="none">
                <a:solidFill>
                  <a:srgbClr val="000000"/>
                </a:solidFill>
                <a:latin typeface="DM Sans"/>
                <a:ea typeface="DM Sans"/>
                <a:cs typeface="DM Sans"/>
                <a:sym typeface="DM Sans"/>
              </a:rPr>
              <a:t>Abeja</a:t>
            </a:r>
            <a:r>
              <a:rPr lang="es" sz="1350" b="0" i="0" u="none" strike="noStrike" cap="none">
                <a:solidFill>
                  <a:srgbClr val="000000"/>
                </a:solidFill>
                <a:latin typeface="DM Sans"/>
                <a:ea typeface="DM Sans"/>
                <a:cs typeface="DM Sans"/>
                <a:sym typeface="DM Sans"/>
              </a:rPr>
              <a:t> con </a:t>
            </a:r>
            <a:r>
              <a:rPr lang="es" sz="1350" b="1" i="0" u="none" strike="noStrike" cap="none">
                <a:solidFill>
                  <a:srgbClr val="000000"/>
                </a:solidFill>
                <a:latin typeface="DM Sans"/>
                <a:ea typeface="DM Sans"/>
                <a:cs typeface="DM Sans"/>
                <a:sym typeface="DM Sans"/>
              </a:rPr>
              <a:t>picar()</a:t>
            </a:r>
            <a:r>
              <a:rPr lang="es" sz="1350" b="0" i="0" u="none" strike="noStrike" cap="none">
                <a:solidFill>
                  <a:srgbClr val="000000"/>
                </a:solidFill>
                <a:latin typeface="DM Sans"/>
                <a:ea typeface="DM Sans"/>
                <a:cs typeface="DM Sans"/>
                <a:sym typeface="DM Sans"/>
              </a:rPr>
              <a:t>.</a:t>
            </a:r>
            <a:endParaRPr sz="1350" b="0" i="0" u="none" strike="noStrike" cap="none">
              <a:solidFill>
                <a:srgbClr val="000000"/>
              </a:solidFill>
              <a:latin typeface="DM Sans"/>
              <a:ea typeface="DM Sans"/>
              <a:cs typeface="DM Sans"/>
              <a:sym typeface="DM Sans"/>
            </a:endParaRPr>
          </a:p>
          <a:p>
            <a:pPr marL="0" marR="0" lvl="0" indent="0" algn="ctr"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a:t>
            </a:r>
            <a:endParaRPr sz="1350" b="0" i="0" u="none" strike="noStrike" cap="none">
              <a:solidFill>
                <a:srgbClr val="000000"/>
              </a:solidFill>
              <a:latin typeface="DM Sans"/>
              <a:ea typeface="DM Sans"/>
              <a:cs typeface="DM Sans"/>
              <a:sym typeface="DM Sans"/>
            </a:endParaRPr>
          </a:p>
        </p:txBody>
      </p:sp>
      <p:sp>
        <p:nvSpPr>
          <p:cNvPr id="206" name="Google Shape;206;p30"/>
          <p:cNvSpPr txBox="1"/>
          <p:nvPr/>
        </p:nvSpPr>
        <p:spPr>
          <a:xfrm>
            <a:off x="476243" y="4591041"/>
            <a:ext cx="300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chemeClr val="dk2"/>
                </a:solidFill>
                <a:latin typeface="DM Sans"/>
                <a:ea typeface="DM Sans"/>
                <a:cs typeface="DM Sans"/>
                <a:sym typeface="DM Sans"/>
              </a:rPr>
              <a:t>Fuente: </a:t>
            </a:r>
            <a:r>
              <a:rPr lang="es" sz="1100" b="0" i="0" u="none" strike="noStrike" cap="none">
                <a:solidFill>
                  <a:schemeClr val="hlink"/>
                </a:solidFill>
                <a:uFill>
                  <a:noFill/>
                </a:uFill>
                <a:latin typeface="DM Sans"/>
                <a:ea typeface="DM Sans"/>
                <a:cs typeface="DM Sans"/>
                <a:sym typeface="DM Sans"/>
                <a:hlinkClick r:id="rId3"/>
              </a:rPr>
              <a:t>ElLibroDePython</a:t>
            </a:r>
            <a:endParaRPr sz="1100" b="0" i="0" u="none" strike="noStrike" cap="none">
              <a:solidFill>
                <a:schemeClr val="accent5"/>
              </a:solidFill>
              <a:latin typeface="DM Sans"/>
              <a:ea typeface="DM Sans"/>
              <a:cs typeface="DM Sans"/>
              <a:sym typeface="DM Sans"/>
            </a:endParaRPr>
          </a:p>
        </p:txBody>
      </p:sp>
      <p:pic>
        <p:nvPicPr>
          <p:cNvPr id="207" name="Google Shape;207;p30"/>
          <p:cNvPicPr preferRelativeResize="0"/>
          <p:nvPr/>
        </p:nvPicPr>
        <p:blipFill rotWithShape="1">
          <a:blip r:embed="rId4">
            <a:alphaModFix/>
          </a:blip>
          <a:srcRect r="26894" b="3835"/>
          <a:stretch/>
        </p:blipFill>
        <p:spPr>
          <a:xfrm>
            <a:off x="5282125" y="893188"/>
            <a:ext cx="2595425" cy="3357125"/>
          </a:xfrm>
          <a:prstGeom prst="rect">
            <a:avLst/>
          </a:prstGeom>
          <a:noFill/>
          <a:ln>
            <a:noFill/>
          </a:ln>
        </p:spPr>
      </p:pic>
      <p:grpSp>
        <p:nvGrpSpPr>
          <p:cNvPr id="208" name="Google Shape;208;p30"/>
          <p:cNvGrpSpPr/>
          <p:nvPr/>
        </p:nvGrpSpPr>
        <p:grpSpPr>
          <a:xfrm>
            <a:off x="7928851" y="468323"/>
            <a:ext cx="738900" cy="738900"/>
            <a:chOff x="473351" y="619523"/>
            <a:chExt cx="738900" cy="738900"/>
          </a:xfrm>
        </p:grpSpPr>
        <p:sp>
          <p:nvSpPr>
            <p:cNvPr id="209" name="Google Shape;209;p30"/>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10" name="Google Shape;210;p30" title="ícono de ejemplo en vivo"/>
            <p:cNvPicPr preferRelativeResize="0"/>
            <p:nvPr/>
          </p:nvPicPr>
          <p:blipFill rotWithShape="1">
            <a:blip r:embed="rId5">
              <a:alphaModFix/>
            </a:blip>
            <a:srcRect/>
            <a:stretch/>
          </p:blipFill>
          <p:spPr>
            <a:xfrm>
              <a:off x="616475" y="762650"/>
              <a:ext cx="452650" cy="452650"/>
            </a:xfrm>
            <a:prstGeom prst="rect">
              <a:avLst/>
            </a:prstGeom>
            <a:noFill/>
            <a:ln>
              <a:noFill/>
            </a:ln>
          </p:spPr>
        </p:pic>
      </p:grpSp>
      <p:sp>
        <p:nvSpPr>
          <p:cNvPr id="2" name="Rectángulo 1">
            <a:extLst>
              <a:ext uri="{FF2B5EF4-FFF2-40B4-BE49-F238E27FC236}">
                <a16:creationId xmlns:a16="http://schemas.microsoft.com/office/drawing/2014/main" id="{362693FC-8749-D931-CB25-9D4020B6A714}"/>
              </a:ext>
            </a:extLst>
          </p:cNvPr>
          <p:cNvSpPr/>
          <p:nvPr/>
        </p:nvSpPr>
        <p:spPr>
          <a:xfrm>
            <a:off x="0" y="4408968"/>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31"/>
          <p:cNvSpPr txBox="1"/>
          <p:nvPr/>
        </p:nvSpPr>
        <p:spPr>
          <a:xfrm>
            <a:off x="457725" y="1071050"/>
            <a:ext cx="4730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Creando clases</a:t>
            </a:r>
            <a:endParaRPr sz="4000" b="1" i="0" u="none" strike="noStrike" cap="none">
              <a:solidFill>
                <a:schemeClr val="dk1"/>
              </a:solidFill>
              <a:latin typeface="DM Sans"/>
              <a:ea typeface="DM Sans"/>
              <a:cs typeface="DM Sans"/>
              <a:sym typeface="DM Sans"/>
            </a:endParaRPr>
          </a:p>
        </p:txBody>
      </p:sp>
      <p:sp>
        <p:nvSpPr>
          <p:cNvPr id="216" name="Google Shape;216;p31"/>
          <p:cNvSpPr txBox="1"/>
          <p:nvPr/>
        </p:nvSpPr>
        <p:spPr>
          <a:xfrm>
            <a:off x="457725" y="2396250"/>
            <a:ext cx="4528800" cy="1223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Por lo tanto ya podemos crear nuestros objetos de esos animales y hacer uso de sus métodos que podrían clasificarse en tres.</a:t>
            </a:r>
            <a:endParaRPr sz="135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endParaRPr sz="1350" b="0" i="0" u="none" strike="noStrike" cap="none">
              <a:solidFill>
                <a:srgbClr val="000000"/>
              </a:solidFill>
              <a:latin typeface="DM Sans"/>
              <a:ea typeface="DM Sans"/>
              <a:cs typeface="DM Sans"/>
              <a:sym typeface="DM Sans"/>
            </a:endParaRPr>
          </a:p>
          <a:p>
            <a:pPr marL="0" marR="0" lvl="0" indent="0" algn="ctr"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a:t>
            </a:r>
            <a:endParaRPr sz="1350" b="0" i="0" u="none" strike="noStrike" cap="none">
              <a:solidFill>
                <a:srgbClr val="000000"/>
              </a:solidFill>
              <a:latin typeface="DM Sans"/>
              <a:ea typeface="DM Sans"/>
              <a:cs typeface="DM Sans"/>
              <a:sym typeface="DM Sans"/>
            </a:endParaRPr>
          </a:p>
        </p:txBody>
      </p:sp>
      <p:sp>
        <p:nvSpPr>
          <p:cNvPr id="217" name="Google Shape;217;p31"/>
          <p:cNvSpPr txBox="1"/>
          <p:nvPr/>
        </p:nvSpPr>
        <p:spPr>
          <a:xfrm>
            <a:off x="476243" y="4591041"/>
            <a:ext cx="300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chemeClr val="dk2"/>
                </a:solidFill>
                <a:latin typeface="DM Sans"/>
                <a:ea typeface="DM Sans"/>
                <a:cs typeface="DM Sans"/>
                <a:sym typeface="DM Sans"/>
              </a:rPr>
              <a:t>Fuente: </a:t>
            </a:r>
            <a:r>
              <a:rPr lang="es" sz="1100" b="0" i="0" u="none" strike="noStrike" cap="none">
                <a:solidFill>
                  <a:schemeClr val="hlink"/>
                </a:solidFill>
                <a:uFill>
                  <a:noFill/>
                </a:uFill>
                <a:latin typeface="DM Sans"/>
                <a:ea typeface="DM Sans"/>
                <a:cs typeface="DM Sans"/>
                <a:sym typeface="DM Sans"/>
                <a:hlinkClick r:id="rId3"/>
              </a:rPr>
              <a:t>ElLibroDePython</a:t>
            </a:r>
            <a:endParaRPr sz="1100" b="0" i="0" u="none" strike="noStrike" cap="none">
              <a:solidFill>
                <a:schemeClr val="accent5"/>
              </a:solidFill>
              <a:latin typeface="DM Sans"/>
              <a:ea typeface="DM Sans"/>
              <a:cs typeface="DM Sans"/>
              <a:sym typeface="DM Sans"/>
            </a:endParaRPr>
          </a:p>
        </p:txBody>
      </p:sp>
      <p:pic>
        <p:nvPicPr>
          <p:cNvPr id="218" name="Google Shape;218;p31"/>
          <p:cNvPicPr preferRelativeResize="0"/>
          <p:nvPr/>
        </p:nvPicPr>
        <p:blipFill rotWithShape="1">
          <a:blip r:embed="rId4">
            <a:alphaModFix/>
          </a:blip>
          <a:srcRect r="23768" b="6340"/>
          <a:stretch/>
        </p:blipFill>
        <p:spPr>
          <a:xfrm>
            <a:off x="4986650" y="1071050"/>
            <a:ext cx="2890900" cy="3292025"/>
          </a:xfrm>
          <a:prstGeom prst="rect">
            <a:avLst/>
          </a:prstGeom>
          <a:noFill/>
          <a:ln>
            <a:noFill/>
          </a:ln>
        </p:spPr>
      </p:pic>
      <p:grpSp>
        <p:nvGrpSpPr>
          <p:cNvPr id="219" name="Google Shape;219;p31"/>
          <p:cNvGrpSpPr/>
          <p:nvPr/>
        </p:nvGrpSpPr>
        <p:grpSpPr>
          <a:xfrm>
            <a:off x="7928851" y="468323"/>
            <a:ext cx="738900" cy="738900"/>
            <a:chOff x="473351" y="619523"/>
            <a:chExt cx="738900" cy="738900"/>
          </a:xfrm>
        </p:grpSpPr>
        <p:sp>
          <p:nvSpPr>
            <p:cNvPr id="220" name="Google Shape;220;p31"/>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21" name="Google Shape;221;p31" title="ícono de ejemplo en vivo"/>
            <p:cNvPicPr preferRelativeResize="0"/>
            <p:nvPr/>
          </p:nvPicPr>
          <p:blipFill rotWithShape="1">
            <a:blip r:embed="rId5">
              <a:alphaModFix/>
            </a:blip>
            <a:srcRect/>
            <a:stretch/>
          </p:blipFill>
          <p:spPr>
            <a:xfrm>
              <a:off x="616475" y="762650"/>
              <a:ext cx="452650" cy="452650"/>
            </a:xfrm>
            <a:prstGeom prst="rect">
              <a:avLst/>
            </a:prstGeom>
            <a:noFill/>
            <a:ln>
              <a:noFill/>
            </a:ln>
          </p:spPr>
        </p:pic>
      </p:grpSp>
      <p:sp>
        <p:nvSpPr>
          <p:cNvPr id="2" name="Rectángulo 1">
            <a:extLst>
              <a:ext uri="{FF2B5EF4-FFF2-40B4-BE49-F238E27FC236}">
                <a16:creationId xmlns:a16="http://schemas.microsoft.com/office/drawing/2014/main" id="{1A8B0621-03FD-FF01-4A79-521CD28F700C}"/>
              </a:ext>
            </a:extLst>
          </p:cNvPr>
          <p:cNvSpPr/>
          <p:nvPr/>
        </p:nvSpPr>
        <p:spPr>
          <a:xfrm>
            <a:off x="0" y="4591041"/>
            <a:ext cx="9144000" cy="57436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32"/>
          <p:cNvSpPr txBox="1"/>
          <p:nvPr/>
        </p:nvSpPr>
        <p:spPr>
          <a:xfrm>
            <a:off x="457725" y="1071050"/>
            <a:ext cx="4730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Creando clases</a:t>
            </a:r>
            <a:endParaRPr sz="4000" b="1" i="0" u="none" strike="noStrike" cap="none">
              <a:solidFill>
                <a:schemeClr val="dk1"/>
              </a:solidFill>
              <a:latin typeface="DM Sans"/>
              <a:ea typeface="DM Sans"/>
              <a:cs typeface="DM Sans"/>
              <a:sym typeface="DM Sans"/>
            </a:endParaRPr>
          </a:p>
        </p:txBody>
      </p:sp>
      <p:sp>
        <p:nvSpPr>
          <p:cNvPr id="227" name="Google Shape;227;p32"/>
          <p:cNvSpPr txBox="1"/>
          <p:nvPr/>
        </p:nvSpPr>
        <p:spPr>
          <a:xfrm>
            <a:off x="457725" y="2243850"/>
            <a:ext cx="4511700" cy="1431600"/>
          </a:xfrm>
          <a:prstGeom prst="rect">
            <a:avLst/>
          </a:prstGeom>
          <a:noFill/>
          <a:ln>
            <a:noFill/>
          </a:ln>
        </p:spPr>
        <p:txBody>
          <a:bodyPr spcFirstLastPara="1" wrap="square" lIns="91425" tIns="91425" rIns="91425" bIns="91425" anchor="t" anchorCtr="0">
            <a:spAutoFit/>
          </a:bodyPr>
          <a:lstStyle/>
          <a:p>
            <a:pPr marL="457200" marR="0" lvl="0" indent="-314325" algn="l" rtl="0">
              <a:lnSpc>
                <a:spcPct val="100000"/>
              </a:lnSpc>
              <a:spcBef>
                <a:spcPts val="0"/>
              </a:spcBef>
              <a:spcAft>
                <a:spcPts val="0"/>
              </a:spcAft>
              <a:buClr>
                <a:schemeClr val="accent4"/>
              </a:buClr>
              <a:buSzPts val="1350"/>
              <a:buFont typeface="DM Sans"/>
              <a:buChar char="✓"/>
            </a:pPr>
            <a:r>
              <a:rPr lang="es" sz="1350" b="0" i="0" u="none" strike="noStrike" cap="none">
                <a:solidFill>
                  <a:srgbClr val="000000"/>
                </a:solidFill>
                <a:latin typeface="DM Sans"/>
                <a:ea typeface="DM Sans"/>
                <a:cs typeface="DM Sans"/>
                <a:sym typeface="DM Sans"/>
              </a:rPr>
              <a:t>Heredados directamente de la clase padre: </a:t>
            </a:r>
            <a:r>
              <a:rPr lang="es" sz="1350" b="1" i="0" u="none" strike="noStrike" cap="none">
                <a:solidFill>
                  <a:srgbClr val="000000"/>
                </a:solidFill>
                <a:latin typeface="DM Sans"/>
                <a:ea typeface="DM Sans"/>
                <a:cs typeface="DM Sans"/>
                <a:sym typeface="DM Sans"/>
              </a:rPr>
              <a:t>descríbeme.</a:t>
            </a:r>
            <a:endParaRPr sz="1350" b="1" i="0" u="none" strike="noStrike" cap="none">
              <a:solidFill>
                <a:srgbClr val="000000"/>
              </a:solidFill>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DM Sans"/>
              <a:buChar char="✓"/>
            </a:pPr>
            <a:r>
              <a:rPr lang="es" sz="1350" b="0" i="0" u="none" strike="noStrike" cap="none">
                <a:solidFill>
                  <a:srgbClr val="000000"/>
                </a:solidFill>
                <a:latin typeface="DM Sans"/>
                <a:ea typeface="DM Sans"/>
                <a:cs typeface="DM Sans"/>
                <a:sym typeface="DM Sans"/>
              </a:rPr>
              <a:t>Heredados de la clase padre pero modificados: </a:t>
            </a:r>
            <a:r>
              <a:rPr lang="es" sz="1350" b="1" i="0" u="none" strike="noStrike" cap="none">
                <a:solidFill>
                  <a:srgbClr val="000000"/>
                </a:solidFill>
                <a:latin typeface="DM Sans"/>
                <a:ea typeface="DM Sans"/>
                <a:cs typeface="DM Sans"/>
                <a:sym typeface="DM Sans"/>
              </a:rPr>
              <a:t>hablar </a:t>
            </a:r>
            <a:r>
              <a:rPr lang="es" sz="1350" b="0" i="0" u="none" strike="noStrike" cap="none">
                <a:solidFill>
                  <a:srgbClr val="000000"/>
                </a:solidFill>
                <a:latin typeface="DM Sans"/>
                <a:ea typeface="DM Sans"/>
                <a:cs typeface="DM Sans"/>
                <a:sym typeface="DM Sans"/>
              </a:rPr>
              <a:t>y</a:t>
            </a:r>
            <a:r>
              <a:rPr lang="es" sz="1350" b="1" i="0" u="none" strike="noStrike" cap="none">
                <a:solidFill>
                  <a:srgbClr val="000000"/>
                </a:solidFill>
                <a:latin typeface="DM Sans"/>
                <a:ea typeface="DM Sans"/>
                <a:cs typeface="DM Sans"/>
                <a:sym typeface="DM Sans"/>
              </a:rPr>
              <a:t> moverse</a:t>
            </a:r>
            <a:r>
              <a:rPr lang="es" sz="1350" b="0" i="0" u="none" strike="noStrike" cap="none">
                <a:solidFill>
                  <a:srgbClr val="000000"/>
                </a:solidFill>
                <a:latin typeface="DM Sans"/>
                <a:ea typeface="DM Sans"/>
                <a:cs typeface="DM Sans"/>
                <a:sym typeface="DM Sans"/>
              </a:rPr>
              <a:t>. </a:t>
            </a:r>
            <a:endParaRPr sz="1350" b="0" i="0" u="none" strike="noStrike" cap="none">
              <a:solidFill>
                <a:srgbClr val="000000"/>
              </a:solidFill>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DM Sans"/>
              <a:buChar char="✓"/>
            </a:pPr>
            <a:r>
              <a:rPr lang="es" sz="1350" b="0" i="0" u="none" strike="noStrike" cap="none">
                <a:solidFill>
                  <a:srgbClr val="000000"/>
                </a:solidFill>
                <a:latin typeface="DM Sans"/>
                <a:ea typeface="DM Sans"/>
                <a:cs typeface="DM Sans"/>
                <a:sym typeface="DM Sans"/>
              </a:rPr>
              <a:t>Creados en la clase hija por lo tanto no existentes en la clase padre: </a:t>
            </a:r>
            <a:r>
              <a:rPr lang="es" sz="1350" b="1" i="0" u="none" strike="noStrike" cap="none">
                <a:solidFill>
                  <a:srgbClr val="000000"/>
                </a:solidFill>
                <a:latin typeface="DM Sans"/>
                <a:ea typeface="DM Sans"/>
                <a:cs typeface="DM Sans"/>
                <a:sym typeface="DM Sans"/>
              </a:rPr>
              <a:t>picar. </a:t>
            </a:r>
            <a:endParaRPr sz="1350" b="1" i="0" u="none" strike="noStrike" cap="none">
              <a:solidFill>
                <a:srgbClr val="000000"/>
              </a:solidFill>
              <a:latin typeface="DM Sans"/>
              <a:ea typeface="DM Sans"/>
              <a:cs typeface="DM Sans"/>
              <a:sym typeface="DM Sans"/>
            </a:endParaRPr>
          </a:p>
        </p:txBody>
      </p:sp>
      <p:sp>
        <p:nvSpPr>
          <p:cNvPr id="228" name="Google Shape;228;p32"/>
          <p:cNvSpPr txBox="1"/>
          <p:nvPr/>
        </p:nvSpPr>
        <p:spPr>
          <a:xfrm>
            <a:off x="476243" y="4591041"/>
            <a:ext cx="300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chemeClr val="dk2"/>
                </a:solidFill>
                <a:latin typeface="DM Sans"/>
                <a:ea typeface="DM Sans"/>
                <a:cs typeface="DM Sans"/>
                <a:sym typeface="DM Sans"/>
              </a:rPr>
              <a:t>Fuente: </a:t>
            </a:r>
            <a:r>
              <a:rPr lang="es" sz="1100" b="0" i="0" u="none" strike="noStrike" cap="none">
                <a:solidFill>
                  <a:schemeClr val="hlink"/>
                </a:solidFill>
                <a:uFill>
                  <a:noFill/>
                </a:uFill>
                <a:latin typeface="DM Sans"/>
                <a:ea typeface="DM Sans"/>
                <a:cs typeface="DM Sans"/>
                <a:sym typeface="DM Sans"/>
                <a:hlinkClick r:id="rId3"/>
              </a:rPr>
              <a:t>ElLibroDePython</a:t>
            </a:r>
            <a:endParaRPr sz="1100" b="0" i="0" u="none" strike="noStrike" cap="none">
              <a:solidFill>
                <a:schemeClr val="accent5"/>
              </a:solidFill>
              <a:latin typeface="DM Sans"/>
              <a:ea typeface="DM Sans"/>
              <a:cs typeface="DM Sans"/>
              <a:sym typeface="DM Sans"/>
            </a:endParaRPr>
          </a:p>
        </p:txBody>
      </p:sp>
      <p:pic>
        <p:nvPicPr>
          <p:cNvPr id="229" name="Google Shape;229;p32"/>
          <p:cNvPicPr preferRelativeResize="0"/>
          <p:nvPr/>
        </p:nvPicPr>
        <p:blipFill rotWithShape="1">
          <a:blip r:embed="rId4">
            <a:alphaModFix/>
          </a:blip>
          <a:srcRect r="23768" b="6340"/>
          <a:stretch/>
        </p:blipFill>
        <p:spPr>
          <a:xfrm>
            <a:off x="5111625" y="1062449"/>
            <a:ext cx="2784650" cy="3171025"/>
          </a:xfrm>
          <a:prstGeom prst="rect">
            <a:avLst/>
          </a:prstGeom>
          <a:noFill/>
          <a:ln>
            <a:noFill/>
          </a:ln>
        </p:spPr>
      </p:pic>
      <p:grpSp>
        <p:nvGrpSpPr>
          <p:cNvPr id="230" name="Google Shape;230;p32"/>
          <p:cNvGrpSpPr/>
          <p:nvPr/>
        </p:nvGrpSpPr>
        <p:grpSpPr>
          <a:xfrm>
            <a:off x="7928851" y="468323"/>
            <a:ext cx="738900" cy="738900"/>
            <a:chOff x="473351" y="619523"/>
            <a:chExt cx="738900" cy="738900"/>
          </a:xfrm>
        </p:grpSpPr>
        <p:sp>
          <p:nvSpPr>
            <p:cNvPr id="231" name="Google Shape;231;p32"/>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32" name="Google Shape;232;p32" title="ícono de ejemplo en vivo"/>
            <p:cNvPicPr preferRelativeResize="0"/>
            <p:nvPr/>
          </p:nvPicPr>
          <p:blipFill rotWithShape="1">
            <a:blip r:embed="rId5">
              <a:alphaModFix/>
            </a:blip>
            <a:srcRect/>
            <a:stretch/>
          </p:blipFill>
          <p:spPr>
            <a:xfrm>
              <a:off x="616475" y="762650"/>
              <a:ext cx="452650" cy="452650"/>
            </a:xfrm>
            <a:prstGeom prst="rect">
              <a:avLst/>
            </a:prstGeom>
            <a:noFill/>
            <a:ln>
              <a:noFill/>
            </a:ln>
          </p:spPr>
        </p:pic>
      </p:grpSp>
      <p:sp>
        <p:nvSpPr>
          <p:cNvPr id="2" name="Rectángulo 1">
            <a:extLst>
              <a:ext uri="{FF2B5EF4-FFF2-40B4-BE49-F238E27FC236}">
                <a16:creationId xmlns:a16="http://schemas.microsoft.com/office/drawing/2014/main" id="{C9C22087-E42E-0919-3B1F-9FFC2E06B2CF}"/>
              </a:ext>
            </a:extLst>
          </p:cNvPr>
          <p:cNvSpPr/>
          <p:nvPr/>
        </p:nvSpPr>
        <p:spPr>
          <a:xfrm>
            <a:off x="0" y="4408968"/>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33"/>
          <p:cNvSpPr txBox="1"/>
          <p:nvPr/>
        </p:nvSpPr>
        <p:spPr>
          <a:xfrm>
            <a:off x="1461300" y="2202300"/>
            <a:ext cx="6221400" cy="7389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super()</a:t>
            </a:r>
            <a:endParaRPr sz="4000" b="1" i="0" u="none" strike="noStrike" cap="none">
              <a:solidFill>
                <a:schemeClr val="dk1"/>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BC3D51E4-2BFF-EA05-FA45-3200763FF8DA}"/>
              </a:ext>
            </a:extLst>
          </p:cNvPr>
          <p:cNvSpPr/>
          <p:nvPr/>
        </p:nvSpPr>
        <p:spPr>
          <a:xfrm>
            <a:off x="0" y="4408968"/>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34"/>
          <p:cNvSpPr txBox="1"/>
          <p:nvPr/>
        </p:nvSpPr>
        <p:spPr>
          <a:xfrm>
            <a:off x="476250" y="468888"/>
            <a:ext cx="4730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¿Para qué sirve?</a:t>
            </a:r>
            <a:endParaRPr sz="4000" b="1" i="0" u="none" strike="noStrike" cap="none">
              <a:solidFill>
                <a:schemeClr val="dk1"/>
              </a:solidFill>
              <a:latin typeface="DM Sans"/>
              <a:ea typeface="DM Sans"/>
              <a:cs typeface="DM Sans"/>
              <a:sym typeface="DM Sans"/>
            </a:endParaRPr>
          </a:p>
        </p:txBody>
      </p:sp>
      <p:sp>
        <p:nvSpPr>
          <p:cNvPr id="243" name="Google Shape;243;p34"/>
          <p:cNvSpPr txBox="1"/>
          <p:nvPr/>
        </p:nvSpPr>
        <p:spPr>
          <a:xfrm>
            <a:off x="4791100" y="2855625"/>
            <a:ext cx="3735600" cy="392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 sz="1350" b="0" i="0" u="none" strike="noStrike" cap="none">
                <a:solidFill>
                  <a:srgbClr val="000000"/>
                </a:solidFill>
                <a:latin typeface="DM Sans"/>
                <a:ea typeface="DM Sans"/>
                <a:cs typeface="DM Sans"/>
                <a:sym typeface="DM Sans"/>
              </a:rPr>
              <a:t>Volvamos al ejemplo de Animal y Perro…</a:t>
            </a:r>
            <a:endParaRPr sz="1350" b="1" i="0" u="none" strike="noStrike" cap="none">
              <a:solidFill>
                <a:srgbClr val="000000"/>
              </a:solidFill>
              <a:latin typeface="DM Sans"/>
              <a:ea typeface="DM Sans"/>
              <a:cs typeface="DM Sans"/>
              <a:sym typeface="DM Sans"/>
            </a:endParaRPr>
          </a:p>
        </p:txBody>
      </p:sp>
      <p:sp>
        <p:nvSpPr>
          <p:cNvPr id="244" name="Google Shape;244;p34"/>
          <p:cNvSpPr txBox="1"/>
          <p:nvPr/>
        </p:nvSpPr>
        <p:spPr>
          <a:xfrm>
            <a:off x="476243" y="4591041"/>
            <a:ext cx="300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chemeClr val="dk2"/>
                </a:solidFill>
                <a:latin typeface="DM Sans"/>
                <a:ea typeface="DM Sans"/>
                <a:cs typeface="DM Sans"/>
                <a:sym typeface="DM Sans"/>
              </a:rPr>
              <a:t>Fuente: </a:t>
            </a:r>
            <a:r>
              <a:rPr lang="es" sz="1100" b="0" i="0" u="none" strike="noStrike" cap="none">
                <a:solidFill>
                  <a:schemeClr val="hlink"/>
                </a:solidFill>
                <a:uFill>
                  <a:noFill/>
                </a:uFill>
                <a:latin typeface="DM Sans"/>
                <a:ea typeface="DM Sans"/>
                <a:cs typeface="DM Sans"/>
                <a:sym typeface="DM Sans"/>
                <a:hlinkClick r:id="rId3"/>
              </a:rPr>
              <a:t>ElLibroDePython</a:t>
            </a:r>
            <a:endParaRPr sz="1100" b="0" i="0" u="none" strike="noStrike" cap="none">
              <a:solidFill>
                <a:schemeClr val="accent5"/>
              </a:solidFill>
              <a:latin typeface="DM Sans"/>
              <a:ea typeface="DM Sans"/>
              <a:cs typeface="DM Sans"/>
              <a:sym typeface="DM Sans"/>
            </a:endParaRPr>
          </a:p>
        </p:txBody>
      </p:sp>
      <p:pic>
        <p:nvPicPr>
          <p:cNvPr id="245" name="Google Shape;245;p34"/>
          <p:cNvPicPr preferRelativeResize="0"/>
          <p:nvPr/>
        </p:nvPicPr>
        <p:blipFill rotWithShape="1">
          <a:blip r:embed="rId4">
            <a:alphaModFix/>
          </a:blip>
          <a:srcRect r="29233" b="7782"/>
          <a:stretch/>
        </p:blipFill>
        <p:spPr>
          <a:xfrm>
            <a:off x="476250" y="2051988"/>
            <a:ext cx="4314851" cy="2148025"/>
          </a:xfrm>
          <a:prstGeom prst="rect">
            <a:avLst/>
          </a:prstGeom>
          <a:noFill/>
          <a:ln>
            <a:noFill/>
          </a:ln>
        </p:spPr>
      </p:pic>
      <p:sp>
        <p:nvSpPr>
          <p:cNvPr id="246" name="Google Shape;246;p34"/>
          <p:cNvSpPr txBox="1"/>
          <p:nvPr/>
        </p:nvSpPr>
        <p:spPr>
          <a:xfrm>
            <a:off x="476250" y="1320425"/>
            <a:ext cx="7499700" cy="1015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La función </a:t>
            </a:r>
            <a:r>
              <a:rPr lang="es" sz="1350" b="1" i="0" u="none" strike="noStrike" cap="none">
                <a:solidFill>
                  <a:srgbClr val="000000"/>
                </a:solidFill>
                <a:highlight>
                  <a:schemeClr val="accent6"/>
                </a:highlight>
                <a:latin typeface="DM Sans"/>
                <a:ea typeface="DM Sans"/>
                <a:cs typeface="DM Sans"/>
                <a:sym typeface="DM Sans"/>
              </a:rPr>
              <a:t>super</a:t>
            </a:r>
            <a:r>
              <a:rPr lang="es" sz="1350" b="0" i="0" u="none" strike="noStrike" cap="none">
                <a:solidFill>
                  <a:srgbClr val="000000"/>
                </a:solidFill>
                <a:latin typeface="DM Sans"/>
                <a:ea typeface="DM Sans"/>
                <a:cs typeface="DM Sans"/>
                <a:sym typeface="DM Sans"/>
              </a:rPr>
              <a:t>  nos permite acceder a los métodos de la clase padre desde una de sus hijas.  </a:t>
            </a:r>
            <a:endParaRPr sz="135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endParaRPr sz="135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DM Sans"/>
              <a:ea typeface="DM Sans"/>
              <a:cs typeface="DM Sans"/>
              <a:sym typeface="DM Sans"/>
            </a:endParaRPr>
          </a:p>
        </p:txBody>
      </p:sp>
      <p:grpSp>
        <p:nvGrpSpPr>
          <p:cNvPr id="247" name="Google Shape;247;p34"/>
          <p:cNvGrpSpPr/>
          <p:nvPr/>
        </p:nvGrpSpPr>
        <p:grpSpPr>
          <a:xfrm>
            <a:off x="7928851" y="468323"/>
            <a:ext cx="738900" cy="738900"/>
            <a:chOff x="473351" y="619523"/>
            <a:chExt cx="738900" cy="738900"/>
          </a:xfrm>
        </p:grpSpPr>
        <p:sp>
          <p:nvSpPr>
            <p:cNvPr id="248" name="Google Shape;248;p34"/>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49" name="Google Shape;249;p34" title="ícono de ejemplo en vivo"/>
            <p:cNvPicPr preferRelativeResize="0"/>
            <p:nvPr/>
          </p:nvPicPr>
          <p:blipFill rotWithShape="1">
            <a:blip r:embed="rId5">
              <a:alphaModFix/>
            </a:blip>
            <a:srcRect/>
            <a:stretch/>
          </p:blipFill>
          <p:spPr>
            <a:xfrm>
              <a:off x="616475" y="762650"/>
              <a:ext cx="452650" cy="452650"/>
            </a:xfrm>
            <a:prstGeom prst="rect">
              <a:avLst/>
            </a:prstGeom>
            <a:noFill/>
            <a:ln>
              <a:noFill/>
            </a:ln>
          </p:spPr>
        </p:pic>
      </p:grpSp>
      <p:sp>
        <p:nvSpPr>
          <p:cNvPr id="2" name="Rectángulo 1">
            <a:extLst>
              <a:ext uri="{FF2B5EF4-FFF2-40B4-BE49-F238E27FC236}">
                <a16:creationId xmlns:a16="http://schemas.microsoft.com/office/drawing/2014/main" id="{F511302E-E918-6C2E-408A-5C7874F4615E}"/>
              </a:ext>
            </a:extLst>
          </p:cNvPr>
          <p:cNvSpPr/>
          <p:nvPr/>
        </p:nvSpPr>
        <p:spPr>
          <a:xfrm>
            <a:off x="0" y="4408968"/>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35"/>
          <p:cNvSpPr txBox="1"/>
          <p:nvPr/>
        </p:nvSpPr>
        <p:spPr>
          <a:xfrm>
            <a:off x="476250" y="468888"/>
            <a:ext cx="4730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¿Para qué sirve?</a:t>
            </a:r>
            <a:endParaRPr sz="4000" b="1" i="0" u="none" strike="noStrike" cap="none">
              <a:solidFill>
                <a:schemeClr val="dk1"/>
              </a:solidFill>
              <a:latin typeface="DM Sans"/>
              <a:ea typeface="DM Sans"/>
              <a:cs typeface="DM Sans"/>
              <a:sym typeface="DM Sans"/>
            </a:endParaRPr>
          </a:p>
        </p:txBody>
      </p:sp>
      <p:sp>
        <p:nvSpPr>
          <p:cNvPr id="255" name="Google Shape;255;p35"/>
          <p:cNvSpPr txBox="1"/>
          <p:nvPr/>
        </p:nvSpPr>
        <p:spPr>
          <a:xfrm>
            <a:off x="4791100" y="2063850"/>
            <a:ext cx="3735600" cy="1015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 sz="1350" b="0" i="0" u="none" strike="noStrike" cap="none">
                <a:solidFill>
                  <a:srgbClr val="000000"/>
                </a:solidFill>
                <a:latin typeface="DM Sans"/>
                <a:ea typeface="DM Sans"/>
                <a:cs typeface="DM Sans"/>
                <a:sym typeface="DM Sans"/>
              </a:rPr>
              <a:t>Tal vez queramos que nuestro Perro tenga un parámetro extra en el constructor, como podría ser el </a:t>
            </a:r>
            <a:r>
              <a:rPr lang="es" sz="1350" b="1" i="0" u="none" strike="noStrike" cap="none">
                <a:solidFill>
                  <a:srgbClr val="000000"/>
                </a:solidFill>
                <a:latin typeface="DM Sans"/>
                <a:ea typeface="DM Sans"/>
                <a:cs typeface="DM Sans"/>
                <a:sym typeface="DM Sans"/>
              </a:rPr>
              <a:t>dueño.</a:t>
            </a:r>
            <a:r>
              <a:rPr lang="es" sz="1350" b="0" i="0" u="none" strike="noStrike" cap="none">
                <a:solidFill>
                  <a:srgbClr val="000000"/>
                </a:solidFill>
                <a:latin typeface="DM Sans"/>
                <a:ea typeface="DM Sans"/>
                <a:cs typeface="DM Sans"/>
                <a:sym typeface="DM Sans"/>
              </a:rPr>
              <a:t> Para realizar esto tenemos dos alternativas:</a:t>
            </a:r>
            <a:endParaRPr sz="1350" b="0" i="0" u="none" strike="noStrike" cap="none">
              <a:solidFill>
                <a:srgbClr val="000000"/>
              </a:solidFill>
              <a:latin typeface="DM Sans"/>
              <a:ea typeface="DM Sans"/>
              <a:cs typeface="DM Sans"/>
              <a:sym typeface="DM Sans"/>
            </a:endParaRPr>
          </a:p>
        </p:txBody>
      </p:sp>
      <p:sp>
        <p:nvSpPr>
          <p:cNvPr id="256" name="Google Shape;256;p35"/>
          <p:cNvSpPr txBox="1"/>
          <p:nvPr/>
        </p:nvSpPr>
        <p:spPr>
          <a:xfrm>
            <a:off x="476243" y="4591041"/>
            <a:ext cx="300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chemeClr val="dk2"/>
                </a:solidFill>
                <a:latin typeface="DM Sans"/>
                <a:ea typeface="DM Sans"/>
                <a:cs typeface="DM Sans"/>
                <a:sym typeface="DM Sans"/>
              </a:rPr>
              <a:t>Fuente: </a:t>
            </a:r>
            <a:r>
              <a:rPr lang="es" sz="1100" b="0" i="0" u="none" strike="noStrike" cap="none">
                <a:solidFill>
                  <a:schemeClr val="hlink"/>
                </a:solidFill>
                <a:uFill>
                  <a:noFill/>
                </a:uFill>
                <a:latin typeface="DM Sans"/>
                <a:ea typeface="DM Sans"/>
                <a:cs typeface="DM Sans"/>
                <a:sym typeface="DM Sans"/>
                <a:hlinkClick r:id="rId3"/>
              </a:rPr>
              <a:t>ElLibroDePython</a:t>
            </a:r>
            <a:endParaRPr sz="1100" b="0" i="0" u="none" strike="noStrike" cap="none">
              <a:solidFill>
                <a:schemeClr val="accent5"/>
              </a:solidFill>
              <a:latin typeface="DM Sans"/>
              <a:ea typeface="DM Sans"/>
              <a:cs typeface="DM Sans"/>
              <a:sym typeface="DM Sans"/>
            </a:endParaRPr>
          </a:p>
        </p:txBody>
      </p:sp>
      <p:pic>
        <p:nvPicPr>
          <p:cNvPr id="257" name="Google Shape;257;p35"/>
          <p:cNvPicPr preferRelativeResize="0"/>
          <p:nvPr/>
        </p:nvPicPr>
        <p:blipFill rotWithShape="1">
          <a:blip r:embed="rId4">
            <a:alphaModFix/>
          </a:blip>
          <a:srcRect r="20992"/>
          <a:stretch/>
        </p:blipFill>
        <p:spPr>
          <a:xfrm>
            <a:off x="752025" y="1370663"/>
            <a:ext cx="3491950" cy="3057525"/>
          </a:xfrm>
          <a:prstGeom prst="rect">
            <a:avLst/>
          </a:prstGeom>
          <a:noFill/>
          <a:ln>
            <a:noFill/>
          </a:ln>
        </p:spPr>
      </p:pic>
      <p:grpSp>
        <p:nvGrpSpPr>
          <p:cNvPr id="258" name="Google Shape;258;p35"/>
          <p:cNvGrpSpPr/>
          <p:nvPr/>
        </p:nvGrpSpPr>
        <p:grpSpPr>
          <a:xfrm>
            <a:off x="7928851" y="468323"/>
            <a:ext cx="738900" cy="738900"/>
            <a:chOff x="473351" y="619523"/>
            <a:chExt cx="738900" cy="738900"/>
          </a:xfrm>
        </p:grpSpPr>
        <p:sp>
          <p:nvSpPr>
            <p:cNvPr id="259" name="Google Shape;259;p35"/>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60" name="Google Shape;260;p35" title="ícono de ejemplo en vivo"/>
            <p:cNvPicPr preferRelativeResize="0"/>
            <p:nvPr/>
          </p:nvPicPr>
          <p:blipFill rotWithShape="1">
            <a:blip r:embed="rId5">
              <a:alphaModFix/>
            </a:blip>
            <a:srcRect/>
            <a:stretch/>
          </p:blipFill>
          <p:spPr>
            <a:xfrm>
              <a:off x="616475" y="762650"/>
              <a:ext cx="452650" cy="452650"/>
            </a:xfrm>
            <a:prstGeom prst="rect">
              <a:avLst/>
            </a:prstGeom>
            <a:noFill/>
            <a:ln>
              <a:noFill/>
            </a:ln>
          </p:spPr>
        </p:pic>
      </p:grpSp>
      <p:sp>
        <p:nvSpPr>
          <p:cNvPr id="2" name="Rectángulo 1">
            <a:extLst>
              <a:ext uri="{FF2B5EF4-FFF2-40B4-BE49-F238E27FC236}">
                <a16:creationId xmlns:a16="http://schemas.microsoft.com/office/drawing/2014/main" id="{8BEADDAE-F8E1-DBD0-0299-021AA168459D}"/>
              </a:ext>
            </a:extLst>
          </p:cNvPr>
          <p:cNvSpPr/>
          <p:nvPr/>
        </p:nvSpPr>
        <p:spPr>
          <a:xfrm>
            <a:off x="0" y="4408968"/>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36"/>
          <p:cNvSpPr txBox="1"/>
          <p:nvPr/>
        </p:nvSpPr>
        <p:spPr>
          <a:xfrm>
            <a:off x="476250" y="468888"/>
            <a:ext cx="4730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¿Para qué sirve?</a:t>
            </a:r>
            <a:endParaRPr sz="4000" b="1" i="0" u="none" strike="noStrike" cap="none">
              <a:solidFill>
                <a:schemeClr val="dk1"/>
              </a:solidFill>
              <a:latin typeface="DM Sans"/>
              <a:ea typeface="DM Sans"/>
              <a:cs typeface="DM Sans"/>
              <a:sym typeface="DM Sans"/>
            </a:endParaRPr>
          </a:p>
        </p:txBody>
      </p:sp>
      <p:sp>
        <p:nvSpPr>
          <p:cNvPr id="266" name="Google Shape;266;p36"/>
          <p:cNvSpPr txBox="1"/>
          <p:nvPr/>
        </p:nvSpPr>
        <p:spPr>
          <a:xfrm>
            <a:off x="4486400" y="1925975"/>
            <a:ext cx="4040400" cy="1639200"/>
          </a:xfrm>
          <a:prstGeom prst="rect">
            <a:avLst/>
          </a:prstGeom>
          <a:noFill/>
          <a:ln>
            <a:noFill/>
          </a:ln>
        </p:spPr>
        <p:txBody>
          <a:bodyPr spcFirstLastPara="1" wrap="square" lIns="91425" tIns="91425" rIns="91425" bIns="91425" anchor="t" anchorCtr="0">
            <a:spAutoFit/>
          </a:bodyPr>
          <a:lstStyle/>
          <a:p>
            <a:pPr marL="457200" marR="0" lvl="0" indent="-314325" algn="l" rtl="0">
              <a:lnSpc>
                <a:spcPct val="100000"/>
              </a:lnSpc>
              <a:spcBef>
                <a:spcPts val="0"/>
              </a:spcBef>
              <a:spcAft>
                <a:spcPts val="0"/>
              </a:spcAft>
              <a:buClr>
                <a:schemeClr val="accent4"/>
              </a:buClr>
              <a:buSzPts val="1350"/>
              <a:buFont typeface="DM Sans"/>
              <a:buAutoNum type="arabicPeriod"/>
            </a:pPr>
            <a:r>
              <a:rPr lang="es" sz="1350" b="0" i="0" u="none" strike="noStrike" cap="none">
                <a:solidFill>
                  <a:srgbClr val="000000"/>
                </a:solidFill>
                <a:latin typeface="DM Sans"/>
                <a:ea typeface="DM Sans"/>
                <a:cs typeface="DM Sans"/>
                <a:sym typeface="DM Sans"/>
              </a:rPr>
              <a:t>Podemos crear un nuevo </a:t>
            </a:r>
            <a:r>
              <a:rPr lang="es" sz="1350" b="1" i="0" u="none" strike="noStrike" cap="none">
                <a:solidFill>
                  <a:srgbClr val="000000"/>
                </a:solidFill>
                <a:latin typeface="DM Sans"/>
                <a:ea typeface="DM Sans"/>
                <a:cs typeface="DM Sans"/>
                <a:sym typeface="DM Sans"/>
              </a:rPr>
              <a:t>_init_</a:t>
            </a:r>
            <a:r>
              <a:rPr lang="es" sz="1350" b="0" i="0" u="none" strike="noStrike" cap="none">
                <a:solidFill>
                  <a:srgbClr val="000000"/>
                </a:solidFill>
                <a:latin typeface="DM Sans"/>
                <a:ea typeface="DM Sans"/>
                <a:cs typeface="DM Sans"/>
                <a:sym typeface="DM Sans"/>
              </a:rPr>
              <a:t> y guardar todas las variables una a una.</a:t>
            </a:r>
            <a:endParaRPr sz="1350" b="0" i="0" u="none" strike="noStrike" cap="none">
              <a:solidFill>
                <a:srgbClr val="000000"/>
              </a:solidFill>
              <a:latin typeface="DM Sans"/>
              <a:ea typeface="DM Sans"/>
              <a:cs typeface="DM Sans"/>
              <a:sym typeface="DM Sans"/>
            </a:endParaRPr>
          </a:p>
          <a:p>
            <a:pPr marL="45720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DM Sans"/>
              <a:buAutoNum type="arabicPeriod"/>
            </a:pPr>
            <a:r>
              <a:rPr lang="es" sz="1350" b="0" i="0" u="none" strike="noStrike" cap="none">
                <a:solidFill>
                  <a:srgbClr val="000000"/>
                </a:solidFill>
                <a:latin typeface="DM Sans"/>
                <a:ea typeface="DM Sans"/>
                <a:cs typeface="DM Sans"/>
                <a:sym typeface="DM Sans"/>
              </a:rPr>
              <a:t>O podemos usar </a:t>
            </a:r>
            <a:r>
              <a:rPr lang="es" sz="1350" b="1" i="0" u="none" strike="noStrike" cap="none">
                <a:solidFill>
                  <a:srgbClr val="000000"/>
                </a:solidFill>
                <a:latin typeface="DM Sans"/>
                <a:ea typeface="DM Sans"/>
                <a:cs typeface="DM Sans"/>
                <a:sym typeface="DM Sans"/>
              </a:rPr>
              <a:t>super ()</a:t>
            </a:r>
            <a:r>
              <a:rPr lang="es" sz="1350" b="0" i="0" u="none" strike="noStrike" cap="none">
                <a:solidFill>
                  <a:srgbClr val="000000"/>
                </a:solidFill>
                <a:latin typeface="DM Sans"/>
                <a:ea typeface="DM Sans"/>
                <a:cs typeface="DM Sans"/>
                <a:sym typeface="DM Sans"/>
              </a:rPr>
              <a:t> para llamar al </a:t>
            </a:r>
            <a:r>
              <a:rPr lang="es" sz="1350" b="1" i="0" u="none" strike="noStrike" cap="none">
                <a:solidFill>
                  <a:srgbClr val="000000"/>
                </a:solidFill>
                <a:latin typeface="DM Sans"/>
                <a:ea typeface="DM Sans"/>
                <a:cs typeface="DM Sans"/>
                <a:sym typeface="DM Sans"/>
              </a:rPr>
              <a:t>_init_ </a:t>
            </a:r>
            <a:r>
              <a:rPr lang="es" sz="1350" b="0" i="0" u="none" strike="noStrike" cap="none">
                <a:solidFill>
                  <a:srgbClr val="000000"/>
                </a:solidFill>
                <a:latin typeface="DM Sans"/>
                <a:ea typeface="DM Sans"/>
                <a:cs typeface="DM Sans"/>
                <a:sym typeface="DM Sans"/>
              </a:rPr>
              <a:t> de la clase padre que ya aceptaba la especie y edad y sólo asignar la variable nueva manualmente.</a:t>
            </a:r>
            <a:endParaRPr sz="1350" b="0" i="0" u="none" strike="noStrike" cap="none">
              <a:solidFill>
                <a:srgbClr val="000000"/>
              </a:solidFill>
              <a:latin typeface="DM Sans"/>
              <a:ea typeface="DM Sans"/>
              <a:cs typeface="DM Sans"/>
              <a:sym typeface="DM Sans"/>
            </a:endParaRPr>
          </a:p>
        </p:txBody>
      </p:sp>
      <p:sp>
        <p:nvSpPr>
          <p:cNvPr id="267" name="Google Shape;267;p36"/>
          <p:cNvSpPr txBox="1"/>
          <p:nvPr/>
        </p:nvSpPr>
        <p:spPr>
          <a:xfrm>
            <a:off x="476243" y="4591041"/>
            <a:ext cx="300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chemeClr val="dk2"/>
                </a:solidFill>
                <a:latin typeface="DM Sans"/>
                <a:ea typeface="DM Sans"/>
                <a:cs typeface="DM Sans"/>
                <a:sym typeface="DM Sans"/>
              </a:rPr>
              <a:t>Fuente: </a:t>
            </a:r>
            <a:r>
              <a:rPr lang="es" sz="1100" b="0" i="0" u="none" strike="noStrike" cap="none">
                <a:solidFill>
                  <a:schemeClr val="hlink"/>
                </a:solidFill>
                <a:uFill>
                  <a:noFill/>
                </a:uFill>
                <a:latin typeface="DM Sans"/>
                <a:ea typeface="DM Sans"/>
                <a:cs typeface="DM Sans"/>
                <a:sym typeface="DM Sans"/>
                <a:hlinkClick r:id="rId3"/>
              </a:rPr>
              <a:t>ElLibroDePython</a:t>
            </a:r>
            <a:endParaRPr sz="1100" b="0" i="0" u="none" strike="noStrike" cap="none">
              <a:solidFill>
                <a:schemeClr val="accent5"/>
              </a:solidFill>
              <a:latin typeface="DM Sans"/>
              <a:ea typeface="DM Sans"/>
              <a:cs typeface="DM Sans"/>
              <a:sym typeface="DM Sans"/>
            </a:endParaRPr>
          </a:p>
        </p:txBody>
      </p:sp>
      <p:pic>
        <p:nvPicPr>
          <p:cNvPr id="268" name="Google Shape;268;p36"/>
          <p:cNvPicPr preferRelativeResize="0"/>
          <p:nvPr/>
        </p:nvPicPr>
        <p:blipFill rotWithShape="1">
          <a:blip r:embed="rId4">
            <a:alphaModFix/>
          </a:blip>
          <a:srcRect r="20992"/>
          <a:stretch/>
        </p:blipFill>
        <p:spPr>
          <a:xfrm>
            <a:off x="752025" y="1370663"/>
            <a:ext cx="3491950" cy="3057525"/>
          </a:xfrm>
          <a:prstGeom prst="rect">
            <a:avLst/>
          </a:prstGeom>
          <a:noFill/>
          <a:ln>
            <a:noFill/>
          </a:ln>
        </p:spPr>
      </p:pic>
      <p:grpSp>
        <p:nvGrpSpPr>
          <p:cNvPr id="269" name="Google Shape;269;p36"/>
          <p:cNvGrpSpPr/>
          <p:nvPr/>
        </p:nvGrpSpPr>
        <p:grpSpPr>
          <a:xfrm>
            <a:off x="7928851" y="468323"/>
            <a:ext cx="738900" cy="738900"/>
            <a:chOff x="473351" y="619523"/>
            <a:chExt cx="738900" cy="738900"/>
          </a:xfrm>
        </p:grpSpPr>
        <p:sp>
          <p:nvSpPr>
            <p:cNvPr id="270" name="Google Shape;270;p36"/>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1" name="Google Shape;271;p36" title="ícono de ejemplo en vivo"/>
            <p:cNvPicPr preferRelativeResize="0"/>
            <p:nvPr/>
          </p:nvPicPr>
          <p:blipFill rotWithShape="1">
            <a:blip r:embed="rId5">
              <a:alphaModFix/>
            </a:blip>
            <a:srcRect/>
            <a:stretch/>
          </p:blipFill>
          <p:spPr>
            <a:xfrm>
              <a:off x="616475" y="762650"/>
              <a:ext cx="452650" cy="452650"/>
            </a:xfrm>
            <a:prstGeom prst="rect">
              <a:avLst/>
            </a:prstGeom>
            <a:noFill/>
            <a:ln>
              <a:noFill/>
            </a:ln>
          </p:spPr>
        </p:pic>
      </p:grpSp>
      <p:sp>
        <p:nvSpPr>
          <p:cNvPr id="2" name="Rectángulo 1">
            <a:extLst>
              <a:ext uri="{FF2B5EF4-FFF2-40B4-BE49-F238E27FC236}">
                <a16:creationId xmlns:a16="http://schemas.microsoft.com/office/drawing/2014/main" id="{F279F0E7-6287-F444-62B4-2335893E0DFB}"/>
              </a:ext>
            </a:extLst>
          </p:cNvPr>
          <p:cNvSpPr/>
          <p:nvPr/>
        </p:nvSpPr>
        <p:spPr>
          <a:xfrm>
            <a:off x="0" y="4408968"/>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38"/>
          <p:cNvSpPr txBox="1"/>
          <p:nvPr/>
        </p:nvSpPr>
        <p:spPr>
          <a:xfrm>
            <a:off x="1404863" y="2202300"/>
            <a:ext cx="6221400" cy="7389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4000"/>
              <a:buFont typeface="Arial"/>
              <a:buNone/>
            </a:pPr>
            <a:r>
              <a:rPr lang="es" sz="4000" b="1" i="0" u="none" strike="noStrike" cap="none">
                <a:solidFill>
                  <a:schemeClr val="lt1"/>
                </a:solidFill>
                <a:latin typeface="DM Sans"/>
                <a:ea typeface="DM Sans"/>
                <a:cs typeface="DM Sans"/>
                <a:sym typeface="DM Sans"/>
              </a:rPr>
              <a:t>Herencia </a:t>
            </a:r>
            <a:r>
              <a:rPr lang="es" sz="4000" b="1" i="0" u="none" strike="noStrike" cap="none">
                <a:solidFill>
                  <a:srgbClr val="EA90FF"/>
                </a:solidFill>
                <a:latin typeface="DM Sans"/>
                <a:ea typeface="DM Sans"/>
                <a:cs typeface="DM Sans"/>
                <a:sym typeface="DM Sans"/>
              </a:rPr>
              <a:t>múltiple</a:t>
            </a:r>
            <a:endParaRPr sz="4000" b="1" i="0" u="none" strike="noStrike" cap="none">
              <a:solidFill>
                <a:srgbClr val="EA90FF"/>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BA4B2CBD-67EF-D321-7C34-E549E285E4DA}"/>
              </a:ext>
            </a:extLst>
          </p:cNvPr>
          <p:cNvSpPr/>
          <p:nvPr/>
        </p:nvSpPr>
        <p:spPr>
          <a:xfrm>
            <a:off x="0" y="4408968"/>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39"/>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Herencia múltiple</a:t>
            </a:r>
            <a:endParaRPr sz="4000" b="1" i="0" u="none" strike="noStrike" cap="none">
              <a:solidFill>
                <a:schemeClr val="dk1"/>
              </a:solidFill>
              <a:latin typeface="DM Sans"/>
              <a:ea typeface="DM Sans"/>
              <a:cs typeface="DM Sans"/>
              <a:sym typeface="DM Sans"/>
            </a:endParaRPr>
          </a:p>
        </p:txBody>
      </p:sp>
      <p:sp>
        <p:nvSpPr>
          <p:cNvPr id="288" name="Google Shape;288;p39"/>
          <p:cNvSpPr txBox="1"/>
          <p:nvPr/>
        </p:nvSpPr>
        <p:spPr>
          <a:xfrm>
            <a:off x="473350" y="2063850"/>
            <a:ext cx="3834600" cy="1015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Hemos visto cómo se podía crear una clase padre que heredaba de una clase hija, pudiendo hacer uso de sus métodos y atributos. </a:t>
            </a:r>
            <a:endParaRPr sz="1350" b="0" i="0" u="none" strike="noStrike" cap="none">
              <a:solidFill>
                <a:srgbClr val="000000"/>
              </a:solidFill>
              <a:latin typeface="DM Sans"/>
              <a:ea typeface="DM Sans"/>
              <a:cs typeface="DM Sans"/>
              <a:sym typeface="DM Sans"/>
            </a:endParaRPr>
          </a:p>
        </p:txBody>
      </p:sp>
      <p:sp>
        <p:nvSpPr>
          <p:cNvPr id="289" name="Google Shape;289;p39"/>
          <p:cNvSpPr txBox="1"/>
          <p:nvPr/>
        </p:nvSpPr>
        <p:spPr>
          <a:xfrm>
            <a:off x="4527575" y="2063850"/>
            <a:ext cx="3834600" cy="808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highlight>
                  <a:schemeClr val="accent6"/>
                </a:highlight>
                <a:latin typeface="DM Sans"/>
                <a:ea typeface="DM Sans"/>
                <a:cs typeface="DM Sans"/>
                <a:sym typeface="DM Sans"/>
              </a:rPr>
              <a:t>La herencia múltiple es similar, pero una clase hereda de varias clases padre en vez de una sola.</a:t>
            </a:r>
            <a:endParaRPr sz="1350" b="0" i="0" u="none" strike="noStrike" cap="none">
              <a:solidFill>
                <a:srgbClr val="000000"/>
              </a:solidFill>
              <a:highlight>
                <a:schemeClr val="accent6"/>
              </a:highlight>
              <a:latin typeface="DM Sans"/>
              <a:ea typeface="DM Sans"/>
              <a:cs typeface="DM Sans"/>
              <a:sym typeface="DM Sans"/>
            </a:endParaRPr>
          </a:p>
        </p:txBody>
      </p:sp>
      <p:sp>
        <p:nvSpPr>
          <p:cNvPr id="290" name="Google Shape;290;p39"/>
          <p:cNvSpPr txBox="1"/>
          <p:nvPr/>
        </p:nvSpPr>
        <p:spPr>
          <a:xfrm>
            <a:off x="476250" y="4591050"/>
            <a:ext cx="300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chemeClr val="dk2"/>
                </a:solidFill>
                <a:latin typeface="DM Sans"/>
                <a:ea typeface="DM Sans"/>
                <a:cs typeface="DM Sans"/>
                <a:sym typeface="DM Sans"/>
              </a:rPr>
              <a:t>Fuente: </a:t>
            </a:r>
            <a:r>
              <a:rPr lang="es" sz="1100" b="0" i="0" u="none" strike="noStrike" cap="none">
                <a:solidFill>
                  <a:schemeClr val="hlink"/>
                </a:solidFill>
                <a:uFill>
                  <a:noFill/>
                </a:uFill>
                <a:latin typeface="DM Sans"/>
                <a:ea typeface="DM Sans"/>
                <a:cs typeface="DM Sans"/>
                <a:sym typeface="DM Sans"/>
                <a:hlinkClick r:id="rId3"/>
              </a:rPr>
              <a:t>ElLibroDePython</a:t>
            </a:r>
            <a:endParaRPr sz="1100" b="0" i="0" u="none" strike="noStrike" cap="none">
              <a:solidFill>
                <a:schemeClr val="accent5"/>
              </a:solidFill>
              <a:latin typeface="DM Sans"/>
              <a:ea typeface="DM Sans"/>
              <a:cs typeface="DM Sans"/>
              <a:sym typeface="DM Sans"/>
            </a:endParaRPr>
          </a:p>
        </p:txBody>
      </p:sp>
      <p:sp>
        <p:nvSpPr>
          <p:cNvPr id="4" name="Rectángulo 3">
            <a:extLst>
              <a:ext uri="{FF2B5EF4-FFF2-40B4-BE49-F238E27FC236}">
                <a16:creationId xmlns:a16="http://schemas.microsoft.com/office/drawing/2014/main" id="{CF538E1B-7E81-FF9D-04C6-445D17544BD6}"/>
              </a:ext>
            </a:extLst>
          </p:cNvPr>
          <p:cNvSpPr/>
          <p:nvPr/>
        </p:nvSpPr>
        <p:spPr>
          <a:xfrm>
            <a:off x="0" y="4408968"/>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grpSp>
        <p:nvGrpSpPr>
          <p:cNvPr id="295" name="Google Shape;295;p40"/>
          <p:cNvGrpSpPr/>
          <p:nvPr/>
        </p:nvGrpSpPr>
        <p:grpSpPr>
          <a:xfrm>
            <a:off x="473370" y="619431"/>
            <a:ext cx="738905" cy="738905"/>
            <a:chOff x="575612" y="1950748"/>
            <a:chExt cx="431100" cy="431100"/>
          </a:xfrm>
        </p:grpSpPr>
        <p:sp>
          <p:nvSpPr>
            <p:cNvPr id="296" name="Google Shape;296;p40"/>
            <p:cNvSpPr/>
            <p:nvPr/>
          </p:nvSpPr>
          <p:spPr>
            <a:xfrm>
              <a:off x="575612" y="1950748"/>
              <a:ext cx="431100" cy="4311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97" name="Google Shape;297;p40" title="ícono para pensar"/>
            <p:cNvPicPr preferRelativeResize="0"/>
            <p:nvPr/>
          </p:nvPicPr>
          <p:blipFill rotWithShape="1">
            <a:blip r:embed="rId3">
              <a:alphaModFix/>
            </a:blip>
            <a:srcRect/>
            <a:stretch/>
          </p:blipFill>
          <p:spPr>
            <a:xfrm>
              <a:off x="655125" y="2030288"/>
              <a:ext cx="272000" cy="272000"/>
            </a:xfrm>
            <a:prstGeom prst="rect">
              <a:avLst/>
            </a:prstGeom>
            <a:noFill/>
            <a:ln>
              <a:noFill/>
            </a:ln>
          </p:spPr>
        </p:pic>
      </p:grpSp>
      <p:sp>
        <p:nvSpPr>
          <p:cNvPr id="298" name="Google Shape;298;p40"/>
          <p:cNvSpPr txBox="1"/>
          <p:nvPr/>
        </p:nvSpPr>
        <p:spPr>
          <a:xfrm>
            <a:off x="1445150" y="688825"/>
            <a:ext cx="7169400" cy="6696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500"/>
              <a:buFont typeface="Arial"/>
              <a:buNone/>
            </a:pPr>
            <a:r>
              <a:rPr lang="es" sz="3500" b="1" i="0" u="none" strike="noStrike" cap="none">
                <a:solidFill>
                  <a:srgbClr val="EAFF6A"/>
                </a:solidFill>
                <a:latin typeface="DM Sans"/>
                <a:ea typeface="DM Sans"/>
                <a:cs typeface="DM Sans"/>
                <a:sym typeface="DM Sans"/>
              </a:rPr>
              <a:t>Para pensar</a:t>
            </a:r>
            <a:endParaRPr sz="3500" b="1" i="0" u="none" strike="noStrike" cap="none">
              <a:solidFill>
                <a:srgbClr val="EAFF6A"/>
              </a:solidFill>
              <a:latin typeface="DM Sans"/>
              <a:ea typeface="DM Sans"/>
              <a:cs typeface="DM Sans"/>
              <a:sym typeface="DM Sans"/>
            </a:endParaRPr>
          </a:p>
        </p:txBody>
      </p:sp>
      <p:sp>
        <p:nvSpPr>
          <p:cNvPr id="299" name="Google Shape;299;p40"/>
          <p:cNvSpPr txBox="1"/>
          <p:nvPr/>
        </p:nvSpPr>
        <p:spPr>
          <a:xfrm>
            <a:off x="473350" y="1626100"/>
            <a:ext cx="71694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s" sz="2500" b="0" i="0" u="none" strike="noStrike" cap="none">
                <a:solidFill>
                  <a:srgbClr val="B7B7B7"/>
                </a:solidFill>
                <a:latin typeface="DM Sans"/>
                <a:ea typeface="DM Sans"/>
                <a:cs typeface="DM Sans"/>
                <a:sym typeface="DM Sans"/>
              </a:rPr>
              <a:t>¿Qué diferencias se pueden detectar?</a:t>
            </a:r>
            <a:endParaRPr sz="2500" b="1" i="0" u="none" strike="noStrike" cap="none">
              <a:solidFill>
                <a:srgbClr val="B7B7B7"/>
              </a:solidFill>
              <a:latin typeface="Helvetica Neue"/>
              <a:ea typeface="Helvetica Neue"/>
              <a:cs typeface="Helvetica Neue"/>
              <a:sym typeface="Helvetica Neue"/>
            </a:endParaRPr>
          </a:p>
        </p:txBody>
      </p:sp>
      <p:sp>
        <p:nvSpPr>
          <p:cNvPr id="300" name="Google Shape;300;p40"/>
          <p:cNvSpPr txBox="1"/>
          <p:nvPr/>
        </p:nvSpPr>
        <p:spPr>
          <a:xfrm>
            <a:off x="473350" y="3809250"/>
            <a:ext cx="71694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2000" b="0" i="0" u="none" strike="noStrike" cap="none">
                <a:solidFill>
                  <a:schemeClr val="accent5"/>
                </a:solidFill>
                <a:latin typeface="DM Sans"/>
                <a:ea typeface="DM Sans"/>
                <a:cs typeface="DM Sans"/>
                <a:sym typeface="DM Sans"/>
              </a:rPr>
              <a:t>Contesta mediante el chat de Zoom </a:t>
            </a:r>
            <a:endParaRPr sz="2000" b="0" i="0" u="none" strike="noStrike" cap="none">
              <a:solidFill>
                <a:srgbClr val="83AEFB"/>
              </a:solidFill>
              <a:latin typeface="DM Sans"/>
              <a:ea typeface="DM Sans"/>
              <a:cs typeface="DM Sans"/>
              <a:sym typeface="DM Sans"/>
            </a:endParaRPr>
          </a:p>
        </p:txBody>
      </p:sp>
      <p:pic>
        <p:nvPicPr>
          <p:cNvPr id="301" name="Google Shape;301;p40"/>
          <p:cNvPicPr preferRelativeResize="0"/>
          <p:nvPr/>
        </p:nvPicPr>
        <p:blipFill rotWithShape="1">
          <a:blip r:embed="rId4">
            <a:alphaModFix/>
          </a:blip>
          <a:srcRect l="-6626" t="58382" r="31063" b="1936"/>
          <a:stretch/>
        </p:blipFill>
        <p:spPr>
          <a:xfrm>
            <a:off x="4773688" y="2339425"/>
            <a:ext cx="2530100" cy="1325900"/>
          </a:xfrm>
          <a:prstGeom prst="rect">
            <a:avLst/>
          </a:prstGeom>
          <a:noFill/>
          <a:ln w="19050" cap="flat" cmpd="sng">
            <a:solidFill>
              <a:srgbClr val="595959"/>
            </a:solidFill>
            <a:prstDash val="solid"/>
            <a:round/>
            <a:headEnd type="none" w="sm" len="sm"/>
            <a:tailEnd type="none" w="sm" len="sm"/>
          </a:ln>
        </p:spPr>
      </p:pic>
      <p:pic>
        <p:nvPicPr>
          <p:cNvPr id="302" name="Google Shape;302;p40"/>
          <p:cNvPicPr preferRelativeResize="0"/>
          <p:nvPr/>
        </p:nvPicPr>
        <p:blipFill rotWithShape="1">
          <a:blip r:embed="rId4">
            <a:alphaModFix/>
          </a:blip>
          <a:srcRect l="4097" t="2428" r="9269" b="59631"/>
          <a:stretch/>
        </p:blipFill>
        <p:spPr>
          <a:xfrm>
            <a:off x="1840213" y="2377995"/>
            <a:ext cx="2530100" cy="1248768"/>
          </a:xfrm>
          <a:prstGeom prst="rect">
            <a:avLst/>
          </a:prstGeom>
          <a:noFill/>
          <a:ln w="19050" cap="flat" cmpd="sng">
            <a:solidFill>
              <a:srgbClr val="595959"/>
            </a:solidFill>
            <a:prstDash val="solid"/>
            <a:round/>
            <a:headEnd type="none" w="sm" len="sm"/>
            <a:tailEnd type="none" w="sm" len="sm"/>
          </a:ln>
        </p:spPr>
      </p:pic>
      <p:sp>
        <p:nvSpPr>
          <p:cNvPr id="2" name="Rectángulo 1">
            <a:extLst>
              <a:ext uri="{FF2B5EF4-FFF2-40B4-BE49-F238E27FC236}">
                <a16:creationId xmlns:a16="http://schemas.microsoft.com/office/drawing/2014/main" id="{3DB26E24-3D8B-4112-3CDB-7EA15CDEA54C}"/>
              </a:ext>
            </a:extLst>
          </p:cNvPr>
          <p:cNvSpPr/>
          <p:nvPr/>
        </p:nvSpPr>
        <p:spPr>
          <a:xfrm>
            <a:off x="0" y="3847812"/>
            <a:ext cx="9144000" cy="1317591"/>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41"/>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Herencia múltiple</a:t>
            </a:r>
            <a:endParaRPr sz="4000" b="1" i="0" u="none" strike="noStrike" cap="none">
              <a:solidFill>
                <a:schemeClr val="dk1"/>
              </a:solidFill>
              <a:latin typeface="DM Sans"/>
              <a:ea typeface="DM Sans"/>
              <a:cs typeface="DM Sans"/>
              <a:sym typeface="DM Sans"/>
            </a:endParaRPr>
          </a:p>
        </p:txBody>
      </p:sp>
      <p:sp>
        <p:nvSpPr>
          <p:cNvPr id="308" name="Google Shape;308;p41"/>
          <p:cNvSpPr txBox="1"/>
          <p:nvPr/>
        </p:nvSpPr>
        <p:spPr>
          <a:xfrm>
            <a:off x="473350" y="1855950"/>
            <a:ext cx="3834600" cy="1431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En Python es posible realizar herencia múltiple.</a:t>
            </a:r>
            <a:endParaRPr sz="135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Anteriormente hemos visto cómo se podía crear una clase padre que heredaba de una clase hija, pudiendo hacer uso de sus métodos y atributos. </a:t>
            </a:r>
            <a:endParaRPr sz="1350" b="0" i="0" u="none" strike="noStrike" cap="none">
              <a:solidFill>
                <a:srgbClr val="000000"/>
              </a:solidFill>
              <a:latin typeface="DM Sans"/>
              <a:ea typeface="DM Sans"/>
              <a:cs typeface="DM Sans"/>
              <a:sym typeface="DM Sans"/>
            </a:endParaRPr>
          </a:p>
        </p:txBody>
      </p:sp>
      <p:sp>
        <p:nvSpPr>
          <p:cNvPr id="309" name="Google Shape;309;p41"/>
          <p:cNvSpPr txBox="1"/>
          <p:nvPr/>
        </p:nvSpPr>
        <p:spPr>
          <a:xfrm>
            <a:off x="4527575" y="1855950"/>
            <a:ext cx="3834600" cy="808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La herencia múltiple es similar, pero</a:t>
            </a:r>
            <a:r>
              <a:rPr lang="es" sz="1350" b="0" i="0" u="none" strike="noStrike" cap="none">
                <a:solidFill>
                  <a:srgbClr val="000000"/>
                </a:solidFill>
                <a:highlight>
                  <a:schemeClr val="accent6"/>
                </a:highlight>
                <a:latin typeface="DM Sans"/>
                <a:ea typeface="DM Sans"/>
                <a:cs typeface="DM Sans"/>
                <a:sym typeface="DM Sans"/>
              </a:rPr>
              <a:t> una clase hereda de varias clases padre en lugar de una sola.</a:t>
            </a:r>
            <a:endParaRPr sz="1350" b="0" i="0" u="none" strike="noStrike" cap="none">
              <a:solidFill>
                <a:srgbClr val="000000"/>
              </a:solidFill>
              <a:highlight>
                <a:schemeClr val="accent6"/>
              </a:highlight>
              <a:latin typeface="DM Sans"/>
              <a:ea typeface="DM Sans"/>
              <a:cs typeface="DM Sans"/>
              <a:sym typeface="DM Sans"/>
            </a:endParaRPr>
          </a:p>
        </p:txBody>
      </p:sp>
      <p:sp>
        <p:nvSpPr>
          <p:cNvPr id="310" name="Google Shape;310;p41"/>
          <p:cNvSpPr txBox="1"/>
          <p:nvPr/>
        </p:nvSpPr>
        <p:spPr>
          <a:xfrm>
            <a:off x="476250" y="4591050"/>
            <a:ext cx="300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chemeClr val="dk2"/>
                </a:solidFill>
                <a:latin typeface="DM Sans"/>
                <a:ea typeface="DM Sans"/>
                <a:cs typeface="DM Sans"/>
                <a:sym typeface="DM Sans"/>
              </a:rPr>
              <a:t>Fuente: </a:t>
            </a:r>
            <a:r>
              <a:rPr lang="es" sz="1100" b="0" i="0" u="none" strike="noStrike" cap="none">
                <a:solidFill>
                  <a:schemeClr val="hlink"/>
                </a:solidFill>
                <a:uFill>
                  <a:noFill/>
                </a:uFill>
                <a:latin typeface="DM Sans"/>
                <a:ea typeface="DM Sans"/>
                <a:cs typeface="DM Sans"/>
                <a:sym typeface="DM Sans"/>
                <a:hlinkClick r:id="rId3"/>
              </a:rPr>
              <a:t>ElLibroDePython</a:t>
            </a:r>
            <a:endParaRPr sz="1100" b="0" i="0" u="none" strike="noStrike" cap="none">
              <a:solidFill>
                <a:schemeClr val="accent5"/>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82158D26-564F-2BFD-CBA4-C5764A22A62C}"/>
              </a:ext>
            </a:extLst>
          </p:cNvPr>
          <p:cNvSpPr/>
          <p:nvPr/>
        </p:nvSpPr>
        <p:spPr>
          <a:xfrm>
            <a:off x="0" y="4408968"/>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42"/>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Ejemplo</a:t>
            </a:r>
            <a:endParaRPr sz="4000" b="1" i="0" u="none" strike="noStrike" cap="none">
              <a:solidFill>
                <a:schemeClr val="dk1"/>
              </a:solidFill>
              <a:latin typeface="DM Sans"/>
              <a:ea typeface="DM Sans"/>
              <a:cs typeface="DM Sans"/>
              <a:sym typeface="DM Sans"/>
            </a:endParaRPr>
          </a:p>
        </p:txBody>
      </p:sp>
      <p:sp>
        <p:nvSpPr>
          <p:cNvPr id="316" name="Google Shape;316;p42"/>
          <p:cNvSpPr txBox="1"/>
          <p:nvPr/>
        </p:nvSpPr>
        <p:spPr>
          <a:xfrm>
            <a:off x="473350" y="1959900"/>
            <a:ext cx="3834600" cy="1223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Por un lado tenemos dos clases Clase1 y Clase2, y por otro tenemos la </a:t>
            </a:r>
            <a:r>
              <a:rPr lang="es" sz="1350" b="1" i="0" u="none" strike="noStrike" cap="none">
                <a:solidFill>
                  <a:srgbClr val="000000"/>
                </a:solidFill>
                <a:latin typeface="DM Sans"/>
                <a:ea typeface="DM Sans"/>
                <a:cs typeface="DM Sans"/>
                <a:sym typeface="DM Sans"/>
              </a:rPr>
              <a:t>Clase3 que hereda de las dos anteriores</a:t>
            </a:r>
            <a:r>
              <a:rPr lang="es" sz="1350" b="0" i="0" u="none" strike="noStrike" cap="none">
                <a:solidFill>
                  <a:srgbClr val="000000"/>
                </a:solidFill>
                <a:latin typeface="DM Sans"/>
                <a:ea typeface="DM Sans"/>
                <a:cs typeface="DM Sans"/>
                <a:sym typeface="DM Sans"/>
              </a:rPr>
              <a:t>. Por lo tanto, heredará todos los métodos y atributos de ambas.</a:t>
            </a:r>
            <a:endParaRPr sz="1350" b="0" i="0" u="none" strike="noStrike" cap="none">
              <a:solidFill>
                <a:srgbClr val="000000"/>
              </a:solidFill>
              <a:latin typeface="DM Sans"/>
              <a:ea typeface="DM Sans"/>
              <a:cs typeface="DM Sans"/>
              <a:sym typeface="DM Sans"/>
            </a:endParaRPr>
          </a:p>
        </p:txBody>
      </p:sp>
      <p:sp>
        <p:nvSpPr>
          <p:cNvPr id="317" name="Google Shape;317;p42"/>
          <p:cNvSpPr txBox="1"/>
          <p:nvPr/>
        </p:nvSpPr>
        <p:spPr>
          <a:xfrm>
            <a:off x="476250" y="4591050"/>
            <a:ext cx="300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chemeClr val="dk2"/>
                </a:solidFill>
                <a:latin typeface="DM Sans"/>
                <a:ea typeface="DM Sans"/>
                <a:cs typeface="DM Sans"/>
                <a:sym typeface="DM Sans"/>
              </a:rPr>
              <a:t>Fuente: </a:t>
            </a:r>
            <a:r>
              <a:rPr lang="es" sz="1100" b="0" i="0" u="none" strike="noStrike" cap="none">
                <a:solidFill>
                  <a:schemeClr val="hlink"/>
                </a:solidFill>
                <a:uFill>
                  <a:noFill/>
                </a:uFill>
                <a:latin typeface="DM Sans"/>
                <a:ea typeface="DM Sans"/>
                <a:cs typeface="DM Sans"/>
                <a:sym typeface="DM Sans"/>
                <a:hlinkClick r:id="rId3"/>
              </a:rPr>
              <a:t>ElLibroDePython</a:t>
            </a:r>
            <a:endParaRPr sz="1100" b="0" i="0" u="none" strike="noStrike" cap="none">
              <a:solidFill>
                <a:schemeClr val="accent5"/>
              </a:solidFill>
              <a:latin typeface="DM Sans"/>
              <a:ea typeface="DM Sans"/>
              <a:cs typeface="DM Sans"/>
              <a:sym typeface="DM Sans"/>
            </a:endParaRPr>
          </a:p>
        </p:txBody>
      </p:sp>
      <p:grpSp>
        <p:nvGrpSpPr>
          <p:cNvPr id="318" name="Google Shape;318;p42"/>
          <p:cNvGrpSpPr/>
          <p:nvPr/>
        </p:nvGrpSpPr>
        <p:grpSpPr>
          <a:xfrm>
            <a:off x="7928851" y="468323"/>
            <a:ext cx="738900" cy="738900"/>
            <a:chOff x="473351" y="619523"/>
            <a:chExt cx="738900" cy="738900"/>
          </a:xfrm>
        </p:grpSpPr>
        <p:sp>
          <p:nvSpPr>
            <p:cNvPr id="319" name="Google Shape;319;p42"/>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20" name="Google Shape;320;p42" title="ícono de ejemplo en vivo"/>
            <p:cNvPicPr preferRelativeResize="0"/>
            <p:nvPr/>
          </p:nvPicPr>
          <p:blipFill rotWithShape="1">
            <a:blip r:embed="rId4">
              <a:alphaModFix/>
            </a:blip>
            <a:srcRect/>
            <a:stretch/>
          </p:blipFill>
          <p:spPr>
            <a:xfrm>
              <a:off x="616475" y="762650"/>
              <a:ext cx="452650" cy="452650"/>
            </a:xfrm>
            <a:prstGeom prst="rect">
              <a:avLst/>
            </a:prstGeom>
            <a:noFill/>
            <a:ln>
              <a:noFill/>
            </a:ln>
          </p:spPr>
        </p:pic>
      </p:grpSp>
      <p:pic>
        <p:nvPicPr>
          <p:cNvPr id="321" name="Google Shape;321;p42"/>
          <p:cNvPicPr preferRelativeResize="0"/>
          <p:nvPr/>
        </p:nvPicPr>
        <p:blipFill rotWithShape="1">
          <a:blip r:embed="rId5">
            <a:alphaModFix/>
          </a:blip>
          <a:srcRect l="4097" t="2428" r="9269" b="59631"/>
          <a:stretch/>
        </p:blipFill>
        <p:spPr>
          <a:xfrm>
            <a:off x="5537725" y="1947357"/>
            <a:ext cx="2530100" cy="1248768"/>
          </a:xfrm>
          <a:prstGeom prst="rect">
            <a:avLst/>
          </a:prstGeom>
          <a:noFill/>
          <a:ln w="19050" cap="flat" cmpd="sng">
            <a:solidFill>
              <a:srgbClr val="595959"/>
            </a:solidFill>
            <a:prstDash val="solid"/>
            <a:round/>
            <a:headEnd type="none" w="sm" len="sm"/>
            <a:tailEnd type="none" w="sm" len="sm"/>
          </a:ln>
        </p:spPr>
      </p:pic>
      <p:sp>
        <p:nvSpPr>
          <p:cNvPr id="2" name="Rectángulo 1">
            <a:extLst>
              <a:ext uri="{FF2B5EF4-FFF2-40B4-BE49-F238E27FC236}">
                <a16:creationId xmlns:a16="http://schemas.microsoft.com/office/drawing/2014/main" id="{EA681E4D-A6B8-D8E9-B805-9E0714745944}"/>
              </a:ext>
            </a:extLst>
          </p:cNvPr>
          <p:cNvSpPr/>
          <p:nvPr/>
        </p:nvSpPr>
        <p:spPr>
          <a:xfrm>
            <a:off x="0" y="4408968"/>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43"/>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Ejemplo</a:t>
            </a:r>
            <a:endParaRPr sz="4000" b="1" i="0" u="none" strike="noStrike" cap="none">
              <a:solidFill>
                <a:schemeClr val="dk1"/>
              </a:solidFill>
              <a:latin typeface="DM Sans"/>
              <a:ea typeface="DM Sans"/>
              <a:cs typeface="DM Sans"/>
              <a:sym typeface="DM Sans"/>
            </a:endParaRPr>
          </a:p>
        </p:txBody>
      </p:sp>
      <p:sp>
        <p:nvSpPr>
          <p:cNvPr id="327" name="Google Shape;327;p43"/>
          <p:cNvSpPr txBox="1"/>
          <p:nvPr/>
        </p:nvSpPr>
        <p:spPr>
          <a:xfrm>
            <a:off x="4249775" y="2167650"/>
            <a:ext cx="3834600" cy="808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Es posible también que una clase herede de otra clase y a su vez otra clase herede de la anterior.</a:t>
            </a:r>
            <a:endParaRPr sz="1350" b="0" i="0" u="none" strike="noStrike" cap="none">
              <a:solidFill>
                <a:srgbClr val="000000"/>
              </a:solidFill>
              <a:latin typeface="DM Sans"/>
              <a:ea typeface="DM Sans"/>
              <a:cs typeface="DM Sans"/>
              <a:sym typeface="DM Sans"/>
            </a:endParaRPr>
          </a:p>
        </p:txBody>
      </p:sp>
      <p:sp>
        <p:nvSpPr>
          <p:cNvPr id="328" name="Google Shape;328;p43"/>
          <p:cNvSpPr txBox="1"/>
          <p:nvPr/>
        </p:nvSpPr>
        <p:spPr>
          <a:xfrm>
            <a:off x="476250" y="4591050"/>
            <a:ext cx="300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chemeClr val="dk2"/>
                </a:solidFill>
                <a:latin typeface="DM Sans"/>
                <a:ea typeface="DM Sans"/>
                <a:cs typeface="DM Sans"/>
                <a:sym typeface="DM Sans"/>
              </a:rPr>
              <a:t>Fuente: </a:t>
            </a:r>
            <a:r>
              <a:rPr lang="es" sz="1100" b="0" i="0" u="none" strike="noStrike" cap="none">
                <a:solidFill>
                  <a:schemeClr val="hlink"/>
                </a:solidFill>
                <a:uFill>
                  <a:noFill/>
                </a:uFill>
                <a:latin typeface="DM Sans"/>
                <a:ea typeface="DM Sans"/>
                <a:cs typeface="DM Sans"/>
                <a:sym typeface="DM Sans"/>
                <a:hlinkClick r:id="rId3"/>
              </a:rPr>
              <a:t>ElLibroDePython</a:t>
            </a:r>
            <a:endParaRPr sz="1100" b="0" i="0" u="none" strike="noStrike" cap="none">
              <a:solidFill>
                <a:schemeClr val="accent5"/>
              </a:solidFill>
              <a:latin typeface="DM Sans"/>
              <a:ea typeface="DM Sans"/>
              <a:cs typeface="DM Sans"/>
              <a:sym typeface="DM Sans"/>
            </a:endParaRPr>
          </a:p>
        </p:txBody>
      </p:sp>
      <p:grpSp>
        <p:nvGrpSpPr>
          <p:cNvPr id="329" name="Google Shape;329;p43"/>
          <p:cNvGrpSpPr/>
          <p:nvPr/>
        </p:nvGrpSpPr>
        <p:grpSpPr>
          <a:xfrm>
            <a:off x="7928851" y="468323"/>
            <a:ext cx="738900" cy="738900"/>
            <a:chOff x="473351" y="619523"/>
            <a:chExt cx="738900" cy="738900"/>
          </a:xfrm>
        </p:grpSpPr>
        <p:sp>
          <p:nvSpPr>
            <p:cNvPr id="330" name="Google Shape;330;p43"/>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31" name="Google Shape;331;p43" title="ícono de ejemplo en vivo"/>
            <p:cNvPicPr preferRelativeResize="0"/>
            <p:nvPr/>
          </p:nvPicPr>
          <p:blipFill rotWithShape="1">
            <a:blip r:embed="rId4">
              <a:alphaModFix/>
            </a:blip>
            <a:srcRect/>
            <a:stretch/>
          </p:blipFill>
          <p:spPr>
            <a:xfrm>
              <a:off x="616475" y="762650"/>
              <a:ext cx="452650" cy="452650"/>
            </a:xfrm>
            <a:prstGeom prst="rect">
              <a:avLst/>
            </a:prstGeom>
            <a:noFill/>
            <a:ln>
              <a:noFill/>
            </a:ln>
          </p:spPr>
        </p:pic>
      </p:grpSp>
      <p:pic>
        <p:nvPicPr>
          <p:cNvPr id="332" name="Google Shape;332;p43"/>
          <p:cNvPicPr preferRelativeResize="0"/>
          <p:nvPr/>
        </p:nvPicPr>
        <p:blipFill rotWithShape="1">
          <a:blip r:embed="rId5">
            <a:alphaModFix/>
          </a:blip>
          <a:srcRect r="57458"/>
          <a:stretch/>
        </p:blipFill>
        <p:spPr>
          <a:xfrm>
            <a:off x="844075" y="1719700"/>
            <a:ext cx="2632185" cy="1704100"/>
          </a:xfrm>
          <a:prstGeom prst="rect">
            <a:avLst/>
          </a:prstGeom>
          <a:noFill/>
          <a:ln>
            <a:noFill/>
          </a:ln>
        </p:spPr>
      </p:pic>
      <p:sp>
        <p:nvSpPr>
          <p:cNvPr id="2" name="Rectángulo 1">
            <a:extLst>
              <a:ext uri="{FF2B5EF4-FFF2-40B4-BE49-F238E27FC236}">
                <a16:creationId xmlns:a16="http://schemas.microsoft.com/office/drawing/2014/main" id="{43530B79-C11B-78D6-D639-432C5F2665D4}"/>
              </a:ext>
            </a:extLst>
          </p:cNvPr>
          <p:cNvSpPr/>
          <p:nvPr/>
        </p:nvSpPr>
        <p:spPr>
          <a:xfrm>
            <a:off x="0" y="4408968"/>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grpSp>
        <p:nvGrpSpPr>
          <p:cNvPr id="337" name="Google Shape;337;p44"/>
          <p:cNvGrpSpPr/>
          <p:nvPr/>
        </p:nvGrpSpPr>
        <p:grpSpPr>
          <a:xfrm>
            <a:off x="457338" y="468286"/>
            <a:ext cx="431100" cy="431100"/>
            <a:chOff x="4616400" y="1950761"/>
            <a:chExt cx="431100" cy="431100"/>
          </a:xfrm>
        </p:grpSpPr>
        <p:sp>
          <p:nvSpPr>
            <p:cNvPr id="338" name="Google Shape;338;p44"/>
            <p:cNvSpPr/>
            <p:nvPr/>
          </p:nvSpPr>
          <p:spPr>
            <a:xfrm>
              <a:off x="4616400" y="1950761"/>
              <a:ext cx="431100" cy="4311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39" name="Google Shape;339;p44" title="ícono para recordar"/>
            <p:cNvPicPr preferRelativeResize="0"/>
            <p:nvPr/>
          </p:nvPicPr>
          <p:blipFill rotWithShape="1">
            <a:blip r:embed="rId3">
              <a:alphaModFix/>
            </a:blip>
            <a:srcRect/>
            <a:stretch/>
          </p:blipFill>
          <p:spPr>
            <a:xfrm>
              <a:off x="4699911" y="2034249"/>
              <a:ext cx="264076" cy="264076"/>
            </a:xfrm>
            <a:prstGeom prst="rect">
              <a:avLst/>
            </a:prstGeom>
            <a:noFill/>
            <a:ln>
              <a:noFill/>
            </a:ln>
          </p:spPr>
        </p:pic>
      </p:grpSp>
      <p:sp>
        <p:nvSpPr>
          <p:cNvPr id="340" name="Google Shape;340;p44"/>
          <p:cNvSpPr txBox="1"/>
          <p:nvPr/>
        </p:nvSpPr>
        <p:spPr>
          <a:xfrm>
            <a:off x="457350" y="1158450"/>
            <a:ext cx="7169400" cy="343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2500" b="0" i="0" u="none" strike="noStrike" cap="none">
                <a:solidFill>
                  <a:schemeClr val="lt1"/>
                </a:solidFill>
                <a:latin typeface="DM Sans"/>
                <a:ea typeface="DM Sans"/>
                <a:cs typeface="DM Sans"/>
                <a:sym typeface="DM Sans"/>
              </a:rPr>
              <a:t>Hasta ahora sabíamos que las clases hijas heredan los métodos de las clases padre, pero también pueden reimplementarlos de manera distinta. Este punto nos plantea el siguiente interrogante:  </a:t>
            </a:r>
            <a:endParaRPr sz="2500" b="0" i="0" u="none" strike="noStrike" cap="none">
              <a:solidFill>
                <a:schemeClr val="lt1"/>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r>
              <a:rPr lang="es" sz="2500" b="0" i="0" u="none" strike="noStrike" cap="none">
                <a:solidFill>
                  <a:schemeClr val="accent6"/>
                </a:solidFill>
                <a:latin typeface="DM Sans"/>
                <a:ea typeface="DM Sans"/>
                <a:cs typeface="DM Sans"/>
                <a:sym typeface="DM Sans"/>
              </a:rPr>
              <a:t>Si llamo a un método que todas las clases tienen en común ¿A cuál se llama?</a:t>
            </a:r>
            <a:endParaRPr sz="2500" b="0" i="0" u="none" strike="noStrike" cap="none">
              <a:solidFill>
                <a:schemeClr val="accent6"/>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endParaRPr sz="1100" b="0" i="0" u="none" strike="noStrike" cap="none">
              <a:solidFill>
                <a:schemeClr val="accent6"/>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r>
              <a:rPr lang="es" sz="2500" b="0" i="0" u="none" strike="noStrike" cap="none">
                <a:solidFill>
                  <a:schemeClr val="lt1"/>
                </a:solidFill>
                <a:latin typeface="DM Sans"/>
                <a:ea typeface="DM Sans"/>
                <a:cs typeface="DM Sans"/>
                <a:sym typeface="DM Sans"/>
              </a:rPr>
              <a:t>Pues bien, existe una forma de saberlo. 👉</a:t>
            </a:r>
            <a:endParaRPr sz="2500" b="0" i="0" u="none" strike="noStrike" cap="none">
              <a:solidFill>
                <a:schemeClr val="lt1"/>
              </a:solidFill>
              <a:latin typeface="DM Sans"/>
              <a:ea typeface="DM Sans"/>
              <a:cs typeface="DM Sans"/>
              <a:sym typeface="DM Sans"/>
            </a:endParaRPr>
          </a:p>
        </p:txBody>
      </p:sp>
      <p:sp>
        <p:nvSpPr>
          <p:cNvPr id="341" name="Google Shape;341;p44"/>
          <p:cNvSpPr txBox="1"/>
          <p:nvPr/>
        </p:nvSpPr>
        <p:spPr>
          <a:xfrm>
            <a:off x="930550" y="468275"/>
            <a:ext cx="29175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 sz="1600" b="0" i="0" u="none" strike="noStrike" cap="none">
                <a:solidFill>
                  <a:schemeClr val="lt1"/>
                </a:solidFill>
                <a:latin typeface="DM Sans"/>
                <a:ea typeface="DM Sans"/>
                <a:cs typeface="DM Sans"/>
                <a:sym typeface="DM Sans"/>
              </a:rPr>
              <a:t>PARA RECORDAR</a:t>
            </a:r>
            <a:endParaRPr sz="1400" b="0" i="0" u="none" strike="noStrike" cap="none">
              <a:solidFill>
                <a:schemeClr val="lt1"/>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48A2547B-694D-0BB6-0330-31B2A1B8314F}"/>
              </a:ext>
            </a:extLst>
          </p:cNvPr>
          <p:cNvSpPr/>
          <p:nvPr/>
        </p:nvSpPr>
        <p:spPr>
          <a:xfrm>
            <a:off x="0" y="4675214"/>
            <a:ext cx="9144000" cy="49018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45"/>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chemeClr val="dk1"/>
              </a:buClr>
              <a:buSzPts val="1100"/>
              <a:buFont typeface="Arial"/>
              <a:buNone/>
            </a:pPr>
            <a:r>
              <a:rPr lang="es" sz="4000" b="1" i="0" u="none" strike="noStrike" cap="none">
                <a:solidFill>
                  <a:schemeClr val="dk1"/>
                </a:solidFill>
                <a:latin typeface="DM Sans"/>
                <a:ea typeface="DM Sans"/>
                <a:cs typeface="DM Sans"/>
                <a:sym typeface="DM Sans"/>
              </a:rPr>
              <a:t>Method Order Resolution</a:t>
            </a:r>
            <a:endParaRPr sz="4000" b="1" i="0" u="none" strike="noStrike" cap="none">
              <a:solidFill>
                <a:schemeClr val="dk1"/>
              </a:solidFill>
              <a:latin typeface="DM Sans"/>
              <a:ea typeface="DM Sans"/>
              <a:cs typeface="DM Sans"/>
              <a:sym typeface="DM Sans"/>
            </a:endParaRPr>
          </a:p>
        </p:txBody>
      </p:sp>
      <p:sp>
        <p:nvSpPr>
          <p:cNvPr id="347" name="Google Shape;347;p45"/>
          <p:cNvSpPr txBox="1"/>
          <p:nvPr/>
        </p:nvSpPr>
        <p:spPr>
          <a:xfrm>
            <a:off x="473350" y="2063850"/>
            <a:ext cx="3834600" cy="1015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 sz="1350" b="0" i="0" u="none" strike="noStrike" cap="none">
                <a:solidFill>
                  <a:srgbClr val="000000"/>
                </a:solidFill>
                <a:latin typeface="DM Sans"/>
                <a:ea typeface="DM Sans"/>
                <a:cs typeface="DM Sans"/>
                <a:sym typeface="DM Sans"/>
              </a:rPr>
              <a:t>Sabremos a qué método se llama, consultando al </a:t>
            </a:r>
            <a:r>
              <a:rPr lang="es" sz="1350" b="0" i="0" u="none" strike="noStrike" cap="none">
                <a:solidFill>
                  <a:srgbClr val="000000"/>
                </a:solidFill>
                <a:highlight>
                  <a:schemeClr val="accent6"/>
                </a:highlight>
                <a:latin typeface="DM Sans"/>
                <a:ea typeface="DM Sans"/>
                <a:cs typeface="DM Sans"/>
                <a:sym typeface="DM Sans"/>
              </a:rPr>
              <a:t>MRO. </a:t>
            </a:r>
            <a:r>
              <a:rPr lang="es" sz="1350" b="1" i="0" u="none" strike="noStrike" cap="none">
                <a:solidFill>
                  <a:srgbClr val="000000"/>
                </a:solidFill>
                <a:highlight>
                  <a:schemeClr val="accent6"/>
                </a:highlight>
                <a:latin typeface="DM Sans"/>
                <a:ea typeface="DM Sans"/>
                <a:cs typeface="DM Sans"/>
                <a:sym typeface="DM Sans"/>
              </a:rPr>
              <a:t>Esta función nos devuelve una tupla con el orden de búsqueda de los métodos. </a:t>
            </a:r>
            <a:endParaRPr sz="1350" b="1" i="0" u="none" strike="noStrike" cap="none">
              <a:solidFill>
                <a:srgbClr val="000000"/>
              </a:solidFill>
              <a:highlight>
                <a:schemeClr val="accent6"/>
              </a:highlight>
              <a:latin typeface="DM Sans"/>
              <a:ea typeface="DM Sans"/>
              <a:cs typeface="DM Sans"/>
              <a:sym typeface="DM Sans"/>
            </a:endParaRPr>
          </a:p>
        </p:txBody>
      </p:sp>
      <p:sp>
        <p:nvSpPr>
          <p:cNvPr id="348" name="Google Shape;348;p45"/>
          <p:cNvSpPr txBox="1"/>
          <p:nvPr/>
        </p:nvSpPr>
        <p:spPr>
          <a:xfrm>
            <a:off x="4527575" y="2063850"/>
            <a:ext cx="3834600" cy="808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 sz="1350" b="0" i="0" u="none" strike="noStrike" cap="none">
                <a:solidFill>
                  <a:srgbClr val="000000"/>
                </a:solidFill>
                <a:latin typeface="DM Sans"/>
                <a:ea typeface="DM Sans"/>
                <a:cs typeface="DM Sans"/>
                <a:sym typeface="DM Sans"/>
              </a:rPr>
              <a:t>Como era de esperar se empieza en la propia clase y se va subiendo hasta la clase padre, de izquierda a derecha.</a:t>
            </a:r>
            <a:endParaRPr sz="1350" b="0" i="0" u="none" strike="noStrike" cap="none">
              <a:solidFill>
                <a:srgbClr val="000000"/>
              </a:solidFill>
              <a:latin typeface="DM Sans"/>
              <a:ea typeface="DM Sans"/>
              <a:cs typeface="DM Sans"/>
              <a:sym typeface="DM Sans"/>
            </a:endParaRPr>
          </a:p>
        </p:txBody>
      </p:sp>
      <p:sp>
        <p:nvSpPr>
          <p:cNvPr id="349" name="Google Shape;349;p45"/>
          <p:cNvSpPr txBox="1"/>
          <p:nvPr/>
        </p:nvSpPr>
        <p:spPr>
          <a:xfrm>
            <a:off x="476250" y="4591050"/>
            <a:ext cx="300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chemeClr val="dk2"/>
                </a:solidFill>
                <a:latin typeface="DM Sans"/>
                <a:ea typeface="DM Sans"/>
                <a:cs typeface="DM Sans"/>
                <a:sym typeface="DM Sans"/>
              </a:rPr>
              <a:t>Fuente: </a:t>
            </a:r>
            <a:r>
              <a:rPr lang="es" sz="1100" b="0" i="0" u="none" strike="noStrike" cap="none">
                <a:solidFill>
                  <a:schemeClr val="hlink"/>
                </a:solidFill>
                <a:uFill>
                  <a:noFill/>
                </a:uFill>
                <a:latin typeface="DM Sans"/>
                <a:ea typeface="DM Sans"/>
                <a:cs typeface="DM Sans"/>
                <a:sym typeface="DM Sans"/>
                <a:hlinkClick r:id="rId3"/>
              </a:rPr>
              <a:t>ElLibroDePython</a:t>
            </a:r>
            <a:endParaRPr sz="1100" b="0" i="0" u="none" strike="noStrike" cap="none">
              <a:solidFill>
                <a:schemeClr val="accent5"/>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FC782C03-F1F5-6CA1-0465-D515D463AFE6}"/>
              </a:ext>
            </a:extLst>
          </p:cNvPr>
          <p:cNvSpPr/>
          <p:nvPr/>
        </p:nvSpPr>
        <p:spPr>
          <a:xfrm>
            <a:off x="0" y="4408968"/>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46"/>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chemeClr val="dk1"/>
              </a:buClr>
              <a:buSzPts val="1100"/>
              <a:buFont typeface="Arial"/>
              <a:buNone/>
            </a:pPr>
            <a:r>
              <a:rPr lang="es" sz="4000" b="1" i="0" u="none" strike="noStrike" cap="none">
                <a:solidFill>
                  <a:schemeClr val="dk1"/>
                </a:solidFill>
                <a:latin typeface="DM Sans"/>
                <a:ea typeface="DM Sans"/>
                <a:cs typeface="DM Sans"/>
                <a:sym typeface="DM Sans"/>
              </a:rPr>
              <a:t>Method Order Resolution</a:t>
            </a:r>
            <a:endParaRPr sz="4000" b="1" i="0" u="none" strike="noStrike" cap="none">
              <a:solidFill>
                <a:schemeClr val="dk1"/>
              </a:solidFill>
              <a:latin typeface="DM Sans"/>
              <a:ea typeface="DM Sans"/>
              <a:cs typeface="DM Sans"/>
              <a:sym typeface="DM Sans"/>
            </a:endParaRPr>
          </a:p>
        </p:txBody>
      </p:sp>
      <p:sp>
        <p:nvSpPr>
          <p:cNvPr id="355" name="Google Shape;355;p46"/>
          <p:cNvSpPr txBox="1"/>
          <p:nvPr/>
        </p:nvSpPr>
        <p:spPr>
          <a:xfrm>
            <a:off x="501450" y="1586525"/>
            <a:ext cx="8141100" cy="808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Una curiosidad es que al final del todo vemos la clase </a:t>
            </a:r>
            <a:r>
              <a:rPr lang="es" sz="1350" b="0" i="0" u="none" strike="noStrike" cap="none">
                <a:solidFill>
                  <a:srgbClr val="000000"/>
                </a:solidFill>
                <a:highlight>
                  <a:schemeClr val="accent6"/>
                </a:highlight>
                <a:latin typeface="DM Sans"/>
                <a:ea typeface="DM Sans"/>
                <a:cs typeface="DM Sans"/>
                <a:sym typeface="DM Sans"/>
              </a:rPr>
              <a:t>object.</a:t>
            </a:r>
            <a:r>
              <a:rPr lang="es" sz="1350" b="0" i="0" u="none" strike="noStrike" cap="none">
                <a:solidFill>
                  <a:srgbClr val="000000"/>
                </a:solidFill>
                <a:latin typeface="DM Sans"/>
                <a:ea typeface="DM Sans"/>
                <a:cs typeface="DM Sans"/>
                <a:sym typeface="DM Sans"/>
              </a:rPr>
              <a:t> Aunque pueda parecer raro, es correcto ya que en realidad todas las clases en Python heredan de una clase genérica object, aunque no lo especifiquemos explícitamente.</a:t>
            </a:r>
            <a:endParaRPr sz="1350" b="0" i="0" u="none" strike="noStrike" cap="none">
              <a:solidFill>
                <a:srgbClr val="000000"/>
              </a:solidFill>
              <a:latin typeface="DM Sans"/>
              <a:ea typeface="DM Sans"/>
              <a:cs typeface="DM Sans"/>
              <a:sym typeface="DM Sans"/>
            </a:endParaRPr>
          </a:p>
        </p:txBody>
      </p:sp>
      <p:grpSp>
        <p:nvGrpSpPr>
          <p:cNvPr id="356" name="Google Shape;356;p46"/>
          <p:cNvGrpSpPr/>
          <p:nvPr/>
        </p:nvGrpSpPr>
        <p:grpSpPr>
          <a:xfrm>
            <a:off x="7928851" y="468323"/>
            <a:ext cx="738900" cy="738900"/>
            <a:chOff x="473351" y="619523"/>
            <a:chExt cx="738900" cy="738900"/>
          </a:xfrm>
        </p:grpSpPr>
        <p:sp>
          <p:nvSpPr>
            <p:cNvPr id="357" name="Google Shape;357;p46"/>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58" name="Google Shape;358;p46" title="ícono de ejemplo en vivo"/>
            <p:cNvPicPr preferRelativeResize="0"/>
            <p:nvPr/>
          </p:nvPicPr>
          <p:blipFill rotWithShape="1">
            <a:blip r:embed="rId3">
              <a:alphaModFix/>
            </a:blip>
            <a:srcRect/>
            <a:stretch/>
          </p:blipFill>
          <p:spPr>
            <a:xfrm>
              <a:off x="616475" y="762650"/>
              <a:ext cx="452650" cy="452650"/>
            </a:xfrm>
            <a:prstGeom prst="rect">
              <a:avLst/>
            </a:prstGeom>
            <a:noFill/>
            <a:ln>
              <a:noFill/>
            </a:ln>
          </p:spPr>
        </p:pic>
      </p:grpSp>
      <p:pic>
        <p:nvPicPr>
          <p:cNvPr id="359" name="Google Shape;359;p46"/>
          <p:cNvPicPr preferRelativeResize="0"/>
          <p:nvPr/>
        </p:nvPicPr>
        <p:blipFill rotWithShape="1">
          <a:blip r:embed="rId4">
            <a:alphaModFix/>
          </a:blip>
          <a:srcRect/>
          <a:stretch/>
        </p:blipFill>
        <p:spPr>
          <a:xfrm>
            <a:off x="1103125" y="2774024"/>
            <a:ext cx="6881550" cy="1561900"/>
          </a:xfrm>
          <a:prstGeom prst="rect">
            <a:avLst/>
          </a:prstGeom>
          <a:noFill/>
          <a:ln>
            <a:noFill/>
          </a:ln>
        </p:spPr>
      </p:pic>
      <p:sp>
        <p:nvSpPr>
          <p:cNvPr id="360" name="Google Shape;360;p46"/>
          <p:cNvSpPr txBox="1"/>
          <p:nvPr/>
        </p:nvSpPr>
        <p:spPr>
          <a:xfrm>
            <a:off x="476250" y="4591050"/>
            <a:ext cx="300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chemeClr val="dk2"/>
                </a:solidFill>
                <a:latin typeface="DM Sans"/>
                <a:ea typeface="DM Sans"/>
                <a:cs typeface="DM Sans"/>
                <a:sym typeface="DM Sans"/>
              </a:rPr>
              <a:t>Fuente: </a:t>
            </a:r>
            <a:r>
              <a:rPr lang="es" sz="1100" b="0" i="0" u="none" strike="noStrike" cap="none">
                <a:solidFill>
                  <a:schemeClr val="hlink"/>
                </a:solidFill>
                <a:uFill>
                  <a:noFill/>
                </a:uFill>
                <a:latin typeface="DM Sans"/>
                <a:ea typeface="DM Sans"/>
                <a:cs typeface="DM Sans"/>
                <a:sym typeface="DM Sans"/>
                <a:hlinkClick r:id="rId5"/>
              </a:rPr>
              <a:t>ElLibroDePython</a:t>
            </a:r>
            <a:endParaRPr sz="1100" b="0" i="0" u="none" strike="noStrike" cap="none">
              <a:solidFill>
                <a:schemeClr val="accent5"/>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8B5F58CF-A03E-F863-5E50-182EAF09780D}"/>
              </a:ext>
            </a:extLst>
          </p:cNvPr>
          <p:cNvSpPr/>
          <p:nvPr/>
        </p:nvSpPr>
        <p:spPr>
          <a:xfrm>
            <a:off x="0" y="4426503"/>
            <a:ext cx="9144000" cy="7389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47"/>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chemeClr val="dk1"/>
              </a:buClr>
              <a:buSzPts val="1100"/>
              <a:buFont typeface="Arial"/>
              <a:buNone/>
            </a:pPr>
            <a:r>
              <a:rPr lang="es" sz="4000" b="1" i="0" u="none" strike="noStrike" cap="none">
                <a:solidFill>
                  <a:schemeClr val="dk1"/>
                </a:solidFill>
                <a:latin typeface="DM Sans"/>
                <a:ea typeface="DM Sans"/>
                <a:cs typeface="DM Sans"/>
                <a:sym typeface="DM Sans"/>
              </a:rPr>
              <a:t>Method Order Resolution</a:t>
            </a:r>
            <a:endParaRPr sz="4000" b="1" i="0" u="none" strike="noStrike" cap="none">
              <a:solidFill>
                <a:schemeClr val="dk1"/>
              </a:solidFill>
              <a:latin typeface="DM Sans"/>
              <a:ea typeface="DM Sans"/>
              <a:cs typeface="DM Sans"/>
              <a:sym typeface="DM Sans"/>
            </a:endParaRPr>
          </a:p>
        </p:txBody>
      </p:sp>
      <p:sp>
        <p:nvSpPr>
          <p:cNvPr id="366" name="Google Shape;366;p47"/>
          <p:cNvSpPr txBox="1"/>
          <p:nvPr/>
        </p:nvSpPr>
        <p:spPr>
          <a:xfrm>
            <a:off x="501450" y="1586525"/>
            <a:ext cx="8141100" cy="600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También podemos tener una clase heredando de otras tres. Vemos que el MRO depende del orden en el que las clases son pasadas: 1, 3, 2.</a:t>
            </a:r>
            <a:endParaRPr sz="1350" b="0" i="0" u="none" strike="noStrike" cap="none">
              <a:solidFill>
                <a:srgbClr val="000000"/>
              </a:solidFill>
              <a:latin typeface="DM Sans"/>
              <a:ea typeface="DM Sans"/>
              <a:cs typeface="DM Sans"/>
              <a:sym typeface="DM Sans"/>
            </a:endParaRPr>
          </a:p>
        </p:txBody>
      </p:sp>
      <p:grpSp>
        <p:nvGrpSpPr>
          <p:cNvPr id="367" name="Google Shape;367;p47"/>
          <p:cNvGrpSpPr/>
          <p:nvPr/>
        </p:nvGrpSpPr>
        <p:grpSpPr>
          <a:xfrm>
            <a:off x="7928851" y="468323"/>
            <a:ext cx="738900" cy="738900"/>
            <a:chOff x="473351" y="619523"/>
            <a:chExt cx="738900" cy="738900"/>
          </a:xfrm>
        </p:grpSpPr>
        <p:sp>
          <p:nvSpPr>
            <p:cNvPr id="368" name="Google Shape;368;p47"/>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69" name="Google Shape;369;p47" title="ícono de ejemplo en vivo"/>
            <p:cNvPicPr preferRelativeResize="0"/>
            <p:nvPr/>
          </p:nvPicPr>
          <p:blipFill rotWithShape="1">
            <a:blip r:embed="rId3">
              <a:alphaModFix/>
            </a:blip>
            <a:srcRect/>
            <a:stretch/>
          </p:blipFill>
          <p:spPr>
            <a:xfrm>
              <a:off x="616475" y="762650"/>
              <a:ext cx="452650" cy="452650"/>
            </a:xfrm>
            <a:prstGeom prst="rect">
              <a:avLst/>
            </a:prstGeom>
            <a:noFill/>
            <a:ln>
              <a:noFill/>
            </a:ln>
          </p:spPr>
        </p:pic>
      </p:grpSp>
      <p:pic>
        <p:nvPicPr>
          <p:cNvPr id="370" name="Google Shape;370;p47"/>
          <p:cNvPicPr preferRelativeResize="0"/>
          <p:nvPr/>
        </p:nvPicPr>
        <p:blipFill rotWithShape="1">
          <a:blip r:embed="rId4">
            <a:alphaModFix/>
          </a:blip>
          <a:srcRect/>
          <a:stretch/>
        </p:blipFill>
        <p:spPr>
          <a:xfrm>
            <a:off x="825840" y="2378225"/>
            <a:ext cx="7242935" cy="2122025"/>
          </a:xfrm>
          <a:prstGeom prst="rect">
            <a:avLst/>
          </a:prstGeom>
          <a:noFill/>
          <a:ln>
            <a:noFill/>
          </a:ln>
        </p:spPr>
      </p:pic>
      <p:sp>
        <p:nvSpPr>
          <p:cNvPr id="371" name="Google Shape;371;p47"/>
          <p:cNvSpPr txBox="1"/>
          <p:nvPr/>
        </p:nvSpPr>
        <p:spPr>
          <a:xfrm>
            <a:off x="476250" y="4591050"/>
            <a:ext cx="300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chemeClr val="dk2"/>
                </a:solidFill>
                <a:latin typeface="DM Sans"/>
                <a:ea typeface="DM Sans"/>
                <a:cs typeface="DM Sans"/>
                <a:sym typeface="DM Sans"/>
              </a:rPr>
              <a:t>Fuente: </a:t>
            </a:r>
            <a:r>
              <a:rPr lang="es" sz="1100" b="0" i="0" u="none" strike="noStrike" cap="none">
                <a:solidFill>
                  <a:schemeClr val="hlink"/>
                </a:solidFill>
                <a:uFill>
                  <a:noFill/>
                </a:uFill>
                <a:latin typeface="DM Sans"/>
                <a:ea typeface="DM Sans"/>
                <a:cs typeface="DM Sans"/>
                <a:sym typeface="DM Sans"/>
                <a:hlinkClick r:id="rId5"/>
              </a:rPr>
              <a:t>ElLibroDePython</a:t>
            </a:r>
            <a:endParaRPr sz="1100" b="0" i="0" u="none" strike="noStrike" cap="none">
              <a:solidFill>
                <a:schemeClr val="accent5"/>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7405B7B4-6A79-D209-463A-B08CF2C10FB5}"/>
              </a:ext>
            </a:extLst>
          </p:cNvPr>
          <p:cNvSpPr/>
          <p:nvPr/>
        </p:nvSpPr>
        <p:spPr>
          <a:xfrm>
            <a:off x="0" y="4565103"/>
            <a:ext cx="9144000" cy="6003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48"/>
          <p:cNvSpPr txBox="1"/>
          <p:nvPr/>
        </p:nvSpPr>
        <p:spPr>
          <a:xfrm>
            <a:off x="1404863" y="2202300"/>
            <a:ext cx="6221400" cy="7389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4000"/>
              <a:buFont typeface="Arial"/>
              <a:buNone/>
            </a:pPr>
            <a:r>
              <a:rPr lang="es" sz="4000" b="1" i="0" u="none" strike="noStrike" cap="none">
                <a:solidFill>
                  <a:srgbClr val="83AEFB"/>
                </a:solidFill>
                <a:latin typeface="DM Sans"/>
                <a:ea typeface="DM Sans"/>
                <a:cs typeface="DM Sans"/>
                <a:sym typeface="DM Sans"/>
              </a:rPr>
              <a:t>Polimorfismo</a:t>
            </a:r>
            <a:endParaRPr sz="4000" b="1" i="0" u="none" strike="noStrike" cap="none">
              <a:solidFill>
                <a:srgbClr val="83AEFB"/>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8E3C8886-5F20-766A-52D2-CF38A654FCB7}"/>
              </a:ext>
            </a:extLst>
          </p:cNvPr>
          <p:cNvSpPr/>
          <p:nvPr/>
        </p:nvSpPr>
        <p:spPr>
          <a:xfrm>
            <a:off x="0" y="4408968"/>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49"/>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chemeClr val="dk1"/>
              </a:buClr>
              <a:buSzPts val="1100"/>
              <a:buFont typeface="Arial"/>
              <a:buNone/>
            </a:pPr>
            <a:r>
              <a:rPr lang="es" sz="4000" b="1" i="0" u="none" strike="noStrike" cap="none">
                <a:solidFill>
                  <a:schemeClr val="dk1"/>
                </a:solidFill>
                <a:latin typeface="DM Sans"/>
                <a:ea typeface="DM Sans"/>
                <a:cs typeface="DM Sans"/>
                <a:sym typeface="DM Sans"/>
              </a:rPr>
              <a:t>¿De qué se trata?</a:t>
            </a:r>
            <a:endParaRPr sz="4000" b="1" i="0" u="none" strike="noStrike" cap="none">
              <a:solidFill>
                <a:schemeClr val="dk1"/>
              </a:solidFill>
              <a:latin typeface="DM Sans"/>
              <a:ea typeface="DM Sans"/>
              <a:cs typeface="DM Sans"/>
              <a:sym typeface="DM Sans"/>
            </a:endParaRPr>
          </a:p>
        </p:txBody>
      </p:sp>
      <p:sp>
        <p:nvSpPr>
          <p:cNvPr id="382" name="Google Shape;382;p49"/>
          <p:cNvSpPr txBox="1"/>
          <p:nvPr/>
        </p:nvSpPr>
        <p:spPr>
          <a:xfrm>
            <a:off x="473350" y="2063850"/>
            <a:ext cx="3834600" cy="808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 sz="1350" b="0" i="0" u="none" strike="noStrike" cap="none">
                <a:solidFill>
                  <a:srgbClr val="000000"/>
                </a:solidFill>
                <a:latin typeface="DM Sans"/>
                <a:ea typeface="DM Sans"/>
                <a:cs typeface="DM Sans"/>
                <a:sym typeface="DM Sans"/>
              </a:rPr>
              <a:t>El término aplicado a la programación hace referencia a que los objetos pueden tomar diferentes formas. ¿Pero qué significa esto?</a:t>
            </a:r>
            <a:endParaRPr sz="1350" b="1" i="0" u="none" strike="noStrike" cap="none">
              <a:solidFill>
                <a:srgbClr val="000000"/>
              </a:solidFill>
              <a:highlight>
                <a:schemeClr val="accent6"/>
              </a:highlight>
              <a:latin typeface="DM Sans"/>
              <a:ea typeface="DM Sans"/>
              <a:cs typeface="DM Sans"/>
              <a:sym typeface="DM Sans"/>
            </a:endParaRPr>
          </a:p>
        </p:txBody>
      </p:sp>
      <p:sp>
        <p:nvSpPr>
          <p:cNvPr id="383" name="Google Shape;383;p49"/>
          <p:cNvSpPr txBox="1"/>
          <p:nvPr/>
        </p:nvSpPr>
        <p:spPr>
          <a:xfrm>
            <a:off x="4527575" y="2063850"/>
            <a:ext cx="3834600" cy="1223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 sz="1350" b="0" i="0" u="none" strike="noStrike" cap="none">
                <a:solidFill>
                  <a:srgbClr val="000000"/>
                </a:solidFill>
                <a:latin typeface="DM Sans"/>
                <a:ea typeface="DM Sans"/>
                <a:cs typeface="DM Sans"/>
                <a:sym typeface="DM Sans"/>
              </a:rPr>
              <a:t>Significa que, </a:t>
            </a:r>
            <a:r>
              <a:rPr lang="es" sz="1350" b="1" i="0" u="none" strike="noStrike" cap="none">
                <a:solidFill>
                  <a:srgbClr val="000000"/>
                </a:solidFill>
                <a:highlight>
                  <a:schemeClr val="accent6"/>
                </a:highlight>
                <a:latin typeface="DM Sans"/>
                <a:ea typeface="DM Sans"/>
                <a:cs typeface="DM Sans"/>
                <a:sym typeface="DM Sans"/>
              </a:rPr>
              <a:t>objetos de diferentes clases, pueden ser accedidos utilizando el mismo interfaz, mostrando un comportamiento distinto (tomando diferentes formas) según cómo sean accedidos. </a:t>
            </a:r>
            <a:endParaRPr sz="1350" b="1" i="0" u="none" strike="noStrike" cap="none">
              <a:solidFill>
                <a:srgbClr val="000000"/>
              </a:solidFill>
              <a:highlight>
                <a:schemeClr val="accent6"/>
              </a:highlight>
              <a:latin typeface="DM Sans"/>
              <a:ea typeface="DM Sans"/>
              <a:cs typeface="DM Sans"/>
              <a:sym typeface="DM Sans"/>
            </a:endParaRPr>
          </a:p>
        </p:txBody>
      </p:sp>
      <p:sp>
        <p:nvSpPr>
          <p:cNvPr id="384" name="Google Shape;384;p49"/>
          <p:cNvSpPr txBox="1"/>
          <p:nvPr/>
        </p:nvSpPr>
        <p:spPr>
          <a:xfrm>
            <a:off x="476250" y="4591050"/>
            <a:ext cx="300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chemeClr val="dk2"/>
                </a:solidFill>
                <a:latin typeface="DM Sans"/>
                <a:ea typeface="DM Sans"/>
                <a:cs typeface="DM Sans"/>
                <a:sym typeface="DM Sans"/>
              </a:rPr>
              <a:t>Fuente: </a:t>
            </a:r>
            <a:r>
              <a:rPr lang="es" sz="1100" b="0" i="0" u="none" strike="noStrike" cap="none">
                <a:solidFill>
                  <a:schemeClr val="hlink"/>
                </a:solidFill>
                <a:uFill>
                  <a:noFill/>
                </a:uFill>
                <a:latin typeface="DM Sans"/>
                <a:ea typeface="DM Sans"/>
                <a:cs typeface="DM Sans"/>
                <a:sym typeface="DM Sans"/>
                <a:hlinkClick r:id="rId3"/>
              </a:rPr>
              <a:t>ElLibroDePython</a:t>
            </a:r>
            <a:endParaRPr sz="1100" b="0" i="0" u="none" strike="noStrike" cap="none">
              <a:solidFill>
                <a:schemeClr val="accent5"/>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F1D99B03-DB27-766F-94B0-B80323299868}"/>
              </a:ext>
            </a:extLst>
          </p:cNvPr>
          <p:cNvSpPr/>
          <p:nvPr/>
        </p:nvSpPr>
        <p:spPr>
          <a:xfrm>
            <a:off x="0" y="4408968"/>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50"/>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chemeClr val="dk1"/>
              </a:buClr>
              <a:buSzPts val="1100"/>
              <a:buFont typeface="Arial"/>
              <a:buNone/>
            </a:pPr>
            <a:r>
              <a:rPr lang="es" sz="4000" b="1" i="0" u="none" strike="noStrike" cap="none">
                <a:solidFill>
                  <a:schemeClr val="dk1"/>
                </a:solidFill>
                <a:latin typeface="DM Sans"/>
                <a:ea typeface="DM Sans"/>
                <a:cs typeface="DM Sans"/>
                <a:sym typeface="DM Sans"/>
              </a:rPr>
              <a:t>¿Para qué se utiliza?</a:t>
            </a:r>
            <a:endParaRPr sz="4000" b="1" i="0" u="none" strike="noStrike" cap="none">
              <a:solidFill>
                <a:schemeClr val="dk1"/>
              </a:solidFill>
              <a:latin typeface="DM Sans"/>
              <a:ea typeface="DM Sans"/>
              <a:cs typeface="DM Sans"/>
              <a:sym typeface="DM Sans"/>
            </a:endParaRPr>
          </a:p>
        </p:txBody>
      </p:sp>
      <p:sp>
        <p:nvSpPr>
          <p:cNvPr id="390" name="Google Shape;390;p50"/>
          <p:cNvSpPr txBox="1"/>
          <p:nvPr/>
        </p:nvSpPr>
        <p:spPr>
          <a:xfrm>
            <a:off x="473350" y="2063850"/>
            <a:ext cx="3834600" cy="1431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 sz="1350" b="0" i="0" u="none" strike="noStrike" cap="none">
                <a:solidFill>
                  <a:srgbClr val="000000"/>
                </a:solidFill>
                <a:latin typeface="DM Sans"/>
                <a:ea typeface="DM Sans"/>
                <a:cs typeface="DM Sans"/>
                <a:sym typeface="DM Sans"/>
              </a:rPr>
              <a:t>Si la técnica de polimorfismo, siendo una propiedad de la POO (Programación Orientada a Objetos), implica la capacidad de tomar más de una forma, una operación puede presentar diferentes comportamientos en diferentes instancias.</a:t>
            </a:r>
            <a:endParaRPr sz="1350" b="1" i="0" u="none" strike="noStrike" cap="none">
              <a:solidFill>
                <a:srgbClr val="000000"/>
              </a:solidFill>
              <a:highlight>
                <a:schemeClr val="accent6"/>
              </a:highlight>
              <a:latin typeface="DM Sans"/>
              <a:ea typeface="DM Sans"/>
              <a:cs typeface="DM Sans"/>
              <a:sym typeface="DM Sans"/>
            </a:endParaRPr>
          </a:p>
        </p:txBody>
      </p:sp>
      <p:sp>
        <p:nvSpPr>
          <p:cNvPr id="391" name="Google Shape;391;p50"/>
          <p:cNvSpPr txBox="1"/>
          <p:nvPr/>
        </p:nvSpPr>
        <p:spPr>
          <a:xfrm>
            <a:off x="4527575" y="2063850"/>
            <a:ext cx="3834600" cy="1015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1" i="0" u="none" strike="noStrike" cap="none">
                <a:solidFill>
                  <a:srgbClr val="000000"/>
                </a:solidFill>
                <a:highlight>
                  <a:schemeClr val="accent6"/>
                </a:highlight>
                <a:latin typeface="DM Sans"/>
                <a:ea typeface="DM Sans"/>
                <a:cs typeface="DM Sans"/>
                <a:sym typeface="DM Sans"/>
              </a:rPr>
              <a:t> El comportamiento depende de los tipos de datos utilizados en la operación.</a:t>
            </a:r>
            <a:r>
              <a:rPr lang="es" sz="1350" b="0" i="0" u="none" strike="noStrike" cap="none">
                <a:solidFill>
                  <a:srgbClr val="000000"/>
                </a:solidFill>
                <a:latin typeface="DM Sans"/>
                <a:ea typeface="DM Sans"/>
                <a:cs typeface="DM Sans"/>
                <a:sym typeface="DM Sans"/>
              </a:rPr>
              <a:t> El polimorfismo es ampliamente utilizado en la aplicación de la herencia.</a:t>
            </a:r>
            <a:endParaRPr sz="1350" b="0" i="0" u="none" strike="noStrike" cap="none">
              <a:solidFill>
                <a:srgbClr val="000000"/>
              </a:solidFill>
              <a:latin typeface="DM Sans"/>
              <a:ea typeface="DM Sans"/>
              <a:cs typeface="DM Sans"/>
              <a:sym typeface="DM Sans"/>
            </a:endParaRPr>
          </a:p>
        </p:txBody>
      </p:sp>
      <p:sp>
        <p:nvSpPr>
          <p:cNvPr id="392" name="Google Shape;392;p50"/>
          <p:cNvSpPr txBox="1"/>
          <p:nvPr/>
        </p:nvSpPr>
        <p:spPr>
          <a:xfrm>
            <a:off x="476250" y="4591050"/>
            <a:ext cx="300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chemeClr val="dk2"/>
                </a:solidFill>
                <a:latin typeface="DM Sans"/>
                <a:ea typeface="DM Sans"/>
                <a:cs typeface="DM Sans"/>
                <a:sym typeface="DM Sans"/>
              </a:rPr>
              <a:t>Fuente: </a:t>
            </a:r>
            <a:r>
              <a:rPr lang="es" sz="1100" b="0" i="0" u="none" strike="noStrike" cap="none">
                <a:solidFill>
                  <a:schemeClr val="hlink"/>
                </a:solidFill>
                <a:uFill>
                  <a:noFill/>
                </a:uFill>
                <a:latin typeface="DM Sans"/>
                <a:ea typeface="DM Sans"/>
                <a:cs typeface="DM Sans"/>
                <a:sym typeface="DM Sans"/>
                <a:hlinkClick r:id="rId3"/>
              </a:rPr>
              <a:t>ElLibroDePython</a:t>
            </a:r>
            <a:endParaRPr sz="1100" b="0" i="0" u="none" strike="noStrike" cap="none">
              <a:solidFill>
                <a:schemeClr val="accent5"/>
              </a:solidFill>
              <a:latin typeface="DM Sans"/>
              <a:ea typeface="DM Sans"/>
              <a:cs typeface="DM Sans"/>
              <a:sym typeface="DM Sans"/>
            </a:endParaRPr>
          </a:p>
        </p:txBody>
      </p:sp>
      <p:sp>
        <p:nvSpPr>
          <p:cNvPr id="393" name="Google Shape;393;p50"/>
          <p:cNvSpPr txBox="1"/>
          <p:nvPr/>
        </p:nvSpPr>
        <p:spPr>
          <a:xfrm>
            <a:off x="3350350" y="4200875"/>
            <a:ext cx="2387100" cy="392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Veamos cómo funciona 👉</a:t>
            </a:r>
            <a:endParaRPr sz="1350" b="0" i="0" u="none" strike="noStrike" cap="none">
              <a:solidFill>
                <a:srgbClr val="000000"/>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E5F5604C-3504-FED1-8EA2-EF852434E00A}"/>
              </a:ext>
            </a:extLst>
          </p:cNvPr>
          <p:cNvSpPr/>
          <p:nvPr/>
        </p:nvSpPr>
        <p:spPr>
          <a:xfrm>
            <a:off x="0" y="4523975"/>
            <a:ext cx="9144000" cy="64142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51"/>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chemeClr val="dk1"/>
              </a:buClr>
              <a:buSzPts val="1100"/>
              <a:buFont typeface="Arial"/>
              <a:buNone/>
            </a:pPr>
            <a:r>
              <a:rPr lang="es" sz="4000" b="1" i="0" u="none" strike="noStrike" cap="none">
                <a:solidFill>
                  <a:schemeClr val="dk1"/>
                </a:solidFill>
                <a:latin typeface="DM Sans"/>
                <a:ea typeface="DM Sans"/>
                <a:cs typeface="DM Sans"/>
                <a:sym typeface="DM Sans"/>
              </a:rPr>
              <a:t>¿Cómo se utiliza?</a:t>
            </a:r>
            <a:endParaRPr sz="4000" b="1" i="0" u="none" strike="noStrike" cap="none">
              <a:solidFill>
                <a:schemeClr val="dk1"/>
              </a:solidFill>
              <a:latin typeface="DM Sans"/>
              <a:ea typeface="DM Sans"/>
              <a:cs typeface="DM Sans"/>
              <a:sym typeface="DM Sans"/>
            </a:endParaRPr>
          </a:p>
        </p:txBody>
      </p:sp>
      <p:sp>
        <p:nvSpPr>
          <p:cNvPr id="399" name="Google Shape;399;p51"/>
          <p:cNvSpPr txBox="1"/>
          <p:nvPr/>
        </p:nvSpPr>
        <p:spPr>
          <a:xfrm>
            <a:off x="4527575" y="2063850"/>
            <a:ext cx="3834600" cy="1639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Podemos sustituir un método proveniente de la Clase Padre, en la Clase Hija. Se  debe definir un método con el mismo nombre y parámetros, pero debe tomar otra conducta. </a:t>
            </a:r>
            <a:endParaRPr sz="135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endParaRPr sz="1350" b="0" i="0" u="none" strike="noStrike" cap="none">
              <a:solidFill>
                <a:srgbClr val="000000"/>
              </a:solidFill>
              <a:highlight>
                <a:schemeClr val="accent6"/>
              </a:highlight>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highlight>
                  <a:schemeClr val="accent6"/>
                </a:highlight>
                <a:latin typeface="DM Sans"/>
                <a:ea typeface="DM Sans"/>
                <a:cs typeface="DM Sans"/>
                <a:sym typeface="DM Sans"/>
              </a:rPr>
              <a:t>Es básicamente lo que veníamos haciendo sin saber que se llamaba Polimorfismo. 🤯</a:t>
            </a:r>
            <a:endParaRPr sz="1350" b="0" i="0" u="none" strike="noStrike" cap="none">
              <a:solidFill>
                <a:srgbClr val="000000"/>
              </a:solidFill>
              <a:highlight>
                <a:schemeClr val="accent6"/>
              </a:highlight>
              <a:latin typeface="DM Sans"/>
              <a:ea typeface="DM Sans"/>
              <a:cs typeface="DM Sans"/>
              <a:sym typeface="DM Sans"/>
            </a:endParaRPr>
          </a:p>
        </p:txBody>
      </p:sp>
      <p:pic>
        <p:nvPicPr>
          <p:cNvPr id="400" name="Google Shape;400;p51"/>
          <p:cNvPicPr preferRelativeResize="0"/>
          <p:nvPr/>
        </p:nvPicPr>
        <p:blipFill rotWithShape="1">
          <a:blip r:embed="rId3">
            <a:alphaModFix/>
          </a:blip>
          <a:srcRect/>
          <a:stretch/>
        </p:blipFill>
        <p:spPr>
          <a:xfrm>
            <a:off x="473350" y="1358425"/>
            <a:ext cx="3703700" cy="3190776"/>
          </a:xfrm>
          <a:prstGeom prst="rect">
            <a:avLst/>
          </a:prstGeom>
          <a:noFill/>
          <a:ln>
            <a:noFill/>
          </a:ln>
        </p:spPr>
      </p:pic>
      <p:grpSp>
        <p:nvGrpSpPr>
          <p:cNvPr id="401" name="Google Shape;401;p51"/>
          <p:cNvGrpSpPr/>
          <p:nvPr/>
        </p:nvGrpSpPr>
        <p:grpSpPr>
          <a:xfrm>
            <a:off x="7928851" y="468323"/>
            <a:ext cx="738900" cy="738900"/>
            <a:chOff x="473351" y="619523"/>
            <a:chExt cx="738900" cy="738900"/>
          </a:xfrm>
        </p:grpSpPr>
        <p:sp>
          <p:nvSpPr>
            <p:cNvPr id="402" name="Google Shape;402;p51"/>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03" name="Google Shape;403;p51" title="ícono de ejemplo en vivo"/>
            <p:cNvPicPr preferRelativeResize="0"/>
            <p:nvPr/>
          </p:nvPicPr>
          <p:blipFill rotWithShape="1">
            <a:blip r:embed="rId4">
              <a:alphaModFix/>
            </a:blip>
            <a:srcRect/>
            <a:stretch/>
          </p:blipFill>
          <p:spPr>
            <a:xfrm>
              <a:off x="616475" y="762650"/>
              <a:ext cx="452650" cy="452650"/>
            </a:xfrm>
            <a:prstGeom prst="rect">
              <a:avLst/>
            </a:prstGeom>
            <a:noFill/>
            <a:ln>
              <a:noFill/>
            </a:ln>
          </p:spPr>
        </p:pic>
      </p:grpSp>
      <p:sp>
        <p:nvSpPr>
          <p:cNvPr id="2" name="Rectángulo 1">
            <a:extLst>
              <a:ext uri="{FF2B5EF4-FFF2-40B4-BE49-F238E27FC236}">
                <a16:creationId xmlns:a16="http://schemas.microsoft.com/office/drawing/2014/main" id="{61A0AF03-7375-6AF1-1DF8-D7D5834CE99A}"/>
              </a:ext>
            </a:extLst>
          </p:cNvPr>
          <p:cNvSpPr/>
          <p:nvPr/>
        </p:nvSpPr>
        <p:spPr>
          <a:xfrm>
            <a:off x="0" y="4675177"/>
            <a:ext cx="9144000" cy="49022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52"/>
          <p:cNvSpPr txBox="1"/>
          <p:nvPr/>
        </p:nvSpPr>
        <p:spPr>
          <a:xfrm>
            <a:off x="1461300" y="2202300"/>
            <a:ext cx="6221400" cy="7389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Duck typing</a:t>
            </a:r>
            <a:endParaRPr sz="4000" b="1" i="0" u="none" strike="noStrike" cap="none">
              <a:solidFill>
                <a:schemeClr val="dk1"/>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1A7DF623-D272-548E-1BE7-3EBA2EA5B7A8}"/>
              </a:ext>
            </a:extLst>
          </p:cNvPr>
          <p:cNvSpPr/>
          <p:nvPr/>
        </p:nvSpPr>
        <p:spPr>
          <a:xfrm>
            <a:off x="0" y="4408968"/>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53"/>
          <p:cNvSpPr txBox="1"/>
          <p:nvPr/>
        </p:nvSpPr>
        <p:spPr>
          <a:xfrm>
            <a:off x="457725" y="1071050"/>
            <a:ext cx="4730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¿Qué es?</a:t>
            </a:r>
            <a:endParaRPr sz="4000" b="1" i="0" u="none" strike="noStrike" cap="none">
              <a:solidFill>
                <a:schemeClr val="dk1"/>
              </a:solidFill>
              <a:latin typeface="DM Sans"/>
              <a:ea typeface="DM Sans"/>
              <a:cs typeface="DM Sans"/>
              <a:sym typeface="DM Sans"/>
            </a:endParaRPr>
          </a:p>
        </p:txBody>
      </p:sp>
      <p:sp>
        <p:nvSpPr>
          <p:cNvPr id="414" name="Google Shape;414;p53"/>
          <p:cNvSpPr txBox="1"/>
          <p:nvPr/>
        </p:nvSpPr>
        <p:spPr>
          <a:xfrm>
            <a:off x="457725" y="1924500"/>
            <a:ext cx="4953600" cy="226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El término polimorfismo visto desde el punto de vista de Python es complicado de explicar sin hablar del duck typing. Es un concepto que aplica a ciertos lenguajes orientados a objetos y que tiene origen en la siguiente frase:</a:t>
            </a:r>
            <a:endParaRPr sz="135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endParaRPr sz="135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highlight>
                  <a:schemeClr val="accent6"/>
                </a:highlight>
                <a:latin typeface="DM Sans"/>
                <a:ea typeface="DM Sans"/>
                <a:cs typeface="DM Sans"/>
                <a:sym typeface="DM Sans"/>
              </a:rPr>
              <a:t>If it walks like a duck and it quacks like a duck, then it must be a duck</a:t>
            </a:r>
            <a:endParaRPr sz="1350" b="0" i="0" u="none" strike="noStrike" cap="none">
              <a:solidFill>
                <a:srgbClr val="000000"/>
              </a:solidFill>
              <a:highlight>
                <a:schemeClr val="accent6"/>
              </a:highlight>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endParaRPr sz="135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(Si camina como un pato y habla como un pato, entonces tiene que ser un pato)</a:t>
            </a:r>
            <a:endParaRPr sz="1350" b="0" i="0" u="none" strike="noStrike" cap="none">
              <a:solidFill>
                <a:srgbClr val="000000"/>
              </a:solidFill>
              <a:latin typeface="DM Sans"/>
              <a:ea typeface="DM Sans"/>
              <a:cs typeface="DM Sans"/>
              <a:sym typeface="DM Sans"/>
            </a:endParaRPr>
          </a:p>
        </p:txBody>
      </p:sp>
      <p:pic>
        <p:nvPicPr>
          <p:cNvPr id="415" name="Google Shape;415;p53"/>
          <p:cNvPicPr preferRelativeResize="0"/>
          <p:nvPr/>
        </p:nvPicPr>
        <p:blipFill rotWithShape="1">
          <a:blip r:embed="rId3">
            <a:alphaModFix/>
          </a:blip>
          <a:srcRect/>
          <a:stretch/>
        </p:blipFill>
        <p:spPr>
          <a:xfrm>
            <a:off x="5807575" y="1725725"/>
            <a:ext cx="1692050" cy="1692050"/>
          </a:xfrm>
          <a:prstGeom prst="rect">
            <a:avLst/>
          </a:prstGeom>
          <a:noFill/>
          <a:ln>
            <a:noFill/>
          </a:ln>
        </p:spPr>
      </p:pic>
      <p:sp>
        <p:nvSpPr>
          <p:cNvPr id="416" name="Google Shape;416;p53"/>
          <p:cNvSpPr txBox="1"/>
          <p:nvPr/>
        </p:nvSpPr>
        <p:spPr>
          <a:xfrm>
            <a:off x="476250" y="4591050"/>
            <a:ext cx="300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chemeClr val="dk2"/>
                </a:solidFill>
                <a:latin typeface="DM Sans"/>
                <a:ea typeface="DM Sans"/>
                <a:cs typeface="DM Sans"/>
                <a:sym typeface="DM Sans"/>
              </a:rPr>
              <a:t>Fuente: </a:t>
            </a:r>
            <a:r>
              <a:rPr lang="es" sz="1100" b="0" i="0" u="none" strike="noStrike" cap="none">
                <a:solidFill>
                  <a:schemeClr val="hlink"/>
                </a:solidFill>
                <a:uFill>
                  <a:noFill/>
                </a:uFill>
                <a:latin typeface="DM Sans"/>
                <a:ea typeface="DM Sans"/>
                <a:cs typeface="DM Sans"/>
                <a:sym typeface="DM Sans"/>
                <a:hlinkClick r:id="rId4"/>
              </a:rPr>
              <a:t>ElLibroDePython</a:t>
            </a:r>
            <a:endParaRPr sz="1100" b="0" i="0" u="none" strike="noStrike" cap="none">
              <a:solidFill>
                <a:schemeClr val="accent5"/>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B66DD260-9F86-F35F-3767-F7493634A096}"/>
              </a:ext>
            </a:extLst>
          </p:cNvPr>
          <p:cNvSpPr/>
          <p:nvPr/>
        </p:nvSpPr>
        <p:spPr>
          <a:xfrm>
            <a:off x="0" y="4408968"/>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grpSp>
        <p:nvGrpSpPr>
          <p:cNvPr id="421" name="Google Shape;421;p54"/>
          <p:cNvGrpSpPr/>
          <p:nvPr/>
        </p:nvGrpSpPr>
        <p:grpSpPr>
          <a:xfrm>
            <a:off x="457338" y="468286"/>
            <a:ext cx="431100" cy="431100"/>
            <a:chOff x="4616400" y="1950761"/>
            <a:chExt cx="431100" cy="431100"/>
          </a:xfrm>
        </p:grpSpPr>
        <p:sp>
          <p:nvSpPr>
            <p:cNvPr id="422" name="Google Shape;422;p54"/>
            <p:cNvSpPr/>
            <p:nvPr/>
          </p:nvSpPr>
          <p:spPr>
            <a:xfrm>
              <a:off x="4616400" y="1950761"/>
              <a:ext cx="431100" cy="4311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23" name="Google Shape;423;p54" title="ícono para recordar"/>
            <p:cNvPicPr preferRelativeResize="0"/>
            <p:nvPr/>
          </p:nvPicPr>
          <p:blipFill rotWithShape="1">
            <a:blip r:embed="rId3">
              <a:alphaModFix/>
            </a:blip>
            <a:srcRect/>
            <a:stretch/>
          </p:blipFill>
          <p:spPr>
            <a:xfrm>
              <a:off x="4699911" y="2034249"/>
              <a:ext cx="264076" cy="264076"/>
            </a:xfrm>
            <a:prstGeom prst="rect">
              <a:avLst/>
            </a:prstGeom>
            <a:noFill/>
            <a:ln>
              <a:noFill/>
            </a:ln>
          </p:spPr>
        </p:pic>
      </p:grpSp>
      <p:sp>
        <p:nvSpPr>
          <p:cNvPr id="424" name="Google Shape;424;p54"/>
          <p:cNvSpPr txBox="1"/>
          <p:nvPr/>
        </p:nvSpPr>
        <p:spPr>
          <a:xfrm>
            <a:off x="457350" y="1324950"/>
            <a:ext cx="7427700" cy="2493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2500" b="0" i="0" u="none" strike="noStrike" cap="none">
                <a:solidFill>
                  <a:schemeClr val="lt1"/>
                </a:solidFill>
                <a:latin typeface="DM Sans"/>
                <a:ea typeface="DM Sans"/>
                <a:cs typeface="DM Sans"/>
                <a:sym typeface="DM Sans"/>
              </a:rPr>
              <a:t>¿Y qué relación tienen los patos con la programación? Pues bien, se trata de un símil en el que los patos son objetos y hablar/andar métodos. Es decir, que </a:t>
            </a:r>
            <a:r>
              <a:rPr lang="es" sz="2500" b="1" i="0" u="none" strike="noStrike" cap="none">
                <a:solidFill>
                  <a:schemeClr val="accent6"/>
                </a:solidFill>
                <a:latin typeface="DM Sans"/>
                <a:ea typeface="DM Sans"/>
                <a:cs typeface="DM Sans"/>
                <a:sym typeface="DM Sans"/>
              </a:rPr>
              <a:t>si un determinado objeto tiene los métodos que nos interesan, nos basta, siendo su tipo irrelevante.</a:t>
            </a:r>
            <a:endParaRPr sz="2500" b="1" i="0" u="none" strike="noStrike" cap="none">
              <a:solidFill>
                <a:schemeClr val="accent6"/>
              </a:solidFill>
              <a:latin typeface="DM Sans"/>
              <a:ea typeface="DM Sans"/>
              <a:cs typeface="DM Sans"/>
              <a:sym typeface="DM Sans"/>
            </a:endParaRPr>
          </a:p>
        </p:txBody>
      </p:sp>
      <p:sp>
        <p:nvSpPr>
          <p:cNvPr id="425" name="Google Shape;425;p54"/>
          <p:cNvSpPr txBox="1"/>
          <p:nvPr/>
        </p:nvSpPr>
        <p:spPr>
          <a:xfrm>
            <a:off x="930550" y="468275"/>
            <a:ext cx="29175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 sz="1600" b="0" i="0" u="none" strike="noStrike" cap="none">
                <a:solidFill>
                  <a:schemeClr val="lt1"/>
                </a:solidFill>
                <a:latin typeface="DM Sans"/>
                <a:ea typeface="DM Sans"/>
                <a:cs typeface="DM Sans"/>
                <a:sym typeface="DM Sans"/>
              </a:rPr>
              <a:t>PARA RECORDAR</a:t>
            </a:r>
            <a:endParaRPr sz="1400" b="0" i="0" u="none" strike="noStrike" cap="none">
              <a:solidFill>
                <a:schemeClr val="lt1"/>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AE86EF24-AA73-9D02-BB5A-58389C1BF00B}"/>
              </a:ext>
            </a:extLst>
          </p:cNvPr>
          <p:cNvSpPr/>
          <p:nvPr/>
        </p:nvSpPr>
        <p:spPr>
          <a:xfrm>
            <a:off x="0" y="4408968"/>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p55"/>
          <p:cNvSpPr txBox="1"/>
          <p:nvPr/>
        </p:nvSpPr>
        <p:spPr>
          <a:xfrm>
            <a:off x="1159150" y="467125"/>
            <a:ext cx="47613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chemeClr val="dk1"/>
              </a:buClr>
              <a:buSzPts val="1100"/>
              <a:buFont typeface="Arial"/>
              <a:buNone/>
            </a:pPr>
            <a:r>
              <a:rPr lang="es" sz="4000" b="1" i="0" u="none" strike="noStrike" cap="none">
                <a:solidFill>
                  <a:schemeClr val="dk1"/>
                </a:solidFill>
                <a:latin typeface="DM Sans"/>
                <a:ea typeface="DM Sans"/>
                <a:cs typeface="DM Sans"/>
                <a:sym typeface="DM Sans"/>
              </a:rPr>
              <a:t>¿Cómo funciona?</a:t>
            </a:r>
            <a:endParaRPr sz="4000" b="1" i="0" u="none" strike="noStrike" cap="none">
              <a:solidFill>
                <a:schemeClr val="dk1"/>
              </a:solidFill>
              <a:latin typeface="DM Sans"/>
              <a:ea typeface="DM Sans"/>
              <a:cs typeface="DM Sans"/>
              <a:sym typeface="DM Sans"/>
            </a:endParaRPr>
          </a:p>
        </p:txBody>
      </p:sp>
      <p:sp>
        <p:nvSpPr>
          <p:cNvPr id="431" name="Google Shape;431;p55"/>
          <p:cNvSpPr txBox="1"/>
          <p:nvPr/>
        </p:nvSpPr>
        <p:spPr>
          <a:xfrm>
            <a:off x="524800" y="1644200"/>
            <a:ext cx="7885800" cy="808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Una vez entendido el origen del concepto, veamos lo que realmente significa esto en Python. En pocas palabras, </a:t>
            </a:r>
            <a:r>
              <a:rPr lang="es" sz="1350" b="1" i="0" u="none" strike="noStrike" cap="none">
                <a:solidFill>
                  <a:srgbClr val="000000"/>
                </a:solidFill>
                <a:highlight>
                  <a:schemeClr val="accent6"/>
                </a:highlight>
                <a:latin typeface="DM Sans"/>
                <a:ea typeface="DM Sans"/>
                <a:cs typeface="DM Sans"/>
                <a:sym typeface="DM Sans"/>
              </a:rPr>
              <a:t>a Python le dan igual los tipos de los objetos, lo único que le importan son los métodos.</a:t>
            </a:r>
            <a:endParaRPr sz="1350" b="0" i="0" u="none" strike="noStrike" cap="none">
              <a:solidFill>
                <a:srgbClr val="000000"/>
              </a:solidFill>
              <a:highlight>
                <a:schemeClr val="accent6"/>
              </a:highlight>
              <a:latin typeface="DM Sans"/>
              <a:ea typeface="DM Sans"/>
              <a:cs typeface="DM Sans"/>
              <a:sym typeface="DM Sans"/>
            </a:endParaRPr>
          </a:p>
        </p:txBody>
      </p:sp>
      <p:grpSp>
        <p:nvGrpSpPr>
          <p:cNvPr id="432" name="Google Shape;432;p55"/>
          <p:cNvGrpSpPr/>
          <p:nvPr/>
        </p:nvGrpSpPr>
        <p:grpSpPr>
          <a:xfrm>
            <a:off x="7928851" y="468323"/>
            <a:ext cx="738900" cy="738900"/>
            <a:chOff x="473351" y="619523"/>
            <a:chExt cx="738900" cy="738900"/>
          </a:xfrm>
        </p:grpSpPr>
        <p:sp>
          <p:nvSpPr>
            <p:cNvPr id="433" name="Google Shape;433;p55"/>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34" name="Google Shape;434;p55" title="ícono de ejemplo en vivo"/>
            <p:cNvPicPr preferRelativeResize="0"/>
            <p:nvPr/>
          </p:nvPicPr>
          <p:blipFill rotWithShape="1">
            <a:blip r:embed="rId3">
              <a:alphaModFix/>
            </a:blip>
            <a:srcRect/>
            <a:stretch/>
          </p:blipFill>
          <p:spPr>
            <a:xfrm>
              <a:off x="616475" y="762650"/>
              <a:ext cx="452650" cy="452650"/>
            </a:xfrm>
            <a:prstGeom prst="rect">
              <a:avLst/>
            </a:prstGeom>
            <a:noFill/>
            <a:ln>
              <a:noFill/>
            </a:ln>
          </p:spPr>
        </p:pic>
      </p:grpSp>
      <p:pic>
        <p:nvPicPr>
          <p:cNvPr id="435" name="Google Shape;435;p55"/>
          <p:cNvPicPr preferRelativeResize="0"/>
          <p:nvPr/>
        </p:nvPicPr>
        <p:blipFill rotWithShape="1">
          <a:blip r:embed="rId4">
            <a:alphaModFix/>
          </a:blip>
          <a:srcRect r="68385"/>
          <a:stretch/>
        </p:blipFill>
        <p:spPr>
          <a:xfrm>
            <a:off x="511825" y="2616650"/>
            <a:ext cx="2679049" cy="1046550"/>
          </a:xfrm>
          <a:prstGeom prst="rect">
            <a:avLst/>
          </a:prstGeom>
          <a:noFill/>
          <a:ln>
            <a:noFill/>
          </a:ln>
        </p:spPr>
      </p:pic>
      <p:sp>
        <p:nvSpPr>
          <p:cNvPr id="436" name="Google Shape;436;p55"/>
          <p:cNvSpPr txBox="1"/>
          <p:nvPr/>
        </p:nvSpPr>
        <p:spPr>
          <a:xfrm>
            <a:off x="3190875" y="2738175"/>
            <a:ext cx="4893000" cy="392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 sz="1350" b="0" i="0" u="none" strike="noStrike" cap="none">
                <a:solidFill>
                  <a:schemeClr val="dk1"/>
                </a:solidFill>
                <a:latin typeface="DM Sans"/>
                <a:ea typeface="DM Sans"/>
                <a:cs typeface="DM Sans"/>
                <a:sym typeface="DM Sans"/>
              </a:rPr>
              <a:t>Definamos una clase </a:t>
            </a:r>
            <a:r>
              <a:rPr lang="es" sz="1350" b="1" i="0" u="none" strike="noStrike" cap="none">
                <a:solidFill>
                  <a:schemeClr val="dk1"/>
                </a:solidFill>
                <a:latin typeface="DM Sans"/>
                <a:ea typeface="DM Sans"/>
                <a:cs typeface="DM Sans"/>
                <a:sym typeface="DM Sans"/>
              </a:rPr>
              <a:t>pato</a:t>
            </a:r>
            <a:r>
              <a:rPr lang="es" sz="1350" b="0" i="0" u="none" strike="noStrike" cap="none">
                <a:solidFill>
                  <a:schemeClr val="dk1"/>
                </a:solidFill>
                <a:latin typeface="DM Sans"/>
                <a:ea typeface="DM Sans"/>
                <a:cs typeface="DM Sans"/>
                <a:sym typeface="DM Sans"/>
              </a:rPr>
              <a:t> con un método </a:t>
            </a:r>
            <a:r>
              <a:rPr lang="es" sz="1350" b="1" i="0" u="none" strike="noStrike" cap="none">
                <a:solidFill>
                  <a:schemeClr val="dk1"/>
                </a:solidFill>
                <a:latin typeface="DM Sans"/>
                <a:ea typeface="DM Sans"/>
                <a:cs typeface="DM Sans"/>
                <a:sym typeface="DM Sans"/>
              </a:rPr>
              <a:t>hablar ( ). </a:t>
            </a:r>
            <a:endParaRPr sz="1350" b="1" i="0" u="none" strike="noStrike" cap="none">
              <a:solidFill>
                <a:schemeClr val="dk1"/>
              </a:solidFill>
              <a:latin typeface="DM Sans"/>
              <a:ea typeface="DM Sans"/>
              <a:cs typeface="DM Sans"/>
              <a:sym typeface="DM Sans"/>
            </a:endParaRPr>
          </a:p>
        </p:txBody>
      </p:sp>
      <p:sp>
        <p:nvSpPr>
          <p:cNvPr id="437" name="Google Shape;437;p55"/>
          <p:cNvSpPr txBox="1"/>
          <p:nvPr/>
        </p:nvSpPr>
        <p:spPr>
          <a:xfrm>
            <a:off x="2623075" y="3827450"/>
            <a:ext cx="4179600" cy="392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 sz="1350" b="0" i="0" u="none" strike="noStrike" cap="none">
                <a:solidFill>
                  <a:schemeClr val="dk1"/>
                </a:solidFill>
                <a:latin typeface="DM Sans"/>
                <a:ea typeface="DM Sans"/>
                <a:cs typeface="DM Sans"/>
                <a:sym typeface="DM Sans"/>
              </a:rPr>
              <a:t>Y llamamos al método de la siguiente forma:</a:t>
            </a:r>
            <a:endParaRPr sz="1350" b="0" i="0" u="none" strike="noStrike" cap="none">
              <a:solidFill>
                <a:schemeClr val="dk1"/>
              </a:solidFill>
              <a:latin typeface="DM Sans"/>
              <a:ea typeface="DM Sans"/>
              <a:cs typeface="DM Sans"/>
              <a:sym typeface="DM Sans"/>
            </a:endParaRPr>
          </a:p>
        </p:txBody>
      </p:sp>
      <p:pic>
        <p:nvPicPr>
          <p:cNvPr id="438" name="Google Shape;438;p55"/>
          <p:cNvPicPr preferRelativeResize="0"/>
          <p:nvPr/>
        </p:nvPicPr>
        <p:blipFill rotWithShape="1">
          <a:blip r:embed="rId5">
            <a:alphaModFix/>
          </a:blip>
          <a:srcRect r="81397"/>
          <a:stretch/>
        </p:blipFill>
        <p:spPr>
          <a:xfrm>
            <a:off x="7076425" y="3416350"/>
            <a:ext cx="1591326" cy="1109750"/>
          </a:xfrm>
          <a:prstGeom prst="rect">
            <a:avLst/>
          </a:prstGeom>
          <a:noFill/>
          <a:ln>
            <a:noFill/>
          </a:ln>
        </p:spPr>
      </p:pic>
      <p:sp>
        <p:nvSpPr>
          <p:cNvPr id="439" name="Google Shape;439;p55"/>
          <p:cNvSpPr txBox="1"/>
          <p:nvPr/>
        </p:nvSpPr>
        <p:spPr>
          <a:xfrm>
            <a:off x="476250" y="4591050"/>
            <a:ext cx="300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chemeClr val="dk2"/>
                </a:solidFill>
                <a:latin typeface="DM Sans"/>
                <a:ea typeface="DM Sans"/>
                <a:cs typeface="DM Sans"/>
                <a:sym typeface="DM Sans"/>
              </a:rPr>
              <a:t>Fuente: </a:t>
            </a:r>
            <a:r>
              <a:rPr lang="es" sz="1100" b="0" i="0" u="none" strike="noStrike" cap="none">
                <a:solidFill>
                  <a:schemeClr val="hlink"/>
                </a:solidFill>
                <a:uFill>
                  <a:noFill/>
                </a:uFill>
                <a:latin typeface="DM Sans"/>
                <a:ea typeface="DM Sans"/>
                <a:cs typeface="DM Sans"/>
                <a:sym typeface="DM Sans"/>
                <a:hlinkClick r:id="rId6"/>
              </a:rPr>
              <a:t>ElLibroDePython</a:t>
            </a:r>
            <a:endParaRPr sz="1100" b="0" i="0" u="none" strike="noStrike" cap="none">
              <a:solidFill>
                <a:schemeClr val="accent5"/>
              </a:solidFill>
              <a:latin typeface="DM Sans"/>
              <a:ea typeface="DM Sans"/>
              <a:cs typeface="DM Sans"/>
              <a:sym typeface="DM Sans"/>
            </a:endParaRPr>
          </a:p>
        </p:txBody>
      </p:sp>
      <p:pic>
        <p:nvPicPr>
          <p:cNvPr id="440" name="Google Shape;440;p55"/>
          <p:cNvPicPr preferRelativeResize="0"/>
          <p:nvPr/>
        </p:nvPicPr>
        <p:blipFill rotWithShape="1">
          <a:blip r:embed="rId7">
            <a:alphaModFix/>
          </a:blip>
          <a:srcRect/>
          <a:stretch/>
        </p:blipFill>
        <p:spPr>
          <a:xfrm>
            <a:off x="524800" y="506237"/>
            <a:ext cx="663075" cy="663075"/>
          </a:xfrm>
          <a:prstGeom prst="rect">
            <a:avLst/>
          </a:prstGeom>
          <a:noFill/>
          <a:ln>
            <a:noFill/>
          </a:ln>
        </p:spPr>
      </p:pic>
      <p:sp>
        <p:nvSpPr>
          <p:cNvPr id="2" name="Rectángulo 1">
            <a:extLst>
              <a:ext uri="{FF2B5EF4-FFF2-40B4-BE49-F238E27FC236}">
                <a16:creationId xmlns:a16="http://schemas.microsoft.com/office/drawing/2014/main" id="{ECC6A92D-8B1B-89F2-8BF7-142DDC5F27ED}"/>
              </a:ext>
            </a:extLst>
          </p:cNvPr>
          <p:cNvSpPr/>
          <p:nvPr/>
        </p:nvSpPr>
        <p:spPr>
          <a:xfrm>
            <a:off x="0" y="4408968"/>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56"/>
          <p:cNvSpPr txBox="1"/>
          <p:nvPr/>
        </p:nvSpPr>
        <p:spPr>
          <a:xfrm>
            <a:off x="1159150" y="467125"/>
            <a:ext cx="47613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chemeClr val="dk1"/>
              </a:buClr>
              <a:buSzPts val="1100"/>
              <a:buFont typeface="Arial"/>
              <a:buNone/>
            </a:pPr>
            <a:r>
              <a:rPr lang="es" sz="4000" b="1" i="0" u="none" strike="noStrike" cap="none">
                <a:solidFill>
                  <a:schemeClr val="dk1"/>
                </a:solidFill>
                <a:latin typeface="DM Sans"/>
                <a:ea typeface="DM Sans"/>
                <a:cs typeface="DM Sans"/>
                <a:sym typeface="DM Sans"/>
              </a:rPr>
              <a:t>Método hablar ()</a:t>
            </a:r>
            <a:endParaRPr sz="4000" b="1" i="0" u="none" strike="noStrike" cap="none">
              <a:solidFill>
                <a:schemeClr val="dk1"/>
              </a:solidFill>
              <a:latin typeface="DM Sans"/>
              <a:ea typeface="DM Sans"/>
              <a:cs typeface="DM Sans"/>
              <a:sym typeface="DM Sans"/>
            </a:endParaRPr>
          </a:p>
        </p:txBody>
      </p:sp>
      <p:sp>
        <p:nvSpPr>
          <p:cNvPr id="446" name="Google Shape;446;p56"/>
          <p:cNvSpPr txBox="1"/>
          <p:nvPr/>
        </p:nvSpPr>
        <p:spPr>
          <a:xfrm>
            <a:off x="524800" y="1644200"/>
            <a:ext cx="7885800" cy="1015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En Python </a:t>
            </a:r>
            <a:r>
              <a:rPr lang="es" sz="1350" b="1" i="0" u="none" strike="noStrike" cap="none">
                <a:solidFill>
                  <a:srgbClr val="000000"/>
                </a:solidFill>
                <a:highlight>
                  <a:schemeClr val="accent6"/>
                </a:highlight>
                <a:latin typeface="DM Sans"/>
                <a:ea typeface="DM Sans"/>
                <a:cs typeface="DM Sans"/>
                <a:sym typeface="DM Sans"/>
              </a:rPr>
              <a:t>no es necesario especificar los tipos</a:t>
            </a:r>
            <a:r>
              <a:rPr lang="es" sz="1350" b="0" i="0" u="none" strike="noStrike" cap="none">
                <a:solidFill>
                  <a:srgbClr val="000000"/>
                </a:solidFill>
                <a:latin typeface="DM Sans"/>
                <a:ea typeface="DM Sans"/>
                <a:cs typeface="DM Sans"/>
                <a:sym typeface="DM Sans"/>
              </a:rPr>
              <a:t>, simplemente decimos que el parámetro de entrada tiene el nombre </a:t>
            </a:r>
            <a:r>
              <a:rPr lang="es" sz="1350" b="1" i="0" u="none" strike="noStrike" cap="none">
                <a:solidFill>
                  <a:srgbClr val="000000"/>
                </a:solidFill>
                <a:highlight>
                  <a:schemeClr val="accent6"/>
                </a:highlight>
                <a:latin typeface="DM Sans"/>
                <a:ea typeface="DM Sans"/>
                <a:cs typeface="DM Sans"/>
                <a:sym typeface="DM Sans"/>
              </a:rPr>
              <a:t>x.</a:t>
            </a:r>
            <a:endParaRPr sz="1350" b="1" i="0" u="none" strike="noStrike" cap="none">
              <a:solidFill>
                <a:srgbClr val="000000"/>
              </a:solidFill>
              <a:highlight>
                <a:schemeClr val="accent6"/>
              </a:highlight>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Hasta aquí nada nuevo, pero vamos a definir una función</a:t>
            </a:r>
            <a:r>
              <a:rPr lang="es" sz="1350" b="1" i="0" u="none" strike="noStrike" cap="none">
                <a:solidFill>
                  <a:srgbClr val="000000"/>
                </a:solidFill>
                <a:latin typeface="DM Sans"/>
                <a:ea typeface="DM Sans"/>
                <a:cs typeface="DM Sans"/>
                <a:sym typeface="DM Sans"/>
              </a:rPr>
              <a:t> llama_hablar ( )</a:t>
            </a:r>
            <a:r>
              <a:rPr lang="es" sz="1350" b="0" i="0" u="none" strike="noStrike" cap="none">
                <a:solidFill>
                  <a:srgbClr val="000000"/>
                </a:solidFill>
                <a:latin typeface="DM Sans"/>
                <a:ea typeface="DM Sans"/>
                <a:cs typeface="DM Sans"/>
                <a:sym typeface="DM Sans"/>
              </a:rPr>
              <a:t>, que llama al método hablar ( ) del objeto que se le pase.</a:t>
            </a:r>
            <a:endParaRPr sz="1350" b="0" i="0" u="none" strike="noStrike" cap="none">
              <a:solidFill>
                <a:srgbClr val="000000"/>
              </a:solidFill>
              <a:latin typeface="DM Sans"/>
              <a:ea typeface="DM Sans"/>
              <a:cs typeface="DM Sans"/>
              <a:sym typeface="DM Sans"/>
            </a:endParaRPr>
          </a:p>
        </p:txBody>
      </p:sp>
      <p:grpSp>
        <p:nvGrpSpPr>
          <p:cNvPr id="447" name="Google Shape;447;p56"/>
          <p:cNvGrpSpPr/>
          <p:nvPr/>
        </p:nvGrpSpPr>
        <p:grpSpPr>
          <a:xfrm>
            <a:off x="7928851" y="468323"/>
            <a:ext cx="738900" cy="738900"/>
            <a:chOff x="473351" y="619523"/>
            <a:chExt cx="738900" cy="738900"/>
          </a:xfrm>
        </p:grpSpPr>
        <p:sp>
          <p:nvSpPr>
            <p:cNvPr id="448" name="Google Shape;448;p56"/>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49" name="Google Shape;449;p56" title="ícono de ejemplo en vivo"/>
            <p:cNvPicPr preferRelativeResize="0"/>
            <p:nvPr/>
          </p:nvPicPr>
          <p:blipFill rotWithShape="1">
            <a:blip r:embed="rId3">
              <a:alphaModFix/>
            </a:blip>
            <a:srcRect/>
            <a:stretch/>
          </p:blipFill>
          <p:spPr>
            <a:xfrm>
              <a:off x="616475" y="762650"/>
              <a:ext cx="452650" cy="452650"/>
            </a:xfrm>
            <a:prstGeom prst="rect">
              <a:avLst/>
            </a:prstGeom>
            <a:noFill/>
            <a:ln>
              <a:noFill/>
            </a:ln>
          </p:spPr>
        </p:pic>
      </p:grpSp>
      <p:sp>
        <p:nvSpPr>
          <p:cNvPr id="450" name="Google Shape;450;p56"/>
          <p:cNvSpPr txBox="1"/>
          <p:nvPr/>
        </p:nvSpPr>
        <p:spPr>
          <a:xfrm>
            <a:off x="476250" y="4591050"/>
            <a:ext cx="300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chemeClr val="dk2"/>
                </a:solidFill>
                <a:latin typeface="DM Sans"/>
                <a:ea typeface="DM Sans"/>
                <a:cs typeface="DM Sans"/>
                <a:sym typeface="DM Sans"/>
              </a:rPr>
              <a:t>Fuente: </a:t>
            </a:r>
            <a:r>
              <a:rPr lang="es" sz="1100" b="0" i="0" u="none" strike="noStrike" cap="none">
                <a:solidFill>
                  <a:schemeClr val="hlink"/>
                </a:solidFill>
                <a:uFill>
                  <a:noFill/>
                </a:uFill>
                <a:latin typeface="DM Sans"/>
                <a:ea typeface="DM Sans"/>
                <a:cs typeface="DM Sans"/>
                <a:sym typeface="DM Sans"/>
                <a:hlinkClick r:id="rId4"/>
              </a:rPr>
              <a:t>ElLibroDePython</a:t>
            </a:r>
            <a:endParaRPr sz="1100" b="0" i="0" u="none" strike="noStrike" cap="none">
              <a:solidFill>
                <a:schemeClr val="accent5"/>
              </a:solidFill>
              <a:latin typeface="DM Sans"/>
              <a:ea typeface="DM Sans"/>
              <a:cs typeface="DM Sans"/>
              <a:sym typeface="DM Sans"/>
            </a:endParaRPr>
          </a:p>
        </p:txBody>
      </p:sp>
      <p:pic>
        <p:nvPicPr>
          <p:cNvPr id="451" name="Google Shape;451;p56"/>
          <p:cNvPicPr preferRelativeResize="0"/>
          <p:nvPr/>
        </p:nvPicPr>
        <p:blipFill rotWithShape="1">
          <a:blip r:embed="rId5">
            <a:alphaModFix/>
          </a:blip>
          <a:srcRect/>
          <a:stretch/>
        </p:blipFill>
        <p:spPr>
          <a:xfrm>
            <a:off x="524800" y="506237"/>
            <a:ext cx="663075" cy="663075"/>
          </a:xfrm>
          <a:prstGeom prst="rect">
            <a:avLst/>
          </a:prstGeom>
          <a:noFill/>
          <a:ln>
            <a:noFill/>
          </a:ln>
        </p:spPr>
      </p:pic>
      <p:pic>
        <p:nvPicPr>
          <p:cNvPr id="452" name="Google Shape;452;p56"/>
          <p:cNvPicPr preferRelativeResize="0"/>
          <p:nvPr/>
        </p:nvPicPr>
        <p:blipFill rotWithShape="1">
          <a:blip r:embed="rId6">
            <a:alphaModFix/>
          </a:blip>
          <a:srcRect r="75744"/>
          <a:stretch/>
        </p:blipFill>
        <p:spPr>
          <a:xfrm>
            <a:off x="3425537" y="3158188"/>
            <a:ext cx="2292925" cy="934675"/>
          </a:xfrm>
          <a:prstGeom prst="rect">
            <a:avLst/>
          </a:prstGeom>
          <a:noFill/>
          <a:ln>
            <a:noFill/>
          </a:ln>
        </p:spPr>
      </p:pic>
      <p:sp>
        <p:nvSpPr>
          <p:cNvPr id="2" name="Rectángulo 1">
            <a:extLst>
              <a:ext uri="{FF2B5EF4-FFF2-40B4-BE49-F238E27FC236}">
                <a16:creationId xmlns:a16="http://schemas.microsoft.com/office/drawing/2014/main" id="{58C406EA-12D2-00A9-FF90-4B45208A4119}"/>
              </a:ext>
            </a:extLst>
          </p:cNvPr>
          <p:cNvSpPr/>
          <p:nvPr/>
        </p:nvSpPr>
        <p:spPr>
          <a:xfrm>
            <a:off x="0" y="4408968"/>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57"/>
          <p:cNvSpPr txBox="1"/>
          <p:nvPr/>
        </p:nvSpPr>
        <p:spPr>
          <a:xfrm>
            <a:off x="1159150" y="467125"/>
            <a:ext cx="47613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chemeClr val="dk1"/>
              </a:buClr>
              <a:buSzPts val="1100"/>
              <a:buFont typeface="Arial"/>
              <a:buNone/>
            </a:pPr>
            <a:r>
              <a:rPr lang="es" sz="4000" b="1" i="0" u="none" strike="noStrike" cap="none">
                <a:solidFill>
                  <a:schemeClr val="dk1"/>
                </a:solidFill>
                <a:latin typeface="DM Sans"/>
                <a:ea typeface="DM Sans"/>
                <a:cs typeface="DM Sans"/>
                <a:sym typeface="DM Sans"/>
              </a:rPr>
              <a:t>Método hablar ()</a:t>
            </a:r>
            <a:endParaRPr sz="4000" b="1" i="0" u="none" strike="noStrike" cap="none">
              <a:solidFill>
                <a:schemeClr val="dk1"/>
              </a:solidFill>
              <a:latin typeface="DM Sans"/>
              <a:ea typeface="DM Sans"/>
              <a:cs typeface="DM Sans"/>
              <a:sym typeface="DM Sans"/>
            </a:endParaRPr>
          </a:p>
        </p:txBody>
      </p:sp>
      <p:sp>
        <p:nvSpPr>
          <p:cNvPr id="458" name="Google Shape;458;p57"/>
          <p:cNvSpPr txBox="1"/>
          <p:nvPr/>
        </p:nvSpPr>
        <p:spPr>
          <a:xfrm>
            <a:off x="524800" y="1644200"/>
            <a:ext cx="7885800" cy="600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Cuando Python entra en la función y evalúa </a:t>
            </a:r>
            <a:r>
              <a:rPr lang="es" sz="1350" b="1" i="0" u="none" strike="noStrike" cap="none">
                <a:solidFill>
                  <a:srgbClr val="000000"/>
                </a:solidFill>
                <a:highlight>
                  <a:schemeClr val="accent6"/>
                </a:highlight>
                <a:latin typeface="DM Sans"/>
                <a:ea typeface="DM Sans"/>
                <a:cs typeface="DM Sans"/>
                <a:sym typeface="DM Sans"/>
              </a:rPr>
              <a:t>x.hablar(</a:t>
            </a:r>
            <a:r>
              <a:rPr lang="es" sz="1350" b="0" i="0" u="none" strike="noStrike" cap="none">
                <a:solidFill>
                  <a:srgbClr val="000000"/>
                </a:solidFill>
                <a:latin typeface="DM Sans"/>
                <a:ea typeface="DM Sans"/>
                <a:cs typeface="DM Sans"/>
                <a:sym typeface="DM Sans"/>
              </a:rPr>
              <a:t>), le da igual el tipo al que pertenezca </a:t>
            </a:r>
            <a:r>
              <a:rPr lang="es" sz="1350" b="1" i="0" u="none" strike="noStrike" cap="none">
                <a:solidFill>
                  <a:srgbClr val="000000"/>
                </a:solidFill>
                <a:highlight>
                  <a:schemeClr val="accent6"/>
                </a:highlight>
                <a:latin typeface="DM Sans"/>
                <a:ea typeface="DM Sans"/>
                <a:cs typeface="DM Sans"/>
                <a:sym typeface="DM Sans"/>
              </a:rPr>
              <a:t>x</a:t>
            </a:r>
            <a:r>
              <a:rPr lang="es" sz="1350" b="0" i="0" u="none" strike="noStrike" cap="none">
                <a:solidFill>
                  <a:srgbClr val="000000"/>
                </a:solidFill>
                <a:latin typeface="DM Sans"/>
                <a:ea typeface="DM Sans"/>
                <a:cs typeface="DM Sans"/>
                <a:sym typeface="DM Sans"/>
              </a:rPr>
              <a:t> siempre y cuando tenga el método </a:t>
            </a:r>
            <a:r>
              <a:rPr lang="es" sz="1350" b="1" i="0" u="none" strike="noStrike" cap="none">
                <a:solidFill>
                  <a:srgbClr val="000000"/>
                </a:solidFill>
                <a:highlight>
                  <a:schemeClr val="accent6"/>
                </a:highlight>
                <a:latin typeface="DM Sans"/>
                <a:ea typeface="DM Sans"/>
                <a:cs typeface="DM Sans"/>
                <a:sym typeface="DM Sans"/>
              </a:rPr>
              <a:t>hablar()</a:t>
            </a:r>
            <a:r>
              <a:rPr lang="es" sz="1350" b="0" i="0" u="none" strike="noStrike" cap="none">
                <a:solidFill>
                  <a:srgbClr val="000000"/>
                </a:solidFill>
                <a:latin typeface="DM Sans"/>
                <a:ea typeface="DM Sans"/>
                <a:cs typeface="DM Sans"/>
                <a:sym typeface="DM Sans"/>
              </a:rPr>
              <a:t>. </a:t>
            </a:r>
            <a:endParaRPr sz="1350" b="0" i="0" u="none" strike="noStrike" cap="none">
              <a:solidFill>
                <a:srgbClr val="000000"/>
              </a:solidFill>
              <a:latin typeface="DM Sans"/>
              <a:ea typeface="DM Sans"/>
              <a:cs typeface="DM Sans"/>
              <a:sym typeface="DM Sans"/>
            </a:endParaRPr>
          </a:p>
        </p:txBody>
      </p:sp>
      <p:grpSp>
        <p:nvGrpSpPr>
          <p:cNvPr id="459" name="Google Shape;459;p57"/>
          <p:cNvGrpSpPr/>
          <p:nvPr/>
        </p:nvGrpSpPr>
        <p:grpSpPr>
          <a:xfrm>
            <a:off x="7928851" y="468323"/>
            <a:ext cx="738900" cy="738900"/>
            <a:chOff x="473351" y="619523"/>
            <a:chExt cx="738900" cy="738900"/>
          </a:xfrm>
        </p:grpSpPr>
        <p:sp>
          <p:nvSpPr>
            <p:cNvPr id="460" name="Google Shape;460;p57"/>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61" name="Google Shape;461;p57" title="ícono de ejemplo en vivo"/>
            <p:cNvPicPr preferRelativeResize="0"/>
            <p:nvPr/>
          </p:nvPicPr>
          <p:blipFill rotWithShape="1">
            <a:blip r:embed="rId3">
              <a:alphaModFix/>
            </a:blip>
            <a:srcRect/>
            <a:stretch/>
          </p:blipFill>
          <p:spPr>
            <a:xfrm>
              <a:off x="616475" y="762650"/>
              <a:ext cx="452650" cy="452650"/>
            </a:xfrm>
            <a:prstGeom prst="rect">
              <a:avLst/>
            </a:prstGeom>
            <a:noFill/>
            <a:ln>
              <a:noFill/>
            </a:ln>
          </p:spPr>
        </p:pic>
      </p:grpSp>
      <p:sp>
        <p:nvSpPr>
          <p:cNvPr id="462" name="Google Shape;462;p57"/>
          <p:cNvSpPr txBox="1"/>
          <p:nvPr/>
        </p:nvSpPr>
        <p:spPr>
          <a:xfrm>
            <a:off x="476250" y="4591050"/>
            <a:ext cx="300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chemeClr val="dk2"/>
                </a:solidFill>
                <a:latin typeface="DM Sans"/>
                <a:ea typeface="DM Sans"/>
                <a:cs typeface="DM Sans"/>
                <a:sym typeface="DM Sans"/>
              </a:rPr>
              <a:t>Fuente: </a:t>
            </a:r>
            <a:r>
              <a:rPr lang="es" sz="1100" b="0" i="0" u="none" strike="noStrike" cap="none">
                <a:solidFill>
                  <a:schemeClr val="hlink"/>
                </a:solidFill>
                <a:uFill>
                  <a:noFill/>
                </a:uFill>
                <a:latin typeface="DM Sans"/>
                <a:ea typeface="DM Sans"/>
                <a:cs typeface="DM Sans"/>
                <a:sym typeface="DM Sans"/>
                <a:hlinkClick r:id="rId4"/>
              </a:rPr>
              <a:t>ElLibroDePython</a:t>
            </a:r>
            <a:endParaRPr sz="1100" b="0" i="0" u="none" strike="noStrike" cap="none">
              <a:solidFill>
                <a:schemeClr val="accent5"/>
              </a:solidFill>
              <a:latin typeface="DM Sans"/>
              <a:ea typeface="DM Sans"/>
              <a:cs typeface="DM Sans"/>
              <a:sym typeface="DM Sans"/>
            </a:endParaRPr>
          </a:p>
        </p:txBody>
      </p:sp>
      <p:pic>
        <p:nvPicPr>
          <p:cNvPr id="463" name="Google Shape;463;p57"/>
          <p:cNvPicPr preferRelativeResize="0"/>
          <p:nvPr/>
        </p:nvPicPr>
        <p:blipFill rotWithShape="1">
          <a:blip r:embed="rId5">
            <a:alphaModFix/>
          </a:blip>
          <a:srcRect/>
          <a:stretch/>
        </p:blipFill>
        <p:spPr>
          <a:xfrm>
            <a:off x="524800" y="506237"/>
            <a:ext cx="663075" cy="663075"/>
          </a:xfrm>
          <a:prstGeom prst="rect">
            <a:avLst/>
          </a:prstGeom>
          <a:noFill/>
          <a:ln>
            <a:noFill/>
          </a:ln>
        </p:spPr>
      </p:pic>
      <p:pic>
        <p:nvPicPr>
          <p:cNvPr id="464" name="Google Shape;464;p57"/>
          <p:cNvPicPr preferRelativeResize="0"/>
          <p:nvPr/>
        </p:nvPicPr>
        <p:blipFill rotWithShape="1">
          <a:blip r:embed="rId6">
            <a:alphaModFix/>
          </a:blip>
          <a:srcRect r="75744"/>
          <a:stretch/>
        </p:blipFill>
        <p:spPr>
          <a:xfrm>
            <a:off x="3425537" y="2844800"/>
            <a:ext cx="2292925" cy="934675"/>
          </a:xfrm>
          <a:prstGeom prst="rect">
            <a:avLst/>
          </a:prstGeom>
          <a:noFill/>
          <a:ln>
            <a:noFill/>
          </a:ln>
        </p:spPr>
      </p:pic>
      <p:sp>
        <p:nvSpPr>
          <p:cNvPr id="465" name="Google Shape;465;p57"/>
          <p:cNvSpPr txBox="1"/>
          <p:nvPr/>
        </p:nvSpPr>
        <p:spPr>
          <a:xfrm>
            <a:off x="524798" y="4110538"/>
            <a:ext cx="6261300" cy="392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 sz="1350" b="0" i="0" u="none" strike="noStrike" cap="none">
                <a:solidFill>
                  <a:schemeClr val="dk1"/>
                </a:solidFill>
                <a:latin typeface="DM Sans"/>
                <a:ea typeface="DM Sans"/>
                <a:cs typeface="DM Sans"/>
                <a:sym typeface="DM Sans"/>
              </a:rPr>
              <a:t>Esto es el duck typing en todo su esplendor. 🤩</a:t>
            </a:r>
            <a:endParaRPr sz="1350" b="0" i="0" u="none" strike="noStrike" cap="none">
              <a:solidFill>
                <a:schemeClr val="dk1"/>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B172B59C-A33E-B55D-3672-1E1089630AEA}"/>
              </a:ext>
            </a:extLst>
          </p:cNvPr>
          <p:cNvSpPr/>
          <p:nvPr/>
        </p:nvSpPr>
        <p:spPr>
          <a:xfrm>
            <a:off x="0" y="4408968"/>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58"/>
          <p:cNvSpPr txBox="1"/>
          <p:nvPr/>
        </p:nvSpPr>
        <p:spPr>
          <a:xfrm>
            <a:off x="1159150" y="467125"/>
            <a:ext cx="47613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chemeClr val="dk1"/>
              </a:buClr>
              <a:buSzPts val="1100"/>
              <a:buFont typeface="Arial"/>
              <a:buNone/>
            </a:pPr>
            <a:r>
              <a:rPr lang="es" sz="4000" b="1" i="0" u="none" strike="noStrike" cap="none">
                <a:solidFill>
                  <a:schemeClr val="dk1"/>
                </a:solidFill>
                <a:latin typeface="DM Sans"/>
                <a:ea typeface="DM Sans"/>
                <a:cs typeface="DM Sans"/>
                <a:sym typeface="DM Sans"/>
              </a:rPr>
              <a:t>Método hablar ()</a:t>
            </a:r>
            <a:endParaRPr sz="4000" b="1" i="0" u="none" strike="noStrike" cap="none">
              <a:solidFill>
                <a:schemeClr val="dk1"/>
              </a:solidFill>
              <a:latin typeface="DM Sans"/>
              <a:ea typeface="DM Sans"/>
              <a:cs typeface="DM Sans"/>
              <a:sym typeface="DM Sans"/>
            </a:endParaRPr>
          </a:p>
        </p:txBody>
      </p:sp>
      <p:sp>
        <p:nvSpPr>
          <p:cNvPr id="471" name="Google Shape;471;p58"/>
          <p:cNvSpPr txBox="1"/>
          <p:nvPr/>
        </p:nvSpPr>
        <p:spPr>
          <a:xfrm>
            <a:off x="524800" y="1339400"/>
            <a:ext cx="7885800" cy="392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Definamos tres clases de animales distintas que implementan el método </a:t>
            </a:r>
            <a:r>
              <a:rPr lang="es" sz="1350" b="1" i="0" u="none" strike="noStrike" cap="none">
                <a:solidFill>
                  <a:srgbClr val="000000"/>
                </a:solidFill>
                <a:highlight>
                  <a:schemeClr val="accent6"/>
                </a:highlight>
                <a:latin typeface="DM Sans"/>
                <a:ea typeface="DM Sans"/>
                <a:cs typeface="DM Sans"/>
                <a:sym typeface="DM Sans"/>
              </a:rPr>
              <a:t>hablar(). </a:t>
            </a:r>
            <a:endParaRPr sz="1350" b="1" i="0" u="none" strike="noStrike" cap="none">
              <a:solidFill>
                <a:srgbClr val="000000"/>
              </a:solidFill>
              <a:highlight>
                <a:schemeClr val="accent6"/>
              </a:highlight>
              <a:latin typeface="DM Sans"/>
              <a:ea typeface="DM Sans"/>
              <a:cs typeface="DM Sans"/>
              <a:sym typeface="DM Sans"/>
            </a:endParaRPr>
          </a:p>
        </p:txBody>
      </p:sp>
      <p:grpSp>
        <p:nvGrpSpPr>
          <p:cNvPr id="472" name="Google Shape;472;p58"/>
          <p:cNvGrpSpPr/>
          <p:nvPr/>
        </p:nvGrpSpPr>
        <p:grpSpPr>
          <a:xfrm>
            <a:off x="7928851" y="468323"/>
            <a:ext cx="738900" cy="738900"/>
            <a:chOff x="473351" y="619523"/>
            <a:chExt cx="738900" cy="738900"/>
          </a:xfrm>
        </p:grpSpPr>
        <p:sp>
          <p:nvSpPr>
            <p:cNvPr id="473" name="Google Shape;473;p58"/>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74" name="Google Shape;474;p58" title="ícono de ejemplo en vivo"/>
            <p:cNvPicPr preferRelativeResize="0"/>
            <p:nvPr/>
          </p:nvPicPr>
          <p:blipFill rotWithShape="1">
            <a:blip r:embed="rId3">
              <a:alphaModFix/>
            </a:blip>
            <a:srcRect/>
            <a:stretch/>
          </p:blipFill>
          <p:spPr>
            <a:xfrm>
              <a:off x="616475" y="762650"/>
              <a:ext cx="452650" cy="452650"/>
            </a:xfrm>
            <a:prstGeom prst="rect">
              <a:avLst/>
            </a:prstGeom>
            <a:noFill/>
            <a:ln>
              <a:noFill/>
            </a:ln>
          </p:spPr>
        </p:pic>
      </p:grpSp>
      <p:sp>
        <p:nvSpPr>
          <p:cNvPr id="475" name="Google Shape;475;p58"/>
          <p:cNvSpPr txBox="1"/>
          <p:nvPr/>
        </p:nvSpPr>
        <p:spPr>
          <a:xfrm>
            <a:off x="476250" y="4591050"/>
            <a:ext cx="300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chemeClr val="dk2"/>
                </a:solidFill>
                <a:latin typeface="DM Sans"/>
                <a:ea typeface="DM Sans"/>
                <a:cs typeface="DM Sans"/>
                <a:sym typeface="DM Sans"/>
              </a:rPr>
              <a:t>Fuente: </a:t>
            </a:r>
            <a:r>
              <a:rPr lang="es" sz="1100" b="0" i="0" u="none" strike="noStrike" cap="none">
                <a:solidFill>
                  <a:schemeClr val="hlink"/>
                </a:solidFill>
                <a:uFill>
                  <a:noFill/>
                </a:uFill>
                <a:latin typeface="DM Sans"/>
                <a:ea typeface="DM Sans"/>
                <a:cs typeface="DM Sans"/>
                <a:sym typeface="DM Sans"/>
                <a:hlinkClick r:id="rId4"/>
              </a:rPr>
              <a:t>ElLibroDePython</a:t>
            </a:r>
            <a:endParaRPr sz="1100" b="0" i="0" u="none" strike="noStrike" cap="none">
              <a:solidFill>
                <a:schemeClr val="accent5"/>
              </a:solidFill>
              <a:latin typeface="DM Sans"/>
              <a:ea typeface="DM Sans"/>
              <a:cs typeface="DM Sans"/>
              <a:sym typeface="DM Sans"/>
            </a:endParaRPr>
          </a:p>
        </p:txBody>
      </p:sp>
      <p:pic>
        <p:nvPicPr>
          <p:cNvPr id="476" name="Google Shape;476;p58"/>
          <p:cNvPicPr preferRelativeResize="0"/>
          <p:nvPr/>
        </p:nvPicPr>
        <p:blipFill rotWithShape="1">
          <a:blip r:embed="rId5">
            <a:alphaModFix/>
          </a:blip>
          <a:srcRect/>
          <a:stretch/>
        </p:blipFill>
        <p:spPr>
          <a:xfrm>
            <a:off x="524800" y="506237"/>
            <a:ext cx="663075" cy="663075"/>
          </a:xfrm>
          <a:prstGeom prst="rect">
            <a:avLst/>
          </a:prstGeom>
          <a:noFill/>
          <a:ln>
            <a:noFill/>
          </a:ln>
        </p:spPr>
      </p:pic>
      <p:sp>
        <p:nvSpPr>
          <p:cNvPr id="477" name="Google Shape;477;p58"/>
          <p:cNvSpPr txBox="1"/>
          <p:nvPr/>
        </p:nvSpPr>
        <p:spPr>
          <a:xfrm>
            <a:off x="4129550" y="2549575"/>
            <a:ext cx="3932100" cy="808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 sz="1350" b="0" i="0" u="none" strike="noStrike" cap="none">
                <a:solidFill>
                  <a:schemeClr val="dk1"/>
                </a:solidFill>
                <a:latin typeface="DM Sans"/>
                <a:ea typeface="DM Sans"/>
                <a:cs typeface="DM Sans"/>
                <a:sym typeface="DM Sans"/>
              </a:rPr>
              <a:t>Nótese que no existe </a:t>
            </a:r>
            <a:r>
              <a:rPr lang="es" sz="1350" b="1" i="0" u="none" strike="noStrike" cap="none">
                <a:solidFill>
                  <a:schemeClr val="dk1"/>
                </a:solidFill>
                <a:highlight>
                  <a:schemeClr val="accent6"/>
                </a:highlight>
                <a:latin typeface="DM Sans"/>
                <a:ea typeface="DM Sans"/>
                <a:cs typeface="DM Sans"/>
                <a:sym typeface="DM Sans"/>
              </a:rPr>
              <a:t>herencia </a:t>
            </a:r>
            <a:r>
              <a:rPr lang="es" sz="1350" b="0" i="0" u="none" strike="noStrike" cap="none">
                <a:solidFill>
                  <a:schemeClr val="dk1"/>
                </a:solidFill>
                <a:latin typeface="DM Sans"/>
                <a:ea typeface="DM Sans"/>
                <a:cs typeface="DM Sans"/>
                <a:sym typeface="DM Sans"/>
              </a:rPr>
              <a:t>entre ellas, son clases totalmente independientes. De haberla estaríamos hablando de </a:t>
            </a:r>
            <a:r>
              <a:rPr lang="es" sz="1350" b="1" i="0" u="none" strike="noStrike" cap="none">
                <a:solidFill>
                  <a:schemeClr val="dk1"/>
                </a:solidFill>
                <a:highlight>
                  <a:schemeClr val="accent6"/>
                </a:highlight>
                <a:latin typeface="DM Sans"/>
                <a:ea typeface="DM Sans"/>
                <a:cs typeface="DM Sans"/>
                <a:sym typeface="DM Sans"/>
              </a:rPr>
              <a:t>polimorfismo.</a:t>
            </a:r>
            <a:endParaRPr sz="1350" b="1" i="0" u="none" strike="noStrike" cap="none">
              <a:solidFill>
                <a:schemeClr val="dk1"/>
              </a:solidFill>
              <a:highlight>
                <a:schemeClr val="accent6"/>
              </a:highlight>
              <a:latin typeface="DM Sans"/>
              <a:ea typeface="DM Sans"/>
              <a:cs typeface="DM Sans"/>
              <a:sym typeface="DM Sans"/>
            </a:endParaRPr>
          </a:p>
        </p:txBody>
      </p:sp>
      <p:pic>
        <p:nvPicPr>
          <p:cNvPr id="478" name="Google Shape;478;p58"/>
          <p:cNvPicPr preferRelativeResize="0"/>
          <p:nvPr/>
        </p:nvPicPr>
        <p:blipFill rotWithShape="1">
          <a:blip r:embed="rId6">
            <a:alphaModFix/>
          </a:blip>
          <a:srcRect r="63579"/>
          <a:stretch/>
        </p:blipFill>
        <p:spPr>
          <a:xfrm>
            <a:off x="615525" y="1924752"/>
            <a:ext cx="3000001" cy="2473359"/>
          </a:xfrm>
          <a:prstGeom prst="rect">
            <a:avLst/>
          </a:prstGeom>
          <a:noFill/>
          <a:ln>
            <a:noFill/>
          </a:ln>
        </p:spPr>
      </p:pic>
      <p:sp>
        <p:nvSpPr>
          <p:cNvPr id="2" name="Rectángulo 1">
            <a:extLst>
              <a:ext uri="{FF2B5EF4-FFF2-40B4-BE49-F238E27FC236}">
                <a16:creationId xmlns:a16="http://schemas.microsoft.com/office/drawing/2014/main" id="{47430E8F-1B19-8C08-2390-7DC01AEC34A1}"/>
              </a:ext>
            </a:extLst>
          </p:cNvPr>
          <p:cNvSpPr/>
          <p:nvPr/>
        </p:nvSpPr>
        <p:spPr>
          <a:xfrm>
            <a:off x="0" y="4408968"/>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59"/>
          <p:cNvSpPr txBox="1"/>
          <p:nvPr/>
        </p:nvSpPr>
        <p:spPr>
          <a:xfrm>
            <a:off x="1159150" y="467125"/>
            <a:ext cx="47613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chemeClr val="dk1"/>
              </a:buClr>
              <a:buSzPts val="1100"/>
              <a:buFont typeface="Arial"/>
              <a:buNone/>
            </a:pPr>
            <a:r>
              <a:rPr lang="es" sz="4000" b="1" i="0" u="none" strike="noStrike" cap="none">
                <a:solidFill>
                  <a:schemeClr val="dk1"/>
                </a:solidFill>
                <a:latin typeface="DM Sans"/>
                <a:ea typeface="DM Sans"/>
                <a:cs typeface="DM Sans"/>
                <a:sym typeface="DM Sans"/>
              </a:rPr>
              <a:t>Método hablar ()</a:t>
            </a:r>
            <a:endParaRPr sz="4000" b="1" i="0" u="none" strike="noStrike" cap="none">
              <a:solidFill>
                <a:schemeClr val="dk1"/>
              </a:solidFill>
              <a:latin typeface="DM Sans"/>
              <a:ea typeface="DM Sans"/>
              <a:cs typeface="DM Sans"/>
              <a:sym typeface="DM Sans"/>
            </a:endParaRPr>
          </a:p>
        </p:txBody>
      </p:sp>
      <p:grpSp>
        <p:nvGrpSpPr>
          <p:cNvPr id="484" name="Google Shape;484;p59"/>
          <p:cNvGrpSpPr/>
          <p:nvPr/>
        </p:nvGrpSpPr>
        <p:grpSpPr>
          <a:xfrm>
            <a:off x="7928851" y="468323"/>
            <a:ext cx="738900" cy="738900"/>
            <a:chOff x="473351" y="619523"/>
            <a:chExt cx="738900" cy="738900"/>
          </a:xfrm>
        </p:grpSpPr>
        <p:sp>
          <p:nvSpPr>
            <p:cNvPr id="485" name="Google Shape;485;p59"/>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86" name="Google Shape;486;p59" title="ícono de ejemplo en vivo"/>
            <p:cNvPicPr preferRelativeResize="0"/>
            <p:nvPr/>
          </p:nvPicPr>
          <p:blipFill rotWithShape="1">
            <a:blip r:embed="rId3">
              <a:alphaModFix/>
            </a:blip>
            <a:srcRect/>
            <a:stretch/>
          </p:blipFill>
          <p:spPr>
            <a:xfrm>
              <a:off x="616475" y="762650"/>
              <a:ext cx="452650" cy="452650"/>
            </a:xfrm>
            <a:prstGeom prst="rect">
              <a:avLst/>
            </a:prstGeom>
            <a:noFill/>
            <a:ln>
              <a:noFill/>
            </a:ln>
          </p:spPr>
        </p:pic>
      </p:grpSp>
      <p:sp>
        <p:nvSpPr>
          <p:cNvPr id="487" name="Google Shape;487;p59"/>
          <p:cNvSpPr txBox="1"/>
          <p:nvPr/>
        </p:nvSpPr>
        <p:spPr>
          <a:xfrm>
            <a:off x="476250" y="4591050"/>
            <a:ext cx="300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chemeClr val="dk2"/>
                </a:solidFill>
                <a:latin typeface="DM Sans"/>
                <a:ea typeface="DM Sans"/>
                <a:cs typeface="DM Sans"/>
                <a:sym typeface="DM Sans"/>
              </a:rPr>
              <a:t>Fuente: </a:t>
            </a:r>
            <a:r>
              <a:rPr lang="es" sz="1100" b="0" i="0" u="none" strike="noStrike" cap="none">
                <a:solidFill>
                  <a:schemeClr val="hlink"/>
                </a:solidFill>
                <a:uFill>
                  <a:noFill/>
                </a:uFill>
                <a:latin typeface="DM Sans"/>
                <a:ea typeface="DM Sans"/>
                <a:cs typeface="DM Sans"/>
                <a:sym typeface="DM Sans"/>
                <a:hlinkClick r:id="rId4"/>
              </a:rPr>
              <a:t>ElLibroDePython</a:t>
            </a:r>
            <a:endParaRPr sz="1100" b="0" i="0" u="none" strike="noStrike" cap="none">
              <a:solidFill>
                <a:schemeClr val="accent5"/>
              </a:solidFill>
              <a:latin typeface="DM Sans"/>
              <a:ea typeface="DM Sans"/>
              <a:cs typeface="DM Sans"/>
              <a:sym typeface="DM Sans"/>
            </a:endParaRPr>
          </a:p>
        </p:txBody>
      </p:sp>
      <p:pic>
        <p:nvPicPr>
          <p:cNvPr id="488" name="Google Shape;488;p59"/>
          <p:cNvPicPr preferRelativeResize="0"/>
          <p:nvPr/>
        </p:nvPicPr>
        <p:blipFill rotWithShape="1">
          <a:blip r:embed="rId5">
            <a:alphaModFix/>
          </a:blip>
          <a:srcRect/>
          <a:stretch/>
        </p:blipFill>
        <p:spPr>
          <a:xfrm>
            <a:off x="524800" y="506237"/>
            <a:ext cx="663075" cy="663075"/>
          </a:xfrm>
          <a:prstGeom prst="rect">
            <a:avLst/>
          </a:prstGeom>
          <a:noFill/>
          <a:ln>
            <a:noFill/>
          </a:ln>
        </p:spPr>
      </p:pic>
      <p:sp>
        <p:nvSpPr>
          <p:cNvPr id="489" name="Google Shape;489;p59"/>
          <p:cNvSpPr txBox="1"/>
          <p:nvPr/>
        </p:nvSpPr>
        <p:spPr>
          <a:xfrm>
            <a:off x="3069375" y="1819500"/>
            <a:ext cx="3932100" cy="808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 sz="1350" b="0" i="0" u="none" strike="noStrike" cap="none">
                <a:solidFill>
                  <a:schemeClr val="dk1"/>
                </a:solidFill>
                <a:latin typeface="DM Sans"/>
                <a:ea typeface="DM Sans"/>
                <a:cs typeface="DM Sans"/>
                <a:sym typeface="DM Sans"/>
              </a:rPr>
              <a:t>Y, como es de esperar, la función </a:t>
            </a:r>
            <a:r>
              <a:rPr lang="es" sz="1350" b="1" i="0" u="none" strike="noStrike" cap="none">
                <a:solidFill>
                  <a:schemeClr val="dk1"/>
                </a:solidFill>
                <a:highlight>
                  <a:schemeClr val="accent6"/>
                </a:highlight>
                <a:latin typeface="DM Sans"/>
                <a:ea typeface="DM Sans"/>
                <a:cs typeface="DM Sans"/>
                <a:sym typeface="DM Sans"/>
              </a:rPr>
              <a:t>llama_hablar()</a:t>
            </a:r>
            <a:r>
              <a:rPr lang="es" sz="1350" b="0" i="0" u="none" strike="noStrike" cap="none">
                <a:solidFill>
                  <a:schemeClr val="dk1"/>
                </a:solidFill>
                <a:latin typeface="DM Sans"/>
                <a:ea typeface="DM Sans"/>
                <a:cs typeface="DM Sans"/>
                <a:sym typeface="DM Sans"/>
              </a:rPr>
              <a:t> funciona correctamente con todos los objetos.</a:t>
            </a:r>
            <a:endParaRPr sz="1350" b="0" i="0" u="none" strike="noStrike" cap="none">
              <a:solidFill>
                <a:schemeClr val="dk1"/>
              </a:solidFill>
              <a:latin typeface="DM Sans"/>
              <a:ea typeface="DM Sans"/>
              <a:cs typeface="DM Sans"/>
              <a:sym typeface="DM Sans"/>
            </a:endParaRPr>
          </a:p>
        </p:txBody>
      </p:sp>
      <p:pic>
        <p:nvPicPr>
          <p:cNvPr id="490" name="Google Shape;490;p59"/>
          <p:cNvPicPr preferRelativeResize="0"/>
          <p:nvPr/>
        </p:nvPicPr>
        <p:blipFill rotWithShape="1">
          <a:blip r:embed="rId6">
            <a:alphaModFix/>
          </a:blip>
          <a:srcRect r="74236"/>
          <a:stretch/>
        </p:blipFill>
        <p:spPr>
          <a:xfrm>
            <a:off x="524803" y="1329400"/>
            <a:ext cx="2372825" cy="1788400"/>
          </a:xfrm>
          <a:prstGeom prst="rect">
            <a:avLst/>
          </a:prstGeom>
          <a:noFill/>
          <a:ln>
            <a:noFill/>
          </a:ln>
        </p:spPr>
      </p:pic>
      <p:sp>
        <p:nvSpPr>
          <p:cNvPr id="491" name="Google Shape;491;p59"/>
          <p:cNvSpPr txBox="1"/>
          <p:nvPr/>
        </p:nvSpPr>
        <p:spPr>
          <a:xfrm>
            <a:off x="476250" y="3438775"/>
            <a:ext cx="3932100" cy="808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 sz="1350" i="0" u="none" strike="noStrike" cap="none">
                <a:solidFill>
                  <a:srgbClr val="000000"/>
                </a:solidFill>
                <a:latin typeface="DM Sans"/>
                <a:ea typeface="DM Sans"/>
                <a:cs typeface="DM Sans"/>
                <a:sym typeface="DM Sans"/>
              </a:rPr>
              <a:t>Otra forma de verlo, es iterando una lista con diferentes animales, donde animal toma los valores de cada objeto animal. </a:t>
            </a:r>
            <a:endParaRPr sz="1350" i="0" u="none" strike="noStrike" cap="none">
              <a:solidFill>
                <a:srgbClr val="000000"/>
              </a:solidFill>
              <a:latin typeface="DM Sans"/>
              <a:ea typeface="DM Sans"/>
              <a:cs typeface="DM Sans"/>
              <a:sym typeface="DM Sans"/>
            </a:endParaRPr>
          </a:p>
        </p:txBody>
      </p:sp>
      <p:pic>
        <p:nvPicPr>
          <p:cNvPr id="492" name="Google Shape;492;p59"/>
          <p:cNvPicPr preferRelativeResize="0"/>
          <p:nvPr/>
        </p:nvPicPr>
        <p:blipFill rotWithShape="1">
          <a:blip r:embed="rId7">
            <a:alphaModFix/>
          </a:blip>
          <a:srcRect r="62818"/>
          <a:stretch/>
        </p:blipFill>
        <p:spPr>
          <a:xfrm>
            <a:off x="5547127" y="2864063"/>
            <a:ext cx="3120625" cy="1726975"/>
          </a:xfrm>
          <a:prstGeom prst="rect">
            <a:avLst/>
          </a:prstGeom>
          <a:noFill/>
          <a:ln>
            <a:noFill/>
          </a:ln>
        </p:spPr>
      </p:pic>
      <p:sp>
        <p:nvSpPr>
          <p:cNvPr id="2" name="Rectángulo 1">
            <a:extLst>
              <a:ext uri="{FF2B5EF4-FFF2-40B4-BE49-F238E27FC236}">
                <a16:creationId xmlns:a16="http://schemas.microsoft.com/office/drawing/2014/main" id="{02C5B534-1DBA-5665-8BE4-5484A96957B7}"/>
              </a:ext>
            </a:extLst>
          </p:cNvPr>
          <p:cNvSpPr/>
          <p:nvPr/>
        </p:nvSpPr>
        <p:spPr>
          <a:xfrm>
            <a:off x="61645" y="4675177"/>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60"/>
          <p:cNvSpPr txBox="1"/>
          <p:nvPr/>
        </p:nvSpPr>
        <p:spPr>
          <a:xfrm>
            <a:off x="476250" y="482750"/>
            <a:ext cx="47613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chemeClr val="dk1"/>
              </a:buClr>
              <a:buSzPts val="1100"/>
              <a:buFont typeface="Arial"/>
              <a:buNone/>
            </a:pPr>
            <a:r>
              <a:rPr lang="es" sz="4000" b="1" i="0" u="none" strike="noStrike" cap="none">
                <a:solidFill>
                  <a:schemeClr val="dk1"/>
                </a:solidFill>
                <a:latin typeface="DM Sans"/>
                <a:ea typeface="DM Sans"/>
                <a:cs typeface="DM Sans"/>
                <a:sym typeface="DM Sans"/>
              </a:rPr>
              <a:t>Conclusiones</a:t>
            </a:r>
            <a:endParaRPr sz="4000" b="1" i="0" u="none" strike="noStrike" cap="none">
              <a:solidFill>
                <a:schemeClr val="dk1"/>
              </a:solidFill>
              <a:latin typeface="DM Sans"/>
              <a:ea typeface="DM Sans"/>
              <a:cs typeface="DM Sans"/>
              <a:sym typeface="DM Sans"/>
            </a:endParaRPr>
          </a:p>
        </p:txBody>
      </p:sp>
      <p:sp>
        <p:nvSpPr>
          <p:cNvPr id="498" name="Google Shape;498;p60"/>
          <p:cNvSpPr txBox="1"/>
          <p:nvPr/>
        </p:nvSpPr>
        <p:spPr>
          <a:xfrm>
            <a:off x="476250" y="4591050"/>
            <a:ext cx="300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chemeClr val="dk2"/>
                </a:solidFill>
                <a:latin typeface="DM Sans"/>
                <a:ea typeface="DM Sans"/>
                <a:cs typeface="DM Sans"/>
                <a:sym typeface="DM Sans"/>
              </a:rPr>
              <a:t>Fuente: </a:t>
            </a:r>
            <a:r>
              <a:rPr lang="es" sz="1100" b="0" i="0" u="none" strike="noStrike" cap="none">
                <a:solidFill>
                  <a:schemeClr val="hlink"/>
                </a:solidFill>
                <a:uFill>
                  <a:noFill/>
                </a:uFill>
                <a:latin typeface="DM Sans"/>
                <a:ea typeface="DM Sans"/>
                <a:cs typeface="DM Sans"/>
                <a:sym typeface="DM Sans"/>
                <a:hlinkClick r:id="rId3"/>
              </a:rPr>
              <a:t>ElLibroDePython</a:t>
            </a:r>
            <a:endParaRPr sz="1100" b="0" i="0" u="none" strike="noStrike" cap="none">
              <a:solidFill>
                <a:schemeClr val="accent5"/>
              </a:solidFill>
              <a:latin typeface="DM Sans"/>
              <a:ea typeface="DM Sans"/>
              <a:cs typeface="DM Sans"/>
              <a:sym typeface="DM Sans"/>
            </a:endParaRPr>
          </a:p>
        </p:txBody>
      </p:sp>
      <p:pic>
        <p:nvPicPr>
          <p:cNvPr id="499" name="Google Shape;499;p60"/>
          <p:cNvPicPr preferRelativeResize="0"/>
          <p:nvPr/>
        </p:nvPicPr>
        <p:blipFill rotWithShape="1">
          <a:blip r:embed="rId4">
            <a:alphaModFix/>
          </a:blip>
          <a:srcRect/>
          <a:stretch/>
        </p:blipFill>
        <p:spPr>
          <a:xfrm>
            <a:off x="5749450" y="1732551"/>
            <a:ext cx="1678400" cy="1678400"/>
          </a:xfrm>
          <a:prstGeom prst="rect">
            <a:avLst/>
          </a:prstGeom>
          <a:noFill/>
          <a:ln>
            <a:noFill/>
          </a:ln>
        </p:spPr>
      </p:pic>
      <p:sp>
        <p:nvSpPr>
          <p:cNvPr id="500" name="Google Shape;500;p60"/>
          <p:cNvSpPr txBox="1"/>
          <p:nvPr/>
        </p:nvSpPr>
        <p:spPr>
          <a:xfrm>
            <a:off x="476250" y="1559500"/>
            <a:ext cx="4935000" cy="2878200"/>
          </a:xfrm>
          <a:prstGeom prst="rect">
            <a:avLst/>
          </a:prstGeom>
          <a:noFill/>
          <a:ln>
            <a:noFill/>
          </a:ln>
        </p:spPr>
        <p:txBody>
          <a:bodyPr spcFirstLastPara="1" wrap="square" lIns="91425" tIns="91425" rIns="91425" bIns="91425" anchor="t" anchorCtr="0">
            <a:spAutoFit/>
          </a:bodyPr>
          <a:lstStyle/>
          <a:p>
            <a:pPr marL="457200" marR="0" lvl="0" indent="-314325" algn="l" rtl="0">
              <a:lnSpc>
                <a:spcPct val="100000"/>
              </a:lnSpc>
              <a:spcBef>
                <a:spcPts val="0"/>
              </a:spcBef>
              <a:spcAft>
                <a:spcPts val="0"/>
              </a:spcAft>
              <a:buClr>
                <a:schemeClr val="accent4"/>
              </a:buClr>
              <a:buSzPts val="1350"/>
              <a:buFont typeface="DM Sans"/>
              <a:buChar char="✓"/>
            </a:pPr>
            <a:r>
              <a:rPr lang="es" sz="1350" b="0" i="0" u="none" strike="noStrike" cap="none">
                <a:solidFill>
                  <a:schemeClr val="dk1"/>
                </a:solidFill>
                <a:latin typeface="DM Sans"/>
                <a:ea typeface="DM Sans"/>
                <a:cs typeface="DM Sans"/>
                <a:sym typeface="DM Sans"/>
              </a:rPr>
              <a:t>Python es un lenguaje que soporta el duck typing, lo que hace que el tipo de los objetos no sea tan relevante, siendo más importante lo que sus métodos pueden hacer. </a:t>
            </a:r>
            <a:endParaRPr sz="1350" b="0" i="0" u="none" strike="noStrike" cap="none">
              <a:solidFill>
                <a:schemeClr val="dk1"/>
              </a:solidFill>
              <a:latin typeface="DM Sans"/>
              <a:ea typeface="DM Sans"/>
              <a:cs typeface="DM Sans"/>
              <a:sym typeface="DM Sans"/>
            </a:endParaRPr>
          </a:p>
          <a:p>
            <a:pPr marL="45720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DM Sans"/>
              <a:buChar char="✓"/>
            </a:pPr>
            <a:r>
              <a:rPr lang="es" sz="1350" b="0" i="0" u="none" strike="noStrike" cap="none">
                <a:solidFill>
                  <a:schemeClr val="dk1"/>
                </a:solidFill>
                <a:latin typeface="DM Sans"/>
                <a:ea typeface="DM Sans"/>
                <a:cs typeface="DM Sans"/>
                <a:sym typeface="DM Sans"/>
              </a:rPr>
              <a:t>Otros lenguajes como Java, no soportan el duck typing, pero se puede conseguir un comportamiento similar cuando los objetos comparten un interfaz (si existe herencia entre ellos). Este concepto relacionado es el </a:t>
            </a:r>
            <a:r>
              <a:rPr lang="es" sz="1350" b="1" i="0" u="none" strike="noStrike" cap="none">
                <a:solidFill>
                  <a:schemeClr val="dk1"/>
                </a:solidFill>
                <a:latin typeface="DM Sans"/>
                <a:ea typeface="DM Sans"/>
                <a:cs typeface="DM Sans"/>
                <a:sym typeface="DM Sans"/>
              </a:rPr>
              <a:t>polimorfismo.</a:t>
            </a:r>
            <a:endParaRPr sz="1350" b="1" i="0" u="none" strike="noStrike" cap="none">
              <a:solidFill>
                <a:schemeClr val="dk1"/>
              </a:solidFill>
              <a:latin typeface="DM Sans"/>
              <a:ea typeface="DM Sans"/>
              <a:cs typeface="DM Sans"/>
              <a:sym typeface="DM Sans"/>
            </a:endParaRPr>
          </a:p>
          <a:p>
            <a:pPr marL="45720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457200" marR="0" lvl="0" indent="-311150" algn="l" rtl="0">
              <a:lnSpc>
                <a:spcPct val="100000"/>
              </a:lnSpc>
              <a:spcBef>
                <a:spcPts val="0"/>
              </a:spcBef>
              <a:spcAft>
                <a:spcPts val="0"/>
              </a:spcAft>
              <a:buClr>
                <a:schemeClr val="accent4"/>
              </a:buClr>
              <a:buSzPts val="1300"/>
              <a:buFont typeface="Arial"/>
              <a:buChar char="✓"/>
            </a:pPr>
            <a:r>
              <a:rPr lang="es" sz="1300" i="0" u="none" strike="noStrike" cap="none">
                <a:solidFill>
                  <a:schemeClr val="dk1"/>
                </a:solidFill>
                <a:latin typeface="DM Sans"/>
                <a:ea typeface="DM Sans"/>
                <a:cs typeface="DM Sans"/>
                <a:sym typeface="DM Sans"/>
              </a:rPr>
              <a:t>El duck typing está en todos lados, desde la función</a:t>
            </a:r>
            <a:r>
              <a:rPr lang="es" sz="1300" b="1" i="0" u="none" strike="noStrike" cap="none">
                <a:solidFill>
                  <a:schemeClr val="dk1"/>
                </a:solidFill>
                <a:latin typeface="DM Sans"/>
                <a:ea typeface="DM Sans"/>
                <a:cs typeface="DM Sans"/>
                <a:sym typeface="DM Sans"/>
              </a:rPr>
              <a:t> </a:t>
            </a:r>
            <a:r>
              <a:rPr lang="es" sz="1300" b="1" i="0" u="none" strike="noStrike" cap="none">
                <a:solidFill>
                  <a:schemeClr val="dk1"/>
                </a:solidFill>
                <a:highlight>
                  <a:schemeClr val="accent6"/>
                </a:highlight>
                <a:latin typeface="DM Sans"/>
                <a:ea typeface="DM Sans"/>
                <a:cs typeface="DM Sans"/>
                <a:sym typeface="DM Sans"/>
              </a:rPr>
              <a:t>len()</a:t>
            </a:r>
            <a:r>
              <a:rPr lang="es" sz="1300" i="0" u="none" strike="noStrike" cap="none">
                <a:solidFill>
                  <a:schemeClr val="dk1"/>
                </a:solidFill>
                <a:latin typeface="DM Sans"/>
                <a:ea typeface="DM Sans"/>
                <a:cs typeface="DM Sans"/>
                <a:sym typeface="DM Sans"/>
              </a:rPr>
              <a:t> hasta el uso del operador </a:t>
            </a:r>
            <a:r>
              <a:rPr lang="es" sz="1300" b="1" i="0" u="none" strike="noStrike" cap="none">
                <a:solidFill>
                  <a:schemeClr val="dk1"/>
                </a:solidFill>
                <a:highlight>
                  <a:schemeClr val="accent6"/>
                </a:highlight>
                <a:latin typeface="DM Sans"/>
                <a:ea typeface="DM Sans"/>
                <a:cs typeface="DM Sans"/>
                <a:sym typeface="DM Sans"/>
              </a:rPr>
              <a:t>*</a:t>
            </a:r>
            <a:r>
              <a:rPr lang="es" sz="1300" i="0" u="none" strike="noStrike" cap="none">
                <a:solidFill>
                  <a:schemeClr val="dk1"/>
                </a:solidFill>
                <a:latin typeface="DM Sans"/>
                <a:ea typeface="DM Sans"/>
                <a:cs typeface="DM Sans"/>
                <a:sym typeface="DM Sans"/>
              </a:rPr>
              <a:t> </a:t>
            </a:r>
            <a:endParaRPr sz="1300" b="1" i="0" u="none" strike="noStrike" cap="none">
              <a:solidFill>
                <a:schemeClr val="dk1"/>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BD463769-E1A0-5444-5DDD-FFDEEB4638A9}"/>
              </a:ext>
            </a:extLst>
          </p:cNvPr>
          <p:cNvSpPr/>
          <p:nvPr/>
        </p:nvSpPr>
        <p:spPr>
          <a:xfrm>
            <a:off x="0" y="4408968"/>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sp>
        <p:nvSpPr>
          <p:cNvPr id="505" name="Google Shape;505;p61"/>
          <p:cNvSpPr txBox="1"/>
          <p:nvPr/>
        </p:nvSpPr>
        <p:spPr>
          <a:xfrm>
            <a:off x="524800" y="468325"/>
            <a:ext cx="74040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chemeClr val="dk1"/>
              </a:buClr>
              <a:buSzPts val="1100"/>
              <a:buFont typeface="Arial"/>
              <a:buNone/>
            </a:pPr>
            <a:r>
              <a:rPr lang="es" sz="4000" b="1" i="0" u="none" strike="noStrike" cap="none">
                <a:solidFill>
                  <a:schemeClr val="dk1"/>
                </a:solidFill>
                <a:latin typeface="DM Sans"/>
                <a:ea typeface="DM Sans"/>
                <a:cs typeface="DM Sans"/>
                <a:sym typeface="DM Sans"/>
              </a:rPr>
              <a:t>Volviendo al Poliformismo</a:t>
            </a:r>
            <a:endParaRPr sz="4000" b="1" i="0" u="none" strike="noStrike" cap="none">
              <a:solidFill>
                <a:schemeClr val="dk1"/>
              </a:solidFill>
              <a:latin typeface="DM Sans"/>
              <a:ea typeface="DM Sans"/>
              <a:cs typeface="DM Sans"/>
              <a:sym typeface="DM Sans"/>
            </a:endParaRPr>
          </a:p>
        </p:txBody>
      </p:sp>
      <p:sp>
        <p:nvSpPr>
          <p:cNvPr id="506" name="Google Shape;506;p61"/>
          <p:cNvSpPr txBox="1"/>
          <p:nvPr/>
        </p:nvSpPr>
        <p:spPr>
          <a:xfrm>
            <a:off x="524800" y="1489600"/>
            <a:ext cx="7885800" cy="808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Al ser un lenguaje con tipado dinámico y permitir duck typing, en Python no es necesario que los objetos compartan un interfaz, simplemente basta con que tengan los métodos que se quieren llamar.</a:t>
            </a:r>
            <a:endParaRPr sz="1350" b="0" i="0" u="none" strike="noStrike" cap="none">
              <a:solidFill>
                <a:srgbClr val="000000"/>
              </a:solidFill>
              <a:latin typeface="DM Sans"/>
              <a:ea typeface="DM Sans"/>
              <a:cs typeface="DM Sans"/>
              <a:sym typeface="DM Sans"/>
            </a:endParaRPr>
          </a:p>
        </p:txBody>
      </p:sp>
      <p:grpSp>
        <p:nvGrpSpPr>
          <p:cNvPr id="507" name="Google Shape;507;p61"/>
          <p:cNvGrpSpPr/>
          <p:nvPr/>
        </p:nvGrpSpPr>
        <p:grpSpPr>
          <a:xfrm>
            <a:off x="7928851" y="468323"/>
            <a:ext cx="738900" cy="738900"/>
            <a:chOff x="473351" y="619523"/>
            <a:chExt cx="738900" cy="738900"/>
          </a:xfrm>
        </p:grpSpPr>
        <p:sp>
          <p:nvSpPr>
            <p:cNvPr id="508" name="Google Shape;508;p61"/>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09" name="Google Shape;509;p61" title="ícono de ejemplo en vivo"/>
            <p:cNvPicPr preferRelativeResize="0"/>
            <p:nvPr/>
          </p:nvPicPr>
          <p:blipFill rotWithShape="1">
            <a:blip r:embed="rId3">
              <a:alphaModFix/>
            </a:blip>
            <a:srcRect/>
            <a:stretch/>
          </p:blipFill>
          <p:spPr>
            <a:xfrm>
              <a:off x="616475" y="762650"/>
              <a:ext cx="452650" cy="452650"/>
            </a:xfrm>
            <a:prstGeom prst="rect">
              <a:avLst/>
            </a:prstGeom>
            <a:noFill/>
            <a:ln>
              <a:noFill/>
            </a:ln>
          </p:spPr>
        </p:pic>
      </p:grpSp>
      <p:sp>
        <p:nvSpPr>
          <p:cNvPr id="510" name="Google Shape;510;p61"/>
          <p:cNvSpPr txBox="1"/>
          <p:nvPr/>
        </p:nvSpPr>
        <p:spPr>
          <a:xfrm>
            <a:off x="476250" y="4591050"/>
            <a:ext cx="300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chemeClr val="dk2"/>
                </a:solidFill>
                <a:latin typeface="DM Sans"/>
                <a:ea typeface="DM Sans"/>
                <a:cs typeface="DM Sans"/>
                <a:sym typeface="DM Sans"/>
              </a:rPr>
              <a:t>Fuente: </a:t>
            </a:r>
            <a:r>
              <a:rPr lang="es" sz="1100" b="0" i="0" u="none" strike="noStrike" cap="none">
                <a:solidFill>
                  <a:schemeClr val="hlink"/>
                </a:solidFill>
                <a:uFill>
                  <a:noFill/>
                </a:uFill>
                <a:latin typeface="DM Sans"/>
                <a:ea typeface="DM Sans"/>
                <a:cs typeface="DM Sans"/>
                <a:sym typeface="DM Sans"/>
                <a:hlinkClick r:id="rId4"/>
              </a:rPr>
              <a:t>ElLibroDePython</a:t>
            </a:r>
            <a:endParaRPr sz="1100" b="0" i="0" u="none" strike="noStrike" cap="none">
              <a:solidFill>
                <a:schemeClr val="accent5"/>
              </a:solidFill>
              <a:latin typeface="DM Sans"/>
              <a:ea typeface="DM Sans"/>
              <a:cs typeface="DM Sans"/>
              <a:sym typeface="DM Sans"/>
            </a:endParaRPr>
          </a:p>
        </p:txBody>
      </p:sp>
      <p:sp>
        <p:nvSpPr>
          <p:cNvPr id="511" name="Google Shape;511;p61"/>
          <p:cNvSpPr txBox="1"/>
          <p:nvPr/>
        </p:nvSpPr>
        <p:spPr>
          <a:xfrm>
            <a:off x="476250" y="3007975"/>
            <a:ext cx="5376900" cy="600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 sz="1350" b="0" i="0" u="none" strike="noStrike" cap="none">
                <a:solidFill>
                  <a:schemeClr val="dk1"/>
                </a:solidFill>
                <a:latin typeface="DM Sans"/>
                <a:ea typeface="DM Sans"/>
                <a:cs typeface="DM Sans"/>
                <a:sym typeface="DM Sans"/>
              </a:rPr>
              <a:t>Supongamos que tenemos una clase </a:t>
            </a:r>
            <a:r>
              <a:rPr lang="es" sz="1350" b="1" i="0" u="none" strike="noStrike" cap="none">
                <a:solidFill>
                  <a:schemeClr val="dk1"/>
                </a:solidFill>
                <a:highlight>
                  <a:schemeClr val="accent6"/>
                </a:highlight>
                <a:latin typeface="DM Sans"/>
                <a:ea typeface="DM Sans"/>
                <a:cs typeface="DM Sans"/>
                <a:sym typeface="DM Sans"/>
              </a:rPr>
              <a:t>Animal </a:t>
            </a:r>
            <a:r>
              <a:rPr lang="es" sz="1350" b="0" i="0" u="none" strike="noStrike" cap="none">
                <a:solidFill>
                  <a:schemeClr val="dk1"/>
                </a:solidFill>
                <a:latin typeface="DM Sans"/>
                <a:ea typeface="DM Sans"/>
                <a:cs typeface="DM Sans"/>
                <a:sym typeface="DM Sans"/>
              </a:rPr>
              <a:t>con un método </a:t>
            </a:r>
            <a:r>
              <a:rPr lang="es" sz="1350" b="1" i="0" u="none" strike="noStrike" cap="none">
                <a:solidFill>
                  <a:schemeClr val="dk1"/>
                </a:solidFill>
                <a:highlight>
                  <a:schemeClr val="accent6"/>
                </a:highlight>
                <a:latin typeface="DM Sans"/>
                <a:ea typeface="DM Sans"/>
                <a:cs typeface="DM Sans"/>
                <a:sym typeface="DM Sans"/>
              </a:rPr>
              <a:t>hablar().</a:t>
            </a:r>
            <a:endParaRPr sz="1350" b="1" i="0" u="none" strike="noStrike" cap="none">
              <a:solidFill>
                <a:schemeClr val="dk1"/>
              </a:solidFill>
              <a:highlight>
                <a:schemeClr val="accent6"/>
              </a:highlight>
              <a:latin typeface="DM Sans"/>
              <a:ea typeface="DM Sans"/>
              <a:cs typeface="DM Sans"/>
              <a:sym typeface="DM Sans"/>
            </a:endParaRPr>
          </a:p>
        </p:txBody>
      </p:sp>
      <p:pic>
        <p:nvPicPr>
          <p:cNvPr id="512" name="Google Shape;512;p61"/>
          <p:cNvPicPr preferRelativeResize="0"/>
          <p:nvPr/>
        </p:nvPicPr>
        <p:blipFill rotWithShape="1">
          <a:blip r:embed="rId5">
            <a:alphaModFix/>
          </a:blip>
          <a:srcRect r="74670"/>
          <a:stretch/>
        </p:blipFill>
        <p:spPr>
          <a:xfrm>
            <a:off x="6039675" y="2597550"/>
            <a:ext cx="2370925" cy="1213250"/>
          </a:xfrm>
          <a:prstGeom prst="rect">
            <a:avLst/>
          </a:prstGeom>
          <a:noFill/>
          <a:ln>
            <a:noFill/>
          </a:ln>
        </p:spPr>
      </p:pic>
      <p:sp>
        <p:nvSpPr>
          <p:cNvPr id="2" name="Rectángulo 1">
            <a:extLst>
              <a:ext uri="{FF2B5EF4-FFF2-40B4-BE49-F238E27FC236}">
                <a16:creationId xmlns:a16="http://schemas.microsoft.com/office/drawing/2014/main" id="{28D72A42-F408-1D2E-1AFD-CDEDF3278744}"/>
              </a:ext>
            </a:extLst>
          </p:cNvPr>
          <p:cNvSpPr/>
          <p:nvPr/>
        </p:nvSpPr>
        <p:spPr>
          <a:xfrm>
            <a:off x="0" y="4408968"/>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p62"/>
          <p:cNvSpPr txBox="1"/>
          <p:nvPr/>
        </p:nvSpPr>
        <p:spPr>
          <a:xfrm>
            <a:off x="524800" y="468325"/>
            <a:ext cx="74040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chemeClr val="dk1"/>
              </a:buClr>
              <a:buSzPts val="1100"/>
              <a:buFont typeface="Arial"/>
              <a:buNone/>
            </a:pPr>
            <a:r>
              <a:rPr lang="es" sz="4000" b="1" i="0" u="none" strike="noStrike" cap="none">
                <a:solidFill>
                  <a:schemeClr val="dk1"/>
                </a:solidFill>
                <a:latin typeface="DM Sans"/>
                <a:ea typeface="DM Sans"/>
                <a:cs typeface="DM Sans"/>
                <a:sym typeface="DM Sans"/>
              </a:rPr>
              <a:t>hablar () y Poliformismo</a:t>
            </a:r>
            <a:endParaRPr sz="4000" b="1" i="0" u="none" strike="noStrike" cap="none">
              <a:solidFill>
                <a:schemeClr val="dk1"/>
              </a:solidFill>
              <a:latin typeface="DM Sans"/>
              <a:ea typeface="DM Sans"/>
              <a:cs typeface="DM Sans"/>
              <a:sym typeface="DM Sans"/>
            </a:endParaRPr>
          </a:p>
        </p:txBody>
      </p:sp>
      <p:sp>
        <p:nvSpPr>
          <p:cNvPr id="518" name="Google Shape;518;p62"/>
          <p:cNvSpPr txBox="1"/>
          <p:nvPr/>
        </p:nvSpPr>
        <p:spPr>
          <a:xfrm>
            <a:off x="524800" y="1489600"/>
            <a:ext cx="7885800" cy="600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Por otro lado tenemos otras dos clases, </a:t>
            </a:r>
            <a:r>
              <a:rPr lang="es" sz="1350" b="1" i="0" u="none" strike="noStrike" cap="none">
                <a:solidFill>
                  <a:schemeClr val="dk1"/>
                </a:solidFill>
                <a:highlight>
                  <a:schemeClr val="accent6"/>
                </a:highlight>
                <a:latin typeface="DM Sans"/>
                <a:ea typeface="DM Sans"/>
                <a:cs typeface="DM Sans"/>
                <a:sym typeface="DM Sans"/>
              </a:rPr>
              <a:t>Perro</a:t>
            </a:r>
            <a:r>
              <a:rPr lang="es" sz="1350" b="0" i="0" u="none" strike="noStrike" cap="none">
                <a:solidFill>
                  <a:srgbClr val="000000"/>
                </a:solidFill>
                <a:latin typeface="DM Sans"/>
                <a:ea typeface="DM Sans"/>
                <a:cs typeface="DM Sans"/>
                <a:sym typeface="DM Sans"/>
              </a:rPr>
              <a:t>, </a:t>
            </a:r>
            <a:r>
              <a:rPr lang="es" sz="1350" b="1" i="0" u="none" strike="noStrike" cap="none">
                <a:solidFill>
                  <a:schemeClr val="dk1"/>
                </a:solidFill>
                <a:highlight>
                  <a:schemeClr val="accent6"/>
                </a:highlight>
                <a:latin typeface="DM Sans"/>
                <a:ea typeface="DM Sans"/>
                <a:cs typeface="DM Sans"/>
                <a:sym typeface="DM Sans"/>
              </a:rPr>
              <a:t>Gato</a:t>
            </a:r>
            <a:r>
              <a:rPr lang="es" sz="1350" b="0" i="0" u="none" strike="noStrike" cap="none">
                <a:solidFill>
                  <a:srgbClr val="000000"/>
                </a:solidFill>
                <a:latin typeface="DM Sans"/>
                <a:ea typeface="DM Sans"/>
                <a:cs typeface="DM Sans"/>
                <a:sym typeface="DM Sans"/>
              </a:rPr>
              <a:t> que heredan de la anterior. Además, implementan el método </a:t>
            </a:r>
            <a:r>
              <a:rPr lang="es" sz="1350" b="1" i="0" u="none" strike="noStrike" cap="none">
                <a:solidFill>
                  <a:schemeClr val="dk1"/>
                </a:solidFill>
                <a:highlight>
                  <a:schemeClr val="accent6"/>
                </a:highlight>
                <a:latin typeface="DM Sans"/>
                <a:ea typeface="DM Sans"/>
                <a:cs typeface="DM Sans"/>
                <a:sym typeface="DM Sans"/>
              </a:rPr>
              <a:t>hablar()</a:t>
            </a:r>
            <a:r>
              <a:rPr lang="es" sz="1350" b="0" i="0" u="none" strike="noStrike" cap="none">
                <a:solidFill>
                  <a:srgbClr val="000000"/>
                </a:solidFill>
                <a:latin typeface="DM Sans"/>
                <a:ea typeface="DM Sans"/>
                <a:cs typeface="DM Sans"/>
                <a:sym typeface="DM Sans"/>
              </a:rPr>
              <a:t> de una forma distinta.</a:t>
            </a:r>
            <a:endParaRPr sz="1350" b="0" i="0" u="none" strike="noStrike" cap="none">
              <a:solidFill>
                <a:srgbClr val="000000"/>
              </a:solidFill>
              <a:latin typeface="DM Sans"/>
              <a:ea typeface="DM Sans"/>
              <a:cs typeface="DM Sans"/>
              <a:sym typeface="DM Sans"/>
            </a:endParaRPr>
          </a:p>
        </p:txBody>
      </p:sp>
      <p:grpSp>
        <p:nvGrpSpPr>
          <p:cNvPr id="519" name="Google Shape;519;p62"/>
          <p:cNvGrpSpPr/>
          <p:nvPr/>
        </p:nvGrpSpPr>
        <p:grpSpPr>
          <a:xfrm>
            <a:off x="7928851" y="468323"/>
            <a:ext cx="738900" cy="738900"/>
            <a:chOff x="473351" y="619523"/>
            <a:chExt cx="738900" cy="738900"/>
          </a:xfrm>
        </p:grpSpPr>
        <p:sp>
          <p:nvSpPr>
            <p:cNvPr id="520" name="Google Shape;520;p62"/>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21" name="Google Shape;521;p62" title="ícono de ejemplo en vivo"/>
            <p:cNvPicPr preferRelativeResize="0"/>
            <p:nvPr/>
          </p:nvPicPr>
          <p:blipFill rotWithShape="1">
            <a:blip r:embed="rId3">
              <a:alphaModFix/>
            </a:blip>
            <a:srcRect/>
            <a:stretch/>
          </p:blipFill>
          <p:spPr>
            <a:xfrm>
              <a:off x="616475" y="762650"/>
              <a:ext cx="452650" cy="452650"/>
            </a:xfrm>
            <a:prstGeom prst="rect">
              <a:avLst/>
            </a:prstGeom>
            <a:noFill/>
            <a:ln>
              <a:noFill/>
            </a:ln>
          </p:spPr>
        </p:pic>
      </p:grpSp>
      <p:sp>
        <p:nvSpPr>
          <p:cNvPr id="522" name="Google Shape;522;p62"/>
          <p:cNvSpPr txBox="1"/>
          <p:nvPr/>
        </p:nvSpPr>
        <p:spPr>
          <a:xfrm>
            <a:off x="476250" y="4591050"/>
            <a:ext cx="300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chemeClr val="dk2"/>
                </a:solidFill>
                <a:latin typeface="DM Sans"/>
                <a:ea typeface="DM Sans"/>
                <a:cs typeface="DM Sans"/>
                <a:sym typeface="DM Sans"/>
              </a:rPr>
              <a:t>Fuente: </a:t>
            </a:r>
            <a:r>
              <a:rPr lang="es" sz="1100" b="0" i="0" u="none" strike="noStrike" cap="none">
                <a:solidFill>
                  <a:schemeClr val="hlink"/>
                </a:solidFill>
                <a:uFill>
                  <a:noFill/>
                </a:uFill>
                <a:latin typeface="DM Sans"/>
                <a:ea typeface="DM Sans"/>
                <a:cs typeface="DM Sans"/>
                <a:sym typeface="DM Sans"/>
                <a:hlinkClick r:id="rId4"/>
              </a:rPr>
              <a:t>ElLibroDePython</a:t>
            </a:r>
            <a:endParaRPr sz="1100" b="0" i="0" u="none" strike="noStrike" cap="none">
              <a:solidFill>
                <a:schemeClr val="accent5"/>
              </a:solidFill>
              <a:latin typeface="DM Sans"/>
              <a:ea typeface="DM Sans"/>
              <a:cs typeface="DM Sans"/>
              <a:sym typeface="DM Sans"/>
            </a:endParaRPr>
          </a:p>
        </p:txBody>
      </p:sp>
      <p:pic>
        <p:nvPicPr>
          <p:cNvPr id="523" name="Google Shape;523;p62"/>
          <p:cNvPicPr preferRelativeResize="0"/>
          <p:nvPr/>
        </p:nvPicPr>
        <p:blipFill rotWithShape="1">
          <a:blip r:embed="rId5">
            <a:alphaModFix/>
          </a:blip>
          <a:srcRect r="62238"/>
          <a:stretch/>
        </p:blipFill>
        <p:spPr>
          <a:xfrm>
            <a:off x="3007650" y="2503549"/>
            <a:ext cx="3000000" cy="1907776"/>
          </a:xfrm>
          <a:prstGeom prst="rect">
            <a:avLst/>
          </a:prstGeom>
          <a:noFill/>
          <a:ln>
            <a:noFill/>
          </a:ln>
        </p:spPr>
      </p:pic>
      <p:sp>
        <p:nvSpPr>
          <p:cNvPr id="2" name="Rectángulo 1">
            <a:extLst>
              <a:ext uri="{FF2B5EF4-FFF2-40B4-BE49-F238E27FC236}">
                <a16:creationId xmlns:a16="http://schemas.microsoft.com/office/drawing/2014/main" id="{D5073998-6B2E-8735-E1C3-54365EE13750}"/>
              </a:ext>
            </a:extLst>
          </p:cNvPr>
          <p:cNvSpPr/>
          <p:nvPr/>
        </p:nvSpPr>
        <p:spPr>
          <a:xfrm>
            <a:off x="0" y="4408968"/>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27"/>
        <p:cNvGrpSpPr/>
        <p:nvPr/>
      </p:nvGrpSpPr>
      <p:grpSpPr>
        <a:xfrm>
          <a:off x="0" y="0"/>
          <a:ext cx="0" cy="0"/>
          <a:chOff x="0" y="0"/>
          <a:chExt cx="0" cy="0"/>
        </a:xfrm>
      </p:grpSpPr>
      <p:sp>
        <p:nvSpPr>
          <p:cNvPr id="528" name="Google Shape;528;p63"/>
          <p:cNvSpPr txBox="1"/>
          <p:nvPr/>
        </p:nvSpPr>
        <p:spPr>
          <a:xfrm>
            <a:off x="524800" y="468325"/>
            <a:ext cx="74040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chemeClr val="dk1"/>
              </a:buClr>
              <a:buSzPts val="1100"/>
              <a:buFont typeface="Arial"/>
              <a:buNone/>
            </a:pPr>
            <a:r>
              <a:rPr lang="es" sz="4000" b="1" i="0" u="none" strike="noStrike" cap="none">
                <a:solidFill>
                  <a:schemeClr val="dk1"/>
                </a:solidFill>
                <a:latin typeface="DM Sans"/>
                <a:ea typeface="DM Sans"/>
                <a:cs typeface="DM Sans"/>
                <a:sym typeface="DM Sans"/>
              </a:rPr>
              <a:t>hablar () y Poliformismo</a:t>
            </a:r>
            <a:endParaRPr sz="4000" b="1" i="0" u="none" strike="noStrike" cap="none">
              <a:solidFill>
                <a:schemeClr val="dk1"/>
              </a:solidFill>
              <a:latin typeface="DM Sans"/>
              <a:ea typeface="DM Sans"/>
              <a:cs typeface="DM Sans"/>
              <a:sym typeface="DM Sans"/>
            </a:endParaRPr>
          </a:p>
        </p:txBody>
      </p:sp>
      <p:sp>
        <p:nvSpPr>
          <p:cNvPr id="529" name="Google Shape;529;p63"/>
          <p:cNvSpPr txBox="1"/>
          <p:nvPr/>
        </p:nvSpPr>
        <p:spPr>
          <a:xfrm>
            <a:off x="476250" y="2391238"/>
            <a:ext cx="4709700" cy="1015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A continuación creamos un objeto de cada clase y llamamos al método </a:t>
            </a:r>
            <a:r>
              <a:rPr lang="es" sz="1350" b="1" i="0" u="none" strike="noStrike" cap="none">
                <a:solidFill>
                  <a:srgbClr val="000000"/>
                </a:solidFill>
                <a:highlight>
                  <a:schemeClr val="accent6"/>
                </a:highlight>
                <a:latin typeface="DM Sans"/>
                <a:ea typeface="DM Sans"/>
                <a:cs typeface="DM Sans"/>
                <a:sym typeface="DM Sans"/>
              </a:rPr>
              <a:t>hablar()</a:t>
            </a:r>
            <a:r>
              <a:rPr lang="es" sz="1350" b="0" i="0" u="none" strike="noStrike" cap="none">
                <a:solidFill>
                  <a:srgbClr val="000000"/>
                </a:solidFill>
                <a:latin typeface="DM Sans"/>
                <a:ea typeface="DM Sans"/>
                <a:cs typeface="DM Sans"/>
                <a:sym typeface="DM Sans"/>
              </a:rPr>
              <a:t>. Podemos observar que cada animal se comporta de manera distinta al usar</a:t>
            </a:r>
            <a:r>
              <a:rPr lang="es" sz="1350" b="1" i="0" u="none" strike="noStrike" cap="none">
                <a:solidFill>
                  <a:srgbClr val="000000"/>
                </a:solidFill>
                <a:latin typeface="DM Sans"/>
                <a:ea typeface="DM Sans"/>
                <a:cs typeface="DM Sans"/>
                <a:sym typeface="DM Sans"/>
              </a:rPr>
              <a:t> </a:t>
            </a:r>
            <a:r>
              <a:rPr lang="es" sz="1350" b="1" i="0" u="none" strike="noStrike" cap="none">
                <a:solidFill>
                  <a:srgbClr val="000000"/>
                </a:solidFill>
                <a:highlight>
                  <a:schemeClr val="accent6"/>
                </a:highlight>
                <a:latin typeface="DM Sans"/>
                <a:ea typeface="DM Sans"/>
                <a:cs typeface="DM Sans"/>
                <a:sym typeface="DM Sans"/>
              </a:rPr>
              <a:t>hablar().</a:t>
            </a:r>
            <a:endParaRPr sz="1350" b="1" i="0" u="none" strike="noStrike" cap="none">
              <a:solidFill>
                <a:srgbClr val="000000"/>
              </a:solidFill>
              <a:highlight>
                <a:schemeClr val="accent6"/>
              </a:highlight>
              <a:latin typeface="DM Sans"/>
              <a:ea typeface="DM Sans"/>
              <a:cs typeface="DM Sans"/>
              <a:sym typeface="DM Sans"/>
            </a:endParaRPr>
          </a:p>
        </p:txBody>
      </p:sp>
      <p:grpSp>
        <p:nvGrpSpPr>
          <p:cNvPr id="530" name="Google Shape;530;p63"/>
          <p:cNvGrpSpPr/>
          <p:nvPr/>
        </p:nvGrpSpPr>
        <p:grpSpPr>
          <a:xfrm>
            <a:off x="7928851" y="468323"/>
            <a:ext cx="738900" cy="738900"/>
            <a:chOff x="473351" y="619523"/>
            <a:chExt cx="738900" cy="738900"/>
          </a:xfrm>
        </p:grpSpPr>
        <p:sp>
          <p:nvSpPr>
            <p:cNvPr id="531" name="Google Shape;531;p63"/>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32" name="Google Shape;532;p63" title="ícono de ejemplo en vivo"/>
            <p:cNvPicPr preferRelativeResize="0"/>
            <p:nvPr/>
          </p:nvPicPr>
          <p:blipFill rotWithShape="1">
            <a:blip r:embed="rId3">
              <a:alphaModFix/>
            </a:blip>
            <a:srcRect/>
            <a:stretch/>
          </p:blipFill>
          <p:spPr>
            <a:xfrm>
              <a:off x="616475" y="762650"/>
              <a:ext cx="452650" cy="452650"/>
            </a:xfrm>
            <a:prstGeom prst="rect">
              <a:avLst/>
            </a:prstGeom>
            <a:noFill/>
            <a:ln>
              <a:noFill/>
            </a:ln>
          </p:spPr>
        </p:pic>
      </p:grpSp>
      <p:sp>
        <p:nvSpPr>
          <p:cNvPr id="533" name="Google Shape;533;p63"/>
          <p:cNvSpPr txBox="1"/>
          <p:nvPr/>
        </p:nvSpPr>
        <p:spPr>
          <a:xfrm>
            <a:off x="476250" y="4591050"/>
            <a:ext cx="300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chemeClr val="dk2"/>
                </a:solidFill>
                <a:latin typeface="DM Sans"/>
                <a:ea typeface="DM Sans"/>
                <a:cs typeface="DM Sans"/>
                <a:sym typeface="DM Sans"/>
              </a:rPr>
              <a:t>Fuente: </a:t>
            </a:r>
            <a:r>
              <a:rPr lang="es" sz="1100" b="0" i="0" u="none" strike="noStrike" cap="none">
                <a:solidFill>
                  <a:schemeClr val="hlink"/>
                </a:solidFill>
                <a:uFill>
                  <a:noFill/>
                </a:uFill>
                <a:latin typeface="DM Sans"/>
                <a:ea typeface="DM Sans"/>
                <a:cs typeface="DM Sans"/>
                <a:sym typeface="DM Sans"/>
                <a:hlinkClick r:id="rId4"/>
              </a:rPr>
              <a:t>ElLibroDePython</a:t>
            </a:r>
            <a:endParaRPr sz="1100" b="0" i="0" u="none" strike="noStrike" cap="none">
              <a:solidFill>
                <a:schemeClr val="accent5"/>
              </a:solidFill>
              <a:latin typeface="DM Sans"/>
              <a:ea typeface="DM Sans"/>
              <a:cs typeface="DM Sans"/>
              <a:sym typeface="DM Sans"/>
            </a:endParaRPr>
          </a:p>
        </p:txBody>
      </p:sp>
      <p:pic>
        <p:nvPicPr>
          <p:cNvPr id="534" name="Google Shape;534;p63"/>
          <p:cNvPicPr preferRelativeResize="0"/>
          <p:nvPr/>
        </p:nvPicPr>
        <p:blipFill rotWithShape="1">
          <a:blip r:embed="rId5">
            <a:alphaModFix/>
          </a:blip>
          <a:srcRect r="62686"/>
          <a:stretch/>
        </p:blipFill>
        <p:spPr>
          <a:xfrm>
            <a:off x="5107650" y="2142425"/>
            <a:ext cx="3560100" cy="1497450"/>
          </a:xfrm>
          <a:prstGeom prst="rect">
            <a:avLst/>
          </a:prstGeom>
          <a:noFill/>
          <a:ln>
            <a:noFill/>
          </a:ln>
        </p:spPr>
      </p:pic>
      <p:sp>
        <p:nvSpPr>
          <p:cNvPr id="2" name="Rectángulo 1">
            <a:extLst>
              <a:ext uri="{FF2B5EF4-FFF2-40B4-BE49-F238E27FC236}">
                <a16:creationId xmlns:a16="http://schemas.microsoft.com/office/drawing/2014/main" id="{62453349-9345-9827-1A40-4345B7EDA67E}"/>
              </a:ext>
            </a:extLst>
          </p:cNvPr>
          <p:cNvSpPr/>
          <p:nvPr/>
        </p:nvSpPr>
        <p:spPr>
          <a:xfrm>
            <a:off x="0" y="4408968"/>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grpSp>
        <p:nvGrpSpPr>
          <p:cNvPr id="539" name="Google Shape;539;p64"/>
          <p:cNvGrpSpPr/>
          <p:nvPr/>
        </p:nvGrpSpPr>
        <p:grpSpPr>
          <a:xfrm>
            <a:off x="457338" y="468286"/>
            <a:ext cx="431100" cy="431100"/>
            <a:chOff x="4616400" y="1950761"/>
            <a:chExt cx="431100" cy="431100"/>
          </a:xfrm>
        </p:grpSpPr>
        <p:sp>
          <p:nvSpPr>
            <p:cNvPr id="540" name="Google Shape;540;p64"/>
            <p:cNvSpPr/>
            <p:nvPr/>
          </p:nvSpPr>
          <p:spPr>
            <a:xfrm>
              <a:off x="4616400" y="1950761"/>
              <a:ext cx="431100" cy="4311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41" name="Google Shape;541;p64" title="ícono para recordar"/>
            <p:cNvPicPr preferRelativeResize="0"/>
            <p:nvPr/>
          </p:nvPicPr>
          <p:blipFill rotWithShape="1">
            <a:blip r:embed="rId3">
              <a:alphaModFix/>
            </a:blip>
            <a:srcRect/>
            <a:stretch/>
          </p:blipFill>
          <p:spPr>
            <a:xfrm>
              <a:off x="4699911" y="2034249"/>
              <a:ext cx="264076" cy="264076"/>
            </a:xfrm>
            <a:prstGeom prst="rect">
              <a:avLst/>
            </a:prstGeom>
            <a:noFill/>
            <a:ln>
              <a:noFill/>
            </a:ln>
          </p:spPr>
        </p:pic>
      </p:grpSp>
      <p:sp>
        <p:nvSpPr>
          <p:cNvPr id="542" name="Google Shape;542;p64"/>
          <p:cNvSpPr txBox="1"/>
          <p:nvPr/>
        </p:nvSpPr>
        <p:spPr>
          <a:xfrm>
            <a:off x="439650" y="1710600"/>
            <a:ext cx="8112300" cy="210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2500" b="0" i="0" u="none" strike="noStrike" cap="none">
                <a:solidFill>
                  <a:schemeClr val="lt1"/>
                </a:solidFill>
                <a:latin typeface="DM Sans"/>
                <a:ea typeface="DM Sans"/>
                <a:cs typeface="DM Sans"/>
                <a:sym typeface="DM Sans"/>
              </a:rPr>
              <a:t>En el caso anterior, la variable </a:t>
            </a:r>
            <a:r>
              <a:rPr lang="es" sz="2500" b="0" i="0" u="none" strike="noStrike" cap="none">
                <a:solidFill>
                  <a:schemeClr val="accent6"/>
                </a:solidFill>
                <a:latin typeface="DM Sans"/>
                <a:ea typeface="DM Sans"/>
                <a:cs typeface="DM Sans"/>
                <a:sym typeface="DM Sans"/>
              </a:rPr>
              <a:t>animal </a:t>
            </a:r>
            <a:r>
              <a:rPr lang="es" sz="2500" b="0" i="0" u="none" strike="noStrike" cap="none">
                <a:solidFill>
                  <a:schemeClr val="lt1"/>
                </a:solidFill>
                <a:latin typeface="DM Sans"/>
                <a:ea typeface="DM Sans"/>
                <a:cs typeface="DM Sans"/>
                <a:sym typeface="DM Sans"/>
              </a:rPr>
              <a:t>ha ido “tomando las formas” de </a:t>
            </a:r>
            <a:r>
              <a:rPr lang="es" sz="2500" b="0" i="0" u="none" strike="noStrike" cap="none">
                <a:solidFill>
                  <a:schemeClr val="accent6"/>
                </a:solidFill>
                <a:latin typeface="DM Sans"/>
                <a:ea typeface="DM Sans"/>
                <a:cs typeface="DM Sans"/>
                <a:sym typeface="DM Sans"/>
              </a:rPr>
              <a:t>Perro</a:t>
            </a:r>
            <a:r>
              <a:rPr lang="es" sz="2500" b="0" i="0" u="none" strike="noStrike" cap="none">
                <a:solidFill>
                  <a:schemeClr val="lt1"/>
                </a:solidFill>
                <a:latin typeface="DM Sans"/>
                <a:ea typeface="DM Sans"/>
                <a:cs typeface="DM Sans"/>
                <a:sym typeface="DM Sans"/>
              </a:rPr>
              <a:t> y</a:t>
            </a:r>
            <a:r>
              <a:rPr lang="es" sz="2500" b="0" i="0" u="none" strike="noStrike" cap="none">
                <a:solidFill>
                  <a:schemeClr val="accent6"/>
                </a:solidFill>
                <a:latin typeface="DM Sans"/>
                <a:ea typeface="DM Sans"/>
                <a:cs typeface="DM Sans"/>
                <a:sym typeface="DM Sans"/>
              </a:rPr>
              <a:t> Gato</a:t>
            </a:r>
            <a:r>
              <a:rPr lang="es" sz="2500" b="0" i="0" u="none" strike="noStrike" cap="none">
                <a:solidFill>
                  <a:schemeClr val="lt1"/>
                </a:solidFill>
                <a:latin typeface="DM Sans"/>
                <a:ea typeface="DM Sans"/>
                <a:cs typeface="DM Sans"/>
                <a:sym typeface="DM Sans"/>
              </a:rPr>
              <a:t>. Sin embargo, nótese que al tener tipado dinámico este ejemplo hubiera funcionado igual sin que existiera herencia entre </a:t>
            </a:r>
            <a:r>
              <a:rPr lang="es" sz="2500" b="0" i="0" u="none" strike="noStrike" cap="none">
                <a:solidFill>
                  <a:schemeClr val="accent6"/>
                </a:solidFill>
                <a:latin typeface="DM Sans"/>
                <a:ea typeface="DM Sans"/>
                <a:cs typeface="DM Sans"/>
                <a:sym typeface="DM Sans"/>
              </a:rPr>
              <a:t>Perro</a:t>
            </a:r>
            <a:r>
              <a:rPr lang="es" sz="2500" b="0" i="0" u="none" strike="noStrike" cap="none">
                <a:solidFill>
                  <a:schemeClr val="lt1"/>
                </a:solidFill>
                <a:latin typeface="DM Sans"/>
                <a:ea typeface="DM Sans"/>
                <a:cs typeface="DM Sans"/>
                <a:sym typeface="DM Sans"/>
              </a:rPr>
              <a:t> y</a:t>
            </a:r>
            <a:r>
              <a:rPr lang="es" sz="2500" b="0" i="0" u="none" strike="noStrike" cap="none">
                <a:solidFill>
                  <a:schemeClr val="accent6"/>
                </a:solidFill>
                <a:latin typeface="DM Sans"/>
                <a:ea typeface="DM Sans"/>
                <a:cs typeface="DM Sans"/>
                <a:sym typeface="DM Sans"/>
              </a:rPr>
              <a:t> Gato</a:t>
            </a:r>
            <a:r>
              <a:rPr lang="es" sz="2500" b="0" i="0" u="none" strike="noStrike" cap="none">
                <a:solidFill>
                  <a:schemeClr val="lt1"/>
                </a:solidFill>
                <a:latin typeface="DM Sans"/>
                <a:ea typeface="DM Sans"/>
                <a:cs typeface="DM Sans"/>
                <a:sym typeface="DM Sans"/>
              </a:rPr>
              <a:t>, como sucede en duck typing. </a:t>
            </a:r>
            <a:endParaRPr sz="2500" b="0" i="0" u="none" strike="noStrike" cap="none">
              <a:solidFill>
                <a:schemeClr val="lt1"/>
              </a:solidFill>
              <a:latin typeface="DM Sans"/>
              <a:ea typeface="DM Sans"/>
              <a:cs typeface="DM Sans"/>
              <a:sym typeface="DM Sans"/>
            </a:endParaRPr>
          </a:p>
        </p:txBody>
      </p:sp>
      <p:sp>
        <p:nvSpPr>
          <p:cNvPr id="543" name="Google Shape;543;p64"/>
          <p:cNvSpPr txBox="1"/>
          <p:nvPr/>
        </p:nvSpPr>
        <p:spPr>
          <a:xfrm>
            <a:off x="930550" y="468275"/>
            <a:ext cx="29175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 sz="1600" b="0" i="0" u="none" strike="noStrike" cap="none">
                <a:solidFill>
                  <a:schemeClr val="lt1"/>
                </a:solidFill>
                <a:latin typeface="DM Sans"/>
                <a:ea typeface="DM Sans"/>
                <a:cs typeface="DM Sans"/>
                <a:sym typeface="DM Sans"/>
              </a:rPr>
              <a:t>PARA RECORDAR</a:t>
            </a:r>
            <a:endParaRPr sz="1400" b="0" i="0" u="none" strike="noStrike" cap="none">
              <a:solidFill>
                <a:schemeClr val="lt1"/>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4D974E53-AB8C-7A9A-E28C-58AB2CC7F12F}"/>
              </a:ext>
            </a:extLst>
          </p:cNvPr>
          <p:cNvSpPr/>
          <p:nvPr/>
        </p:nvSpPr>
        <p:spPr>
          <a:xfrm>
            <a:off x="0" y="4408968"/>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sp>
        <p:nvSpPr>
          <p:cNvPr id="548" name="Google Shape;548;p65"/>
          <p:cNvSpPr txBox="1"/>
          <p:nvPr/>
        </p:nvSpPr>
        <p:spPr>
          <a:xfrm>
            <a:off x="1461300" y="1925435"/>
            <a:ext cx="6221400" cy="12930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Herencia y Encapsulamiento</a:t>
            </a:r>
            <a:endParaRPr sz="4000" b="1" i="0" u="none" strike="noStrike" cap="none">
              <a:solidFill>
                <a:schemeClr val="dk1"/>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788E523A-1D00-EA81-ACA1-2AC355FB0D33}"/>
              </a:ext>
            </a:extLst>
          </p:cNvPr>
          <p:cNvSpPr/>
          <p:nvPr/>
        </p:nvSpPr>
        <p:spPr>
          <a:xfrm>
            <a:off x="0" y="4408968"/>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3" name="Google Shape;553;p66"/>
          <p:cNvSpPr txBox="1"/>
          <p:nvPr/>
        </p:nvSpPr>
        <p:spPr>
          <a:xfrm>
            <a:off x="457725" y="1071050"/>
            <a:ext cx="4730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a:solidFill>
                  <a:schemeClr val="dk1"/>
                </a:solidFill>
                <a:latin typeface="DM Sans"/>
                <a:ea typeface="DM Sans"/>
                <a:cs typeface="DM Sans"/>
                <a:sym typeface="DM Sans"/>
              </a:rPr>
              <a:t>¡</a:t>
            </a:r>
            <a:r>
              <a:rPr lang="es" sz="4000" b="1" i="0" u="none" strike="noStrike" cap="none">
                <a:solidFill>
                  <a:schemeClr val="dk1"/>
                </a:solidFill>
                <a:latin typeface="DM Sans"/>
                <a:ea typeface="DM Sans"/>
                <a:cs typeface="DM Sans"/>
                <a:sym typeface="DM Sans"/>
              </a:rPr>
              <a:t>Por </a:t>
            </a:r>
            <a:r>
              <a:rPr lang="es" sz="4000" b="1">
                <a:solidFill>
                  <a:schemeClr val="dk1"/>
                </a:solidFill>
                <a:latin typeface="DM Sans"/>
                <a:ea typeface="DM Sans"/>
                <a:cs typeface="DM Sans"/>
                <a:sym typeface="DM Sans"/>
              </a:rPr>
              <a:t>ú</a:t>
            </a:r>
            <a:r>
              <a:rPr lang="es" sz="4000" b="1" i="0" u="none" strike="noStrike" cap="none">
                <a:solidFill>
                  <a:schemeClr val="dk1"/>
                </a:solidFill>
                <a:latin typeface="DM Sans"/>
                <a:ea typeface="DM Sans"/>
                <a:cs typeface="DM Sans"/>
                <a:sym typeface="DM Sans"/>
              </a:rPr>
              <a:t>ltimo!</a:t>
            </a:r>
            <a:endParaRPr sz="4000" b="1" i="0" u="none" strike="noStrike" cap="none">
              <a:solidFill>
                <a:schemeClr val="dk1"/>
              </a:solidFill>
              <a:latin typeface="DM Sans"/>
              <a:ea typeface="DM Sans"/>
              <a:cs typeface="DM Sans"/>
              <a:sym typeface="DM Sans"/>
            </a:endParaRPr>
          </a:p>
        </p:txBody>
      </p:sp>
      <p:sp>
        <p:nvSpPr>
          <p:cNvPr id="554" name="Google Shape;554;p66"/>
          <p:cNvSpPr txBox="1"/>
          <p:nvPr/>
        </p:nvSpPr>
        <p:spPr>
          <a:xfrm>
            <a:off x="476250" y="2431475"/>
            <a:ext cx="5989500" cy="12237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A través de la aplicación del concepto de Encapsulamiento, podemos indicarle</a:t>
            </a:r>
            <a:r>
              <a:rPr lang="es" sz="1350">
                <a:latin typeface="DM Sans"/>
                <a:ea typeface="DM Sans"/>
                <a:cs typeface="DM Sans"/>
                <a:sym typeface="DM Sans"/>
              </a:rPr>
              <a:t> </a:t>
            </a:r>
            <a:r>
              <a:rPr lang="es" sz="1350" b="0" i="0" u="none" strike="noStrike" cap="none">
                <a:solidFill>
                  <a:srgbClr val="000000"/>
                </a:solidFill>
                <a:latin typeface="DM Sans"/>
                <a:ea typeface="DM Sans"/>
                <a:cs typeface="DM Sans"/>
                <a:sym typeface="DM Sans"/>
              </a:rPr>
              <a:t>a Python por ejemplo, que no queremos que un método sea heredado por una clase hija.</a:t>
            </a:r>
            <a:endParaRPr/>
          </a:p>
          <a:p>
            <a:pPr marL="0" marR="0" lvl="0" indent="0" algn="just" rtl="0">
              <a:lnSpc>
                <a:spcPct val="100000"/>
              </a:lnSpc>
              <a:spcBef>
                <a:spcPts val="0"/>
              </a:spcBef>
              <a:spcAft>
                <a:spcPts val="0"/>
              </a:spcAft>
              <a:buClr>
                <a:schemeClr val="dk1"/>
              </a:buClr>
              <a:buSzPts val="1100"/>
              <a:buFont typeface="Arial"/>
              <a:buNone/>
            </a:pPr>
            <a:endParaRPr sz="1350" b="0" i="0" u="none" strike="noStrike" cap="none">
              <a:solidFill>
                <a:srgbClr val="000000"/>
              </a:solidFill>
              <a:latin typeface="DM Sans"/>
              <a:ea typeface="DM Sans"/>
              <a:cs typeface="DM Sans"/>
              <a:sym typeface="DM Sans"/>
            </a:endParaRPr>
          </a:p>
          <a:p>
            <a:pPr marL="0" marR="0" lvl="0" indent="0" algn="just"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Veamos a continuación el notebook: </a:t>
            </a:r>
            <a:r>
              <a:rPr lang="es" sz="1350" b="0" i="1" u="sng" strike="noStrike" cap="none">
                <a:solidFill>
                  <a:schemeClr val="hlink"/>
                </a:solidFill>
                <a:latin typeface="DM Sans"/>
                <a:ea typeface="DM Sans"/>
                <a:cs typeface="DM Sans"/>
                <a:sym typeface="DM Sans"/>
                <a:hlinkClick r:id="rId3"/>
              </a:rPr>
              <a:t>Herencia y Encapsulamiento.ipynb</a:t>
            </a:r>
            <a:endParaRPr sz="1350" b="0" i="1" u="none" strike="noStrike" cap="none">
              <a:solidFill>
                <a:srgbClr val="000000"/>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0437A5B8-9CC6-82BD-3638-EFAC592DF19A}"/>
              </a:ext>
            </a:extLst>
          </p:cNvPr>
          <p:cNvSpPr/>
          <p:nvPr/>
        </p:nvSpPr>
        <p:spPr>
          <a:xfrm>
            <a:off x="0" y="4408968"/>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grpSp>
        <p:nvGrpSpPr>
          <p:cNvPr id="559" name="Google Shape;559;p67"/>
          <p:cNvGrpSpPr/>
          <p:nvPr/>
        </p:nvGrpSpPr>
        <p:grpSpPr>
          <a:xfrm>
            <a:off x="4202556" y="841773"/>
            <a:ext cx="738900" cy="738900"/>
            <a:chOff x="974706" y="2467173"/>
            <a:chExt cx="738900" cy="738900"/>
          </a:xfrm>
        </p:grpSpPr>
        <p:sp>
          <p:nvSpPr>
            <p:cNvPr id="560" name="Google Shape;560;p67"/>
            <p:cNvSpPr/>
            <p:nvPr/>
          </p:nvSpPr>
          <p:spPr>
            <a:xfrm>
              <a:off x="974706" y="2467173"/>
              <a:ext cx="738900" cy="738900"/>
            </a:xfrm>
            <a:prstGeom prst="ellipse">
              <a:avLst/>
            </a:prstGeom>
            <a:solidFill>
              <a:srgbClr val="EA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61" name="Google Shape;561;p67" title="ícono de actividad en clase"/>
            <p:cNvPicPr preferRelativeResize="0"/>
            <p:nvPr/>
          </p:nvPicPr>
          <p:blipFill rotWithShape="1">
            <a:blip r:embed="rId3">
              <a:alphaModFix/>
            </a:blip>
            <a:srcRect/>
            <a:stretch/>
          </p:blipFill>
          <p:spPr>
            <a:xfrm>
              <a:off x="1109750" y="2610275"/>
              <a:ext cx="452650" cy="452650"/>
            </a:xfrm>
            <a:prstGeom prst="rect">
              <a:avLst/>
            </a:prstGeom>
            <a:noFill/>
            <a:ln>
              <a:noFill/>
            </a:ln>
          </p:spPr>
        </p:pic>
      </p:grpSp>
      <p:sp>
        <p:nvSpPr>
          <p:cNvPr id="562" name="Google Shape;562;p67"/>
          <p:cNvSpPr txBox="1"/>
          <p:nvPr/>
        </p:nvSpPr>
        <p:spPr>
          <a:xfrm>
            <a:off x="1461300" y="1751425"/>
            <a:ext cx="6221400" cy="7389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Herencia múltiple</a:t>
            </a:r>
            <a:endParaRPr sz="4000" b="1" i="0" u="none" strike="noStrike" cap="none">
              <a:solidFill>
                <a:schemeClr val="dk1"/>
              </a:solidFill>
              <a:highlight>
                <a:srgbClr val="EAFF6A"/>
              </a:highlight>
              <a:latin typeface="DM Sans"/>
              <a:ea typeface="DM Sans"/>
              <a:cs typeface="DM Sans"/>
              <a:sym typeface="DM Sans"/>
            </a:endParaRPr>
          </a:p>
        </p:txBody>
      </p:sp>
      <p:sp>
        <p:nvSpPr>
          <p:cNvPr id="563" name="Google Shape;563;p67"/>
          <p:cNvSpPr txBox="1"/>
          <p:nvPr/>
        </p:nvSpPr>
        <p:spPr>
          <a:xfrm>
            <a:off x="987300" y="3639813"/>
            <a:ext cx="7169400" cy="800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s" sz="2000" b="0" i="0" u="none" strike="noStrike" cap="none">
                <a:solidFill>
                  <a:srgbClr val="83AEFB"/>
                </a:solidFill>
                <a:latin typeface="DM Sans"/>
                <a:ea typeface="DM Sans"/>
                <a:cs typeface="DM Sans"/>
                <a:sym typeface="DM Sans"/>
              </a:rPr>
              <a:t>Duración: </a:t>
            </a:r>
            <a:r>
              <a:rPr lang="es" sz="2000" b="1" i="0" u="none" strike="noStrike" cap="none">
                <a:solidFill>
                  <a:srgbClr val="83AEFB"/>
                </a:solidFill>
                <a:latin typeface="DM Sans"/>
                <a:ea typeface="DM Sans"/>
                <a:cs typeface="DM Sans"/>
                <a:sym typeface="DM Sans"/>
              </a:rPr>
              <a:t>20 minutos</a:t>
            </a:r>
            <a:endParaRPr sz="2000" b="1" i="0" u="none" strike="noStrike" cap="none">
              <a:solidFill>
                <a:srgbClr val="83AEFB"/>
              </a:solidFill>
              <a:latin typeface="DM Sans"/>
              <a:ea typeface="DM Sans"/>
              <a:cs typeface="DM Sans"/>
              <a:sym typeface="DM Sans"/>
            </a:endParaRPr>
          </a:p>
          <a:p>
            <a:pPr marL="0" marR="0" lvl="0" indent="0" algn="ctr" rtl="0">
              <a:lnSpc>
                <a:spcPct val="100000"/>
              </a:lnSpc>
              <a:spcBef>
                <a:spcPts val="0"/>
              </a:spcBef>
              <a:spcAft>
                <a:spcPts val="0"/>
              </a:spcAft>
              <a:buClr>
                <a:srgbClr val="000000"/>
              </a:buClr>
              <a:buSzPts val="2000"/>
              <a:buFont typeface="Arial"/>
              <a:buNone/>
            </a:pPr>
            <a:endParaRPr sz="2000" b="0" i="0" u="none" strike="noStrike" cap="none">
              <a:solidFill>
                <a:srgbClr val="83AEFB"/>
              </a:solidFill>
              <a:latin typeface="DM Sans"/>
              <a:ea typeface="DM Sans"/>
              <a:cs typeface="DM Sans"/>
              <a:sym typeface="DM Sans"/>
            </a:endParaRPr>
          </a:p>
        </p:txBody>
      </p:sp>
      <p:sp>
        <p:nvSpPr>
          <p:cNvPr id="564" name="Google Shape;564;p67"/>
          <p:cNvSpPr txBox="1"/>
          <p:nvPr/>
        </p:nvSpPr>
        <p:spPr>
          <a:xfrm>
            <a:off x="987300" y="2490338"/>
            <a:ext cx="7169400" cy="800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s" sz="2000" b="0" i="0" u="none" strike="noStrike" cap="none">
                <a:solidFill>
                  <a:srgbClr val="999999"/>
                </a:solidFill>
                <a:latin typeface="DM Sans"/>
                <a:ea typeface="DM Sans"/>
                <a:cs typeface="DM Sans"/>
                <a:sym typeface="DM Sans"/>
              </a:rPr>
              <a:t>Crear una herencia múltiple, trabajando con Mamífero, Cetáceo, AnimalMarino. </a:t>
            </a:r>
            <a:endParaRPr sz="2000" b="0" i="0" u="none" strike="noStrike" cap="none">
              <a:solidFill>
                <a:srgbClr val="999999"/>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AF1C53D9-A287-9036-6844-2016B0CCF835}"/>
              </a:ext>
            </a:extLst>
          </p:cNvPr>
          <p:cNvSpPr/>
          <p:nvPr/>
        </p:nvSpPr>
        <p:spPr>
          <a:xfrm>
            <a:off x="0" y="4408968"/>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68"/>
        <p:cNvGrpSpPr/>
        <p:nvPr/>
      </p:nvGrpSpPr>
      <p:grpSpPr>
        <a:xfrm>
          <a:off x="0" y="0"/>
          <a:ext cx="0" cy="0"/>
          <a:chOff x="0" y="0"/>
          <a:chExt cx="0" cy="0"/>
        </a:xfrm>
      </p:grpSpPr>
      <p:grpSp>
        <p:nvGrpSpPr>
          <p:cNvPr id="569" name="Google Shape;569;p68"/>
          <p:cNvGrpSpPr/>
          <p:nvPr/>
        </p:nvGrpSpPr>
        <p:grpSpPr>
          <a:xfrm>
            <a:off x="457347" y="468297"/>
            <a:ext cx="431074" cy="431074"/>
            <a:chOff x="974706" y="2467173"/>
            <a:chExt cx="738900" cy="738900"/>
          </a:xfrm>
        </p:grpSpPr>
        <p:sp>
          <p:nvSpPr>
            <p:cNvPr id="570" name="Google Shape;570;p68"/>
            <p:cNvSpPr/>
            <p:nvPr/>
          </p:nvSpPr>
          <p:spPr>
            <a:xfrm>
              <a:off x="974706" y="2467173"/>
              <a:ext cx="738900" cy="738900"/>
            </a:xfrm>
            <a:prstGeom prst="ellipse">
              <a:avLst/>
            </a:prstGeom>
            <a:solidFill>
              <a:srgbClr val="EA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71" name="Google Shape;571;p68" title="ícono de actividad en clase"/>
            <p:cNvPicPr preferRelativeResize="0"/>
            <p:nvPr/>
          </p:nvPicPr>
          <p:blipFill rotWithShape="1">
            <a:blip r:embed="rId3">
              <a:alphaModFix/>
            </a:blip>
            <a:srcRect/>
            <a:stretch/>
          </p:blipFill>
          <p:spPr>
            <a:xfrm>
              <a:off x="1109750" y="2610275"/>
              <a:ext cx="452650" cy="452650"/>
            </a:xfrm>
            <a:prstGeom prst="rect">
              <a:avLst/>
            </a:prstGeom>
            <a:noFill/>
            <a:ln>
              <a:noFill/>
            </a:ln>
          </p:spPr>
        </p:pic>
      </p:grpSp>
      <p:sp>
        <p:nvSpPr>
          <p:cNvPr id="572" name="Google Shape;572;p68"/>
          <p:cNvSpPr txBox="1"/>
          <p:nvPr/>
        </p:nvSpPr>
        <p:spPr>
          <a:xfrm>
            <a:off x="501450" y="853150"/>
            <a:ext cx="49872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Herencia múltiple</a:t>
            </a:r>
            <a:endParaRPr sz="4000" b="1" i="0" u="none" strike="noStrike" cap="none">
              <a:solidFill>
                <a:schemeClr val="dk1"/>
              </a:solidFill>
              <a:latin typeface="DM Sans"/>
              <a:ea typeface="DM Sans"/>
              <a:cs typeface="DM Sans"/>
              <a:sym typeface="DM Sans"/>
            </a:endParaRPr>
          </a:p>
        </p:txBody>
      </p:sp>
      <p:pic>
        <p:nvPicPr>
          <p:cNvPr id="573" name="Google Shape;573;p68"/>
          <p:cNvPicPr preferRelativeResize="0"/>
          <p:nvPr/>
        </p:nvPicPr>
        <p:blipFill rotWithShape="1">
          <a:blip r:embed="rId4">
            <a:alphaModFix/>
          </a:blip>
          <a:srcRect/>
          <a:stretch/>
        </p:blipFill>
        <p:spPr>
          <a:xfrm>
            <a:off x="7811413" y="4692275"/>
            <a:ext cx="1150750" cy="267575"/>
          </a:xfrm>
          <a:prstGeom prst="rect">
            <a:avLst/>
          </a:prstGeom>
          <a:noFill/>
          <a:ln>
            <a:noFill/>
          </a:ln>
        </p:spPr>
      </p:pic>
      <p:sp>
        <p:nvSpPr>
          <p:cNvPr id="574" name="Google Shape;574;p68"/>
          <p:cNvSpPr txBox="1"/>
          <p:nvPr/>
        </p:nvSpPr>
        <p:spPr>
          <a:xfrm>
            <a:off x="457350" y="1592050"/>
            <a:ext cx="7600500" cy="392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 sz="1350" b="0" i="0" u="none" strike="noStrike" cap="none">
                <a:solidFill>
                  <a:srgbClr val="000000"/>
                </a:solidFill>
                <a:latin typeface="DM Sans"/>
                <a:ea typeface="DM Sans"/>
                <a:cs typeface="DM Sans"/>
                <a:sym typeface="DM Sans"/>
              </a:rPr>
              <a:t>Realizar la herencia múltiple respetando este diagrama de Clases UML. Y crear dos Cet</a:t>
            </a:r>
            <a:r>
              <a:rPr lang="es" sz="1350">
                <a:latin typeface="DM Sans"/>
                <a:ea typeface="DM Sans"/>
                <a:cs typeface="DM Sans"/>
                <a:sym typeface="DM Sans"/>
              </a:rPr>
              <a:t>á</a:t>
            </a:r>
            <a:r>
              <a:rPr lang="es" sz="1350" b="0" i="0" u="none" strike="noStrike" cap="none">
                <a:solidFill>
                  <a:srgbClr val="000000"/>
                </a:solidFill>
                <a:latin typeface="DM Sans"/>
                <a:ea typeface="DM Sans"/>
                <a:cs typeface="DM Sans"/>
                <a:sym typeface="DM Sans"/>
              </a:rPr>
              <a:t>ceos. </a:t>
            </a:r>
            <a:endParaRPr sz="1350" b="0" i="0" u="none" strike="noStrike" cap="none">
              <a:solidFill>
                <a:srgbClr val="000000"/>
              </a:solidFill>
              <a:latin typeface="DM Sans"/>
              <a:ea typeface="DM Sans"/>
              <a:cs typeface="DM Sans"/>
              <a:sym typeface="DM Sans"/>
            </a:endParaRPr>
          </a:p>
        </p:txBody>
      </p:sp>
      <p:sp>
        <p:nvSpPr>
          <p:cNvPr id="575" name="Google Shape;575;p68"/>
          <p:cNvSpPr txBox="1"/>
          <p:nvPr/>
        </p:nvSpPr>
        <p:spPr>
          <a:xfrm>
            <a:off x="930550" y="468275"/>
            <a:ext cx="24612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 sz="1600" b="0" i="0" u="none" strike="noStrike" cap="none">
                <a:solidFill>
                  <a:schemeClr val="dk1"/>
                </a:solidFill>
                <a:latin typeface="DM Sans"/>
                <a:ea typeface="DM Sans"/>
                <a:cs typeface="DM Sans"/>
                <a:sym typeface="DM Sans"/>
              </a:rPr>
              <a:t>ACTIVIDAD EN CLASE</a:t>
            </a:r>
            <a:endParaRPr sz="1400" b="0" i="0" u="none" strike="noStrike" cap="none">
              <a:solidFill>
                <a:srgbClr val="000000"/>
              </a:solidFill>
              <a:latin typeface="DM Sans"/>
              <a:ea typeface="DM Sans"/>
              <a:cs typeface="DM Sans"/>
              <a:sym typeface="DM Sans"/>
            </a:endParaRPr>
          </a:p>
        </p:txBody>
      </p:sp>
      <p:pic>
        <p:nvPicPr>
          <p:cNvPr id="576" name="Google Shape;576;p68"/>
          <p:cNvPicPr preferRelativeResize="0"/>
          <p:nvPr/>
        </p:nvPicPr>
        <p:blipFill rotWithShape="1">
          <a:blip r:embed="rId5">
            <a:alphaModFix/>
          </a:blip>
          <a:srcRect/>
          <a:stretch/>
        </p:blipFill>
        <p:spPr>
          <a:xfrm>
            <a:off x="409375" y="1982500"/>
            <a:ext cx="3002425" cy="2626800"/>
          </a:xfrm>
          <a:prstGeom prst="rect">
            <a:avLst/>
          </a:prstGeom>
          <a:noFill/>
          <a:ln>
            <a:noFill/>
          </a:ln>
        </p:spPr>
      </p:pic>
      <p:pic>
        <p:nvPicPr>
          <p:cNvPr id="577" name="Google Shape;577;p68"/>
          <p:cNvPicPr preferRelativeResize="0"/>
          <p:nvPr/>
        </p:nvPicPr>
        <p:blipFill rotWithShape="1">
          <a:blip r:embed="rId6">
            <a:alphaModFix/>
          </a:blip>
          <a:srcRect/>
          <a:stretch/>
        </p:blipFill>
        <p:spPr>
          <a:xfrm>
            <a:off x="4004725" y="2231321"/>
            <a:ext cx="4673526" cy="1853275"/>
          </a:xfrm>
          <a:prstGeom prst="rect">
            <a:avLst/>
          </a:prstGeom>
          <a:noFill/>
          <a:ln>
            <a:noFill/>
          </a:ln>
        </p:spPr>
      </p:pic>
      <p:sp>
        <p:nvSpPr>
          <p:cNvPr id="578" name="Google Shape;578;p68"/>
          <p:cNvSpPr txBox="1"/>
          <p:nvPr/>
        </p:nvSpPr>
        <p:spPr>
          <a:xfrm>
            <a:off x="476250" y="4591050"/>
            <a:ext cx="300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chemeClr val="dk2"/>
                </a:solidFill>
                <a:latin typeface="DM Sans"/>
                <a:ea typeface="DM Sans"/>
                <a:cs typeface="DM Sans"/>
                <a:sym typeface="DM Sans"/>
              </a:rPr>
              <a:t>Fuente: </a:t>
            </a:r>
            <a:r>
              <a:rPr lang="es" sz="1100" b="0" i="0" u="none" strike="noStrike" cap="none">
                <a:solidFill>
                  <a:schemeClr val="hlink"/>
                </a:solidFill>
                <a:uFill>
                  <a:noFill/>
                </a:uFill>
                <a:latin typeface="DM Sans"/>
                <a:ea typeface="DM Sans"/>
                <a:cs typeface="DM Sans"/>
                <a:sym typeface="DM Sans"/>
                <a:hlinkClick r:id="rId7"/>
              </a:rPr>
              <a:t>ElLibroDePython</a:t>
            </a:r>
            <a:endParaRPr sz="1100" b="0" i="0" u="none" strike="noStrike" cap="none">
              <a:solidFill>
                <a:schemeClr val="accent5"/>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DEF0275F-7AC8-C22F-17A3-83A12BA175EA}"/>
              </a:ext>
            </a:extLst>
          </p:cNvPr>
          <p:cNvSpPr/>
          <p:nvPr/>
        </p:nvSpPr>
        <p:spPr>
          <a:xfrm>
            <a:off x="0" y="4609300"/>
            <a:ext cx="9144000" cy="55610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82"/>
        <p:cNvGrpSpPr/>
        <p:nvPr/>
      </p:nvGrpSpPr>
      <p:grpSpPr>
        <a:xfrm>
          <a:off x="0" y="0"/>
          <a:ext cx="0" cy="0"/>
          <a:chOff x="0" y="0"/>
          <a:chExt cx="0" cy="0"/>
        </a:xfrm>
      </p:grpSpPr>
      <p:sp>
        <p:nvSpPr>
          <p:cNvPr id="583" name="Google Shape;583;p69"/>
          <p:cNvSpPr txBox="1"/>
          <p:nvPr/>
        </p:nvSpPr>
        <p:spPr>
          <a:xfrm>
            <a:off x="501450" y="899375"/>
            <a:ext cx="7310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Recursos multimedia</a:t>
            </a:r>
            <a:endParaRPr sz="4000" b="1" i="0" u="none" strike="noStrike" cap="none">
              <a:solidFill>
                <a:schemeClr val="dk1"/>
              </a:solidFill>
              <a:latin typeface="DM Sans"/>
              <a:ea typeface="DM Sans"/>
              <a:cs typeface="DM Sans"/>
              <a:sym typeface="DM Sans"/>
            </a:endParaRPr>
          </a:p>
        </p:txBody>
      </p:sp>
      <p:grpSp>
        <p:nvGrpSpPr>
          <p:cNvPr id="584" name="Google Shape;584;p69"/>
          <p:cNvGrpSpPr/>
          <p:nvPr/>
        </p:nvGrpSpPr>
        <p:grpSpPr>
          <a:xfrm>
            <a:off x="457358" y="468285"/>
            <a:ext cx="431074" cy="431074"/>
            <a:chOff x="4202550" y="994173"/>
            <a:chExt cx="738900" cy="738900"/>
          </a:xfrm>
        </p:grpSpPr>
        <p:sp>
          <p:nvSpPr>
            <p:cNvPr id="585" name="Google Shape;585;p69"/>
            <p:cNvSpPr/>
            <p:nvPr/>
          </p:nvSpPr>
          <p:spPr>
            <a:xfrm>
              <a:off x="4202550" y="99417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586" name="Google Shape;586;p69" title="ícono de material ampliado"/>
            <p:cNvPicPr preferRelativeResize="0"/>
            <p:nvPr/>
          </p:nvPicPr>
          <p:blipFill rotWithShape="1">
            <a:blip r:embed="rId3">
              <a:alphaModFix/>
            </a:blip>
            <a:srcRect/>
            <a:stretch/>
          </p:blipFill>
          <p:spPr>
            <a:xfrm>
              <a:off x="4346688" y="1138325"/>
              <a:ext cx="450600" cy="450600"/>
            </a:xfrm>
            <a:prstGeom prst="rect">
              <a:avLst/>
            </a:prstGeom>
            <a:noFill/>
            <a:ln>
              <a:noFill/>
            </a:ln>
          </p:spPr>
        </p:pic>
      </p:grpSp>
      <p:sp>
        <p:nvSpPr>
          <p:cNvPr id="587" name="Google Shape;587;p69"/>
          <p:cNvSpPr txBox="1"/>
          <p:nvPr/>
        </p:nvSpPr>
        <p:spPr>
          <a:xfrm>
            <a:off x="930550" y="468275"/>
            <a:ext cx="31992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 sz="1600" b="0" i="0" u="none" strike="noStrike" cap="none">
                <a:solidFill>
                  <a:schemeClr val="dk1"/>
                </a:solidFill>
                <a:latin typeface="DM Sans"/>
                <a:ea typeface="DM Sans"/>
                <a:cs typeface="DM Sans"/>
                <a:sym typeface="DM Sans"/>
              </a:rPr>
              <a:t>MATERIAL AMPLIADO</a:t>
            </a:r>
            <a:endParaRPr sz="1400" b="0" i="0" u="none" strike="noStrike" cap="none">
              <a:solidFill>
                <a:srgbClr val="000000"/>
              </a:solidFill>
              <a:latin typeface="DM Sans"/>
              <a:ea typeface="DM Sans"/>
              <a:cs typeface="DM Sans"/>
              <a:sym typeface="DM Sans"/>
            </a:endParaRPr>
          </a:p>
        </p:txBody>
      </p:sp>
      <p:sp>
        <p:nvSpPr>
          <p:cNvPr id="588" name="Google Shape;588;p69"/>
          <p:cNvSpPr txBox="1"/>
          <p:nvPr/>
        </p:nvSpPr>
        <p:spPr>
          <a:xfrm>
            <a:off x="559000" y="4675925"/>
            <a:ext cx="70563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100" b="0" i="0" u="none" strike="noStrike" cap="none">
                <a:solidFill>
                  <a:srgbClr val="999999"/>
                </a:solidFill>
                <a:latin typeface="DM Sans"/>
                <a:ea typeface="DM Sans"/>
                <a:cs typeface="DM Sans"/>
                <a:sym typeface="DM Sans"/>
              </a:rPr>
              <a:t>Disponible en nuestro repositorio.</a:t>
            </a:r>
            <a:endParaRPr sz="1100" b="0" i="1" u="sng" strike="noStrike" cap="none">
              <a:solidFill>
                <a:srgbClr val="83AEFB"/>
              </a:solidFill>
              <a:latin typeface="DM Sans"/>
              <a:ea typeface="DM Sans"/>
              <a:cs typeface="DM Sans"/>
              <a:sym typeface="DM Sans"/>
            </a:endParaRPr>
          </a:p>
        </p:txBody>
      </p:sp>
      <p:sp>
        <p:nvSpPr>
          <p:cNvPr id="589" name="Google Shape;589;p69"/>
          <p:cNvSpPr txBox="1"/>
          <p:nvPr/>
        </p:nvSpPr>
        <p:spPr>
          <a:xfrm>
            <a:off x="476250" y="2264750"/>
            <a:ext cx="6743100" cy="870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 sz="1350" b="1" i="0" u="none" strike="noStrike" cap="none">
                <a:solidFill>
                  <a:srgbClr val="000000"/>
                </a:solidFill>
                <a:latin typeface="DM Sans"/>
                <a:ea typeface="DM Sans"/>
                <a:cs typeface="DM Sans"/>
                <a:sym typeface="DM Sans"/>
              </a:rPr>
              <a:t>Ejercicios</a:t>
            </a:r>
            <a:endParaRPr sz="1350" b="1" i="0" u="none" strike="noStrike" cap="none">
              <a:solidFill>
                <a:srgbClr val="000000"/>
              </a:solidFill>
              <a:latin typeface="DM Sans"/>
              <a:ea typeface="DM Sans"/>
              <a:cs typeface="DM Sans"/>
              <a:sym typeface="DM Sans"/>
            </a:endParaRPr>
          </a:p>
          <a:p>
            <a:pPr marL="0" marR="0" lvl="0" indent="0" algn="l" rtl="0">
              <a:lnSpc>
                <a:spcPct val="30000"/>
              </a:lnSpc>
              <a:spcBef>
                <a:spcPts val="0"/>
              </a:spcBef>
              <a:spcAft>
                <a:spcPts val="0"/>
              </a:spcAft>
              <a:buClr>
                <a:srgbClr val="000000"/>
              </a:buClr>
              <a:buSzPts val="1350"/>
              <a:buFont typeface="Arial"/>
              <a:buNone/>
            </a:pPr>
            <a:endParaRPr sz="1350" b="1" i="0" u="none" strike="noStrike" cap="none">
              <a:solidFill>
                <a:srgbClr val="000000"/>
              </a:solidFill>
              <a:latin typeface="DM Sans"/>
              <a:ea typeface="DM Sans"/>
              <a:cs typeface="DM Sans"/>
              <a:sym typeface="DM Sans"/>
            </a:endParaRPr>
          </a:p>
          <a:p>
            <a:pPr marL="457200" marR="0" lvl="0" indent="-314325" algn="l" rtl="0">
              <a:lnSpc>
                <a:spcPct val="100000"/>
              </a:lnSpc>
              <a:spcBef>
                <a:spcPts val="0"/>
              </a:spcBef>
              <a:spcAft>
                <a:spcPts val="0"/>
              </a:spcAft>
              <a:buClr>
                <a:srgbClr val="EA90FF"/>
              </a:buClr>
              <a:buSzPts val="1350"/>
              <a:buFont typeface="DM Sans"/>
              <a:buChar char="✓"/>
            </a:pPr>
            <a:r>
              <a:rPr lang="es" sz="1350" b="0" i="0" u="sng" strike="noStrike" cap="none">
                <a:solidFill>
                  <a:schemeClr val="hlink"/>
                </a:solidFill>
                <a:latin typeface="DM Sans"/>
                <a:ea typeface="DM Sans"/>
                <a:cs typeface="DM Sans"/>
                <a:sym typeface="DM Sans"/>
                <a:hlinkClick r:id="rId4"/>
              </a:rPr>
              <a:t>Ejercicios de Repaso</a:t>
            </a:r>
            <a:endParaRPr sz="1350" b="0" i="0" u="sng" strike="noStrike" cap="none">
              <a:solidFill>
                <a:srgbClr val="83AEFB"/>
              </a:solidFill>
              <a:latin typeface="DM Sans"/>
              <a:ea typeface="DM Sans"/>
              <a:cs typeface="DM Sans"/>
              <a:sym typeface="DM Sans"/>
            </a:endParaRPr>
          </a:p>
          <a:p>
            <a:pPr marL="457200" marR="0" lvl="0" indent="-314325" algn="l" rtl="0">
              <a:lnSpc>
                <a:spcPct val="100000"/>
              </a:lnSpc>
              <a:spcBef>
                <a:spcPts val="0"/>
              </a:spcBef>
              <a:spcAft>
                <a:spcPts val="0"/>
              </a:spcAft>
              <a:buClr>
                <a:srgbClr val="EA90FF"/>
              </a:buClr>
              <a:buSzPts val="1350"/>
              <a:buFont typeface="DM Sans"/>
              <a:buChar char="✓"/>
            </a:pPr>
            <a:r>
              <a:rPr lang="es" sz="1350" b="0" i="0" u="sng" strike="noStrike" cap="none">
                <a:solidFill>
                  <a:schemeClr val="hlink"/>
                </a:solidFill>
                <a:latin typeface="DM Sans"/>
                <a:ea typeface="DM Sans"/>
                <a:cs typeface="DM Sans"/>
                <a:sym typeface="DM Sans"/>
                <a:hlinkClick r:id="rId5"/>
              </a:rPr>
              <a:t>Ejercicios Clase En Vivo</a:t>
            </a:r>
            <a:endParaRPr sz="1350" b="1" i="0" u="none" strike="noStrike" cap="none">
              <a:solidFill>
                <a:srgbClr val="999999"/>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11A361FD-679C-683B-CCE1-3A367B221C5C}"/>
              </a:ext>
            </a:extLst>
          </p:cNvPr>
          <p:cNvSpPr/>
          <p:nvPr/>
        </p:nvSpPr>
        <p:spPr>
          <a:xfrm>
            <a:off x="0" y="4408968"/>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70"/>
          <p:cNvSpPr txBox="1"/>
          <p:nvPr/>
        </p:nvSpPr>
        <p:spPr>
          <a:xfrm>
            <a:off x="1461300" y="2202300"/>
            <a:ext cx="6221400" cy="7389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4000"/>
              <a:buFont typeface="Arial"/>
              <a:buNone/>
            </a:pPr>
            <a:r>
              <a:rPr lang="es" sz="4000" b="1" i="0" u="none" strike="noStrike" cap="none">
                <a:solidFill>
                  <a:srgbClr val="EAFF6A"/>
                </a:solidFill>
                <a:latin typeface="DM Sans"/>
                <a:ea typeface="DM Sans"/>
                <a:cs typeface="DM Sans"/>
                <a:sym typeface="DM Sans"/>
              </a:rPr>
              <a:t>¿Preguntas?</a:t>
            </a:r>
            <a:endParaRPr sz="4000" b="1" i="0" u="none" strike="noStrike" cap="none">
              <a:solidFill>
                <a:srgbClr val="EAFF6A"/>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72F1C131-37D9-CF85-CBAE-99CE8FE51C85}"/>
              </a:ext>
            </a:extLst>
          </p:cNvPr>
          <p:cNvSpPr/>
          <p:nvPr/>
        </p:nvSpPr>
        <p:spPr>
          <a:xfrm>
            <a:off x="0" y="4408968"/>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theme/theme1.xml><?xml version="1.0" encoding="utf-8"?>
<a:theme xmlns:a="http://schemas.openxmlformats.org/drawingml/2006/main" name="Coder">
  <a:themeElements>
    <a:clrScheme name="Simple Light">
      <a:dk1>
        <a:srgbClr val="000000"/>
      </a:dk1>
      <a:lt1>
        <a:srgbClr val="FFFFFF"/>
      </a:lt1>
      <a:dk2>
        <a:srgbClr val="595959"/>
      </a:dk2>
      <a:lt2>
        <a:srgbClr val="EEEEEE"/>
      </a:lt2>
      <a:accent1>
        <a:srgbClr val="9DF4E2"/>
      </a:accent1>
      <a:accent2>
        <a:srgbClr val="212121"/>
      </a:accent2>
      <a:accent3>
        <a:srgbClr val="78909C"/>
      </a:accent3>
      <a:accent4>
        <a:srgbClr val="EA90FF"/>
      </a:accent4>
      <a:accent5>
        <a:srgbClr val="83AEFB"/>
      </a:accent5>
      <a:accent6>
        <a:srgbClr val="EAFF6A"/>
      </a:accent6>
      <a:hlink>
        <a:srgbClr val="83AEF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2774</Words>
  <Application>Microsoft Office PowerPoint</Application>
  <PresentationFormat>Presentación en pantalla (16:9)</PresentationFormat>
  <Paragraphs>334</Paragraphs>
  <Slides>55</Slides>
  <Notes>55</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55</vt:i4>
      </vt:variant>
    </vt:vector>
  </HeadingPairs>
  <TitlesOfParts>
    <vt:vector size="60" baseType="lpstr">
      <vt:lpstr>DM Sans</vt:lpstr>
      <vt:lpstr>Helvetica Neue Light</vt:lpstr>
      <vt:lpstr>Arial</vt:lpstr>
      <vt:lpstr>Helvetica Neue</vt:lpstr>
      <vt:lpstr>Coder</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Emanuel Tevez</cp:lastModifiedBy>
  <cp:revision>1</cp:revision>
  <dcterms:modified xsi:type="dcterms:W3CDTF">2025-10-02T19:12:22Z</dcterms:modified>
</cp:coreProperties>
</file>