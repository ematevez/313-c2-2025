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690" r:id="rId2"/>
    <p:sldMasterId id="2147483691" r:id="rId3"/>
  </p:sldMasterIdLst>
  <p:notesMasterIdLst>
    <p:notesMasterId r:id="rId44"/>
  </p:notesMasterIdLst>
  <p:sldIdLst>
    <p:sldId id="256"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embeddedFontLst>
    <p:embeddedFont>
      <p:font typeface="DM Sans" pitchFamily="2" charset="0"/>
      <p:regular r:id="rId45"/>
      <p:bold r:id="rId46"/>
      <p:italic r:id="rId47"/>
      <p:boldItalic r:id="rId48"/>
    </p:embeddedFont>
    <p:embeddedFont>
      <p:font typeface="Helvetica Neue Light"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52" Type="http://schemas.openxmlformats.org/officeDocument/2006/relationships/font" Target="fonts/font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font" Target="fonts/font4.fntdata"/><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7.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2.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b="1">
              <a:solidFill>
                <a:schemeClr val="dk1"/>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3" name="Google Shape;32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9" name="Google Shape;399;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3" name="Google Shape;42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2" name="Google Shape;442;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0" name="Google Shape;450;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chemeClr val="accent1"/>
              </a:solidFill>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3"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B">
  <p:cSld name="SECTION_HEADER_1_1_1_1_1_1_1_1_1_2">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19"/>
        <p:cNvGrpSpPr/>
        <p:nvPr/>
      </p:nvGrpSpPr>
      <p:grpSpPr>
        <a:xfrm>
          <a:off x="0" y="0"/>
          <a:ext cx="0" cy="0"/>
          <a:chOff x="0" y="0"/>
          <a:chExt cx="0" cy="0"/>
        </a:xfrm>
      </p:grpSpPr>
      <p:pic>
        <p:nvPicPr>
          <p:cNvPr id="20" name="Google Shape;20;p6"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 name="Google Shape;25;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6" name="Google Shape;2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1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1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4" name="Google Shape;3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7" name="Google Shape;3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1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 name="Google Shape;40;p1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1" name="Google Shape;41;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1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1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8" name="Google Shape;48;p1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1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50" name="Google Shape;50;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53" name="Google Shape;5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p1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7" name="Google Shape;5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64"/>
        <p:cNvGrpSpPr/>
        <p:nvPr/>
      </p:nvGrpSpPr>
      <p:grpSpPr>
        <a:xfrm>
          <a:off x="0" y="0"/>
          <a:ext cx="0" cy="0"/>
          <a:chOff x="0" y="0"/>
          <a:chExt cx="0" cy="0"/>
        </a:xfrm>
      </p:grpSpPr>
      <p:pic>
        <p:nvPicPr>
          <p:cNvPr id="65" name="Google Shape;65;p1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66"/>
        <p:cNvGrpSpPr/>
        <p:nvPr/>
      </p:nvGrpSpPr>
      <p:grpSpPr>
        <a:xfrm>
          <a:off x="0" y="0"/>
          <a:ext cx="0" cy="0"/>
          <a:chOff x="0" y="0"/>
          <a:chExt cx="0" cy="0"/>
        </a:xfrm>
      </p:grpSpPr>
      <p:pic>
        <p:nvPicPr>
          <p:cNvPr id="67" name="Google Shape;67;p20"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68"/>
        <p:cNvGrpSpPr/>
        <p:nvPr/>
      </p:nvGrpSpPr>
      <p:grpSpPr>
        <a:xfrm>
          <a:off x="0" y="0"/>
          <a:ext cx="0" cy="0"/>
          <a:chOff x="0" y="0"/>
          <a:chExt cx="0" cy="0"/>
        </a:xfrm>
      </p:grpSpPr>
      <p:pic>
        <p:nvPicPr>
          <p:cNvPr id="69" name="Google Shape;69;p21"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70"/>
        <p:cNvGrpSpPr/>
        <p:nvPr/>
      </p:nvGrpSpPr>
      <p:grpSpPr>
        <a:xfrm>
          <a:off x="0" y="0"/>
          <a:ext cx="0" cy="0"/>
          <a:chOff x="0" y="0"/>
          <a:chExt cx="0" cy="0"/>
        </a:xfrm>
      </p:grpSpPr>
      <p:pic>
        <p:nvPicPr>
          <p:cNvPr id="71" name="Google Shape;71;p2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72"/>
        <p:cNvGrpSpPr/>
        <p:nvPr/>
      </p:nvGrpSpPr>
      <p:grpSpPr>
        <a:xfrm>
          <a:off x="0" y="0"/>
          <a:ext cx="0" cy="0"/>
          <a:chOff x="0" y="0"/>
          <a:chExt cx="0" cy="0"/>
        </a:xfrm>
      </p:grpSpPr>
      <p:sp>
        <p:nvSpPr>
          <p:cNvPr id="73" name="Google Shape;73;p23"/>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4" name="Google Shape;74;p23"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75"/>
        <p:cNvGrpSpPr/>
        <p:nvPr/>
      </p:nvGrpSpPr>
      <p:grpSpPr>
        <a:xfrm>
          <a:off x="0" y="0"/>
          <a:ext cx="0" cy="0"/>
          <a:chOff x="0" y="0"/>
          <a:chExt cx="0" cy="0"/>
        </a:xfrm>
      </p:grpSpPr>
      <p:pic>
        <p:nvPicPr>
          <p:cNvPr id="76" name="Google Shape;76;p2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77"/>
        <p:cNvGrpSpPr/>
        <p:nvPr/>
      </p:nvGrpSpPr>
      <p:grpSpPr>
        <a:xfrm>
          <a:off x="0" y="0"/>
          <a:ext cx="0" cy="0"/>
          <a:chOff x="0" y="0"/>
          <a:chExt cx="0" cy="0"/>
        </a:xfrm>
      </p:grpSpPr>
      <p:pic>
        <p:nvPicPr>
          <p:cNvPr id="78" name="Google Shape;78;p2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79"/>
        <p:cNvGrpSpPr/>
        <p:nvPr/>
      </p:nvGrpSpPr>
      <p:grpSpPr>
        <a:xfrm>
          <a:off x="0" y="0"/>
          <a:ext cx="0" cy="0"/>
          <a:chOff x="0" y="0"/>
          <a:chExt cx="0" cy="0"/>
        </a:xfrm>
      </p:grpSpPr>
      <p:pic>
        <p:nvPicPr>
          <p:cNvPr id="80" name="Google Shape;80;p26"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81"/>
        <p:cNvGrpSpPr/>
        <p:nvPr/>
      </p:nvGrpSpPr>
      <p:grpSpPr>
        <a:xfrm>
          <a:off x="0" y="0"/>
          <a:ext cx="0" cy="0"/>
          <a:chOff x="0" y="0"/>
          <a:chExt cx="0" cy="0"/>
        </a:xfrm>
      </p:grpSpPr>
      <p:sp>
        <p:nvSpPr>
          <p:cNvPr id="82" name="Google Shape;82;p2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83" name="Google Shape;83;p2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84" name="Google Shape;84;p27"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85"/>
        <p:cNvGrpSpPr/>
        <p:nvPr/>
      </p:nvGrpSpPr>
      <p:grpSpPr>
        <a:xfrm>
          <a:off x="0" y="0"/>
          <a:ext cx="0" cy="0"/>
          <a:chOff x="0" y="0"/>
          <a:chExt cx="0" cy="0"/>
        </a:xfrm>
      </p:grpSpPr>
      <p:pic>
        <p:nvPicPr>
          <p:cNvPr id="86" name="Google Shape;86;p2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87"/>
        <p:cNvGrpSpPr/>
        <p:nvPr/>
      </p:nvGrpSpPr>
      <p:grpSpPr>
        <a:xfrm>
          <a:off x="0" y="0"/>
          <a:ext cx="0" cy="0"/>
          <a:chOff x="0" y="0"/>
          <a:chExt cx="0" cy="0"/>
        </a:xfrm>
      </p:grpSpPr>
      <p:pic>
        <p:nvPicPr>
          <p:cNvPr id="88" name="Google Shape;88;p2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9"/>
        <p:cNvGrpSpPr/>
        <p:nvPr/>
      </p:nvGrpSpPr>
      <p:grpSpPr>
        <a:xfrm>
          <a:off x="0" y="0"/>
          <a:ext cx="0" cy="0"/>
          <a:chOff x="0" y="0"/>
          <a:chExt cx="0" cy="0"/>
        </a:xfrm>
      </p:grpSpPr>
      <p:sp>
        <p:nvSpPr>
          <p:cNvPr id="90" name="Google Shape;90;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1" name="Google Shape;91;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2" name="Google Shape;92;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93"/>
        <p:cNvGrpSpPr/>
        <p:nvPr/>
      </p:nvGrpSpPr>
      <p:grpSpPr>
        <a:xfrm>
          <a:off x="0" y="0"/>
          <a:ext cx="0" cy="0"/>
          <a:chOff x="0" y="0"/>
          <a:chExt cx="0" cy="0"/>
        </a:xfrm>
      </p:grpSpPr>
      <p:pic>
        <p:nvPicPr>
          <p:cNvPr id="94" name="Google Shape;94;p31"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99"/>
        <p:cNvGrpSpPr/>
        <p:nvPr/>
      </p:nvGrpSpPr>
      <p:grpSpPr>
        <a:xfrm>
          <a:off x="0" y="0"/>
          <a:ext cx="0" cy="0"/>
          <a:chOff x="0" y="0"/>
          <a:chExt cx="0" cy="0"/>
        </a:xfrm>
      </p:grpSpPr>
      <p:pic>
        <p:nvPicPr>
          <p:cNvPr id="100" name="Google Shape;100;p33"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1"/>
        <p:cNvGrpSpPr/>
        <p:nvPr/>
      </p:nvGrpSpPr>
      <p:grpSpPr>
        <a:xfrm>
          <a:off x="0" y="0"/>
          <a:ext cx="0" cy="0"/>
          <a:chOff x="0" y="0"/>
          <a:chExt cx="0" cy="0"/>
        </a:xfrm>
      </p:grpSpPr>
      <p:sp>
        <p:nvSpPr>
          <p:cNvPr id="102" name="Google Shape;102;p3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3" name="Google Shape;103;p3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4" name="Google Shape;104;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5"/>
        <p:cNvGrpSpPr/>
        <p:nvPr/>
      </p:nvGrpSpPr>
      <p:grpSpPr>
        <a:xfrm>
          <a:off x="0" y="0"/>
          <a:ext cx="0" cy="0"/>
          <a:chOff x="0" y="0"/>
          <a:chExt cx="0" cy="0"/>
        </a:xfrm>
      </p:grpSpPr>
      <p:sp>
        <p:nvSpPr>
          <p:cNvPr id="106" name="Google Shape;106;p3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07" name="Google Shape;107;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8"/>
        <p:cNvGrpSpPr/>
        <p:nvPr/>
      </p:nvGrpSpPr>
      <p:grpSpPr>
        <a:xfrm>
          <a:off x="0" y="0"/>
          <a:ext cx="0" cy="0"/>
          <a:chOff x="0" y="0"/>
          <a:chExt cx="0" cy="0"/>
        </a:xfrm>
      </p:grpSpPr>
      <p:sp>
        <p:nvSpPr>
          <p:cNvPr id="109" name="Google Shape;109;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0" name="Google Shape;110;p3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11" name="Google Shape;111;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4" name="Google Shape;114;p3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15" name="Google Shape;115;p3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16" name="Google Shape;1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7"/>
        <p:cNvGrpSpPr/>
        <p:nvPr/>
      </p:nvGrpSpPr>
      <p:grpSpPr>
        <a:xfrm>
          <a:off x="0" y="0"/>
          <a:ext cx="0" cy="0"/>
          <a:chOff x="0" y="0"/>
          <a:chExt cx="0" cy="0"/>
        </a:xfrm>
      </p:grpSpPr>
      <p:sp>
        <p:nvSpPr>
          <p:cNvPr id="118" name="Google Shape;118;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9" name="Google Shape;11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0"/>
        <p:cNvGrpSpPr/>
        <p:nvPr/>
      </p:nvGrpSpPr>
      <p:grpSpPr>
        <a:xfrm>
          <a:off x="0" y="0"/>
          <a:ext cx="0" cy="0"/>
          <a:chOff x="0" y="0"/>
          <a:chExt cx="0" cy="0"/>
        </a:xfrm>
      </p:grpSpPr>
      <p:sp>
        <p:nvSpPr>
          <p:cNvPr id="121" name="Google Shape;121;p3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22" name="Google Shape;122;p3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23" name="Google Shape;123;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4"/>
        <p:cNvGrpSpPr/>
        <p:nvPr/>
      </p:nvGrpSpPr>
      <p:grpSpPr>
        <a:xfrm>
          <a:off x="0" y="0"/>
          <a:ext cx="0" cy="0"/>
          <a:chOff x="0" y="0"/>
          <a:chExt cx="0" cy="0"/>
        </a:xfrm>
      </p:grpSpPr>
      <p:sp>
        <p:nvSpPr>
          <p:cNvPr id="125" name="Google Shape;125;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6" name="Google Shape;126;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sp>
        <p:nvSpPr>
          <p:cNvPr id="128" name="Google Shape;128;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30" name="Google Shape;130;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1" name="Google Shape;131;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32" name="Google Shape;132;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3"/>
        <p:cNvGrpSpPr/>
        <p:nvPr/>
      </p:nvGrpSpPr>
      <p:grpSpPr>
        <a:xfrm>
          <a:off x="0" y="0"/>
          <a:ext cx="0" cy="0"/>
          <a:chOff x="0" y="0"/>
          <a:chExt cx="0" cy="0"/>
        </a:xfrm>
      </p:grpSpPr>
      <p:sp>
        <p:nvSpPr>
          <p:cNvPr id="134" name="Google Shape;134;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135" name="Google Shape;135;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6"/>
        <p:cNvGrpSpPr/>
        <p:nvPr/>
      </p:nvGrpSpPr>
      <p:grpSpPr>
        <a:xfrm>
          <a:off x="0" y="0"/>
          <a:ext cx="0" cy="0"/>
          <a:chOff x="0" y="0"/>
          <a:chExt cx="0" cy="0"/>
        </a:xfrm>
      </p:grpSpPr>
      <p:sp>
        <p:nvSpPr>
          <p:cNvPr id="137" name="Google Shape;137;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8" name="Google Shape;138;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39" name="Google Shape;139;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0"/>
        <p:cNvGrpSpPr/>
        <p:nvPr/>
      </p:nvGrpSpPr>
      <p:grpSpPr>
        <a:xfrm>
          <a:off x="0" y="0"/>
          <a:ext cx="0" cy="0"/>
          <a:chOff x="0" y="0"/>
          <a:chExt cx="0" cy="0"/>
        </a:xfrm>
      </p:grpSpPr>
      <p:sp>
        <p:nvSpPr>
          <p:cNvPr id="61" name="Google Shape;6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62" name="Google Shape;62;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63" name="Google Shape;6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5"/>
        <p:cNvGrpSpPr/>
        <p:nvPr/>
      </p:nvGrpSpPr>
      <p:grpSpPr>
        <a:xfrm>
          <a:off x="0" y="0"/>
          <a:ext cx="0" cy="0"/>
          <a:chOff x="0" y="0"/>
          <a:chExt cx="0" cy="0"/>
        </a:xfrm>
      </p:grpSpPr>
      <p:sp>
        <p:nvSpPr>
          <p:cNvPr id="96" name="Google Shape;96;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7" name="Google Shape;97;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8" name="Google Shape;98;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s://desarrolloweb.com/articulos/499.php"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esarrolloweb.com/articulos/499.php" TargetMode="External"/><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hyperlink" Target="https://www.4rsoluciones.com/blog/que-son-los-paradigmas-de-programacion-2/" TargetMode="External"/><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hyperlink" Target="https://www.4rsoluciones.com/blog/que-son-los-paradigmas-de-programacion-2/" TargetMode="External"/><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www.4rsoluciones.com/blog/que-son-los-paradigmas-de-programacion-2/" TargetMode="External"/><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hyperlink" Target="https://openwebinars.net/blog/diferencias-programacion-orientada-objetos-programacion-funcional/"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openwebinars.net/blog/diferencias-programacion-orientada-objetos-programacion-funcional/"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1.xml"/><Relationship Id="rId4" Type="http://schemas.openxmlformats.org/officeDocument/2006/relationships/hyperlink" Target="https://www.programadornovato.com/poo-programacion-orientada-a-objetos-en-kotlin-curso-de-kotlin-desde-cero-54/"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programadornovato.com/poo-programacion-orientada-a-objetos-en-kotlin-curso-de-kotlin-desde-cero-54/" TargetMode="External"/><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hyperlink" Target="https://www.programadornovato.com/poo-programacion-orientada-a-objetos-en-kotlin-curso-de-kotlin-desde-cero-54/"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hyperlink" Target="https://www.webyempresas.com/ejemplos-de-diagramas-de-clases-uml/"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1.xml"/><Relationship Id="rId4" Type="http://schemas.openxmlformats.org/officeDocument/2006/relationships/hyperlink" Target="https://vcalpena.wordpress.com/6-relaciones-entre-clases-herencia/"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9.xml"/><Relationship Id="rId6" Type="http://schemas.openxmlformats.org/officeDocument/2006/relationships/hyperlink" Target="http://cidecame.uaeh.edu.mx/lcc/mapa/PROYECTO/libro15/34_relaciones_entre_clases.html" TargetMode="Externa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9.xml"/><Relationship Id="rId5" Type="http://schemas.openxmlformats.org/officeDocument/2006/relationships/hyperlink" Target="http://cidecame.uaeh.edu.mx/lcc/mapa/PROYECTO/libro15/34_relaciones_entre_clases.html" TargetMode="Externa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hyperlink" Target="http://cidecame.uaeh.edu.mx/lcc/mapa/PROYECTO/libro15/34_relaciones_entre_clases.html" TargetMode="Externa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hyperlink" Target="http://cidecame.uaeh.edu.mx/lcc/mapa/PROYECTO/libro15/34_relaciones_entre_clases.html" TargetMode="Externa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hyperlink" Target="https://drive.google.com/file/d/1izCL-BjzA6tvkXqtDtd-cv-RrOOG5qiU/view?usp=sharing"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hyperlink" Target="https://colab.research.google.com/drive/1oSXUBbNY-wZcp4G41qqJgzKeJKr2cLsi?usp=sharing"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45"/>
          <p:cNvSpPr txBox="1"/>
          <p:nvPr/>
        </p:nvSpPr>
        <p:spPr>
          <a:xfrm>
            <a:off x="1461300" y="22529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Programación Orientada a Objetos – I</a:t>
            </a:r>
            <a:endParaRPr sz="40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0821C83-5D1F-DDFC-8D32-F03DCA1797B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7"/>
          <p:cNvSpPr txBox="1"/>
          <p:nvPr/>
        </p:nvSpPr>
        <p:spPr>
          <a:xfrm>
            <a:off x="501450" y="468275"/>
            <a:ext cx="8141100" cy="6003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000"/>
              <a:buFont typeface="Arial"/>
              <a:buNone/>
            </a:pPr>
            <a:r>
              <a:rPr lang="es" sz="3000" b="1" i="0" u="none" strike="noStrike" cap="none">
                <a:solidFill>
                  <a:srgbClr val="EAFF6A"/>
                </a:solidFill>
                <a:latin typeface="DM Sans"/>
                <a:ea typeface="DM Sans"/>
                <a:cs typeface="DM Sans"/>
                <a:sym typeface="DM Sans"/>
              </a:rPr>
              <a:t>Objetivos de la clase</a:t>
            </a:r>
            <a:endParaRPr sz="3000" b="1" i="0" u="none" strike="noStrike" cap="none">
              <a:solidFill>
                <a:srgbClr val="EAFF6A"/>
              </a:solidFill>
              <a:latin typeface="DM Sans"/>
              <a:ea typeface="DM Sans"/>
              <a:cs typeface="DM Sans"/>
              <a:sym typeface="DM Sans"/>
            </a:endParaRPr>
          </a:p>
        </p:txBody>
      </p:sp>
      <p:pic>
        <p:nvPicPr>
          <p:cNvPr id="161" name="Google Shape;161;p47"/>
          <p:cNvPicPr preferRelativeResize="0"/>
          <p:nvPr/>
        </p:nvPicPr>
        <p:blipFill rotWithShape="1">
          <a:blip r:embed="rId3">
            <a:alphaModFix/>
          </a:blip>
          <a:srcRect/>
          <a:stretch/>
        </p:blipFill>
        <p:spPr>
          <a:xfrm>
            <a:off x="2172438" y="1545313"/>
            <a:ext cx="196975" cy="196975"/>
          </a:xfrm>
          <a:prstGeom prst="rect">
            <a:avLst/>
          </a:prstGeom>
          <a:noFill/>
          <a:ln>
            <a:noFill/>
          </a:ln>
        </p:spPr>
      </p:pic>
      <p:sp>
        <p:nvSpPr>
          <p:cNvPr id="162" name="Google Shape;162;p47"/>
          <p:cNvSpPr txBox="1"/>
          <p:nvPr/>
        </p:nvSpPr>
        <p:spPr>
          <a:xfrm>
            <a:off x="2690561" y="1451613"/>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chemeClr val="lt1"/>
                </a:solidFill>
                <a:latin typeface="DM Sans"/>
                <a:ea typeface="DM Sans"/>
                <a:cs typeface="DM Sans"/>
                <a:sym typeface="DM Sans"/>
              </a:rPr>
              <a:t>Conocer </a:t>
            </a:r>
            <a:r>
              <a:rPr lang="es" sz="1350" b="0" i="0" u="none" strike="noStrike" cap="none">
                <a:solidFill>
                  <a:schemeClr val="lt1"/>
                </a:solidFill>
                <a:latin typeface="DM Sans"/>
                <a:ea typeface="DM Sans"/>
                <a:cs typeface="DM Sans"/>
                <a:sym typeface="DM Sans"/>
              </a:rPr>
              <a:t>qué es la POO.</a:t>
            </a:r>
            <a:endParaRPr sz="1350" b="0" i="0" u="none" strike="noStrike" cap="none">
              <a:solidFill>
                <a:schemeClr val="lt1"/>
              </a:solidFill>
              <a:latin typeface="DM Sans"/>
              <a:ea typeface="DM Sans"/>
              <a:cs typeface="DM Sans"/>
              <a:sym typeface="DM Sans"/>
            </a:endParaRPr>
          </a:p>
        </p:txBody>
      </p:sp>
      <p:pic>
        <p:nvPicPr>
          <p:cNvPr id="163" name="Google Shape;163;p47"/>
          <p:cNvPicPr preferRelativeResize="0"/>
          <p:nvPr/>
        </p:nvPicPr>
        <p:blipFill rotWithShape="1">
          <a:blip r:embed="rId3">
            <a:alphaModFix/>
          </a:blip>
          <a:srcRect/>
          <a:stretch/>
        </p:blipFill>
        <p:spPr>
          <a:xfrm>
            <a:off x="2172738" y="2277625"/>
            <a:ext cx="196975" cy="196975"/>
          </a:xfrm>
          <a:prstGeom prst="rect">
            <a:avLst/>
          </a:prstGeom>
          <a:noFill/>
          <a:ln>
            <a:noFill/>
          </a:ln>
        </p:spPr>
      </p:pic>
      <p:sp>
        <p:nvSpPr>
          <p:cNvPr id="164" name="Google Shape;164;p47"/>
          <p:cNvSpPr txBox="1"/>
          <p:nvPr/>
        </p:nvSpPr>
        <p:spPr>
          <a:xfrm>
            <a:off x="2690561" y="2181913"/>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chemeClr val="lt1"/>
                </a:solidFill>
                <a:latin typeface="DM Sans"/>
                <a:ea typeface="DM Sans"/>
                <a:cs typeface="DM Sans"/>
                <a:sym typeface="DM Sans"/>
              </a:rPr>
              <a:t>Diferenciar </a:t>
            </a:r>
            <a:r>
              <a:rPr lang="es" sz="1350" b="0" i="0" u="none" strike="noStrike" cap="none">
                <a:solidFill>
                  <a:schemeClr val="lt1"/>
                </a:solidFill>
                <a:latin typeface="DM Sans"/>
                <a:ea typeface="DM Sans"/>
                <a:cs typeface="DM Sans"/>
                <a:sym typeface="DM Sans"/>
              </a:rPr>
              <a:t>la POO de la programación tradicional.</a:t>
            </a:r>
            <a:endParaRPr sz="1350" b="0" i="0" u="none" strike="noStrike" cap="none">
              <a:solidFill>
                <a:schemeClr val="lt1"/>
              </a:solidFill>
              <a:latin typeface="DM Sans"/>
              <a:ea typeface="DM Sans"/>
              <a:cs typeface="DM Sans"/>
              <a:sym typeface="DM Sans"/>
            </a:endParaRPr>
          </a:p>
        </p:txBody>
      </p:sp>
      <p:pic>
        <p:nvPicPr>
          <p:cNvPr id="165" name="Google Shape;165;p47"/>
          <p:cNvPicPr preferRelativeResize="0"/>
          <p:nvPr/>
        </p:nvPicPr>
        <p:blipFill rotWithShape="1">
          <a:blip r:embed="rId3">
            <a:alphaModFix/>
          </a:blip>
          <a:srcRect/>
          <a:stretch/>
        </p:blipFill>
        <p:spPr>
          <a:xfrm>
            <a:off x="2172138" y="3009938"/>
            <a:ext cx="196975" cy="196975"/>
          </a:xfrm>
          <a:prstGeom prst="rect">
            <a:avLst/>
          </a:prstGeom>
          <a:noFill/>
          <a:ln>
            <a:noFill/>
          </a:ln>
        </p:spPr>
      </p:pic>
      <p:sp>
        <p:nvSpPr>
          <p:cNvPr id="166" name="Google Shape;166;p47"/>
          <p:cNvSpPr txBox="1"/>
          <p:nvPr/>
        </p:nvSpPr>
        <p:spPr>
          <a:xfrm>
            <a:off x="2690561" y="2912213"/>
            <a:ext cx="4281300" cy="631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350"/>
              <a:buFont typeface="Arial"/>
              <a:buNone/>
            </a:pPr>
            <a:r>
              <a:rPr lang="es" sz="1350" b="1" i="0" u="none" strike="noStrike" cap="none">
                <a:solidFill>
                  <a:schemeClr val="lt1"/>
                </a:solidFill>
                <a:latin typeface="DM Sans"/>
                <a:ea typeface="DM Sans"/>
                <a:cs typeface="DM Sans"/>
                <a:sym typeface="DM Sans"/>
              </a:rPr>
              <a:t>Aplicar </a:t>
            </a:r>
            <a:r>
              <a:rPr lang="es" sz="1350" b="0" i="0" u="none" strike="noStrike" cap="none">
                <a:solidFill>
                  <a:schemeClr val="lt1"/>
                </a:solidFill>
                <a:latin typeface="DM Sans"/>
                <a:ea typeface="DM Sans"/>
                <a:cs typeface="DM Sans"/>
                <a:sym typeface="DM Sans"/>
              </a:rPr>
              <a:t>el pensamiento computacional en un programa con objetos.</a:t>
            </a:r>
            <a:endParaRPr sz="1350" b="0" i="0" u="none" strike="noStrike" cap="none">
              <a:solidFill>
                <a:schemeClr val="lt1"/>
              </a:solidFill>
              <a:latin typeface="DM Sans"/>
              <a:ea typeface="DM Sans"/>
              <a:cs typeface="DM Sans"/>
              <a:sym typeface="DM Sans"/>
            </a:endParaRPr>
          </a:p>
        </p:txBody>
      </p:sp>
      <p:cxnSp>
        <p:nvCxnSpPr>
          <p:cNvPr id="167" name="Google Shape;167;p47"/>
          <p:cNvCxnSpPr>
            <a:stCxn id="161" idx="2"/>
            <a:endCxn id="163" idx="0"/>
          </p:cNvCxnSpPr>
          <p:nvPr/>
        </p:nvCxnSpPr>
        <p:spPr>
          <a:xfrm rot="-5400000" flipH="1">
            <a:off x="2003626" y="2009588"/>
            <a:ext cx="535200" cy="600"/>
          </a:xfrm>
          <a:prstGeom prst="bentConnector3">
            <a:avLst>
              <a:gd name="adj1" fmla="val 50013"/>
            </a:avLst>
          </a:prstGeom>
          <a:noFill/>
          <a:ln w="9525" cap="flat" cmpd="sng">
            <a:solidFill>
              <a:srgbClr val="EAFF6A"/>
            </a:solidFill>
            <a:prstDash val="solid"/>
            <a:round/>
            <a:headEnd type="none" w="sm" len="sm"/>
            <a:tailEnd type="none" w="sm" len="sm"/>
          </a:ln>
        </p:spPr>
      </p:cxnSp>
      <p:cxnSp>
        <p:nvCxnSpPr>
          <p:cNvPr id="168" name="Google Shape;168;p47"/>
          <p:cNvCxnSpPr>
            <a:stCxn id="163" idx="2"/>
            <a:endCxn id="165" idx="0"/>
          </p:cNvCxnSpPr>
          <p:nvPr/>
        </p:nvCxnSpPr>
        <p:spPr>
          <a:xfrm rot="5400000">
            <a:off x="2003326" y="2741900"/>
            <a:ext cx="535200" cy="600"/>
          </a:xfrm>
          <a:prstGeom prst="bentConnector3">
            <a:avLst>
              <a:gd name="adj1" fmla="val 50013"/>
            </a:avLst>
          </a:prstGeom>
          <a:noFill/>
          <a:ln w="9525" cap="flat" cmpd="sng">
            <a:solidFill>
              <a:srgbClr val="EAFF6A"/>
            </a:solidFill>
            <a:prstDash val="solid"/>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9"/>
          <p:cNvSpPr txBox="1"/>
          <p:nvPr/>
        </p:nvSpPr>
        <p:spPr>
          <a:xfrm>
            <a:off x="1404863" y="1941375"/>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¿Qué es la POO?</a:t>
            </a:r>
            <a:endParaRPr sz="40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18F80D6-AD32-D743-6AED-801FA9F975B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5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es la POO? </a:t>
            </a:r>
            <a:endParaRPr sz="4000" b="1" i="0" u="none" strike="noStrike" cap="none">
              <a:solidFill>
                <a:schemeClr val="dk1"/>
              </a:solidFill>
              <a:latin typeface="DM Sans"/>
              <a:ea typeface="DM Sans"/>
              <a:cs typeface="DM Sans"/>
              <a:sym typeface="DM Sans"/>
            </a:endParaRPr>
          </a:p>
        </p:txBody>
      </p:sp>
      <p:sp>
        <p:nvSpPr>
          <p:cNvPr id="203" name="Google Shape;203;p50"/>
          <p:cNvSpPr txBox="1"/>
          <p:nvPr/>
        </p:nvSpPr>
        <p:spPr>
          <a:xfrm>
            <a:off x="473350" y="1908175"/>
            <a:ext cx="57723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Es un modo o paradigma de programación, que nos permite </a:t>
            </a:r>
            <a:r>
              <a:rPr lang="es" sz="1350" b="0" i="0" u="none" strike="noStrike" cap="none">
                <a:solidFill>
                  <a:srgbClr val="000000"/>
                </a:solidFill>
                <a:highlight>
                  <a:schemeClr val="accent6"/>
                </a:highlight>
                <a:latin typeface="DM Sans"/>
                <a:ea typeface="DM Sans"/>
                <a:cs typeface="DM Sans"/>
                <a:sym typeface="DM Sans"/>
              </a:rPr>
              <a:t>organizar el código pensando el problema como una relación entre “cosas”, denominadas objetos</a:t>
            </a:r>
            <a:r>
              <a:rPr lang="es" sz="1350" b="0" i="0" u="none" strike="noStrike" cap="none">
                <a:solidFill>
                  <a:srgbClr val="000000"/>
                </a:solidFill>
                <a:latin typeface="DM Sans"/>
                <a:ea typeface="DM Sans"/>
                <a:cs typeface="DM Sans"/>
                <a:sym typeface="DM Sans"/>
              </a:rPr>
              <a:t>. Los objetos se trabajan utilizando las “</a:t>
            </a:r>
            <a:r>
              <a:rPr lang="es" sz="1350" b="1" i="0" u="none" strike="noStrike" cap="none">
                <a:solidFill>
                  <a:srgbClr val="000000"/>
                </a:solidFill>
                <a:highlight>
                  <a:schemeClr val="accent6"/>
                </a:highlight>
                <a:latin typeface="DM Sans"/>
                <a:ea typeface="DM Sans"/>
                <a:cs typeface="DM Sans"/>
                <a:sym typeface="DM Sans"/>
              </a:rPr>
              <a:t>clases</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Estas nos permiten agrupar un conjunto de variables y funciones que veremos a continuación.</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08EEC826-AF68-EF59-384C-83779E0CF6B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51"/>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Motivación</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44F2BFD-F430-858E-AFAF-CED68121E03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5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Motivación</a:t>
            </a:r>
            <a:endParaRPr sz="4000" b="1" i="0" u="none" strike="noStrike" cap="none">
              <a:solidFill>
                <a:schemeClr val="dk1"/>
              </a:solidFill>
              <a:latin typeface="DM Sans"/>
              <a:ea typeface="DM Sans"/>
              <a:cs typeface="DM Sans"/>
              <a:sym typeface="DM Sans"/>
            </a:endParaRPr>
          </a:p>
        </p:txBody>
      </p:sp>
      <p:sp>
        <p:nvSpPr>
          <p:cNvPr id="214" name="Google Shape;214;p52"/>
          <p:cNvSpPr txBox="1"/>
          <p:nvPr/>
        </p:nvSpPr>
        <p:spPr>
          <a:xfrm>
            <a:off x="473350" y="1908175"/>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350" b="0" i="0" u="none" strike="noStrike" cap="none">
                <a:solidFill>
                  <a:srgbClr val="000000"/>
                </a:solidFill>
                <a:latin typeface="DM Sans"/>
                <a:ea typeface="DM Sans"/>
                <a:cs typeface="DM Sans"/>
                <a:sym typeface="DM Sans"/>
              </a:rPr>
              <a:t>Los programadores se han dedicado a construir aplicaciones muy parecidas que resolvían una y otra vez los mismos problemas. Para conseguir que los esfuerzos de los programadores puedan ser reutilizados se creó la posibilidad de utilizar módulos. El primer módulo existente fue la función.</a:t>
            </a:r>
            <a:endParaRPr sz="1350" b="0" i="0" u="none" strike="noStrike" cap="none">
              <a:solidFill>
                <a:srgbClr val="000000"/>
              </a:solidFill>
              <a:latin typeface="DM Sans"/>
              <a:ea typeface="DM Sans"/>
              <a:cs typeface="DM Sans"/>
              <a:sym typeface="DM Sans"/>
            </a:endParaRPr>
          </a:p>
        </p:txBody>
      </p:sp>
      <p:sp>
        <p:nvSpPr>
          <p:cNvPr id="215" name="Google Shape;215;p52"/>
          <p:cNvSpPr txBox="1"/>
          <p:nvPr/>
        </p:nvSpPr>
        <p:spPr>
          <a:xfrm>
            <a:off x="4527575" y="1908175"/>
            <a:ext cx="3834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Pero la función se centra más en aportar una funcionalidad dada, pero no tiene tanto interés con los datos.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endParaRPr sz="1350" b="0" i="0" u="none" strike="noStrike" cap="none">
              <a:solidFill>
                <a:srgbClr val="000000"/>
              </a:solidFill>
              <a:latin typeface="DM Sans"/>
              <a:ea typeface="DM Sans"/>
              <a:cs typeface="DM Sans"/>
              <a:sym typeface="DM Sans"/>
            </a:endParaRPr>
          </a:p>
        </p:txBody>
      </p:sp>
      <p:sp>
        <p:nvSpPr>
          <p:cNvPr id="216" name="Google Shape;216;p52"/>
          <p:cNvSpPr txBox="1"/>
          <p:nvPr/>
        </p:nvSpPr>
        <p:spPr>
          <a:xfrm rot="5400000">
            <a:off x="6074675" y="2617675"/>
            <a:ext cx="10287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s" sz="1500" b="0" i="0" u="none" strike="noStrike" cap="none">
                <a:solidFill>
                  <a:schemeClr val="dk1"/>
                </a:solidFill>
                <a:latin typeface="DM Sans"/>
                <a:ea typeface="DM Sans"/>
                <a:cs typeface="DM Sans"/>
                <a:sym typeface="DM Sans"/>
              </a:rPr>
              <a:t>👉</a:t>
            </a:r>
            <a:endParaRPr sz="150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4D0746E-D008-9532-9453-FAD7F4A23C9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5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Motivación</a:t>
            </a:r>
            <a:endParaRPr sz="4000" b="1" i="0" u="none" strike="noStrike" cap="none">
              <a:solidFill>
                <a:schemeClr val="dk1"/>
              </a:solidFill>
              <a:latin typeface="DM Sans"/>
              <a:ea typeface="DM Sans"/>
              <a:cs typeface="DM Sans"/>
              <a:sym typeface="DM Sans"/>
            </a:endParaRPr>
          </a:p>
        </p:txBody>
      </p:sp>
      <p:sp>
        <p:nvSpPr>
          <p:cNvPr id="222" name="Google Shape;222;p53"/>
          <p:cNvSpPr txBox="1"/>
          <p:nvPr/>
        </p:nvSpPr>
        <p:spPr>
          <a:xfrm>
            <a:off x="473350" y="1908175"/>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350" b="0" i="0" u="none" strike="noStrike" cap="none">
                <a:solidFill>
                  <a:srgbClr val="000000"/>
                </a:solidFill>
                <a:latin typeface="DM Sans"/>
                <a:ea typeface="DM Sans"/>
                <a:cs typeface="DM Sans"/>
                <a:sym typeface="DM Sans"/>
              </a:rPr>
              <a:t>Con la POO se busca resolver aplicaciones cada vez más complejas, sin que el código se vuelva un caos. Además, se pretende dar pautas para realizar las cosas de manera que otras personas puedan utilizarlas y adelantar su trabajo, de manera que consigamos que </a:t>
            </a:r>
            <a:r>
              <a:rPr lang="es" sz="1350" b="0" i="0" u="none" strike="noStrike" cap="none">
                <a:solidFill>
                  <a:srgbClr val="000000"/>
                </a:solidFill>
                <a:highlight>
                  <a:schemeClr val="accent6"/>
                </a:highlight>
                <a:latin typeface="DM Sans"/>
                <a:ea typeface="DM Sans"/>
                <a:cs typeface="DM Sans"/>
                <a:sym typeface="DM Sans"/>
              </a:rPr>
              <a:t>el código se pueda reutilizar</a:t>
            </a: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pic>
        <p:nvPicPr>
          <p:cNvPr id="223" name="Google Shape;223;p53"/>
          <p:cNvPicPr preferRelativeResize="0"/>
          <p:nvPr/>
        </p:nvPicPr>
        <p:blipFill rotWithShape="1">
          <a:blip r:embed="rId3">
            <a:alphaModFix/>
          </a:blip>
          <a:srcRect/>
          <a:stretch/>
        </p:blipFill>
        <p:spPr>
          <a:xfrm>
            <a:off x="6607150" y="1822525"/>
            <a:ext cx="1498450" cy="1498450"/>
          </a:xfrm>
          <a:prstGeom prst="rect">
            <a:avLst/>
          </a:prstGeom>
          <a:noFill/>
          <a:ln>
            <a:noFill/>
          </a:ln>
        </p:spPr>
      </p:pic>
      <p:sp>
        <p:nvSpPr>
          <p:cNvPr id="224" name="Google Shape;224;p53"/>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4"/>
              </a:rPr>
              <a:t>DesarolloWeb</a:t>
            </a:r>
            <a:endParaRPr sz="1100" b="0" i="1" u="sng" strike="noStrike" cap="none">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438B8E4-E96A-8C0D-D80F-7916D6F1551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4"/>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En resumen…</a:t>
            </a:r>
            <a:endParaRPr sz="4000" b="1" i="0" u="none" strike="noStrike" cap="none">
              <a:solidFill>
                <a:srgbClr val="EAFF6A"/>
              </a:solidFill>
              <a:latin typeface="DM Sans"/>
              <a:ea typeface="DM Sans"/>
              <a:cs typeface="DM Sans"/>
              <a:sym typeface="DM Sans"/>
            </a:endParaRPr>
          </a:p>
        </p:txBody>
      </p:sp>
      <p:sp>
        <p:nvSpPr>
          <p:cNvPr id="230" name="Google Shape;230;p54"/>
          <p:cNvSpPr txBox="1"/>
          <p:nvPr/>
        </p:nvSpPr>
        <p:spPr>
          <a:xfrm>
            <a:off x="473350" y="1626100"/>
            <a:ext cx="7169400" cy="249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2500" b="0" i="0" u="none" strike="noStrike" cap="none">
                <a:solidFill>
                  <a:schemeClr val="lt1"/>
                </a:solidFill>
                <a:latin typeface="DM Sans"/>
                <a:ea typeface="DM Sans"/>
                <a:cs typeface="DM Sans"/>
                <a:sym typeface="DM Sans"/>
              </a:rPr>
              <a:t>Lo importante de la POO es poder separar los problemas generales en </a:t>
            </a:r>
            <a:r>
              <a:rPr lang="es" sz="2500" b="0" i="0" u="none" strike="noStrike" cap="none">
                <a:solidFill>
                  <a:schemeClr val="accent6"/>
                </a:solidFill>
                <a:latin typeface="DM Sans"/>
                <a:ea typeface="DM Sans"/>
                <a:cs typeface="DM Sans"/>
                <a:sym typeface="DM Sans"/>
              </a:rPr>
              <a:t>suma de pequeños problemas aislados</a:t>
            </a:r>
            <a:r>
              <a:rPr lang="es" sz="2500" b="0" i="0" u="none" strike="noStrike" cap="none">
                <a:solidFill>
                  <a:schemeClr val="lt1"/>
                </a:solidFill>
                <a:latin typeface="DM Sans"/>
                <a:ea typeface="DM Sans"/>
                <a:cs typeface="DM Sans"/>
                <a:sym typeface="DM Sans"/>
              </a:rPr>
              <a:t>, para poder modelar la solución y en un futuro que cualquiera pueda utilizar varios de estos módulos creados por este paradigma.</a:t>
            </a:r>
            <a:endParaRPr sz="2500" b="1" i="0" u="none" strike="noStrike" cap="none">
              <a:solidFill>
                <a:srgbClr val="EAFF6A"/>
              </a:solidFill>
              <a:latin typeface="DM Sans"/>
              <a:ea typeface="DM Sans"/>
              <a:cs typeface="DM Sans"/>
              <a:sym typeface="DM Sans"/>
            </a:endParaRPr>
          </a:p>
        </p:txBody>
      </p:sp>
      <p:sp>
        <p:nvSpPr>
          <p:cNvPr id="231" name="Google Shape;231;p54"/>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DesarolloWeb</a:t>
            </a:r>
            <a:endParaRPr sz="1100" b="0" i="1" u="sng" strike="noStrike" cap="none">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8D680DF-AAF7-0D6D-C6DE-CE53219D586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55"/>
          <p:cNvSpPr txBox="1"/>
          <p:nvPr/>
        </p:nvSpPr>
        <p:spPr>
          <a:xfrm>
            <a:off x="1461300" y="1648200"/>
            <a:ext cx="62214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Diferencias con la </a:t>
            </a:r>
            <a:endParaRPr sz="4000" b="1" i="0" u="none" strike="noStrike" cap="none">
              <a:solidFill>
                <a:schemeClr val="dk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programación tradicional</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417C203-E2D7-3DC9-0D22-4B7889F458B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56"/>
          <p:cNvSpPr txBox="1"/>
          <p:nvPr/>
        </p:nvSpPr>
        <p:spPr>
          <a:xfrm>
            <a:off x="473350" y="619525"/>
            <a:ext cx="81411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es un paradigma de programación? </a:t>
            </a:r>
            <a:endParaRPr sz="4000" b="1" i="0" u="none" strike="noStrike" cap="none">
              <a:solidFill>
                <a:schemeClr val="dk1"/>
              </a:solidFill>
              <a:latin typeface="DM Sans"/>
              <a:ea typeface="DM Sans"/>
              <a:cs typeface="DM Sans"/>
              <a:sym typeface="DM Sans"/>
            </a:endParaRPr>
          </a:p>
        </p:txBody>
      </p:sp>
      <p:sp>
        <p:nvSpPr>
          <p:cNvPr id="242" name="Google Shape;242;p56"/>
          <p:cNvSpPr txBox="1"/>
          <p:nvPr/>
        </p:nvSpPr>
        <p:spPr>
          <a:xfrm>
            <a:off x="473350" y="1908175"/>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350" b="0" i="0" u="none" strike="noStrike" cap="none">
                <a:solidFill>
                  <a:srgbClr val="000000"/>
                </a:solidFill>
                <a:latin typeface="DM Sans"/>
                <a:ea typeface="DM Sans"/>
                <a:cs typeface="DM Sans"/>
                <a:sym typeface="DM Sans"/>
              </a:rPr>
              <a:t>Un paradigma de programación es un estilo de desarrollo de programas. Es decir, un </a:t>
            </a:r>
            <a:r>
              <a:rPr lang="es" sz="1350" b="1" i="0" u="none" strike="noStrike" cap="none">
                <a:solidFill>
                  <a:srgbClr val="000000"/>
                </a:solidFill>
                <a:highlight>
                  <a:schemeClr val="accent6"/>
                </a:highlight>
                <a:latin typeface="DM Sans"/>
                <a:ea typeface="DM Sans"/>
                <a:cs typeface="DM Sans"/>
                <a:sym typeface="DM Sans"/>
              </a:rPr>
              <a:t>modelo para resolver problemas computacionales</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p:txBody>
      </p:sp>
      <p:sp>
        <p:nvSpPr>
          <p:cNvPr id="243" name="Google Shape;243;p56"/>
          <p:cNvSpPr txBox="1"/>
          <p:nvPr/>
        </p:nvSpPr>
        <p:spPr>
          <a:xfrm>
            <a:off x="4527575" y="1908175"/>
            <a:ext cx="3834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chemeClr val="dk1"/>
                </a:solidFill>
                <a:latin typeface="DM Sans"/>
                <a:ea typeface="DM Sans"/>
                <a:cs typeface="DM Sans"/>
                <a:sym typeface="DM Sans"/>
              </a:rPr>
              <a:t>Los lenguajes de programación se encuadran en uno o varios paradigmas a la vez a partir del tipo de órdenes que permiten implementar, algo que tiene una relación directa con su sintaxis.</a:t>
            </a:r>
            <a:endParaRPr sz="1350" b="0" i="0" u="none" strike="noStrike" cap="none">
              <a:solidFill>
                <a:srgbClr val="000000"/>
              </a:solidFill>
              <a:latin typeface="DM Sans"/>
              <a:ea typeface="DM Sans"/>
              <a:cs typeface="DM Sans"/>
              <a:sym typeface="DM Sans"/>
            </a:endParaRPr>
          </a:p>
        </p:txBody>
      </p:sp>
      <p:sp>
        <p:nvSpPr>
          <p:cNvPr id="244" name="Google Shape;244;p56"/>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3"/>
              </a:rPr>
              <a:t>4RSoluciones</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C904FF5F-D10C-E93A-3C2C-36386DE0FA4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5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Paradigma de programación</a:t>
            </a:r>
            <a:endParaRPr sz="4000" b="1" i="0" u="none" strike="noStrike" cap="none">
              <a:solidFill>
                <a:schemeClr val="dk1"/>
              </a:solidFill>
              <a:latin typeface="DM Sans"/>
              <a:ea typeface="DM Sans"/>
              <a:cs typeface="DM Sans"/>
              <a:sym typeface="DM Sans"/>
            </a:endParaRPr>
          </a:p>
        </p:txBody>
      </p:sp>
      <p:sp>
        <p:nvSpPr>
          <p:cNvPr id="250" name="Google Shape;250;p57"/>
          <p:cNvSpPr txBox="1"/>
          <p:nvPr/>
        </p:nvSpPr>
        <p:spPr>
          <a:xfrm>
            <a:off x="473350" y="1908175"/>
            <a:ext cx="5864100" cy="2065200"/>
          </a:xfrm>
          <a:prstGeom prst="rect">
            <a:avLst/>
          </a:prstGeom>
          <a:noFill/>
          <a:ln>
            <a:noFill/>
          </a:ln>
        </p:spPr>
        <p:txBody>
          <a:bodyPr spcFirstLastPara="1" wrap="square" lIns="91425" tIns="91425" rIns="91425" bIns="91425" anchor="t" anchorCtr="0">
            <a:spAutoFit/>
          </a:bodyPr>
          <a:lstStyle/>
          <a:p>
            <a:pPr marL="457200" marR="0" lvl="0" indent="-314325" algn="just" rtl="0">
              <a:lnSpc>
                <a:spcPct val="115000"/>
              </a:lnSpc>
              <a:spcBef>
                <a:spcPts val="0"/>
              </a:spcBef>
              <a:spcAft>
                <a:spcPts val="0"/>
              </a:spcAft>
              <a:buClr>
                <a:schemeClr val="accent5"/>
              </a:buClr>
              <a:buSzPts val="1350"/>
              <a:buFont typeface="DM Sans"/>
              <a:buChar char="✓"/>
            </a:pPr>
            <a:r>
              <a:rPr lang="es" sz="1350" b="1" i="0" u="none" strike="noStrike" cap="none">
                <a:solidFill>
                  <a:schemeClr val="dk1"/>
                </a:solidFill>
                <a:highlight>
                  <a:schemeClr val="accent6"/>
                </a:highlight>
                <a:latin typeface="DM Sans"/>
                <a:ea typeface="DM Sans"/>
                <a:cs typeface="DM Sans"/>
                <a:sym typeface="DM Sans"/>
              </a:rPr>
              <a:t>Imperativo</a:t>
            </a:r>
            <a:r>
              <a:rPr lang="es" sz="1350" b="0" i="0" u="none" strike="noStrike" cap="none">
                <a:solidFill>
                  <a:schemeClr val="dk1"/>
                </a:solidFill>
                <a:latin typeface="DM Sans"/>
                <a:ea typeface="DM Sans"/>
                <a:cs typeface="DM Sans"/>
                <a:sym typeface="DM Sans"/>
              </a:rPr>
              <a:t>: Los programas se componen de un conjunto de sentencias que cambian su estado. Son secuencias de comandos que ordenan acciones a la computadora.</a:t>
            </a:r>
            <a:endParaRPr sz="1350" b="0" i="0" u="none" strike="noStrike" cap="none">
              <a:solidFill>
                <a:schemeClr val="dk1"/>
              </a:solidFill>
              <a:latin typeface="DM Sans"/>
              <a:ea typeface="DM Sans"/>
              <a:cs typeface="DM Sans"/>
              <a:sym typeface="DM Sans"/>
            </a:endParaRPr>
          </a:p>
          <a:p>
            <a:pPr marL="457200" marR="0" lvl="0" indent="-314325" algn="just" rtl="0">
              <a:lnSpc>
                <a:spcPct val="115000"/>
              </a:lnSpc>
              <a:spcBef>
                <a:spcPts val="0"/>
              </a:spcBef>
              <a:spcAft>
                <a:spcPts val="0"/>
              </a:spcAft>
              <a:buClr>
                <a:schemeClr val="accent5"/>
              </a:buClr>
              <a:buSzPts val="1350"/>
              <a:buFont typeface="DM Sans"/>
              <a:buChar char="✓"/>
            </a:pPr>
            <a:r>
              <a:rPr lang="es" sz="1350" b="1" i="0" u="none" strike="noStrike" cap="none">
                <a:solidFill>
                  <a:schemeClr val="dk1"/>
                </a:solidFill>
                <a:highlight>
                  <a:schemeClr val="accent6"/>
                </a:highlight>
                <a:latin typeface="DM Sans"/>
                <a:ea typeface="DM Sans"/>
                <a:cs typeface="DM Sans"/>
                <a:sym typeface="DM Sans"/>
              </a:rPr>
              <a:t>Declarativo</a:t>
            </a:r>
            <a:r>
              <a:rPr lang="es" sz="1350" b="1" i="0" u="none" strike="noStrike" cap="none">
                <a:solidFill>
                  <a:schemeClr val="dk1"/>
                </a:solidFill>
                <a:latin typeface="DM Sans"/>
                <a:ea typeface="DM Sans"/>
                <a:cs typeface="DM Sans"/>
                <a:sym typeface="DM Sans"/>
              </a:rPr>
              <a:t>:</a:t>
            </a:r>
            <a:r>
              <a:rPr lang="es" sz="1350" b="0" i="0" u="none" strike="noStrike" cap="none">
                <a:solidFill>
                  <a:schemeClr val="dk1"/>
                </a:solidFill>
                <a:latin typeface="DM Sans"/>
                <a:ea typeface="DM Sans"/>
                <a:cs typeface="DM Sans"/>
                <a:sym typeface="DM Sans"/>
              </a:rPr>
              <a:t> Opuesto al imperativo. Los programas describen los resultados esperados sin listar explícitamente los pasos a llevar a cabo para alcanzarlos.</a:t>
            </a:r>
            <a:endParaRPr sz="1350" b="0" i="0" u="none" strike="noStrike" cap="none">
              <a:solidFill>
                <a:schemeClr val="dk1"/>
              </a:solidFill>
              <a:latin typeface="DM Sans"/>
              <a:ea typeface="DM Sans"/>
              <a:cs typeface="DM Sans"/>
              <a:sym typeface="DM Sans"/>
            </a:endParaRPr>
          </a:p>
          <a:p>
            <a:pPr marL="457200" marR="0" lvl="0" indent="-314325" algn="just" rtl="0">
              <a:lnSpc>
                <a:spcPct val="115000"/>
              </a:lnSpc>
              <a:spcBef>
                <a:spcPts val="0"/>
              </a:spcBef>
              <a:spcAft>
                <a:spcPts val="0"/>
              </a:spcAft>
              <a:buClr>
                <a:schemeClr val="accent5"/>
              </a:buClr>
              <a:buSzPts val="1350"/>
              <a:buFont typeface="DM Sans"/>
              <a:buChar char="✓"/>
            </a:pPr>
            <a:r>
              <a:rPr lang="es" sz="1350" b="1" i="0" u="none" strike="noStrike" cap="none">
                <a:solidFill>
                  <a:schemeClr val="dk1"/>
                </a:solidFill>
                <a:highlight>
                  <a:schemeClr val="accent6"/>
                </a:highlight>
                <a:latin typeface="DM Sans"/>
                <a:ea typeface="DM Sans"/>
                <a:cs typeface="DM Sans"/>
                <a:sym typeface="DM Sans"/>
              </a:rPr>
              <a:t>Lógico</a:t>
            </a:r>
            <a:r>
              <a:rPr lang="es" sz="1350" b="1" i="0" u="none" strike="noStrike" cap="none">
                <a:solidFill>
                  <a:schemeClr val="dk1"/>
                </a:solidFill>
                <a:latin typeface="DM Sans"/>
                <a:ea typeface="DM Sans"/>
                <a:cs typeface="DM Sans"/>
                <a:sym typeface="DM Sans"/>
              </a:rPr>
              <a:t>:</a:t>
            </a:r>
            <a:r>
              <a:rPr lang="es" sz="1350" b="0" i="0" u="none" strike="noStrike" cap="none">
                <a:solidFill>
                  <a:schemeClr val="dk1"/>
                </a:solidFill>
                <a:latin typeface="DM Sans"/>
                <a:ea typeface="DM Sans"/>
                <a:cs typeface="DM Sans"/>
                <a:sym typeface="DM Sans"/>
              </a:rPr>
              <a:t> El problema se modela con enunciados de lógica del primer orden. </a:t>
            </a:r>
            <a:endParaRPr sz="1350" b="0" i="0" u="none" strike="noStrike" cap="none">
              <a:solidFill>
                <a:schemeClr val="dk1"/>
              </a:solidFill>
              <a:latin typeface="DM Sans"/>
              <a:ea typeface="DM Sans"/>
              <a:cs typeface="DM Sans"/>
              <a:sym typeface="DM Sans"/>
            </a:endParaRPr>
          </a:p>
        </p:txBody>
      </p:sp>
      <p:sp>
        <p:nvSpPr>
          <p:cNvPr id="251" name="Google Shape;251;p57"/>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3"/>
              </a:rPr>
              <a:t>4RSoluciones</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0E806F53-5D55-B14B-A9F5-73BBE77859C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58"/>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Paradigma de programación</a:t>
            </a:r>
            <a:endParaRPr sz="4000" b="1" i="0" u="none" strike="noStrike" cap="none">
              <a:solidFill>
                <a:schemeClr val="dk1"/>
              </a:solidFill>
              <a:latin typeface="DM Sans"/>
              <a:ea typeface="DM Sans"/>
              <a:cs typeface="DM Sans"/>
              <a:sym typeface="DM Sans"/>
            </a:endParaRPr>
          </a:p>
        </p:txBody>
      </p:sp>
      <p:sp>
        <p:nvSpPr>
          <p:cNvPr id="257" name="Google Shape;257;p58"/>
          <p:cNvSpPr txBox="1"/>
          <p:nvPr/>
        </p:nvSpPr>
        <p:spPr>
          <a:xfrm>
            <a:off x="473350" y="1908175"/>
            <a:ext cx="5818200" cy="1826400"/>
          </a:xfrm>
          <a:prstGeom prst="rect">
            <a:avLst/>
          </a:prstGeom>
          <a:noFill/>
          <a:ln>
            <a:noFill/>
          </a:ln>
        </p:spPr>
        <p:txBody>
          <a:bodyPr spcFirstLastPara="1" wrap="square" lIns="91425" tIns="91425" rIns="91425" bIns="91425" anchor="t" anchorCtr="0">
            <a:spAutoFit/>
          </a:bodyPr>
          <a:lstStyle/>
          <a:p>
            <a:pPr marL="457200" marR="0" lvl="0" indent="-314325" algn="just" rtl="0">
              <a:lnSpc>
                <a:spcPct val="115000"/>
              </a:lnSpc>
              <a:spcBef>
                <a:spcPts val="0"/>
              </a:spcBef>
              <a:spcAft>
                <a:spcPts val="0"/>
              </a:spcAft>
              <a:buClr>
                <a:schemeClr val="accent5"/>
              </a:buClr>
              <a:buSzPts val="1350"/>
              <a:buFont typeface="Helvetica Neue"/>
              <a:buChar char="✓"/>
            </a:pPr>
            <a:r>
              <a:rPr lang="es" sz="1350" b="1" i="0" u="none" strike="noStrike" cap="none">
                <a:solidFill>
                  <a:schemeClr val="dk1"/>
                </a:solidFill>
                <a:latin typeface="DM Sans"/>
                <a:ea typeface="DM Sans"/>
                <a:cs typeface="DM Sans"/>
                <a:sym typeface="DM Sans"/>
              </a:rPr>
              <a:t>Funcional:</a:t>
            </a:r>
            <a:r>
              <a:rPr lang="es" sz="1350" b="0" i="0" u="none" strike="noStrike" cap="none">
                <a:solidFill>
                  <a:schemeClr val="dk1"/>
                </a:solidFill>
                <a:latin typeface="DM Sans"/>
                <a:ea typeface="DM Sans"/>
                <a:cs typeface="DM Sans"/>
                <a:sym typeface="DM Sans"/>
              </a:rPr>
              <a:t> Los programas se componen de funciones, es decir, implementaciones de comportamiento que reciben un conjunto de datos de entrada y devuelven un valor de salida.</a:t>
            </a:r>
            <a:endParaRPr sz="1350" b="0" i="0" u="none" strike="noStrike" cap="none">
              <a:solidFill>
                <a:schemeClr val="dk1"/>
              </a:solidFill>
              <a:latin typeface="DM Sans"/>
              <a:ea typeface="DM Sans"/>
              <a:cs typeface="DM Sans"/>
              <a:sym typeface="DM Sans"/>
            </a:endParaRPr>
          </a:p>
          <a:p>
            <a:pPr marL="457200" marR="0" lvl="0" indent="-314325" algn="just" rtl="0">
              <a:lnSpc>
                <a:spcPct val="115000"/>
              </a:lnSpc>
              <a:spcBef>
                <a:spcPts val="0"/>
              </a:spcBef>
              <a:spcAft>
                <a:spcPts val="0"/>
              </a:spcAft>
              <a:buClr>
                <a:schemeClr val="accent5"/>
              </a:buClr>
              <a:buSzPts val="1350"/>
              <a:buFont typeface="Helvetica Neue"/>
              <a:buChar char="✓"/>
            </a:pPr>
            <a:r>
              <a:rPr lang="es" sz="1350" b="1" i="0" u="none" strike="noStrike" cap="none">
                <a:solidFill>
                  <a:schemeClr val="dk1"/>
                </a:solidFill>
                <a:latin typeface="DM Sans"/>
                <a:ea typeface="DM Sans"/>
                <a:cs typeface="DM Sans"/>
                <a:sym typeface="DM Sans"/>
              </a:rPr>
              <a:t>Orientado a Objetos:</a:t>
            </a:r>
            <a:r>
              <a:rPr lang="es" sz="1350" b="0" i="0" u="none" strike="noStrike" cap="none">
                <a:solidFill>
                  <a:schemeClr val="dk1"/>
                </a:solidFill>
                <a:latin typeface="DM Sans"/>
                <a:ea typeface="DM Sans"/>
                <a:cs typeface="DM Sans"/>
                <a:sym typeface="DM Sans"/>
              </a:rPr>
              <a:t> El comportamiento del programa es llevado a cabo por objetos, entidades que representan elementos del problema a resolver y tienen atributos y comportamiento.</a:t>
            </a:r>
            <a:endParaRPr sz="1350" b="0" i="0" u="none" strike="noStrike" cap="none">
              <a:solidFill>
                <a:schemeClr val="dk1"/>
              </a:solidFill>
              <a:latin typeface="DM Sans"/>
              <a:ea typeface="DM Sans"/>
              <a:cs typeface="DM Sans"/>
              <a:sym typeface="DM Sans"/>
            </a:endParaRPr>
          </a:p>
        </p:txBody>
      </p:sp>
      <p:sp>
        <p:nvSpPr>
          <p:cNvPr id="258" name="Google Shape;258;p58"/>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3"/>
              </a:rPr>
              <a:t>4RSoluciones</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A4D4EBA-68A4-C5E3-AB96-3BDCB3C807D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59"/>
          <p:cNvSpPr/>
          <p:nvPr/>
        </p:nvSpPr>
        <p:spPr>
          <a:xfrm>
            <a:off x="551100" y="1382775"/>
            <a:ext cx="3288000" cy="3540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59"/>
          <p:cNvSpPr txBox="1"/>
          <p:nvPr/>
        </p:nvSpPr>
        <p:spPr>
          <a:xfrm>
            <a:off x="473350" y="1196200"/>
            <a:ext cx="3457800" cy="3924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1500"/>
              <a:buFont typeface="Arial"/>
              <a:buNone/>
            </a:pPr>
            <a:r>
              <a:rPr lang="es" sz="1500" b="1" i="0" u="none" strike="noStrike" cap="none">
                <a:solidFill>
                  <a:srgbClr val="222222"/>
                </a:solidFill>
                <a:latin typeface="DM Sans"/>
                <a:ea typeface="DM Sans"/>
                <a:cs typeface="DM Sans"/>
                <a:sym typeface="DM Sans"/>
              </a:rPr>
              <a:t>Programación estructurada</a:t>
            </a:r>
            <a:endParaRPr sz="1500" b="1" i="0" u="none" strike="noStrike" cap="none">
              <a:solidFill>
                <a:srgbClr val="222222"/>
              </a:solidFill>
              <a:latin typeface="DM Sans"/>
              <a:ea typeface="DM Sans"/>
              <a:cs typeface="DM Sans"/>
              <a:sym typeface="DM Sans"/>
            </a:endParaRPr>
          </a:p>
        </p:txBody>
      </p:sp>
      <p:sp>
        <p:nvSpPr>
          <p:cNvPr id="265" name="Google Shape;265;p59"/>
          <p:cNvSpPr txBox="1"/>
          <p:nvPr/>
        </p:nvSpPr>
        <p:spPr>
          <a:xfrm>
            <a:off x="501450" y="572950"/>
            <a:ext cx="8141100" cy="5865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900"/>
              <a:buFont typeface="Arial"/>
              <a:buNone/>
            </a:pPr>
            <a:r>
              <a:rPr lang="es" sz="2900" b="1" i="0" u="none" strike="noStrike" cap="none">
                <a:solidFill>
                  <a:schemeClr val="dk1"/>
                </a:solidFill>
                <a:latin typeface="DM Sans"/>
                <a:ea typeface="DM Sans"/>
                <a:cs typeface="DM Sans"/>
                <a:sym typeface="DM Sans"/>
              </a:rPr>
              <a:t>Diferencias con la programación tradicional</a:t>
            </a:r>
            <a:endParaRPr sz="2900" b="1" i="0" u="none" strike="noStrike" cap="none">
              <a:solidFill>
                <a:schemeClr val="dk1"/>
              </a:solidFill>
              <a:latin typeface="DM Sans"/>
              <a:ea typeface="DM Sans"/>
              <a:cs typeface="DM Sans"/>
              <a:sym typeface="DM Sans"/>
            </a:endParaRPr>
          </a:p>
        </p:txBody>
      </p:sp>
      <p:sp>
        <p:nvSpPr>
          <p:cNvPr id="266" name="Google Shape;266;p59"/>
          <p:cNvSpPr txBox="1"/>
          <p:nvPr/>
        </p:nvSpPr>
        <p:spPr>
          <a:xfrm>
            <a:off x="551200" y="1889700"/>
            <a:ext cx="3288000" cy="15873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15000"/>
              </a:lnSpc>
              <a:spcBef>
                <a:spcPts val="0"/>
              </a:spcBef>
              <a:spcAft>
                <a:spcPts val="0"/>
              </a:spcAft>
              <a:buClr>
                <a:schemeClr val="dk1"/>
              </a:buClr>
              <a:buSzPts val="1350"/>
              <a:buFont typeface="DM Sans"/>
              <a:buChar char="✓"/>
            </a:pPr>
            <a:r>
              <a:rPr lang="es" sz="1350" b="0" i="0" u="none" strike="noStrike" cap="none">
                <a:solidFill>
                  <a:schemeClr val="dk1"/>
                </a:solidFill>
                <a:latin typeface="DM Sans"/>
                <a:ea typeface="DM Sans"/>
                <a:cs typeface="DM Sans"/>
                <a:sym typeface="DM Sans"/>
              </a:rPr>
              <a:t>Énfasis en la transformación</a:t>
            </a:r>
            <a:r>
              <a:rPr lang="es" sz="1350">
                <a:solidFill>
                  <a:schemeClr val="dk1"/>
                </a:solidFill>
                <a:latin typeface="DM Sans"/>
                <a:ea typeface="DM Sans"/>
                <a:cs typeface="DM Sans"/>
                <a:sym typeface="DM Sans"/>
              </a:rPr>
              <a:t> </a:t>
            </a:r>
            <a:r>
              <a:rPr lang="es" sz="1350" b="0" i="0" u="none" strike="noStrike" cap="none">
                <a:solidFill>
                  <a:schemeClr val="dk1"/>
                </a:solidFill>
                <a:latin typeface="DM Sans"/>
                <a:ea typeface="DM Sans"/>
                <a:cs typeface="DM Sans"/>
                <a:sym typeface="DM Sans"/>
              </a:rPr>
              <a:t>de datos. </a:t>
            </a:r>
            <a:endParaRPr sz="1350" b="0" i="0" u="none" strike="noStrike" cap="none">
              <a:solidFill>
                <a:schemeClr val="dk1"/>
              </a:solidFill>
              <a:latin typeface="DM Sans"/>
              <a:ea typeface="DM Sans"/>
              <a:cs typeface="DM Sans"/>
              <a:sym typeface="DM Sans"/>
            </a:endParaRPr>
          </a:p>
          <a:p>
            <a:pPr marL="457200" marR="0" lvl="0" indent="-314325" algn="l" rtl="0">
              <a:lnSpc>
                <a:spcPct val="115000"/>
              </a:lnSpc>
              <a:spcBef>
                <a:spcPts val="0"/>
              </a:spcBef>
              <a:spcAft>
                <a:spcPts val="0"/>
              </a:spcAft>
              <a:buClr>
                <a:schemeClr val="dk1"/>
              </a:buClr>
              <a:buSzPts val="1350"/>
              <a:buFont typeface="DM Sans"/>
              <a:buChar char="✓"/>
            </a:pPr>
            <a:r>
              <a:rPr lang="es" sz="1350" b="0" i="0" u="none" strike="noStrike" cap="none">
                <a:solidFill>
                  <a:schemeClr val="dk1"/>
                </a:solidFill>
                <a:latin typeface="DM Sans"/>
                <a:ea typeface="DM Sans"/>
                <a:cs typeface="DM Sans"/>
                <a:sym typeface="DM Sans"/>
              </a:rPr>
              <a:t>Las funciones y los datos son manejados como entidades</a:t>
            </a:r>
            <a:r>
              <a:rPr lang="es" sz="1350">
                <a:solidFill>
                  <a:schemeClr val="dk1"/>
                </a:solidFill>
                <a:latin typeface="DM Sans"/>
                <a:ea typeface="DM Sans"/>
                <a:cs typeface="DM Sans"/>
                <a:sym typeface="DM Sans"/>
              </a:rPr>
              <a:t> </a:t>
            </a:r>
            <a:r>
              <a:rPr lang="es" sz="1350" b="0" i="0" u="none" strike="noStrike" cap="none">
                <a:solidFill>
                  <a:schemeClr val="dk1"/>
                </a:solidFill>
                <a:latin typeface="DM Sans"/>
                <a:ea typeface="DM Sans"/>
                <a:cs typeface="DM Sans"/>
                <a:sym typeface="DM Sans"/>
              </a:rPr>
              <a:t>separadas. </a:t>
            </a:r>
            <a:endParaRPr sz="1350" b="0" i="0" u="none" strike="noStrike" cap="none">
              <a:solidFill>
                <a:schemeClr val="dk1"/>
              </a:solidFill>
              <a:latin typeface="DM Sans"/>
              <a:ea typeface="DM Sans"/>
              <a:cs typeface="DM Sans"/>
              <a:sym typeface="DM Sans"/>
            </a:endParaRPr>
          </a:p>
          <a:p>
            <a:pPr marL="457200" marR="0" lvl="0" indent="-314325" algn="l" rtl="0">
              <a:lnSpc>
                <a:spcPct val="115000"/>
              </a:lnSpc>
              <a:spcBef>
                <a:spcPts val="0"/>
              </a:spcBef>
              <a:spcAft>
                <a:spcPts val="0"/>
              </a:spcAft>
              <a:buClr>
                <a:schemeClr val="dk1"/>
              </a:buClr>
              <a:buSzPts val="1350"/>
              <a:buFont typeface="DM Sans"/>
              <a:buChar char="✓"/>
            </a:pPr>
            <a:r>
              <a:rPr lang="es" sz="1350" b="0" i="0" u="none" strike="noStrike" cap="none">
                <a:solidFill>
                  <a:schemeClr val="dk1"/>
                </a:solidFill>
                <a:latin typeface="DM Sans"/>
                <a:ea typeface="DM Sans"/>
                <a:cs typeface="DM Sans"/>
                <a:sym typeface="DM Sans"/>
              </a:rPr>
              <a:t>Difícil de entender y modificar.</a:t>
            </a:r>
            <a:endParaRPr sz="1350" b="0" i="0" u="none" strike="noStrike" cap="none">
              <a:solidFill>
                <a:schemeClr val="dk1"/>
              </a:solidFill>
              <a:latin typeface="DM Sans"/>
              <a:ea typeface="DM Sans"/>
              <a:cs typeface="DM Sans"/>
              <a:sym typeface="DM Sans"/>
            </a:endParaRPr>
          </a:p>
        </p:txBody>
      </p:sp>
      <p:sp>
        <p:nvSpPr>
          <p:cNvPr id="267" name="Google Shape;267;p59"/>
          <p:cNvSpPr/>
          <p:nvPr/>
        </p:nvSpPr>
        <p:spPr>
          <a:xfrm>
            <a:off x="4721875" y="1382763"/>
            <a:ext cx="3288000" cy="3540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59"/>
          <p:cNvSpPr txBox="1"/>
          <p:nvPr/>
        </p:nvSpPr>
        <p:spPr>
          <a:xfrm>
            <a:off x="4644125" y="1196188"/>
            <a:ext cx="3457800" cy="3924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1500"/>
              <a:buFont typeface="Arial"/>
              <a:buNone/>
            </a:pPr>
            <a:r>
              <a:rPr lang="es" sz="1500" b="1" i="0" u="none" strike="noStrike" cap="none">
                <a:solidFill>
                  <a:srgbClr val="222222"/>
                </a:solidFill>
                <a:latin typeface="DM Sans"/>
                <a:ea typeface="DM Sans"/>
                <a:cs typeface="DM Sans"/>
                <a:sym typeface="DM Sans"/>
              </a:rPr>
              <a:t>Programación orientada a objetos</a:t>
            </a:r>
            <a:endParaRPr sz="1500" b="1" i="0" u="none" strike="noStrike" cap="none">
              <a:solidFill>
                <a:srgbClr val="222222"/>
              </a:solidFill>
              <a:latin typeface="DM Sans"/>
              <a:ea typeface="DM Sans"/>
              <a:cs typeface="DM Sans"/>
              <a:sym typeface="DM Sans"/>
            </a:endParaRPr>
          </a:p>
        </p:txBody>
      </p:sp>
      <p:sp>
        <p:nvSpPr>
          <p:cNvPr id="269" name="Google Shape;269;p59"/>
          <p:cNvSpPr txBox="1"/>
          <p:nvPr/>
        </p:nvSpPr>
        <p:spPr>
          <a:xfrm>
            <a:off x="4729025" y="1889700"/>
            <a:ext cx="3288000" cy="18264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15000"/>
              </a:lnSpc>
              <a:spcBef>
                <a:spcPts val="0"/>
              </a:spcBef>
              <a:spcAft>
                <a:spcPts val="0"/>
              </a:spcAft>
              <a:buClr>
                <a:schemeClr val="dk1"/>
              </a:buClr>
              <a:buSzPts val="1350"/>
              <a:buFont typeface="DM Sans"/>
              <a:buChar char="✓"/>
            </a:pPr>
            <a:r>
              <a:rPr lang="es" sz="1350" b="0" i="0" u="none" strike="noStrike" cap="none">
                <a:solidFill>
                  <a:schemeClr val="dk1"/>
                </a:solidFill>
                <a:latin typeface="DM Sans"/>
                <a:ea typeface="DM Sans"/>
                <a:cs typeface="DM Sans"/>
                <a:sym typeface="DM Sans"/>
              </a:rPr>
              <a:t>Énfasis en la abstracción de datos. </a:t>
            </a:r>
            <a:endParaRPr sz="1350" b="0" i="0" u="none" strike="noStrike" cap="none">
              <a:solidFill>
                <a:schemeClr val="dk1"/>
              </a:solidFill>
              <a:latin typeface="DM Sans"/>
              <a:ea typeface="DM Sans"/>
              <a:cs typeface="DM Sans"/>
              <a:sym typeface="DM Sans"/>
            </a:endParaRPr>
          </a:p>
          <a:p>
            <a:pPr marL="457200" marR="0" lvl="0" indent="-314325" algn="l" rtl="0">
              <a:lnSpc>
                <a:spcPct val="115000"/>
              </a:lnSpc>
              <a:spcBef>
                <a:spcPts val="0"/>
              </a:spcBef>
              <a:spcAft>
                <a:spcPts val="0"/>
              </a:spcAft>
              <a:buClr>
                <a:schemeClr val="dk1"/>
              </a:buClr>
              <a:buSzPts val="1350"/>
              <a:buFont typeface="DM Sans"/>
              <a:buChar char="✓"/>
            </a:pPr>
            <a:r>
              <a:rPr lang="es" sz="1350" b="0" i="0" u="none" strike="noStrike" cap="none">
                <a:solidFill>
                  <a:schemeClr val="dk1"/>
                </a:solidFill>
                <a:latin typeface="DM Sans"/>
                <a:ea typeface="DM Sans"/>
                <a:cs typeface="DM Sans"/>
                <a:sym typeface="DM Sans"/>
              </a:rPr>
              <a:t>Las funciones y los datos son encapsulados en una entidad. </a:t>
            </a:r>
            <a:endParaRPr sz="1350" b="0" i="0" u="none" strike="noStrike" cap="none">
              <a:solidFill>
                <a:schemeClr val="dk1"/>
              </a:solidFill>
              <a:latin typeface="DM Sans"/>
              <a:ea typeface="DM Sans"/>
              <a:cs typeface="DM Sans"/>
              <a:sym typeface="DM Sans"/>
            </a:endParaRPr>
          </a:p>
          <a:p>
            <a:pPr marL="457200" marR="0" lvl="0" indent="-314325" algn="l" rtl="0">
              <a:lnSpc>
                <a:spcPct val="115000"/>
              </a:lnSpc>
              <a:spcBef>
                <a:spcPts val="0"/>
              </a:spcBef>
              <a:spcAft>
                <a:spcPts val="0"/>
              </a:spcAft>
              <a:buClr>
                <a:schemeClr val="dk1"/>
              </a:buClr>
              <a:buSzPts val="1350"/>
              <a:buFont typeface="DM Sans"/>
              <a:buChar char="✓"/>
            </a:pPr>
            <a:r>
              <a:rPr lang="es" sz="1350" b="0" i="0" u="none" strike="noStrike" cap="none">
                <a:solidFill>
                  <a:schemeClr val="dk1"/>
                </a:solidFill>
                <a:latin typeface="DM Sans"/>
                <a:ea typeface="DM Sans"/>
                <a:cs typeface="DM Sans"/>
                <a:sym typeface="DM Sans"/>
              </a:rPr>
              <a:t>Facilita su mantenimiento y su comprensión es orientada al mundo real.</a:t>
            </a:r>
            <a:endParaRPr sz="1350" b="0"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05D3D3B9-5497-9377-BFE4-9C1AAA1C649A}"/>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60"/>
          <p:cNvSpPr txBox="1"/>
          <p:nvPr/>
        </p:nvSpPr>
        <p:spPr>
          <a:xfrm>
            <a:off x="1461300" y="1648200"/>
            <a:ext cx="62214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Ventajas de la </a:t>
            </a:r>
            <a:endParaRPr sz="4000" b="1" i="0" u="none" strike="noStrike" cap="none">
              <a:solidFill>
                <a:schemeClr val="dk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programación </a:t>
            </a:r>
            <a:endParaRPr sz="4000" b="1" i="0" u="none" strike="noStrike" cap="none">
              <a:solidFill>
                <a:schemeClr val="dk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orientada a objetos</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3EB172E-7E2E-8759-2C8B-D50CBA65CC3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grpSp>
        <p:nvGrpSpPr>
          <p:cNvPr id="279" name="Google Shape;279;p61"/>
          <p:cNvGrpSpPr/>
          <p:nvPr/>
        </p:nvGrpSpPr>
        <p:grpSpPr>
          <a:xfrm>
            <a:off x="2172088" y="1852650"/>
            <a:ext cx="197100" cy="197100"/>
            <a:chOff x="2172088" y="1852650"/>
            <a:chExt cx="197100" cy="197100"/>
          </a:xfrm>
        </p:grpSpPr>
        <p:sp>
          <p:nvSpPr>
            <p:cNvPr id="280" name="Google Shape;280;p61"/>
            <p:cNvSpPr/>
            <p:nvPr/>
          </p:nvSpPr>
          <p:spPr>
            <a:xfrm>
              <a:off x="2172088" y="1852650"/>
              <a:ext cx="197100" cy="197100"/>
            </a:xfrm>
            <a:prstGeom prst="ellipse">
              <a:avLst/>
            </a:prstGeom>
            <a:solidFill>
              <a:srgbClr val="DEFC5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61"/>
            <p:cNvSpPr/>
            <p:nvPr/>
          </p:nvSpPr>
          <p:spPr>
            <a:xfrm>
              <a:off x="2227138" y="1907700"/>
              <a:ext cx="87000" cy="870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2" name="Google Shape;282;p61"/>
          <p:cNvGrpSpPr/>
          <p:nvPr/>
        </p:nvGrpSpPr>
        <p:grpSpPr>
          <a:xfrm>
            <a:off x="2172088" y="2669600"/>
            <a:ext cx="197100" cy="197100"/>
            <a:chOff x="2172088" y="2455775"/>
            <a:chExt cx="197100" cy="197100"/>
          </a:xfrm>
        </p:grpSpPr>
        <p:sp>
          <p:nvSpPr>
            <p:cNvPr id="283" name="Google Shape;283;p61"/>
            <p:cNvSpPr/>
            <p:nvPr/>
          </p:nvSpPr>
          <p:spPr>
            <a:xfrm>
              <a:off x="2172088" y="2455775"/>
              <a:ext cx="197100" cy="197100"/>
            </a:xfrm>
            <a:prstGeom prst="ellipse">
              <a:avLst/>
            </a:prstGeom>
            <a:solidFill>
              <a:srgbClr val="DEFC5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61"/>
            <p:cNvSpPr/>
            <p:nvPr/>
          </p:nvSpPr>
          <p:spPr>
            <a:xfrm>
              <a:off x="2227138" y="2510825"/>
              <a:ext cx="87000" cy="870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85" name="Google Shape;285;p61"/>
          <p:cNvCxnSpPr>
            <a:stCxn id="280" idx="4"/>
            <a:endCxn id="283" idx="0"/>
          </p:cNvCxnSpPr>
          <p:nvPr/>
        </p:nvCxnSpPr>
        <p:spPr>
          <a:xfrm>
            <a:off x="2270638" y="2049750"/>
            <a:ext cx="0" cy="619800"/>
          </a:xfrm>
          <a:prstGeom prst="straightConnector1">
            <a:avLst/>
          </a:prstGeom>
          <a:noFill/>
          <a:ln w="9525" cap="flat" cmpd="sng">
            <a:solidFill>
              <a:srgbClr val="DEFC52"/>
            </a:solidFill>
            <a:prstDash val="solid"/>
            <a:round/>
            <a:headEnd type="none" w="sm" len="sm"/>
            <a:tailEnd type="none" w="sm" len="sm"/>
          </a:ln>
        </p:spPr>
      </p:cxnSp>
      <p:sp>
        <p:nvSpPr>
          <p:cNvPr id="286" name="Google Shape;286;p6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Ventajas</a:t>
            </a:r>
            <a:endParaRPr sz="4000" b="1" i="0" u="none" strike="noStrike" cap="none">
              <a:solidFill>
                <a:schemeClr val="dk1"/>
              </a:solidFill>
              <a:latin typeface="DM Sans"/>
              <a:ea typeface="DM Sans"/>
              <a:cs typeface="DM Sans"/>
              <a:sym typeface="DM Sans"/>
            </a:endParaRPr>
          </a:p>
        </p:txBody>
      </p:sp>
      <p:sp>
        <p:nvSpPr>
          <p:cNvPr id="287" name="Google Shape;287;p61"/>
          <p:cNvSpPr txBox="1"/>
          <p:nvPr/>
        </p:nvSpPr>
        <p:spPr>
          <a:xfrm>
            <a:off x="2690573" y="1731413"/>
            <a:ext cx="4281300" cy="808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350"/>
              <a:buFont typeface="Arial"/>
              <a:buNone/>
            </a:pPr>
            <a:r>
              <a:rPr lang="es" sz="1350" b="1" i="0" u="none" strike="noStrike" cap="none">
                <a:solidFill>
                  <a:srgbClr val="191919"/>
                </a:solidFill>
                <a:latin typeface="DM Sans"/>
                <a:ea typeface="DM Sans"/>
                <a:cs typeface="DM Sans"/>
                <a:sym typeface="DM Sans"/>
              </a:rPr>
              <a:t>No se encapsulan los atributos</a:t>
            </a:r>
            <a:r>
              <a:rPr lang="es" sz="1350" b="0" i="0" u="none" strike="noStrike" cap="none">
                <a:solidFill>
                  <a:srgbClr val="191919"/>
                </a:solidFill>
                <a:latin typeface="DM Sans"/>
                <a:ea typeface="DM Sans"/>
                <a:cs typeface="DM Sans"/>
                <a:sym typeface="DM Sans"/>
              </a:rPr>
              <a:t>, ni el acceso a los atributos desde las funciones, que también están encapsuladas dentro de la clase.</a:t>
            </a:r>
            <a:endParaRPr sz="1350" b="0" i="0" u="none" strike="noStrike" cap="none">
              <a:solidFill>
                <a:schemeClr val="dk1"/>
              </a:solidFill>
              <a:latin typeface="DM Sans"/>
              <a:ea typeface="DM Sans"/>
              <a:cs typeface="DM Sans"/>
              <a:sym typeface="DM Sans"/>
            </a:endParaRPr>
          </a:p>
        </p:txBody>
      </p:sp>
      <p:sp>
        <p:nvSpPr>
          <p:cNvPr id="288" name="Google Shape;288;p61"/>
          <p:cNvSpPr txBox="1"/>
          <p:nvPr/>
        </p:nvSpPr>
        <p:spPr>
          <a:xfrm>
            <a:off x="2736498" y="2539613"/>
            <a:ext cx="4281300" cy="1223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350"/>
              <a:buFont typeface="Arial"/>
              <a:buNone/>
            </a:pPr>
            <a:r>
              <a:rPr lang="es" sz="1350" b="1" i="0" u="none" strike="noStrike" cap="none">
                <a:solidFill>
                  <a:schemeClr val="dk1"/>
                </a:solidFill>
                <a:latin typeface="DM Sans"/>
                <a:ea typeface="DM Sans"/>
                <a:cs typeface="DM Sans"/>
                <a:sym typeface="DM Sans"/>
              </a:rPr>
              <a:t>Ofrece la posibilidad de heredar de unas clases a otras</a:t>
            </a:r>
            <a:r>
              <a:rPr lang="es" sz="1350" b="0" i="0" u="none" strike="noStrike" cap="none">
                <a:solidFill>
                  <a:schemeClr val="dk1"/>
                </a:solidFill>
                <a:latin typeface="DM Sans"/>
                <a:ea typeface="DM Sans"/>
                <a:cs typeface="DM Sans"/>
                <a:sym typeface="DM Sans"/>
              </a:rPr>
              <a:t> para que puedan acceder a los miembros de la clase padre, con lo cual podemos solucionar de una manera más eficiente, el ampliar el comportamiento de nuestros objetos o clases.</a:t>
            </a:r>
            <a:endParaRPr sz="1350" b="0" i="0" u="none" strike="noStrike" cap="none">
              <a:solidFill>
                <a:schemeClr val="dk1"/>
              </a:solidFill>
              <a:latin typeface="DM Sans"/>
              <a:ea typeface="DM Sans"/>
              <a:cs typeface="DM Sans"/>
              <a:sym typeface="DM Sans"/>
            </a:endParaRPr>
          </a:p>
        </p:txBody>
      </p:sp>
      <p:sp>
        <p:nvSpPr>
          <p:cNvPr id="289" name="Google Shape;289;p61"/>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3"/>
              </a:rPr>
              <a:t>OpenWebinars</a:t>
            </a:r>
            <a:endParaRPr sz="1100" b="0" i="1" u="sng" strike="noStrike" cap="none">
              <a:solidFill>
                <a:srgbClr val="83AEFB"/>
              </a:solidFill>
              <a:latin typeface="DM Sans"/>
              <a:ea typeface="DM Sans"/>
              <a:cs typeface="DM Sans"/>
              <a:sym typeface="DM Sans"/>
            </a:endParaRPr>
          </a:p>
        </p:txBody>
      </p:sp>
      <p:cxnSp>
        <p:nvCxnSpPr>
          <p:cNvPr id="290" name="Google Shape;290;p61"/>
          <p:cNvCxnSpPr/>
          <p:nvPr/>
        </p:nvCxnSpPr>
        <p:spPr>
          <a:xfrm>
            <a:off x="2270638" y="2841575"/>
            <a:ext cx="7200" cy="1025100"/>
          </a:xfrm>
          <a:prstGeom prst="straightConnector1">
            <a:avLst/>
          </a:prstGeom>
          <a:noFill/>
          <a:ln w="9525" cap="flat" cmpd="sng">
            <a:solidFill>
              <a:srgbClr val="DEFC52"/>
            </a:solidFill>
            <a:prstDash val="solid"/>
            <a:round/>
            <a:headEnd type="none" w="sm" len="sm"/>
            <a:tailEnd type="none" w="sm" len="sm"/>
          </a:ln>
        </p:spPr>
      </p:cxnSp>
      <p:sp>
        <p:nvSpPr>
          <p:cNvPr id="2" name="Rectángulo 1">
            <a:extLst>
              <a:ext uri="{FF2B5EF4-FFF2-40B4-BE49-F238E27FC236}">
                <a16:creationId xmlns:a16="http://schemas.microsoft.com/office/drawing/2014/main" id="{45D1A32D-C372-D734-7DA4-1D5928883FB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grpSp>
        <p:nvGrpSpPr>
          <p:cNvPr id="295" name="Google Shape;295;p62"/>
          <p:cNvGrpSpPr/>
          <p:nvPr/>
        </p:nvGrpSpPr>
        <p:grpSpPr>
          <a:xfrm>
            <a:off x="2172100" y="2072600"/>
            <a:ext cx="197100" cy="197100"/>
            <a:chOff x="2172088" y="2455775"/>
            <a:chExt cx="197100" cy="197100"/>
          </a:xfrm>
        </p:grpSpPr>
        <p:sp>
          <p:nvSpPr>
            <p:cNvPr id="296" name="Google Shape;296;p62"/>
            <p:cNvSpPr/>
            <p:nvPr/>
          </p:nvSpPr>
          <p:spPr>
            <a:xfrm>
              <a:off x="2172088" y="2455775"/>
              <a:ext cx="197100" cy="197100"/>
            </a:xfrm>
            <a:prstGeom prst="ellipse">
              <a:avLst/>
            </a:prstGeom>
            <a:solidFill>
              <a:srgbClr val="DEFC5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62"/>
            <p:cNvSpPr/>
            <p:nvPr/>
          </p:nvSpPr>
          <p:spPr>
            <a:xfrm>
              <a:off x="2227138" y="2510825"/>
              <a:ext cx="87000" cy="870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8" name="Google Shape;298;p6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Ventajas</a:t>
            </a:r>
            <a:endParaRPr sz="4000" b="1" i="0" u="none" strike="noStrike" cap="none">
              <a:solidFill>
                <a:schemeClr val="dk1"/>
              </a:solidFill>
              <a:latin typeface="DM Sans"/>
              <a:ea typeface="DM Sans"/>
              <a:cs typeface="DM Sans"/>
              <a:sym typeface="DM Sans"/>
            </a:endParaRPr>
          </a:p>
        </p:txBody>
      </p:sp>
      <p:sp>
        <p:nvSpPr>
          <p:cNvPr id="299" name="Google Shape;299;p62"/>
          <p:cNvSpPr txBox="1"/>
          <p:nvPr/>
        </p:nvSpPr>
        <p:spPr>
          <a:xfrm>
            <a:off x="2690586" y="1959963"/>
            <a:ext cx="4281300" cy="1223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350"/>
              <a:buFont typeface="Arial"/>
              <a:buNone/>
            </a:pPr>
            <a:r>
              <a:rPr lang="es" sz="1350" b="1" i="0" u="none" strike="noStrike" cap="none">
                <a:solidFill>
                  <a:schemeClr val="dk1"/>
                </a:solidFill>
                <a:latin typeface="DM Sans"/>
                <a:ea typeface="DM Sans"/>
                <a:cs typeface="DM Sans"/>
                <a:sym typeface="DM Sans"/>
              </a:rPr>
              <a:t>Podemos hacernos visualmente una idea más clara de cómo se puede comportar la clase</a:t>
            </a:r>
            <a:r>
              <a:rPr lang="es" sz="1350" b="0" i="0" u="none" strike="noStrike" cap="none">
                <a:solidFill>
                  <a:schemeClr val="dk1"/>
                </a:solidFill>
                <a:latin typeface="DM Sans"/>
                <a:ea typeface="DM Sans"/>
                <a:cs typeface="DM Sans"/>
                <a:sym typeface="DM Sans"/>
              </a:rPr>
              <a:t>, además de tener en el mismo sitio tanto las funciones que hacen que podamos manejar la clase como los datos que vamos a manejar, etc.</a:t>
            </a:r>
            <a:endParaRPr sz="1350" b="0" i="0" u="none" strike="noStrike" cap="none">
              <a:solidFill>
                <a:schemeClr val="dk1"/>
              </a:solidFill>
              <a:latin typeface="DM Sans"/>
              <a:ea typeface="DM Sans"/>
              <a:cs typeface="DM Sans"/>
              <a:sym typeface="DM Sans"/>
            </a:endParaRPr>
          </a:p>
        </p:txBody>
      </p:sp>
      <p:sp>
        <p:nvSpPr>
          <p:cNvPr id="300" name="Google Shape;300;p62"/>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3"/>
              </a:rPr>
              <a:t>OpenWebinars</a:t>
            </a:r>
            <a:endParaRPr sz="1100" b="0" i="1" u="sng" strike="noStrike" cap="none">
              <a:solidFill>
                <a:srgbClr val="83AEFB"/>
              </a:solidFill>
              <a:latin typeface="DM Sans"/>
              <a:ea typeface="DM Sans"/>
              <a:cs typeface="DM Sans"/>
              <a:sym typeface="DM Sans"/>
            </a:endParaRPr>
          </a:p>
        </p:txBody>
      </p:sp>
      <p:cxnSp>
        <p:nvCxnSpPr>
          <p:cNvPr id="301" name="Google Shape;301;p62"/>
          <p:cNvCxnSpPr/>
          <p:nvPr/>
        </p:nvCxnSpPr>
        <p:spPr>
          <a:xfrm>
            <a:off x="2270638" y="1452800"/>
            <a:ext cx="0" cy="619800"/>
          </a:xfrm>
          <a:prstGeom prst="straightConnector1">
            <a:avLst/>
          </a:prstGeom>
          <a:noFill/>
          <a:ln w="9525" cap="flat" cmpd="sng">
            <a:solidFill>
              <a:srgbClr val="DEFC52"/>
            </a:solidFill>
            <a:prstDash val="solid"/>
            <a:round/>
            <a:headEnd type="none" w="sm" len="sm"/>
            <a:tailEnd type="none" w="sm" len="sm"/>
          </a:ln>
        </p:spPr>
      </p:cxnSp>
      <p:sp>
        <p:nvSpPr>
          <p:cNvPr id="2" name="Rectángulo 1">
            <a:extLst>
              <a:ext uri="{FF2B5EF4-FFF2-40B4-BE49-F238E27FC236}">
                <a16:creationId xmlns:a16="http://schemas.microsoft.com/office/drawing/2014/main" id="{1843DC3A-3213-EEAE-0D13-A8159E99C4F8}"/>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63"/>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5000"/>
              <a:buFont typeface="Arial"/>
              <a:buNone/>
            </a:pPr>
            <a:r>
              <a:rPr lang="es" sz="5000" b="0" i="0" u="none" strike="noStrike" cap="none">
                <a:solidFill>
                  <a:srgbClr val="E8E7E3"/>
                </a:solidFill>
                <a:latin typeface="Arial"/>
                <a:ea typeface="Arial"/>
                <a:cs typeface="Arial"/>
                <a:sym typeface="Arial"/>
              </a:rPr>
              <a:t>☕</a:t>
            </a:r>
            <a:endParaRPr sz="5000" b="0" i="0" u="none" strike="noStrike" cap="none">
              <a:solidFill>
                <a:srgbClr val="E8E7E3"/>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Break</a:t>
            </a:r>
            <a:endParaRPr sz="4000" b="1" i="0" u="none" strike="noStrike" cap="none">
              <a:solidFill>
                <a:schemeClr val="lt1"/>
              </a:solidFill>
              <a:latin typeface="DM Sans"/>
              <a:ea typeface="DM Sans"/>
              <a:cs typeface="DM Sans"/>
              <a:sym typeface="DM Sans"/>
            </a:endParaRPr>
          </a:p>
        </p:txBody>
      </p:sp>
      <p:sp>
        <p:nvSpPr>
          <p:cNvPr id="307" name="Google Shape;307;p63"/>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lt1"/>
                </a:solidFill>
                <a:latin typeface="DM Sans"/>
                <a:ea typeface="DM Sans"/>
                <a:cs typeface="DM Sans"/>
                <a:sym typeface="DM Sans"/>
              </a:rPr>
              <a:t>¡10 minutos y volvemos!</a:t>
            </a:r>
            <a:endParaRPr sz="20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EB302D7-80E8-0F6D-F4F1-8A22EB894112}"/>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
        <p:nvSpPr>
          <p:cNvPr id="3" name="Rectángulo 2">
            <a:extLst>
              <a:ext uri="{FF2B5EF4-FFF2-40B4-BE49-F238E27FC236}">
                <a16:creationId xmlns:a16="http://schemas.microsoft.com/office/drawing/2014/main" id="{07D5D492-3433-03AD-453A-B40E6F48524E}"/>
              </a:ext>
            </a:extLst>
          </p:cNvPr>
          <p:cNvSpPr/>
          <p:nvPr/>
        </p:nvSpPr>
        <p:spPr>
          <a:xfrm>
            <a:off x="0" y="1641780"/>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
        <p:nvSpPr>
          <p:cNvPr id="4" name="Rectángulo 3">
            <a:extLst>
              <a:ext uri="{FF2B5EF4-FFF2-40B4-BE49-F238E27FC236}">
                <a16:creationId xmlns:a16="http://schemas.microsoft.com/office/drawing/2014/main" id="{D6767C57-5A66-D089-3B43-00EF3E394D19}"/>
              </a:ext>
            </a:extLst>
          </p:cNvPr>
          <p:cNvSpPr/>
          <p:nvPr/>
        </p:nvSpPr>
        <p:spPr>
          <a:xfrm>
            <a:off x="0" y="279115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64"/>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se piensa </a:t>
            </a:r>
            <a:endParaRPr sz="4000" b="1" i="0" u="none" strike="noStrike" cap="none">
              <a:solidFill>
                <a:schemeClr val="dk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con POO?</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4AC4E5A6-6423-DCE2-B6CC-B847A0DCC2E3}"/>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65"/>
          <p:cNvSpPr txBox="1"/>
          <p:nvPr/>
        </p:nvSpPr>
        <p:spPr>
          <a:xfrm>
            <a:off x="457725" y="1071050"/>
            <a:ext cx="47301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se piensa con POO? </a:t>
            </a:r>
            <a:endParaRPr sz="4000" b="1" i="0" u="none" strike="noStrike" cap="none">
              <a:solidFill>
                <a:schemeClr val="dk1"/>
              </a:solidFill>
              <a:latin typeface="DM Sans"/>
              <a:ea typeface="DM Sans"/>
              <a:cs typeface="DM Sans"/>
              <a:sym typeface="DM Sans"/>
            </a:endParaRPr>
          </a:p>
        </p:txBody>
      </p:sp>
      <p:sp>
        <p:nvSpPr>
          <p:cNvPr id="318" name="Google Shape;318;p65"/>
          <p:cNvSpPr txBox="1"/>
          <p:nvPr/>
        </p:nvSpPr>
        <p:spPr>
          <a:xfrm>
            <a:off x="457725" y="2211625"/>
            <a:ext cx="47301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000"/>
              <a:buFont typeface="Arial"/>
              <a:buNone/>
            </a:pPr>
            <a:r>
              <a:rPr lang="es" sz="1350" b="0" i="0" u="none" strike="noStrike" cap="none">
                <a:solidFill>
                  <a:schemeClr val="dk1"/>
                </a:solidFill>
                <a:latin typeface="DM Sans"/>
                <a:ea typeface="DM Sans"/>
                <a:cs typeface="DM Sans"/>
                <a:sym typeface="DM Sans"/>
              </a:rPr>
              <a:t>Es muy parecido a cómo lo haríamos en la vida real. </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Por ejemplo: vamos a pensar en un coche para tratar de modelizar en un esquema de POO. </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DM Sans"/>
              <a:ea typeface="DM Sans"/>
              <a:cs typeface="DM Sans"/>
              <a:sym typeface="DM Sans"/>
            </a:endParaRPr>
          </a:p>
          <a:p>
            <a:pPr marL="457200" marR="0" lvl="0" indent="-314325" algn="just" rtl="0">
              <a:lnSpc>
                <a:spcPct val="150000"/>
              </a:lnSpc>
              <a:spcBef>
                <a:spcPts val="0"/>
              </a:spcBef>
              <a:spcAft>
                <a:spcPts val="0"/>
              </a:spcAft>
              <a:buClr>
                <a:schemeClr val="accent4"/>
              </a:buClr>
              <a:buSzPts val="1350"/>
              <a:buFont typeface="Helvetica Neue Light"/>
              <a:buChar char="✓"/>
            </a:pPr>
            <a:r>
              <a:rPr lang="es" sz="1350" b="1" i="0" u="none" strike="noStrike" cap="none">
                <a:solidFill>
                  <a:schemeClr val="dk1"/>
                </a:solidFill>
                <a:latin typeface="DM Sans"/>
                <a:ea typeface="DM Sans"/>
                <a:cs typeface="DM Sans"/>
                <a:sym typeface="DM Sans"/>
              </a:rPr>
              <a:t>Elemento principal:</a:t>
            </a:r>
            <a:r>
              <a:rPr lang="es" sz="1350" b="0" i="0" u="none" strike="noStrike" cap="none">
                <a:solidFill>
                  <a:schemeClr val="dk1"/>
                </a:solidFill>
                <a:latin typeface="DM Sans"/>
                <a:ea typeface="DM Sans"/>
                <a:cs typeface="DM Sans"/>
                <a:sym typeface="DM Sans"/>
              </a:rPr>
              <a:t> coche. </a:t>
            </a:r>
            <a:endParaRPr sz="1350" b="0" i="0" u="none" strike="noStrike" cap="none">
              <a:solidFill>
                <a:schemeClr val="dk1"/>
              </a:solidFill>
              <a:latin typeface="DM Sans"/>
              <a:ea typeface="DM Sans"/>
              <a:cs typeface="DM Sans"/>
              <a:sym typeface="DM Sans"/>
            </a:endParaRPr>
          </a:p>
          <a:p>
            <a:pPr marL="457200" marR="0" lvl="0" indent="-314325" algn="just" rtl="0">
              <a:lnSpc>
                <a:spcPct val="150000"/>
              </a:lnSpc>
              <a:spcBef>
                <a:spcPts val="0"/>
              </a:spcBef>
              <a:spcAft>
                <a:spcPts val="0"/>
              </a:spcAft>
              <a:buClr>
                <a:schemeClr val="accent4"/>
              </a:buClr>
              <a:buSzPts val="1350"/>
              <a:buFont typeface="Helvetica Neue Light"/>
              <a:buChar char="✓"/>
            </a:pPr>
            <a:r>
              <a:rPr lang="es" sz="1350" b="1" i="0" u="none" strike="noStrike" cap="none">
                <a:solidFill>
                  <a:schemeClr val="dk1"/>
                </a:solidFill>
                <a:latin typeface="DM Sans"/>
                <a:ea typeface="DM Sans"/>
                <a:cs typeface="DM Sans"/>
                <a:sym typeface="DM Sans"/>
              </a:rPr>
              <a:t>Características</a:t>
            </a:r>
            <a:r>
              <a:rPr lang="es" sz="1350" b="0" i="0" u="none" strike="noStrike" cap="none">
                <a:solidFill>
                  <a:schemeClr val="dk1"/>
                </a:solidFill>
                <a:latin typeface="DM Sans"/>
                <a:ea typeface="DM Sans"/>
                <a:cs typeface="DM Sans"/>
                <a:sym typeface="DM Sans"/>
              </a:rPr>
              <a:t>: marca, modelo, color, etc. </a:t>
            </a:r>
            <a:endParaRPr sz="1350" b="0" i="0" u="none" strike="noStrike" cap="none">
              <a:solidFill>
                <a:schemeClr val="dk1"/>
              </a:solidFill>
              <a:latin typeface="DM Sans"/>
              <a:ea typeface="DM Sans"/>
              <a:cs typeface="DM Sans"/>
              <a:sym typeface="DM Sans"/>
            </a:endParaRPr>
          </a:p>
          <a:p>
            <a:pPr marL="457200" marR="0" lvl="0" indent="-314325" algn="just" rtl="0">
              <a:lnSpc>
                <a:spcPct val="150000"/>
              </a:lnSpc>
              <a:spcBef>
                <a:spcPts val="0"/>
              </a:spcBef>
              <a:spcAft>
                <a:spcPts val="0"/>
              </a:spcAft>
              <a:buClr>
                <a:schemeClr val="accent4"/>
              </a:buClr>
              <a:buSzPts val="1350"/>
              <a:buFont typeface="Helvetica Neue Light"/>
              <a:buChar char="✓"/>
            </a:pPr>
            <a:r>
              <a:rPr lang="es" sz="1350" b="1" i="0" u="none" strike="noStrike" cap="none">
                <a:solidFill>
                  <a:schemeClr val="dk1"/>
                </a:solidFill>
                <a:latin typeface="DM Sans"/>
                <a:ea typeface="DM Sans"/>
                <a:cs typeface="DM Sans"/>
                <a:sym typeface="DM Sans"/>
              </a:rPr>
              <a:t>Funcionalidades</a:t>
            </a:r>
            <a:r>
              <a:rPr lang="es" sz="1350" b="0" i="0" u="none" strike="noStrike" cap="none">
                <a:solidFill>
                  <a:schemeClr val="dk1"/>
                </a:solidFill>
                <a:latin typeface="DM Sans"/>
                <a:ea typeface="DM Sans"/>
                <a:cs typeface="DM Sans"/>
                <a:sym typeface="DM Sans"/>
              </a:rPr>
              <a:t>: reversa, aparcamiento, etc.</a:t>
            </a:r>
            <a:endParaRPr sz="1350" b="0" i="0" u="none" strike="noStrike" cap="none">
              <a:solidFill>
                <a:schemeClr val="dk1"/>
              </a:solidFill>
              <a:latin typeface="DM Sans"/>
              <a:ea typeface="DM Sans"/>
              <a:cs typeface="DM Sans"/>
              <a:sym typeface="DM Sans"/>
            </a:endParaRPr>
          </a:p>
        </p:txBody>
      </p:sp>
      <p:pic>
        <p:nvPicPr>
          <p:cNvPr id="319" name="Google Shape;319;p65"/>
          <p:cNvPicPr preferRelativeResize="0"/>
          <p:nvPr/>
        </p:nvPicPr>
        <p:blipFill rotWithShape="1">
          <a:blip r:embed="rId3">
            <a:alphaModFix/>
          </a:blip>
          <a:srcRect/>
          <a:stretch/>
        </p:blipFill>
        <p:spPr>
          <a:xfrm>
            <a:off x="7014500" y="1659437"/>
            <a:ext cx="1824625" cy="1824625"/>
          </a:xfrm>
          <a:prstGeom prst="rect">
            <a:avLst/>
          </a:prstGeom>
          <a:noFill/>
          <a:ln>
            <a:noFill/>
          </a:ln>
        </p:spPr>
      </p:pic>
      <p:sp>
        <p:nvSpPr>
          <p:cNvPr id="320" name="Google Shape;320;p65"/>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4"/>
              </a:rPr>
              <a:t>ProgramadorNovato</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DE532DAC-12EE-DCBC-781C-CEB0066911B1}"/>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66"/>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se piensa con POO? </a:t>
            </a:r>
            <a:endParaRPr sz="4000" b="1" i="0" u="none" strike="noStrike" cap="none">
              <a:solidFill>
                <a:schemeClr val="dk1"/>
              </a:solidFill>
              <a:latin typeface="DM Sans"/>
              <a:ea typeface="DM Sans"/>
              <a:cs typeface="DM Sans"/>
              <a:sym typeface="DM Sans"/>
            </a:endParaRPr>
          </a:p>
        </p:txBody>
      </p:sp>
      <p:sp>
        <p:nvSpPr>
          <p:cNvPr id="326" name="Google Shape;326;p66"/>
          <p:cNvSpPr txBox="1"/>
          <p:nvPr/>
        </p:nvSpPr>
        <p:spPr>
          <a:xfrm>
            <a:off x="473350" y="1908175"/>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191919"/>
                </a:solidFill>
                <a:latin typeface="DM Sans"/>
                <a:ea typeface="DM Sans"/>
                <a:cs typeface="DM Sans"/>
                <a:sym typeface="DM Sans"/>
              </a:rPr>
              <a:t>Ahora si pensamos el ejemplo anterior desde el esquema de Programación Orientada a Objetos, sería de la siguiente manera: </a:t>
            </a:r>
            <a:endParaRPr sz="1350" b="0" i="0" u="none" strike="noStrike" cap="none">
              <a:solidFill>
                <a:srgbClr val="000000"/>
              </a:solidFill>
              <a:latin typeface="DM Sans"/>
              <a:ea typeface="DM Sans"/>
              <a:cs typeface="DM Sans"/>
              <a:sym typeface="DM Sans"/>
            </a:endParaRPr>
          </a:p>
        </p:txBody>
      </p:sp>
      <p:sp>
        <p:nvSpPr>
          <p:cNvPr id="327" name="Google Shape;327;p66"/>
          <p:cNvSpPr txBox="1"/>
          <p:nvPr/>
        </p:nvSpPr>
        <p:spPr>
          <a:xfrm>
            <a:off x="4527575" y="1908175"/>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Elemento principal 			Clase</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Características				Atributos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Funcionalidades				Métodos</a:t>
            </a:r>
            <a:endParaRPr sz="1350" b="0" i="0" u="none" strike="noStrike" cap="none">
              <a:solidFill>
                <a:srgbClr val="000000"/>
              </a:solidFill>
              <a:latin typeface="DM Sans"/>
              <a:ea typeface="DM Sans"/>
              <a:cs typeface="DM Sans"/>
              <a:sym typeface="DM Sans"/>
            </a:endParaRPr>
          </a:p>
        </p:txBody>
      </p:sp>
      <p:sp>
        <p:nvSpPr>
          <p:cNvPr id="328" name="Google Shape;328;p66"/>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ProgramadorNovato</a:t>
            </a:r>
            <a:endParaRPr sz="1100" b="0" i="1" u="sng" strike="noStrike" cap="none">
              <a:solidFill>
                <a:srgbClr val="83AEFB"/>
              </a:solidFill>
              <a:latin typeface="DM Sans"/>
              <a:ea typeface="DM Sans"/>
              <a:cs typeface="DM Sans"/>
              <a:sym typeface="DM Sans"/>
            </a:endParaRPr>
          </a:p>
        </p:txBody>
      </p:sp>
      <p:cxnSp>
        <p:nvCxnSpPr>
          <p:cNvPr id="329" name="Google Shape;329;p66"/>
          <p:cNvCxnSpPr/>
          <p:nvPr/>
        </p:nvCxnSpPr>
        <p:spPr>
          <a:xfrm>
            <a:off x="6319150" y="2130875"/>
            <a:ext cx="845100" cy="0"/>
          </a:xfrm>
          <a:prstGeom prst="straightConnector1">
            <a:avLst/>
          </a:prstGeom>
          <a:noFill/>
          <a:ln w="9525" cap="flat" cmpd="sng">
            <a:solidFill>
              <a:schemeClr val="dk2"/>
            </a:solidFill>
            <a:prstDash val="solid"/>
            <a:round/>
            <a:headEnd type="none" w="sm" len="sm"/>
            <a:tailEnd type="oval" w="med" len="med"/>
          </a:ln>
        </p:spPr>
      </p:cxnSp>
      <p:cxnSp>
        <p:nvCxnSpPr>
          <p:cNvPr id="330" name="Google Shape;330;p66"/>
          <p:cNvCxnSpPr/>
          <p:nvPr/>
        </p:nvCxnSpPr>
        <p:spPr>
          <a:xfrm>
            <a:off x="6319142" y="2788325"/>
            <a:ext cx="845100" cy="0"/>
          </a:xfrm>
          <a:prstGeom prst="straightConnector1">
            <a:avLst/>
          </a:prstGeom>
          <a:noFill/>
          <a:ln w="9525" cap="flat" cmpd="sng">
            <a:solidFill>
              <a:schemeClr val="dk2"/>
            </a:solidFill>
            <a:prstDash val="solid"/>
            <a:round/>
            <a:headEnd type="none" w="sm" len="sm"/>
            <a:tailEnd type="oval" w="med" len="med"/>
          </a:ln>
        </p:spPr>
      </p:cxnSp>
      <p:cxnSp>
        <p:nvCxnSpPr>
          <p:cNvPr id="331" name="Google Shape;331;p66"/>
          <p:cNvCxnSpPr/>
          <p:nvPr/>
        </p:nvCxnSpPr>
        <p:spPr>
          <a:xfrm>
            <a:off x="6319150" y="3382883"/>
            <a:ext cx="845100" cy="0"/>
          </a:xfrm>
          <a:prstGeom prst="straightConnector1">
            <a:avLst/>
          </a:prstGeom>
          <a:noFill/>
          <a:ln w="9525" cap="flat" cmpd="sng">
            <a:solidFill>
              <a:schemeClr val="dk2"/>
            </a:solidFill>
            <a:prstDash val="solid"/>
            <a:round/>
            <a:headEnd type="none" w="sm" len="sm"/>
            <a:tailEnd type="oval" w="med" len="med"/>
          </a:ln>
        </p:spPr>
      </p:cxnSp>
      <p:pic>
        <p:nvPicPr>
          <p:cNvPr id="332" name="Google Shape;332;p66"/>
          <p:cNvPicPr preferRelativeResize="0"/>
          <p:nvPr/>
        </p:nvPicPr>
        <p:blipFill rotWithShape="1">
          <a:blip r:embed="rId4">
            <a:alphaModFix/>
          </a:blip>
          <a:srcRect/>
          <a:stretch/>
        </p:blipFill>
        <p:spPr>
          <a:xfrm>
            <a:off x="1941850" y="2788325"/>
            <a:ext cx="845100" cy="845100"/>
          </a:xfrm>
          <a:prstGeom prst="rect">
            <a:avLst/>
          </a:prstGeom>
          <a:noFill/>
          <a:ln>
            <a:noFill/>
          </a:ln>
        </p:spPr>
      </p:pic>
      <p:sp>
        <p:nvSpPr>
          <p:cNvPr id="2" name="Rectángulo 1">
            <a:extLst>
              <a:ext uri="{FF2B5EF4-FFF2-40B4-BE49-F238E27FC236}">
                <a16:creationId xmlns:a16="http://schemas.microsoft.com/office/drawing/2014/main" id="{043A2526-3069-3F00-76DA-6CE5FA31551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67"/>
          <p:cNvSpPr txBox="1"/>
          <p:nvPr/>
        </p:nvSpPr>
        <p:spPr>
          <a:xfrm>
            <a:off x="473350" y="1908175"/>
            <a:ext cx="58182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s" sz="1350" b="0" i="0" u="none" strike="noStrike" cap="none">
                <a:solidFill>
                  <a:schemeClr val="dk1"/>
                </a:solidFill>
                <a:latin typeface="DM Sans"/>
                <a:ea typeface="DM Sans"/>
                <a:cs typeface="DM Sans"/>
                <a:sym typeface="DM Sans"/>
              </a:rPr>
              <a:t>Para poder comentar el anterior esquema de POO fácilmente aparecen los denominados </a:t>
            </a:r>
            <a:r>
              <a:rPr lang="es" sz="1350" b="0" i="0" u="none" strike="noStrike" cap="none">
                <a:solidFill>
                  <a:schemeClr val="dk1"/>
                </a:solidFill>
                <a:highlight>
                  <a:srgbClr val="EAFF6A"/>
                </a:highlight>
                <a:latin typeface="DM Sans"/>
                <a:ea typeface="DM Sans"/>
                <a:cs typeface="DM Sans"/>
                <a:sym typeface="DM Sans"/>
              </a:rPr>
              <a:t>diagramas de clases</a:t>
            </a:r>
            <a:r>
              <a:rPr lang="es" sz="1350">
                <a:solidFill>
                  <a:schemeClr val="dk1"/>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sp>
        <p:nvSpPr>
          <p:cNvPr id="338" name="Google Shape;338;p6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se piensa con POO? </a:t>
            </a:r>
            <a:endParaRPr sz="4000" b="1" i="0" u="none" strike="noStrike" cap="none">
              <a:solidFill>
                <a:schemeClr val="dk1"/>
              </a:solidFill>
              <a:latin typeface="DM Sans"/>
              <a:ea typeface="DM Sans"/>
              <a:cs typeface="DM Sans"/>
              <a:sym typeface="DM Sans"/>
            </a:endParaRPr>
          </a:p>
        </p:txBody>
      </p:sp>
      <p:pic>
        <p:nvPicPr>
          <p:cNvPr id="339" name="Google Shape;339;p67"/>
          <p:cNvPicPr preferRelativeResize="0"/>
          <p:nvPr/>
        </p:nvPicPr>
        <p:blipFill rotWithShape="1">
          <a:blip r:embed="rId3">
            <a:alphaModFix/>
          </a:blip>
          <a:srcRect/>
          <a:stretch/>
        </p:blipFill>
        <p:spPr>
          <a:xfrm>
            <a:off x="1371425" y="2874850"/>
            <a:ext cx="1268975" cy="1478000"/>
          </a:xfrm>
          <a:prstGeom prst="rect">
            <a:avLst/>
          </a:prstGeom>
          <a:noFill/>
          <a:ln>
            <a:noFill/>
          </a:ln>
        </p:spPr>
      </p:pic>
      <p:sp>
        <p:nvSpPr>
          <p:cNvPr id="340" name="Google Shape;340;p67"/>
          <p:cNvSpPr txBox="1"/>
          <p:nvPr/>
        </p:nvSpPr>
        <p:spPr>
          <a:xfrm>
            <a:off x="4328875" y="3013350"/>
            <a:ext cx="3443700" cy="1204200"/>
          </a:xfrm>
          <a:prstGeom prst="rect">
            <a:avLst/>
          </a:prstGeom>
          <a:noFill/>
          <a:ln w="28575" cap="flat" cmpd="sng">
            <a:solidFill>
              <a:srgbClr val="EAFF6A"/>
            </a:solidFill>
            <a:prstDash val="solid"/>
            <a:round/>
            <a:headEnd type="none" w="sm" len="sm"/>
            <a:tailEnd type="none" w="sm" len="sm"/>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s" sz="1350" b="0" i="0" u="none" strike="noStrike" cap="none">
                <a:solidFill>
                  <a:schemeClr val="dk1"/>
                </a:solidFill>
                <a:highlight>
                  <a:srgbClr val="FFFFFF"/>
                </a:highlight>
                <a:latin typeface="DM Sans"/>
                <a:ea typeface="DM Sans"/>
                <a:cs typeface="DM Sans"/>
                <a:sym typeface="DM Sans"/>
              </a:rPr>
              <a:t>Estructura estática que describe la estructura de un sistema mostrando las clases del sistema, sus atributos, operaciones, y las relaciones entre los objetos.</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endParaRPr sz="1350" b="1" i="0" u="none" strike="noStrike" cap="none">
              <a:solidFill>
                <a:srgbClr val="FFFFFF"/>
              </a:solidFill>
              <a:highlight>
                <a:srgbClr val="888888"/>
              </a:highlight>
              <a:latin typeface="DM Sans"/>
              <a:ea typeface="DM Sans"/>
              <a:cs typeface="DM Sans"/>
              <a:sym typeface="DM Sans"/>
            </a:endParaRPr>
          </a:p>
        </p:txBody>
      </p:sp>
      <p:sp>
        <p:nvSpPr>
          <p:cNvPr id="341" name="Google Shape;341;p67"/>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4"/>
              </a:rPr>
              <a:t>ProgramadorNovato</a:t>
            </a:r>
            <a:endParaRPr sz="1100" b="0" i="1" u="sng" strike="noStrike" cap="none">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A768F8FA-8090-E530-DA10-E675E1AD841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68"/>
          <p:cNvSpPr txBox="1"/>
          <p:nvPr/>
        </p:nvSpPr>
        <p:spPr>
          <a:xfrm>
            <a:off x="689250" y="119991"/>
            <a:ext cx="8141100" cy="725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900"/>
              <a:buFont typeface="Arial"/>
              <a:buNone/>
            </a:pPr>
            <a:r>
              <a:rPr lang="es" sz="3900" b="1" i="0" u="none" strike="noStrike" cap="none">
                <a:solidFill>
                  <a:schemeClr val="dk1"/>
                </a:solidFill>
                <a:latin typeface="DM Sans"/>
                <a:ea typeface="DM Sans"/>
                <a:cs typeface="DM Sans"/>
                <a:sym typeface="DM Sans"/>
              </a:rPr>
              <a:t>Ejemplos de diagramas de clases</a:t>
            </a:r>
            <a:endParaRPr sz="3900" b="1" i="0" u="none" strike="noStrike" cap="none">
              <a:solidFill>
                <a:schemeClr val="dk1"/>
              </a:solidFill>
              <a:latin typeface="DM Sans"/>
              <a:ea typeface="DM Sans"/>
              <a:cs typeface="DM Sans"/>
              <a:sym typeface="DM Sans"/>
            </a:endParaRPr>
          </a:p>
        </p:txBody>
      </p:sp>
      <p:pic>
        <p:nvPicPr>
          <p:cNvPr id="347" name="Google Shape;347;p68" descr="▷ 2 Ejemplos de Diagramas de Clases UML | 2022 | Web y Empresas"/>
          <p:cNvPicPr preferRelativeResize="0"/>
          <p:nvPr/>
        </p:nvPicPr>
        <p:blipFill rotWithShape="1">
          <a:blip r:embed="rId3">
            <a:alphaModFix/>
          </a:blip>
          <a:srcRect/>
          <a:stretch/>
        </p:blipFill>
        <p:spPr>
          <a:xfrm>
            <a:off x="1310746" y="845091"/>
            <a:ext cx="6446308" cy="3791947"/>
          </a:xfrm>
          <a:prstGeom prst="rect">
            <a:avLst/>
          </a:prstGeom>
          <a:noFill/>
          <a:ln>
            <a:noFill/>
          </a:ln>
        </p:spPr>
      </p:pic>
      <p:sp>
        <p:nvSpPr>
          <p:cNvPr id="348" name="Google Shape;348;p68"/>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u="sng">
                <a:solidFill>
                  <a:schemeClr val="hlink"/>
                </a:solidFill>
                <a:latin typeface="DM Sans"/>
                <a:ea typeface="DM Sans"/>
                <a:cs typeface="DM Sans"/>
                <a:sym typeface="DM Sans"/>
                <a:hlinkClick r:id="rId4"/>
              </a:rPr>
              <a:t>2 Ejemplos de Diagramas de Clases UML</a:t>
            </a:r>
            <a:endParaRPr sz="1100" b="0" i="1" u="sng" strike="noStrike" cap="none">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956EE88-BBC4-5CE5-4153-59B5984E3718}"/>
              </a:ext>
            </a:extLst>
          </p:cNvPr>
          <p:cNvSpPr/>
          <p:nvPr/>
        </p:nvSpPr>
        <p:spPr>
          <a:xfrm>
            <a:off x="0" y="4637038"/>
            <a:ext cx="9144000" cy="5064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9"/>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s" sz="1800" b="0" i="0" u="none" strike="noStrike" cap="none">
                <a:solidFill>
                  <a:schemeClr val="dk1"/>
                </a:solidFill>
                <a:latin typeface="DM Sans"/>
                <a:ea typeface="DM Sans"/>
                <a:cs typeface="DM Sans"/>
                <a:sym typeface="DM Sans"/>
              </a:rPr>
              <a:t>Con el ejemplo anterior notamos que los problemas complejos no son </a:t>
            </a:r>
            <a:r>
              <a:rPr lang="es" sz="1800">
                <a:solidFill>
                  <a:schemeClr val="dk1"/>
                </a:solidFill>
                <a:latin typeface="DM Sans"/>
                <a:ea typeface="DM Sans"/>
                <a:cs typeface="DM Sans"/>
                <a:sym typeface="DM Sans"/>
              </a:rPr>
              <a:t>solo</a:t>
            </a:r>
            <a:r>
              <a:rPr lang="es" sz="1800" b="0" i="0" u="none" strike="noStrike" cap="none">
                <a:solidFill>
                  <a:schemeClr val="dk1"/>
                </a:solidFill>
                <a:latin typeface="DM Sans"/>
                <a:ea typeface="DM Sans"/>
                <a:cs typeface="DM Sans"/>
                <a:sym typeface="DM Sans"/>
              </a:rPr>
              <a:t> una suma de Clases, son además </a:t>
            </a:r>
            <a:r>
              <a:rPr lang="es" sz="1800" b="1" i="0" u="none" strike="noStrike" cap="none">
                <a:solidFill>
                  <a:schemeClr val="dk1"/>
                </a:solidFill>
                <a:latin typeface="DM Sans"/>
                <a:ea typeface="DM Sans"/>
                <a:cs typeface="DM Sans"/>
                <a:sym typeface="DM Sans"/>
              </a:rPr>
              <a:t>relaciones entre clases.</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4848C3D-4879-35F2-0475-07DDD604DD1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70"/>
          <p:cNvSpPr txBox="1"/>
          <p:nvPr/>
        </p:nvSpPr>
        <p:spPr>
          <a:xfrm>
            <a:off x="1461288"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90FF"/>
                </a:solidFill>
                <a:latin typeface="DM Sans"/>
                <a:ea typeface="DM Sans"/>
                <a:cs typeface="DM Sans"/>
                <a:sym typeface="DM Sans"/>
              </a:rPr>
              <a:t>Relaciones entre clases</a:t>
            </a:r>
            <a:endParaRPr sz="4000" b="1" i="0" u="none" strike="noStrike" cap="none">
              <a:solidFill>
                <a:srgbClr val="EA90FF"/>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DC1EECCF-B511-AE57-720E-901DC56A8D7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71"/>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Tipos de relaciones</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CB0343AD-5EE7-F39A-524C-BE03D8EBAFA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72"/>
          <p:cNvSpPr txBox="1"/>
          <p:nvPr/>
        </p:nvSpPr>
        <p:spPr>
          <a:xfrm>
            <a:off x="457725" y="1071050"/>
            <a:ext cx="5025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Tipos de relaciones</a:t>
            </a:r>
            <a:endParaRPr sz="4000" b="1" i="0" u="none" strike="noStrike" cap="none">
              <a:solidFill>
                <a:schemeClr val="dk1"/>
              </a:solidFill>
              <a:latin typeface="DM Sans"/>
              <a:ea typeface="DM Sans"/>
              <a:cs typeface="DM Sans"/>
              <a:sym typeface="DM Sans"/>
            </a:endParaRPr>
          </a:p>
        </p:txBody>
      </p:sp>
      <p:sp>
        <p:nvSpPr>
          <p:cNvPr id="369" name="Google Shape;369;p72"/>
          <p:cNvSpPr txBox="1"/>
          <p:nvPr/>
        </p:nvSpPr>
        <p:spPr>
          <a:xfrm>
            <a:off x="457725" y="2078450"/>
            <a:ext cx="4730100" cy="277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La Orientación a Objetos (POO) intenta modelar aplicaciones del mundo real tan fielmente como sea posible y</a:t>
            </a:r>
            <a:r>
              <a:rPr lang="es" sz="1350">
                <a:solidFill>
                  <a:schemeClr val="dk1"/>
                </a:solidFill>
                <a:latin typeface="DM Sans"/>
                <a:ea typeface="DM Sans"/>
                <a:cs typeface="DM Sans"/>
                <a:sym typeface="DM Sans"/>
              </a:rPr>
              <a:t>, por lo tanto,</a:t>
            </a:r>
            <a:r>
              <a:rPr lang="es" sz="1350" b="0" i="0" u="none" strike="noStrike" cap="none">
                <a:solidFill>
                  <a:schemeClr val="dk1"/>
                </a:solidFill>
                <a:latin typeface="DM Sans"/>
                <a:ea typeface="DM Sans"/>
                <a:cs typeface="DM Sans"/>
                <a:sym typeface="DM Sans"/>
              </a:rPr>
              <a:t> debe reflejar estas relaciones entre clases y objetos.</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Existen tres tipos de relaciones: </a:t>
            </a:r>
            <a:endParaRPr sz="1350" b="0" i="0" u="none" strike="noStrike" cap="none">
              <a:solidFill>
                <a:schemeClr val="dk1"/>
              </a:solidFill>
              <a:latin typeface="DM Sans"/>
              <a:ea typeface="DM Sans"/>
              <a:cs typeface="DM Sans"/>
              <a:sym typeface="DM Sans"/>
            </a:endParaRPr>
          </a:p>
          <a:p>
            <a:pPr marL="457200" marR="0" lvl="0" indent="-314325" algn="l" rtl="0">
              <a:lnSpc>
                <a:spcPct val="100000"/>
              </a:lnSpc>
              <a:spcBef>
                <a:spcPts val="900"/>
              </a:spcBef>
              <a:spcAft>
                <a:spcPts val="0"/>
              </a:spcAft>
              <a:buClr>
                <a:schemeClr val="accent5"/>
              </a:buClr>
              <a:buSzPts val="1350"/>
              <a:buFont typeface="DM Sans"/>
              <a:buChar char="✓"/>
            </a:pPr>
            <a:r>
              <a:rPr lang="es" sz="1350" b="0" i="0" u="none" strike="noStrike" cap="none">
                <a:solidFill>
                  <a:schemeClr val="dk1"/>
                </a:solidFill>
                <a:latin typeface="DM Sans"/>
                <a:ea typeface="DM Sans"/>
                <a:cs typeface="DM Sans"/>
                <a:sym typeface="DM Sans"/>
              </a:rPr>
              <a:t>Agregación / Composición</a:t>
            </a:r>
            <a:endParaRPr sz="1350" b="0" i="0" u="none" strike="noStrike" cap="none">
              <a:solidFill>
                <a:schemeClr val="dk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5"/>
              </a:buClr>
              <a:buSzPts val="1350"/>
              <a:buFont typeface="DM Sans"/>
              <a:buChar char="✓"/>
            </a:pPr>
            <a:r>
              <a:rPr lang="es" sz="1350" b="0" i="0" u="none" strike="noStrike" cap="none">
                <a:solidFill>
                  <a:schemeClr val="dk1"/>
                </a:solidFill>
                <a:latin typeface="DM Sans"/>
                <a:ea typeface="DM Sans"/>
                <a:cs typeface="DM Sans"/>
                <a:sym typeface="DM Sans"/>
              </a:rPr>
              <a:t>Asociación</a:t>
            </a:r>
            <a:endParaRPr sz="1350" b="0" i="0" u="none" strike="noStrike" cap="none">
              <a:solidFill>
                <a:schemeClr val="dk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5"/>
              </a:buClr>
              <a:buSzPts val="1350"/>
              <a:buFont typeface="DM Sans"/>
              <a:buChar char="✓"/>
            </a:pPr>
            <a:r>
              <a:rPr lang="es" sz="1350" b="0" i="0" u="none" strike="noStrike" cap="none">
                <a:solidFill>
                  <a:schemeClr val="dk1"/>
                </a:solidFill>
                <a:latin typeface="DM Sans"/>
                <a:ea typeface="DM Sans"/>
                <a:cs typeface="DM Sans"/>
                <a:sym typeface="DM Sans"/>
              </a:rPr>
              <a:t>Generalización / Especialización. Herencia simple y herencia múltiple.  </a:t>
            </a:r>
            <a:endParaRPr sz="1350" b="0" i="0" u="none" strike="noStrike" cap="none">
              <a:solidFill>
                <a:schemeClr val="dk1"/>
              </a:solidFill>
              <a:latin typeface="DM Sans"/>
              <a:ea typeface="DM Sans"/>
              <a:cs typeface="DM Sans"/>
              <a:sym typeface="DM Sans"/>
            </a:endParaRPr>
          </a:p>
          <a:p>
            <a:pPr marL="0" marR="0" lvl="0" indent="0" algn="ctr" rtl="0">
              <a:lnSpc>
                <a:spcPct val="150000"/>
              </a:lnSpc>
              <a:spcBef>
                <a:spcPts val="900"/>
              </a:spcBef>
              <a:spcAft>
                <a:spcPts val="0"/>
              </a:spcAft>
              <a:buClr>
                <a:schemeClr val="dk1"/>
              </a:buClr>
              <a:buSzPts val="1100"/>
              <a:buFont typeface="Arial"/>
              <a:buNone/>
            </a:pPr>
            <a:endParaRPr sz="1800" b="0" i="0" u="none" strike="noStrike" cap="none">
              <a:solidFill>
                <a:schemeClr val="dk1"/>
              </a:solidFill>
              <a:highlight>
                <a:schemeClr val="lt1"/>
              </a:highlight>
              <a:latin typeface="Helvetica Neue Light"/>
              <a:ea typeface="Helvetica Neue Light"/>
              <a:cs typeface="Helvetica Neue Light"/>
              <a:sym typeface="Helvetica Neue Light"/>
            </a:endParaRPr>
          </a:p>
        </p:txBody>
      </p:sp>
      <p:pic>
        <p:nvPicPr>
          <p:cNvPr id="370" name="Google Shape;370;p72"/>
          <p:cNvPicPr preferRelativeResize="0"/>
          <p:nvPr/>
        </p:nvPicPr>
        <p:blipFill rotWithShape="1">
          <a:blip r:embed="rId3">
            <a:alphaModFix/>
          </a:blip>
          <a:srcRect/>
          <a:stretch/>
        </p:blipFill>
        <p:spPr>
          <a:xfrm>
            <a:off x="7158175" y="1875363"/>
            <a:ext cx="1392774" cy="1392774"/>
          </a:xfrm>
          <a:prstGeom prst="rect">
            <a:avLst/>
          </a:prstGeom>
          <a:noFill/>
          <a:ln>
            <a:noFill/>
          </a:ln>
        </p:spPr>
      </p:pic>
      <p:sp>
        <p:nvSpPr>
          <p:cNvPr id="371" name="Google Shape;371;p72"/>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4"/>
              </a:rPr>
              <a:t>VCalpena</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D311B91-9D6B-B1F6-68BA-2EF74A48B42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7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457200" marR="0" lvl="0" indent="-457200" algn="l" rtl="0">
              <a:lnSpc>
                <a:spcPct val="90000"/>
              </a:lnSpc>
              <a:spcBef>
                <a:spcPts val="0"/>
              </a:spcBef>
              <a:spcAft>
                <a:spcPts val="0"/>
              </a:spcAft>
              <a:buClr>
                <a:schemeClr val="dk1"/>
              </a:buClr>
              <a:buSzPts val="4000"/>
              <a:buFont typeface="DM Sans"/>
              <a:buAutoNum type="arabicPeriod"/>
            </a:pPr>
            <a:r>
              <a:rPr lang="es" sz="4000" b="1" i="0" u="none" strike="noStrike" cap="none">
                <a:solidFill>
                  <a:schemeClr val="dk1"/>
                </a:solidFill>
                <a:latin typeface="DM Sans"/>
                <a:ea typeface="DM Sans"/>
                <a:cs typeface="DM Sans"/>
                <a:sym typeface="DM Sans"/>
              </a:rPr>
              <a:t>Agregación</a:t>
            </a:r>
            <a:endParaRPr sz="4000" b="1" i="0" u="none" strike="noStrike" cap="none">
              <a:solidFill>
                <a:schemeClr val="dk1"/>
              </a:solidFill>
              <a:latin typeface="DM Sans"/>
              <a:ea typeface="DM Sans"/>
              <a:cs typeface="DM Sans"/>
              <a:sym typeface="DM Sans"/>
            </a:endParaRPr>
          </a:p>
        </p:txBody>
      </p:sp>
      <p:sp>
        <p:nvSpPr>
          <p:cNvPr id="377" name="Google Shape;377;p73"/>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s" sz="1350" b="1" i="0" u="none" strike="noStrike" cap="none">
                <a:solidFill>
                  <a:schemeClr val="dk1"/>
                </a:solidFill>
                <a:highlight>
                  <a:schemeClr val="accent6"/>
                </a:highlight>
                <a:latin typeface="DM Sans"/>
                <a:ea typeface="DM Sans"/>
                <a:cs typeface="DM Sans"/>
                <a:sym typeface="DM Sans"/>
              </a:rPr>
              <a:t>Esta relación se presenta entre una clase TODO y una clase PARTE que es</a:t>
            </a:r>
            <a:r>
              <a:rPr lang="es" sz="1350" b="1">
                <a:solidFill>
                  <a:schemeClr val="dk1"/>
                </a:solidFill>
                <a:highlight>
                  <a:schemeClr val="accent6"/>
                </a:highlight>
                <a:latin typeface="DM Sans"/>
                <a:ea typeface="DM Sans"/>
                <a:cs typeface="DM Sans"/>
                <a:sym typeface="DM Sans"/>
              </a:rPr>
              <a:t> </a:t>
            </a:r>
            <a:r>
              <a:rPr lang="es" sz="1350" b="1" i="0" u="none" strike="noStrike" cap="none">
                <a:solidFill>
                  <a:schemeClr val="dk1"/>
                </a:solidFill>
                <a:highlight>
                  <a:schemeClr val="accent6"/>
                </a:highlight>
                <a:latin typeface="DM Sans"/>
                <a:ea typeface="DM Sans"/>
                <a:cs typeface="DM Sans"/>
                <a:sym typeface="DM Sans"/>
              </a:rPr>
              <a:t>componente de TODO</a:t>
            </a:r>
            <a:r>
              <a:rPr lang="es" sz="1350" b="1" i="0" u="none" strike="noStrike" cap="none">
                <a:solidFill>
                  <a:schemeClr val="dk1"/>
                </a:solidFill>
                <a:latin typeface="DM Sans"/>
                <a:ea typeface="DM Sans"/>
                <a:cs typeface="DM Sans"/>
                <a:sym typeface="DM Sans"/>
              </a:rPr>
              <a:t>. </a:t>
            </a:r>
            <a:endParaRPr sz="1350" b="1"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000"/>
              <a:buFont typeface="Arial"/>
              <a:buNone/>
            </a:pPr>
            <a:r>
              <a:rPr lang="es" sz="1350" b="0" i="0" u="none" strike="noStrike" cap="none">
                <a:solidFill>
                  <a:schemeClr val="dk1"/>
                </a:solidFill>
                <a:latin typeface="DM Sans"/>
                <a:ea typeface="DM Sans"/>
                <a:cs typeface="DM Sans"/>
                <a:sym typeface="DM Sans"/>
              </a:rPr>
              <a:t>La implementación de este tipo de relación se consigue definiendo como atributo un objeto de la otra clase que es parte-de.</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000"/>
              <a:buFont typeface="Arial"/>
              <a:buNone/>
            </a:pPr>
            <a:r>
              <a:rPr lang="es" sz="1350" b="0" i="0" u="none" strike="noStrike" cap="none">
                <a:solidFill>
                  <a:schemeClr val="dk1"/>
                </a:solidFill>
                <a:latin typeface="DM Sans"/>
                <a:ea typeface="DM Sans"/>
                <a:cs typeface="DM Sans"/>
                <a:sym typeface="DM Sans"/>
              </a:rPr>
              <a:t>Los objetos de la clase TODO son objetos contenedores. </a:t>
            </a:r>
            <a:r>
              <a:rPr lang="es" sz="1350" b="1" i="0" u="none" strike="noStrike" cap="none">
                <a:solidFill>
                  <a:schemeClr val="dk1"/>
                </a:solidFill>
                <a:highlight>
                  <a:schemeClr val="accent6"/>
                </a:highlight>
                <a:latin typeface="DM Sans"/>
                <a:ea typeface="DM Sans"/>
                <a:cs typeface="DM Sans"/>
                <a:sym typeface="DM Sans"/>
              </a:rPr>
              <a:t>Un objeto contenedor es aquel que contiene otros objetos.</a:t>
            </a:r>
            <a:endParaRPr sz="1350" b="0" i="0" u="none" strike="noStrike" cap="none">
              <a:solidFill>
                <a:srgbClr val="000000"/>
              </a:solidFill>
              <a:highlight>
                <a:schemeClr val="accent6"/>
              </a:highlight>
              <a:latin typeface="DM Sans"/>
              <a:ea typeface="DM Sans"/>
              <a:cs typeface="DM Sans"/>
              <a:sym typeface="DM Sans"/>
            </a:endParaRPr>
          </a:p>
        </p:txBody>
      </p:sp>
      <p:pic>
        <p:nvPicPr>
          <p:cNvPr id="378" name="Google Shape;378;p73"/>
          <p:cNvPicPr preferRelativeResize="0"/>
          <p:nvPr/>
        </p:nvPicPr>
        <p:blipFill rotWithShape="1">
          <a:blip r:embed="rId3">
            <a:alphaModFix/>
          </a:blip>
          <a:srcRect/>
          <a:stretch/>
        </p:blipFill>
        <p:spPr>
          <a:xfrm>
            <a:off x="5474908" y="2746087"/>
            <a:ext cx="2752142" cy="1580775"/>
          </a:xfrm>
          <a:prstGeom prst="rect">
            <a:avLst/>
          </a:prstGeom>
          <a:noFill/>
          <a:ln>
            <a:noFill/>
          </a:ln>
        </p:spPr>
      </p:pic>
      <p:pic>
        <p:nvPicPr>
          <p:cNvPr id="379" name="Google Shape;379;p73"/>
          <p:cNvPicPr preferRelativeResize="0"/>
          <p:nvPr/>
        </p:nvPicPr>
        <p:blipFill rotWithShape="1">
          <a:blip r:embed="rId4">
            <a:alphaModFix/>
          </a:blip>
          <a:srcRect/>
          <a:stretch/>
        </p:blipFill>
        <p:spPr>
          <a:xfrm>
            <a:off x="5701500" y="1045235"/>
            <a:ext cx="2684150" cy="1450615"/>
          </a:xfrm>
          <a:prstGeom prst="rect">
            <a:avLst/>
          </a:prstGeom>
          <a:noFill/>
          <a:ln>
            <a:noFill/>
          </a:ln>
        </p:spPr>
      </p:pic>
      <p:pic>
        <p:nvPicPr>
          <p:cNvPr id="380" name="Google Shape;380;p73"/>
          <p:cNvPicPr preferRelativeResize="0"/>
          <p:nvPr/>
        </p:nvPicPr>
        <p:blipFill rotWithShape="1">
          <a:blip r:embed="rId5">
            <a:alphaModFix/>
          </a:blip>
          <a:srcRect/>
          <a:stretch/>
        </p:blipFill>
        <p:spPr>
          <a:xfrm>
            <a:off x="4687600" y="816637"/>
            <a:ext cx="1186525" cy="1186525"/>
          </a:xfrm>
          <a:prstGeom prst="rect">
            <a:avLst/>
          </a:prstGeom>
          <a:noFill/>
          <a:ln>
            <a:noFill/>
          </a:ln>
        </p:spPr>
      </p:pic>
      <p:sp>
        <p:nvSpPr>
          <p:cNvPr id="381" name="Google Shape;381;p73"/>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6"/>
              </a:rPr>
              <a:t>CideCame</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62AB8C9-DD41-9BB3-4230-E02A2801EC2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74"/>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2. Asociación </a:t>
            </a:r>
            <a:endParaRPr sz="4000" b="1" i="0" u="none" strike="noStrike" cap="none">
              <a:solidFill>
                <a:schemeClr val="dk1"/>
              </a:solidFill>
              <a:latin typeface="DM Sans"/>
              <a:ea typeface="DM Sans"/>
              <a:cs typeface="DM Sans"/>
              <a:sym typeface="DM Sans"/>
            </a:endParaRPr>
          </a:p>
        </p:txBody>
      </p:sp>
      <p:sp>
        <p:nvSpPr>
          <p:cNvPr id="387" name="Google Shape;387;p74"/>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s" sz="1350" b="1" i="0" u="none" strike="noStrike" cap="none">
                <a:solidFill>
                  <a:schemeClr val="dk1"/>
                </a:solidFill>
                <a:highlight>
                  <a:schemeClr val="accent6"/>
                </a:highlight>
                <a:latin typeface="DM Sans"/>
                <a:ea typeface="DM Sans"/>
                <a:cs typeface="DM Sans"/>
                <a:sym typeface="DM Sans"/>
              </a:rPr>
              <a:t>Especifica una relación semántica entre objetos no relacionados</a:t>
            </a:r>
            <a:r>
              <a:rPr lang="es" sz="1350" b="0" i="0" u="none" strike="noStrike" cap="none">
                <a:solidFill>
                  <a:schemeClr val="dk1"/>
                </a:solidFill>
                <a:latin typeface="DM Sans"/>
                <a:ea typeface="DM Sans"/>
                <a:cs typeface="DM Sans"/>
                <a:sym typeface="DM Sans"/>
              </a:rPr>
              <a:t>. Este tipo de relaciones permiten crear asociaciones que captur</a:t>
            </a:r>
            <a:r>
              <a:rPr lang="es" sz="1350">
                <a:solidFill>
                  <a:schemeClr val="dk1"/>
                </a:solidFill>
                <a:latin typeface="DM Sans"/>
                <a:ea typeface="DM Sans"/>
                <a:cs typeface="DM Sans"/>
                <a:sym typeface="DM Sans"/>
              </a:rPr>
              <a:t>a</a:t>
            </a:r>
            <a:r>
              <a:rPr lang="es" sz="1350" b="0" i="0" u="none" strike="noStrike" cap="none">
                <a:solidFill>
                  <a:schemeClr val="dk1"/>
                </a:solidFill>
                <a:latin typeface="DM Sans"/>
                <a:ea typeface="DM Sans"/>
                <a:cs typeface="DM Sans"/>
                <a:sym typeface="DM Sans"/>
              </a:rPr>
              <a:t>n los participantes en una relación semántica.</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000"/>
              <a:buFont typeface="Arial"/>
              <a:buNone/>
            </a:pPr>
            <a:r>
              <a:rPr lang="es" sz="1350" b="0" i="0" u="none" strike="noStrike" cap="none">
                <a:solidFill>
                  <a:schemeClr val="dk1"/>
                </a:solidFill>
                <a:latin typeface="DM Sans"/>
                <a:ea typeface="DM Sans"/>
                <a:cs typeface="DM Sans"/>
                <a:sym typeface="DM Sans"/>
              </a:rPr>
              <a:t>Son relaciones del tipo</a:t>
            </a:r>
            <a:r>
              <a:rPr lang="es" sz="1350" b="0" i="0" u="none" strike="noStrike" cap="none">
                <a:solidFill>
                  <a:schemeClr val="dk1"/>
                </a:solidFill>
                <a:highlight>
                  <a:schemeClr val="accent6"/>
                </a:highlight>
                <a:latin typeface="DM Sans"/>
                <a:ea typeface="DM Sans"/>
                <a:cs typeface="DM Sans"/>
                <a:sym typeface="DM Sans"/>
              </a:rPr>
              <a:t> </a:t>
            </a:r>
            <a:r>
              <a:rPr lang="es" sz="1350" b="1" i="0" u="none" strike="noStrike" cap="none">
                <a:solidFill>
                  <a:schemeClr val="dk1"/>
                </a:solidFill>
                <a:highlight>
                  <a:schemeClr val="accent6"/>
                </a:highlight>
                <a:latin typeface="DM Sans"/>
                <a:ea typeface="DM Sans"/>
                <a:cs typeface="DM Sans"/>
                <a:sym typeface="DM Sans"/>
              </a:rPr>
              <a:t>“pertenece_a”</a:t>
            </a:r>
            <a:r>
              <a:rPr lang="es" sz="1350" b="0" i="0" u="none" strike="noStrike" cap="none">
                <a:solidFill>
                  <a:schemeClr val="dk1"/>
                </a:solidFill>
                <a:latin typeface="DM Sans"/>
                <a:ea typeface="DM Sans"/>
                <a:cs typeface="DM Sans"/>
                <a:sym typeface="DM Sans"/>
              </a:rPr>
              <a:t> o</a:t>
            </a:r>
            <a:r>
              <a:rPr lang="es" sz="1350" b="0" i="0" u="none" strike="noStrike" cap="none">
                <a:solidFill>
                  <a:schemeClr val="dk1"/>
                </a:solidFill>
                <a:highlight>
                  <a:schemeClr val="accent6"/>
                </a:highlight>
                <a:latin typeface="DM Sans"/>
                <a:ea typeface="DM Sans"/>
                <a:cs typeface="DM Sans"/>
                <a:sym typeface="DM Sans"/>
              </a:rPr>
              <a:t> </a:t>
            </a:r>
            <a:r>
              <a:rPr lang="es" sz="1350" b="1" i="0" u="none" strike="noStrike" cap="none">
                <a:solidFill>
                  <a:schemeClr val="dk1"/>
                </a:solidFill>
                <a:highlight>
                  <a:schemeClr val="accent6"/>
                </a:highlight>
                <a:latin typeface="DM Sans"/>
                <a:ea typeface="DM Sans"/>
                <a:cs typeface="DM Sans"/>
                <a:sym typeface="DM Sans"/>
              </a:rPr>
              <a:t>“está_asociado_con”</a:t>
            </a:r>
            <a:r>
              <a:rPr lang="es" sz="1350" b="0" i="0" u="none" strike="noStrike" cap="none">
                <a:solidFill>
                  <a:schemeClr val="dk1"/>
                </a:solidFill>
                <a:latin typeface="DM Sans"/>
                <a:ea typeface="DM Sans"/>
                <a:cs typeface="DM Sans"/>
                <a:sym typeface="DM Sans"/>
              </a:rPr>
              <a:t>.</a:t>
            </a:r>
            <a:r>
              <a:rPr lang="es" sz="1350" b="1" i="0" u="none" strike="noStrike" cap="none">
                <a:solidFill>
                  <a:schemeClr val="dk1"/>
                </a:solidFill>
                <a:latin typeface="DM Sans"/>
                <a:ea typeface="DM Sans"/>
                <a:cs typeface="DM Sans"/>
                <a:sym typeface="DM Sans"/>
              </a:rPr>
              <a:t> </a:t>
            </a:r>
            <a:endParaRPr sz="1350" b="1"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000"/>
              <a:buFont typeface="Arial"/>
              <a:buNone/>
            </a:pPr>
            <a:r>
              <a:rPr lang="es" sz="1350" b="0" i="0" u="none" strike="noStrike" cap="none">
                <a:solidFill>
                  <a:schemeClr val="dk1"/>
                </a:solidFill>
                <a:latin typeface="DM Sans"/>
                <a:ea typeface="DM Sans"/>
                <a:cs typeface="DM Sans"/>
                <a:sym typeface="DM Sans"/>
              </a:rPr>
              <a:t>Se da cuando una clase usa a otra clase para realizar algo.</a:t>
            </a:r>
            <a:endParaRPr sz="1350" b="0" i="0" u="none" strike="noStrike" cap="none">
              <a:solidFill>
                <a:srgbClr val="000000"/>
              </a:solidFill>
              <a:latin typeface="DM Sans"/>
              <a:ea typeface="DM Sans"/>
              <a:cs typeface="DM Sans"/>
              <a:sym typeface="DM Sans"/>
            </a:endParaRPr>
          </a:p>
        </p:txBody>
      </p:sp>
      <p:pic>
        <p:nvPicPr>
          <p:cNvPr id="388" name="Google Shape;388;p74"/>
          <p:cNvPicPr preferRelativeResize="0"/>
          <p:nvPr/>
        </p:nvPicPr>
        <p:blipFill rotWithShape="1">
          <a:blip r:embed="rId3">
            <a:alphaModFix/>
          </a:blip>
          <a:srcRect/>
          <a:stretch/>
        </p:blipFill>
        <p:spPr>
          <a:xfrm>
            <a:off x="4946025" y="2365288"/>
            <a:ext cx="3587175" cy="1632300"/>
          </a:xfrm>
          <a:prstGeom prst="rect">
            <a:avLst/>
          </a:prstGeom>
          <a:noFill/>
          <a:ln>
            <a:noFill/>
          </a:ln>
        </p:spPr>
      </p:pic>
      <p:pic>
        <p:nvPicPr>
          <p:cNvPr id="389" name="Google Shape;389;p74"/>
          <p:cNvPicPr preferRelativeResize="0"/>
          <p:nvPr/>
        </p:nvPicPr>
        <p:blipFill rotWithShape="1">
          <a:blip r:embed="rId4">
            <a:alphaModFix/>
          </a:blip>
          <a:srcRect/>
          <a:stretch/>
        </p:blipFill>
        <p:spPr>
          <a:xfrm>
            <a:off x="4793800" y="1145912"/>
            <a:ext cx="1186525" cy="1186525"/>
          </a:xfrm>
          <a:prstGeom prst="rect">
            <a:avLst/>
          </a:prstGeom>
          <a:noFill/>
          <a:ln>
            <a:noFill/>
          </a:ln>
        </p:spPr>
      </p:pic>
      <p:sp>
        <p:nvSpPr>
          <p:cNvPr id="390" name="Google Shape;390;p74"/>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5"/>
              </a:rPr>
              <a:t>CideCame</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82A3F77-4342-38E2-FBC2-5657858F673A}"/>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75"/>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3. Generalización</a:t>
            </a:r>
            <a:endParaRPr sz="4000" b="1" i="0" u="none" strike="noStrike" cap="none">
              <a:solidFill>
                <a:schemeClr val="dk1"/>
              </a:solidFill>
              <a:latin typeface="DM Sans"/>
              <a:ea typeface="DM Sans"/>
              <a:cs typeface="DM Sans"/>
              <a:sym typeface="DM Sans"/>
            </a:endParaRPr>
          </a:p>
        </p:txBody>
      </p:sp>
      <p:sp>
        <p:nvSpPr>
          <p:cNvPr id="396" name="Google Shape;396;p75"/>
          <p:cNvSpPr txBox="1"/>
          <p:nvPr/>
        </p:nvSpPr>
        <p:spPr>
          <a:xfrm>
            <a:off x="558800" y="1462050"/>
            <a:ext cx="6880800" cy="30093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 sz="1350" b="0" i="0" u="none" strike="noStrike" cap="none">
                <a:solidFill>
                  <a:schemeClr val="dk1"/>
                </a:solidFill>
                <a:latin typeface="DM Sans"/>
                <a:ea typeface="DM Sans"/>
                <a:cs typeface="DM Sans"/>
                <a:sym typeface="DM Sans"/>
              </a:rPr>
              <a:t>De todas las relaciones posibles entre las distintas clases y objetos, hay que destacar por su importancia en la POO el concepto de herencia.  La relación de herencia es una relación entre clases que comparten su estructura y el comportamiento. </a:t>
            </a:r>
            <a:endParaRPr/>
          </a:p>
          <a:p>
            <a:pPr marL="0" marR="0" lvl="0" indent="0" algn="just" rtl="0">
              <a:lnSpc>
                <a:spcPct val="100000"/>
              </a:lnSpc>
              <a:spcBef>
                <a:spcPts val="0"/>
              </a:spcBef>
              <a:spcAft>
                <a:spcPts val="0"/>
              </a:spcAft>
              <a:buNone/>
            </a:pPr>
            <a:endParaRPr sz="1350" b="0" i="0" u="none" strike="noStrike" cap="none">
              <a:solidFill>
                <a:schemeClr val="dk1"/>
              </a:solidFill>
              <a:latin typeface="DM Sans"/>
              <a:ea typeface="DM Sans"/>
              <a:cs typeface="DM Sans"/>
              <a:sym typeface="DM Sans"/>
            </a:endParaRPr>
          </a:p>
          <a:p>
            <a:pPr marL="0" marR="0" lvl="0" indent="0" algn="just" rtl="0">
              <a:lnSpc>
                <a:spcPct val="100000"/>
              </a:lnSpc>
              <a:spcBef>
                <a:spcPts val="0"/>
              </a:spcBef>
              <a:spcAft>
                <a:spcPts val="0"/>
              </a:spcAft>
              <a:buNone/>
            </a:pPr>
            <a:r>
              <a:rPr lang="es" sz="1350" b="0" i="0" u="none" strike="noStrike" cap="none">
                <a:solidFill>
                  <a:schemeClr val="dk1"/>
                </a:solidFill>
                <a:latin typeface="DM Sans"/>
                <a:ea typeface="DM Sans"/>
                <a:cs typeface="DM Sans"/>
                <a:sym typeface="DM Sans"/>
              </a:rPr>
              <a:t>Resulta importante destacar que esta temática será abordada en próximos encuentros, por el momento únicamente definiremos los siguientes conceptos: </a:t>
            </a:r>
            <a:endParaRPr/>
          </a:p>
          <a:p>
            <a:pPr marL="0" marR="0" lvl="0" indent="0" algn="l" rtl="0">
              <a:lnSpc>
                <a:spcPct val="100000"/>
              </a:lnSpc>
              <a:spcBef>
                <a:spcPts val="0"/>
              </a:spcBef>
              <a:spcAft>
                <a:spcPts val="0"/>
              </a:spcAft>
              <a:buNone/>
            </a:pPr>
            <a:endParaRPr sz="1350" b="0" i="0" u="none" strike="noStrike" cap="none">
              <a:solidFill>
                <a:schemeClr val="dk1"/>
              </a:solidFill>
              <a:latin typeface="DM Sans"/>
              <a:ea typeface="DM Sans"/>
              <a:cs typeface="DM Sans"/>
              <a:sym typeface="DM Sans"/>
            </a:endParaRPr>
          </a:p>
          <a:p>
            <a:pPr marL="285750" marR="0" lvl="0" indent="-285750" algn="l" rtl="0">
              <a:lnSpc>
                <a:spcPct val="100000"/>
              </a:lnSpc>
              <a:spcBef>
                <a:spcPts val="0"/>
              </a:spcBef>
              <a:spcAft>
                <a:spcPts val="0"/>
              </a:spcAft>
              <a:buClr>
                <a:schemeClr val="accent4"/>
              </a:buClr>
              <a:buSzPts val="1350"/>
              <a:buFont typeface="Arial"/>
              <a:buChar char="✓"/>
            </a:pPr>
            <a:r>
              <a:rPr lang="es" sz="1350" b="1" i="0" u="none" strike="noStrike" cap="none">
                <a:solidFill>
                  <a:schemeClr val="dk1"/>
                </a:solidFill>
                <a:latin typeface="DM Sans"/>
                <a:ea typeface="DM Sans"/>
                <a:cs typeface="DM Sans"/>
                <a:sym typeface="DM Sans"/>
              </a:rPr>
              <a:t>Herencia simple: </a:t>
            </a:r>
            <a:r>
              <a:rPr lang="es" sz="1350" b="0" i="0" u="none" strike="noStrike" cap="none">
                <a:solidFill>
                  <a:schemeClr val="dk1"/>
                </a:solidFill>
                <a:latin typeface="DM Sans"/>
                <a:ea typeface="DM Sans"/>
                <a:cs typeface="DM Sans"/>
                <a:sym typeface="DM Sans"/>
              </a:rPr>
              <a:t>   Una clase comparte la estructura y comportamiento de una sola clase.</a:t>
            </a:r>
            <a:endParaRPr/>
          </a:p>
          <a:p>
            <a:pPr marL="285750" marR="0" lvl="0" indent="-200025"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DM Sans"/>
              <a:ea typeface="DM Sans"/>
              <a:cs typeface="DM Sans"/>
              <a:sym typeface="DM Sans"/>
            </a:endParaRPr>
          </a:p>
          <a:p>
            <a:pPr marL="285750" marR="0" lvl="0" indent="-285750" algn="l" rtl="0">
              <a:lnSpc>
                <a:spcPct val="100000"/>
              </a:lnSpc>
              <a:spcBef>
                <a:spcPts val="0"/>
              </a:spcBef>
              <a:spcAft>
                <a:spcPts val="0"/>
              </a:spcAft>
              <a:buClr>
                <a:schemeClr val="accent4"/>
              </a:buClr>
              <a:buSzPts val="1350"/>
              <a:buFont typeface="Arial"/>
              <a:buChar char="✓"/>
            </a:pPr>
            <a:r>
              <a:rPr lang="es" sz="1350" b="1" i="0" u="none" strike="noStrike" cap="none">
                <a:solidFill>
                  <a:schemeClr val="dk1"/>
                </a:solidFill>
                <a:latin typeface="DM Sans"/>
                <a:ea typeface="DM Sans"/>
                <a:cs typeface="DM Sans"/>
                <a:sym typeface="DM Sans"/>
              </a:rPr>
              <a:t>Herencia múltiple: </a:t>
            </a:r>
            <a:r>
              <a:rPr lang="es" sz="1350" b="0" i="0" u="none" strike="noStrike" cap="none">
                <a:solidFill>
                  <a:schemeClr val="dk1"/>
                </a:solidFill>
                <a:latin typeface="DM Sans"/>
                <a:ea typeface="DM Sans"/>
                <a:cs typeface="DM Sans"/>
                <a:sym typeface="DM Sans"/>
              </a:rPr>
              <a:t>  Una clase comparte la estructura y comportamiento de varias clases.</a:t>
            </a:r>
            <a:endParaRPr/>
          </a:p>
          <a:p>
            <a:pPr marL="0" marR="0" lvl="0" indent="0" algn="just" rtl="0">
              <a:lnSpc>
                <a:spcPct val="15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 name="Rectángulo 1">
            <a:extLst>
              <a:ext uri="{FF2B5EF4-FFF2-40B4-BE49-F238E27FC236}">
                <a16:creationId xmlns:a16="http://schemas.microsoft.com/office/drawing/2014/main" id="{535D6449-A9AD-8F52-8ADD-1CDECFECCA68}"/>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76"/>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Cardinalidad de </a:t>
            </a:r>
            <a:endParaRPr sz="4000" b="1" i="0" u="none" strike="noStrike" cap="none">
              <a:solidFill>
                <a:schemeClr val="dk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las relaciones</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3C0A621-233F-B4C9-15AB-2289EFBE8B81}"/>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7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Cardinalidad en las relaciones</a:t>
            </a:r>
            <a:endParaRPr sz="4000" b="1" i="0" u="none" strike="noStrike" cap="none">
              <a:solidFill>
                <a:schemeClr val="dk1"/>
              </a:solidFill>
              <a:latin typeface="DM Sans"/>
              <a:ea typeface="DM Sans"/>
              <a:cs typeface="DM Sans"/>
              <a:sym typeface="DM Sans"/>
            </a:endParaRPr>
          </a:p>
        </p:txBody>
      </p:sp>
      <p:sp>
        <p:nvSpPr>
          <p:cNvPr id="407" name="Google Shape;407;p77"/>
          <p:cNvSpPr txBox="1"/>
          <p:nvPr/>
        </p:nvSpPr>
        <p:spPr>
          <a:xfrm>
            <a:off x="473350" y="1908175"/>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chemeClr val="dk1"/>
                </a:solidFill>
                <a:latin typeface="DM Sans"/>
                <a:ea typeface="DM Sans"/>
                <a:cs typeface="DM Sans"/>
                <a:sym typeface="DM Sans"/>
              </a:rPr>
              <a:t>Sabemos que un coche tiene un motor, y que la persona está asociada a un vehículo.</a:t>
            </a:r>
            <a:endParaRPr sz="1350" b="0" i="0" u="none" strike="noStrike" cap="none">
              <a:solidFill>
                <a:schemeClr val="dk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chemeClr val="dk1"/>
                </a:solidFill>
                <a:latin typeface="DM Sans"/>
                <a:ea typeface="DM Sans"/>
                <a:cs typeface="DM Sans"/>
                <a:sym typeface="DM Sans"/>
              </a:rPr>
              <a:t>Ahí nace el </a:t>
            </a:r>
            <a:r>
              <a:rPr lang="es" sz="1350" b="1" i="0" u="none" strike="noStrike" cap="none">
                <a:solidFill>
                  <a:schemeClr val="dk1"/>
                </a:solidFill>
                <a:latin typeface="DM Sans"/>
                <a:ea typeface="DM Sans"/>
                <a:cs typeface="DM Sans"/>
                <a:sym typeface="DM Sans"/>
              </a:rPr>
              <a:t>concepto de cardinalidad, es decir indicar el número de Objetos que están en la relación.</a:t>
            </a:r>
            <a:r>
              <a:rPr lang="es" sz="1350" b="0" i="0" u="none" strike="noStrike" cap="none">
                <a:solidFill>
                  <a:schemeClr val="dk1"/>
                </a:solidFill>
                <a:latin typeface="DM Sans"/>
                <a:ea typeface="DM Sans"/>
                <a:cs typeface="DM Sans"/>
                <a:sym typeface="DM Sans"/>
              </a:rPr>
              <a:t> Por ejemplo, una persona puede tener muchos coches, y que los coches solo tienen un motor. </a:t>
            </a:r>
            <a:endParaRPr sz="1350" b="0" i="0" u="none" strike="noStrike" cap="none">
              <a:solidFill>
                <a:schemeClr val="dk1"/>
              </a:solidFill>
              <a:latin typeface="DM Sans"/>
              <a:ea typeface="DM Sans"/>
              <a:cs typeface="DM Sans"/>
              <a:sym typeface="DM Sans"/>
            </a:endParaRPr>
          </a:p>
        </p:txBody>
      </p:sp>
      <p:sp>
        <p:nvSpPr>
          <p:cNvPr id="408" name="Google Shape;408;p77"/>
          <p:cNvSpPr txBox="1"/>
          <p:nvPr/>
        </p:nvSpPr>
        <p:spPr>
          <a:xfrm>
            <a:off x="4527575" y="1908175"/>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chemeClr val="dk1"/>
                </a:solidFill>
                <a:latin typeface="DM Sans"/>
                <a:ea typeface="DM Sans"/>
                <a:cs typeface="DM Sans"/>
                <a:sym typeface="DM Sans"/>
              </a:rPr>
              <a:t>Además, sabemos que cada motor pertenece a un solo coche, y los coches a veces tienen más de un titular que lo usan, es decir tienen a varias personas para usarlo. </a:t>
            </a:r>
            <a:endParaRPr sz="1350" b="0" i="0" u="none" strike="noStrike" cap="none">
              <a:solidFill>
                <a:schemeClr val="dk1"/>
              </a:solidFill>
              <a:latin typeface="DM Sans"/>
              <a:ea typeface="DM Sans"/>
              <a:cs typeface="DM Sans"/>
              <a:sym typeface="DM Sans"/>
            </a:endParaRPr>
          </a:p>
        </p:txBody>
      </p:sp>
      <p:pic>
        <p:nvPicPr>
          <p:cNvPr id="409" name="Google Shape;409;p77"/>
          <p:cNvPicPr preferRelativeResize="0"/>
          <p:nvPr/>
        </p:nvPicPr>
        <p:blipFill rotWithShape="1">
          <a:blip r:embed="rId3">
            <a:alphaModFix/>
          </a:blip>
          <a:srcRect/>
          <a:stretch/>
        </p:blipFill>
        <p:spPr>
          <a:xfrm>
            <a:off x="5512475" y="3238090"/>
            <a:ext cx="2849700" cy="1121035"/>
          </a:xfrm>
          <a:prstGeom prst="rect">
            <a:avLst/>
          </a:prstGeom>
          <a:noFill/>
          <a:ln>
            <a:noFill/>
          </a:ln>
        </p:spPr>
      </p:pic>
      <p:pic>
        <p:nvPicPr>
          <p:cNvPr id="410" name="Google Shape;410;p77"/>
          <p:cNvPicPr preferRelativeResize="0"/>
          <p:nvPr/>
        </p:nvPicPr>
        <p:blipFill rotWithShape="1">
          <a:blip r:embed="rId4">
            <a:alphaModFix/>
          </a:blip>
          <a:srcRect/>
          <a:stretch/>
        </p:blipFill>
        <p:spPr>
          <a:xfrm>
            <a:off x="4392646" y="3473725"/>
            <a:ext cx="918897" cy="853870"/>
          </a:xfrm>
          <a:prstGeom prst="rect">
            <a:avLst/>
          </a:prstGeom>
          <a:noFill/>
          <a:ln>
            <a:noFill/>
          </a:ln>
        </p:spPr>
      </p:pic>
      <p:sp>
        <p:nvSpPr>
          <p:cNvPr id="411" name="Google Shape;411;p77"/>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5"/>
              </a:rPr>
              <a:t>CideCame</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3F90C458-4999-29DC-CCBA-A9A98B3D2AE2}"/>
              </a:ext>
            </a:extLst>
          </p:cNvPr>
          <p:cNvSpPr/>
          <p:nvPr/>
        </p:nvSpPr>
        <p:spPr>
          <a:xfrm>
            <a:off x="0" y="4523975"/>
            <a:ext cx="9144000" cy="6195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8"/>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Cardinalidad en las relaciones</a:t>
            </a:r>
            <a:endParaRPr sz="4000" b="1" i="0" u="none" strike="noStrike" cap="none">
              <a:solidFill>
                <a:schemeClr val="dk1"/>
              </a:solidFill>
              <a:latin typeface="DM Sans"/>
              <a:ea typeface="DM Sans"/>
              <a:cs typeface="DM Sans"/>
              <a:sym typeface="DM Sans"/>
            </a:endParaRPr>
          </a:p>
        </p:txBody>
      </p:sp>
      <p:sp>
        <p:nvSpPr>
          <p:cNvPr id="417" name="Google Shape;417;p78"/>
          <p:cNvSpPr txBox="1"/>
          <p:nvPr/>
        </p:nvSpPr>
        <p:spPr>
          <a:xfrm>
            <a:off x="473350" y="1908175"/>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Solo por completitud del tema, y un poco alejado de la realidad, supongamos que un coche solo puede tener entre 1 y 3 titulares.</a:t>
            </a:r>
            <a:endParaRPr sz="1350" b="0" i="0" u="none" strike="noStrike" cap="none">
              <a:solidFill>
                <a:srgbClr val="000000"/>
              </a:solidFill>
              <a:latin typeface="DM Sans"/>
              <a:ea typeface="DM Sans"/>
              <a:cs typeface="DM Sans"/>
              <a:sym typeface="DM Sans"/>
            </a:endParaRPr>
          </a:p>
        </p:txBody>
      </p:sp>
      <p:pic>
        <p:nvPicPr>
          <p:cNvPr id="418" name="Google Shape;418;p78"/>
          <p:cNvPicPr preferRelativeResize="0"/>
          <p:nvPr/>
        </p:nvPicPr>
        <p:blipFill rotWithShape="1">
          <a:blip r:embed="rId3">
            <a:alphaModFix/>
          </a:blip>
          <a:srcRect/>
          <a:stretch/>
        </p:blipFill>
        <p:spPr>
          <a:xfrm>
            <a:off x="4904700" y="2372600"/>
            <a:ext cx="3709750" cy="2036250"/>
          </a:xfrm>
          <a:prstGeom prst="rect">
            <a:avLst/>
          </a:prstGeom>
          <a:noFill/>
          <a:ln>
            <a:noFill/>
          </a:ln>
        </p:spPr>
      </p:pic>
      <p:pic>
        <p:nvPicPr>
          <p:cNvPr id="419" name="Google Shape;419;p78"/>
          <p:cNvPicPr preferRelativeResize="0"/>
          <p:nvPr/>
        </p:nvPicPr>
        <p:blipFill rotWithShape="1">
          <a:blip r:embed="rId4">
            <a:alphaModFix/>
          </a:blip>
          <a:srcRect/>
          <a:stretch/>
        </p:blipFill>
        <p:spPr>
          <a:xfrm>
            <a:off x="4379625" y="1846147"/>
            <a:ext cx="917850" cy="917850"/>
          </a:xfrm>
          <a:prstGeom prst="rect">
            <a:avLst/>
          </a:prstGeom>
          <a:noFill/>
          <a:ln>
            <a:noFill/>
          </a:ln>
        </p:spPr>
      </p:pic>
      <p:sp>
        <p:nvSpPr>
          <p:cNvPr id="420" name="Google Shape;420;p78"/>
          <p:cNvSpPr txBox="1"/>
          <p:nvPr/>
        </p:nvSpPr>
        <p:spPr>
          <a:xfrm>
            <a:off x="473350" y="4641350"/>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rgbClr val="999999"/>
                </a:solidFill>
                <a:latin typeface="DM Sans"/>
                <a:ea typeface="DM Sans"/>
                <a:cs typeface="DM Sans"/>
                <a:sym typeface="DM Sans"/>
              </a:rPr>
              <a:t>Fuente: </a:t>
            </a:r>
            <a:r>
              <a:rPr lang="es" sz="1100" b="0" i="0" u="sng" strike="noStrike" cap="none">
                <a:solidFill>
                  <a:schemeClr val="hlink"/>
                </a:solidFill>
                <a:highlight>
                  <a:schemeClr val="lt1"/>
                </a:highlight>
                <a:latin typeface="DM Sans"/>
                <a:ea typeface="DM Sans"/>
                <a:cs typeface="DM Sans"/>
                <a:sym typeface="DM Sans"/>
                <a:hlinkClick r:id="rId5"/>
              </a:rPr>
              <a:t>CideCame</a:t>
            </a:r>
            <a:endParaRPr sz="1100" b="0" i="1" u="sng"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6BA268E7-B9CE-F71A-FE1B-1A8A21BD21C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79"/>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es" sz="1800" b="0" i="0" u="none" strike="noStrike" cap="none">
                <a:solidFill>
                  <a:schemeClr val="dk1"/>
                </a:solidFill>
                <a:latin typeface="DM Sans"/>
                <a:ea typeface="DM Sans"/>
                <a:cs typeface="DM Sans"/>
                <a:sym typeface="DM Sans"/>
              </a:rPr>
              <a:t>En la cardinalidad, lo importante es marcar si la relación es a muchos objetos </a:t>
            </a:r>
            <a:r>
              <a:rPr lang="es" sz="1800" b="1" i="0" u="none" strike="noStrike" cap="none">
                <a:solidFill>
                  <a:schemeClr val="dk1"/>
                </a:solidFill>
                <a:latin typeface="DM Sans"/>
                <a:ea typeface="DM Sans"/>
                <a:cs typeface="DM Sans"/>
                <a:sym typeface="DM Sans"/>
              </a:rPr>
              <a:t>(“..*”)</a:t>
            </a:r>
            <a:r>
              <a:rPr lang="es" sz="1800" b="0" i="0" u="none" strike="noStrike" cap="none">
                <a:solidFill>
                  <a:schemeClr val="dk1"/>
                </a:solidFill>
                <a:latin typeface="DM Sans"/>
                <a:ea typeface="DM Sans"/>
                <a:cs typeface="DM Sans"/>
                <a:sym typeface="DM Sans"/>
              </a:rPr>
              <a:t>  o si solo es a uno </a:t>
            </a:r>
            <a:r>
              <a:rPr lang="es" sz="1800" b="1" i="0" u="none" strike="noStrike" cap="none">
                <a:solidFill>
                  <a:schemeClr val="dk1"/>
                </a:solidFill>
                <a:latin typeface="DM Sans"/>
                <a:ea typeface="DM Sans"/>
                <a:cs typeface="DM Sans"/>
                <a:sym typeface="DM Sans"/>
              </a:rPr>
              <a:t>(1)</a:t>
            </a:r>
            <a:r>
              <a:rPr lang="es" sz="1800" b="0" i="0" u="none" strike="noStrike" cap="none">
                <a:solidFill>
                  <a:schemeClr val="dk1"/>
                </a:solidFill>
                <a:latin typeface="DM Sans"/>
                <a:ea typeface="DM Sans"/>
                <a:cs typeface="DM Sans"/>
                <a:sym typeface="DM Sans"/>
              </a:rPr>
              <a:t>, incluso a veces se puede decir a uno o ninguno </a:t>
            </a:r>
            <a:r>
              <a:rPr lang="es" sz="1800" b="1" i="0" u="none" strike="noStrike" cap="none">
                <a:solidFill>
                  <a:schemeClr val="dk1"/>
                </a:solidFill>
                <a:latin typeface="DM Sans"/>
                <a:ea typeface="DM Sans"/>
                <a:cs typeface="DM Sans"/>
                <a:sym typeface="DM Sans"/>
              </a:rPr>
              <a:t>(0,1)</a:t>
            </a:r>
            <a:r>
              <a:rPr lang="es" sz="1800" b="0" i="0" u="none" strike="noStrike" cap="none">
                <a:solidFill>
                  <a:schemeClr val="dk1"/>
                </a:solidFill>
                <a:latin typeface="DM Sans"/>
                <a:ea typeface="DM Sans"/>
                <a:cs typeface="DM Sans"/>
                <a:sym typeface="DM Sans"/>
              </a:rPr>
              <a:t>. </a:t>
            </a:r>
            <a:endParaRPr sz="18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97058843-EC8F-224F-F728-86C204CAA72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80"/>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Ejemplo en vivo</a:t>
            </a:r>
            <a:endParaRPr sz="3500" b="1" i="0" u="none" strike="noStrike" cap="none">
              <a:solidFill>
                <a:srgbClr val="EAFF6A"/>
              </a:solidFill>
              <a:latin typeface="DM Sans"/>
              <a:ea typeface="DM Sans"/>
              <a:cs typeface="DM Sans"/>
              <a:sym typeface="DM Sans"/>
            </a:endParaRPr>
          </a:p>
        </p:txBody>
      </p:sp>
      <p:sp>
        <p:nvSpPr>
          <p:cNvPr id="431" name="Google Shape;431;p80"/>
          <p:cNvSpPr txBox="1"/>
          <p:nvPr/>
        </p:nvSpPr>
        <p:spPr>
          <a:xfrm>
            <a:off x="473349" y="1626100"/>
            <a:ext cx="8298000" cy="3263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2500"/>
              <a:buFont typeface="Arial"/>
              <a:buNone/>
            </a:pPr>
            <a:r>
              <a:rPr lang="es" sz="2500">
                <a:solidFill>
                  <a:srgbClr val="B7B7B7"/>
                </a:solidFill>
                <a:latin typeface="DM Sans"/>
                <a:ea typeface="DM Sans"/>
                <a:cs typeface="DM Sans"/>
                <a:sym typeface="DM Sans"/>
              </a:rPr>
              <a:t>¡</a:t>
            </a:r>
            <a:r>
              <a:rPr lang="es" sz="2500" b="0" i="0" u="none" strike="noStrike" cap="none">
                <a:solidFill>
                  <a:srgbClr val="B7B7B7"/>
                </a:solidFill>
                <a:latin typeface="DM Sans"/>
                <a:ea typeface="DM Sans"/>
                <a:cs typeface="DM Sans"/>
                <a:sym typeface="DM Sans"/>
              </a:rPr>
              <a:t>Por </a:t>
            </a:r>
            <a:r>
              <a:rPr lang="es" sz="2500">
                <a:solidFill>
                  <a:srgbClr val="B7B7B7"/>
                </a:solidFill>
                <a:latin typeface="DM Sans"/>
                <a:ea typeface="DM Sans"/>
                <a:cs typeface="DM Sans"/>
                <a:sym typeface="DM Sans"/>
              </a:rPr>
              <a:t>último</a:t>
            </a:r>
            <a:r>
              <a:rPr lang="es" sz="2500" b="0" i="0" u="none" strike="noStrike" cap="none">
                <a:solidFill>
                  <a:srgbClr val="B7B7B7"/>
                </a:solidFill>
                <a:latin typeface="DM Sans"/>
                <a:ea typeface="DM Sans"/>
                <a:cs typeface="DM Sans"/>
                <a:sym typeface="DM Sans"/>
              </a:rPr>
              <a:t>! Veamos un pequeño ejemplo de POO en Python.</a:t>
            </a:r>
            <a:endParaRPr/>
          </a:p>
          <a:p>
            <a:pPr marL="0" marR="0" lvl="0" indent="0" algn="just" rtl="0">
              <a:lnSpc>
                <a:spcPct val="100000"/>
              </a:lnSpc>
              <a:spcBef>
                <a:spcPts val="0"/>
              </a:spcBef>
              <a:spcAft>
                <a:spcPts val="0"/>
              </a:spcAft>
              <a:buClr>
                <a:srgbClr val="000000"/>
              </a:buClr>
              <a:buSzPts val="2500"/>
              <a:buFont typeface="Arial"/>
              <a:buNone/>
            </a:pPr>
            <a:endParaRPr sz="2500" b="1" i="0" u="none" strike="noStrike" cap="none">
              <a:solidFill>
                <a:srgbClr val="B7B7B7"/>
              </a:solidFill>
              <a:latin typeface="DM Sans"/>
              <a:ea typeface="DM Sans"/>
              <a:cs typeface="DM Sans"/>
              <a:sym typeface="DM Sans"/>
            </a:endParaRPr>
          </a:p>
          <a:p>
            <a:pPr marL="0" marR="0" lvl="0" indent="0" algn="just" rtl="0">
              <a:lnSpc>
                <a:spcPct val="100000"/>
              </a:lnSpc>
              <a:spcBef>
                <a:spcPts val="0"/>
              </a:spcBef>
              <a:spcAft>
                <a:spcPts val="0"/>
              </a:spcAft>
              <a:buClr>
                <a:srgbClr val="000000"/>
              </a:buClr>
              <a:buSzPts val="2500"/>
              <a:buFont typeface="Arial"/>
              <a:buNone/>
            </a:pPr>
            <a:r>
              <a:rPr lang="es" sz="2500" b="1" i="0" u="none" strike="noStrike" cap="none">
                <a:solidFill>
                  <a:srgbClr val="B7B7B7"/>
                </a:solidFill>
                <a:latin typeface="DM Sans"/>
                <a:ea typeface="DM Sans"/>
                <a:cs typeface="DM Sans"/>
                <a:sym typeface="DM Sans"/>
              </a:rPr>
              <a:t>Importante:</a:t>
            </a:r>
            <a:r>
              <a:rPr lang="es" sz="2500" b="0" i="0" u="none" strike="noStrike" cap="none">
                <a:solidFill>
                  <a:srgbClr val="B7B7B7"/>
                </a:solidFill>
                <a:latin typeface="DM Sans"/>
                <a:ea typeface="DM Sans"/>
                <a:cs typeface="DM Sans"/>
                <a:sym typeface="DM Sans"/>
              </a:rPr>
              <a:t> El ejemplo que mostraremos a continuación es únicamente introductorio, en </a:t>
            </a:r>
            <a:r>
              <a:rPr lang="es" sz="2500">
                <a:solidFill>
                  <a:srgbClr val="B7B7B7"/>
                </a:solidFill>
                <a:latin typeface="DM Sans"/>
                <a:ea typeface="DM Sans"/>
                <a:cs typeface="DM Sans"/>
                <a:sym typeface="DM Sans"/>
              </a:rPr>
              <a:t>próximas</a:t>
            </a:r>
            <a:r>
              <a:rPr lang="es" sz="2500" b="0" i="0" u="none" strike="noStrike" cap="none">
                <a:solidFill>
                  <a:srgbClr val="B7B7B7"/>
                </a:solidFill>
                <a:latin typeface="DM Sans"/>
                <a:ea typeface="DM Sans"/>
                <a:cs typeface="DM Sans"/>
                <a:sym typeface="DM Sans"/>
              </a:rPr>
              <a:t> sesiones se profundizar</a:t>
            </a:r>
            <a:r>
              <a:rPr lang="es" sz="2500">
                <a:solidFill>
                  <a:srgbClr val="B7B7B7"/>
                </a:solidFill>
                <a:latin typeface="DM Sans"/>
                <a:ea typeface="DM Sans"/>
                <a:cs typeface="DM Sans"/>
                <a:sym typeface="DM Sans"/>
              </a:rPr>
              <a:t>á</a:t>
            </a:r>
            <a:r>
              <a:rPr lang="es" sz="2500" b="0" i="0" u="none" strike="noStrike" cap="none">
                <a:solidFill>
                  <a:srgbClr val="B7B7B7"/>
                </a:solidFill>
                <a:latin typeface="DM Sans"/>
                <a:ea typeface="DM Sans"/>
                <a:cs typeface="DM Sans"/>
                <a:sym typeface="DM Sans"/>
              </a:rPr>
              <a:t> en la </a:t>
            </a:r>
            <a:r>
              <a:rPr lang="es" sz="2500">
                <a:solidFill>
                  <a:srgbClr val="B7B7B7"/>
                </a:solidFill>
                <a:latin typeface="DM Sans"/>
                <a:ea typeface="DM Sans"/>
                <a:cs typeface="DM Sans"/>
                <a:sym typeface="DM Sans"/>
              </a:rPr>
              <a:t>temática</a:t>
            </a:r>
            <a:r>
              <a:rPr lang="es" sz="2500" b="0" i="0" u="none" strike="noStrike" cap="none">
                <a:solidFill>
                  <a:srgbClr val="B7B7B7"/>
                </a:solidFill>
                <a:latin typeface="DM Sans"/>
                <a:ea typeface="DM Sans"/>
                <a:cs typeface="DM Sans"/>
                <a:sym typeface="DM Sans"/>
              </a:rPr>
              <a:t> expuesta. </a:t>
            </a:r>
            <a:endParaRPr sz="2500" b="0" i="0" u="none" strike="noStrike" cap="none">
              <a:solidFill>
                <a:srgbClr val="B7B7B7"/>
              </a:solidFill>
              <a:latin typeface="DM Sans"/>
              <a:ea typeface="DM Sans"/>
              <a:cs typeface="DM Sans"/>
              <a:sym typeface="DM Sans"/>
            </a:endParaRPr>
          </a:p>
          <a:p>
            <a:pPr marL="0" marR="0" lvl="0" indent="0" algn="just" rtl="0">
              <a:lnSpc>
                <a:spcPct val="100000"/>
              </a:lnSpc>
              <a:spcBef>
                <a:spcPts val="0"/>
              </a:spcBef>
              <a:spcAft>
                <a:spcPts val="0"/>
              </a:spcAft>
              <a:buClr>
                <a:srgbClr val="000000"/>
              </a:buClr>
              <a:buSzPts val="2500"/>
              <a:buFont typeface="Arial"/>
              <a:buNone/>
            </a:pPr>
            <a:endParaRPr sz="2500" b="0" i="0" u="none" strike="noStrike" cap="none">
              <a:solidFill>
                <a:srgbClr val="B7B7B7"/>
              </a:solidFill>
              <a:latin typeface="DM Sans"/>
              <a:ea typeface="DM Sans"/>
              <a:cs typeface="DM Sans"/>
              <a:sym typeface="DM Sans"/>
            </a:endParaRPr>
          </a:p>
          <a:p>
            <a:pPr marL="0" marR="0" lvl="0" indent="0" algn="just" rtl="0">
              <a:lnSpc>
                <a:spcPct val="100000"/>
              </a:lnSpc>
              <a:spcBef>
                <a:spcPts val="0"/>
              </a:spcBef>
              <a:spcAft>
                <a:spcPts val="0"/>
              </a:spcAft>
              <a:buClr>
                <a:srgbClr val="000000"/>
              </a:buClr>
              <a:buSzPts val="2500"/>
              <a:buFont typeface="Arial"/>
              <a:buNone/>
            </a:pPr>
            <a:r>
              <a:rPr lang="es" sz="2500" b="0" i="0" u="sng" strike="noStrike" cap="none">
                <a:solidFill>
                  <a:schemeClr val="hlink"/>
                </a:solidFill>
                <a:latin typeface="DM Sans"/>
                <a:ea typeface="DM Sans"/>
                <a:cs typeface="DM Sans"/>
                <a:sym typeface="DM Sans"/>
                <a:hlinkClick r:id="rId3"/>
              </a:rPr>
              <a:t>Notebook: </a:t>
            </a:r>
            <a:r>
              <a:rPr lang="es" sz="2500" b="1" i="1" u="sng" strike="noStrike" cap="none">
                <a:solidFill>
                  <a:schemeClr val="hlink"/>
                </a:solidFill>
                <a:latin typeface="DM Sans"/>
                <a:ea typeface="DM Sans"/>
                <a:cs typeface="DM Sans"/>
                <a:sym typeface="DM Sans"/>
                <a:hlinkClick r:id="rId3"/>
              </a:rPr>
              <a:t>Clases_en_Python.ipynb</a:t>
            </a:r>
            <a:endParaRPr sz="2500" b="1" i="1" u="none" strike="noStrike" cap="none">
              <a:solidFill>
                <a:srgbClr val="B7B7B7"/>
              </a:solidFill>
              <a:latin typeface="DM Sans"/>
              <a:ea typeface="DM Sans"/>
              <a:cs typeface="DM Sans"/>
              <a:sym typeface="DM Sans"/>
            </a:endParaRPr>
          </a:p>
        </p:txBody>
      </p:sp>
      <p:grpSp>
        <p:nvGrpSpPr>
          <p:cNvPr id="432" name="Google Shape;432;p80"/>
          <p:cNvGrpSpPr/>
          <p:nvPr/>
        </p:nvGrpSpPr>
        <p:grpSpPr>
          <a:xfrm>
            <a:off x="473351" y="619523"/>
            <a:ext cx="738900" cy="738900"/>
            <a:chOff x="473351" y="619523"/>
            <a:chExt cx="738900" cy="738900"/>
          </a:xfrm>
        </p:grpSpPr>
        <p:sp>
          <p:nvSpPr>
            <p:cNvPr id="433" name="Google Shape;433;p8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4" name="Google Shape;434;p80"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81"/>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¿Preguntas?</a:t>
            </a:r>
            <a:endParaRPr sz="40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627E952-38CE-FAA7-5A79-D6A4A2FCD9D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82"/>
          <p:cNvSpPr txBox="1"/>
          <p:nvPr/>
        </p:nvSpPr>
        <p:spPr>
          <a:xfrm>
            <a:off x="1461300" y="2208625"/>
            <a:ext cx="6221400" cy="16392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dk1"/>
                </a:solidFill>
                <a:highlight>
                  <a:srgbClr val="EAFF6A"/>
                </a:highlight>
                <a:latin typeface="DM Sans"/>
                <a:ea typeface="DM Sans"/>
                <a:cs typeface="DM Sans"/>
                <a:sym typeface="DM Sans"/>
              </a:rPr>
              <a:t>¿Quieres saber más?</a:t>
            </a:r>
            <a:endParaRPr sz="3500" b="1" i="0" u="none" strike="noStrike" cap="none">
              <a:solidFill>
                <a:schemeClr val="dk1"/>
              </a:solidFill>
              <a:highlight>
                <a:srgbClr val="EAFF6A"/>
              </a:highlight>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dk1"/>
                </a:solidFill>
                <a:latin typeface="DM Sans"/>
                <a:ea typeface="DM Sans"/>
                <a:cs typeface="DM Sans"/>
                <a:sym typeface="DM Sans"/>
              </a:rPr>
              <a:t>Te dejamos material ampliado de la clase</a:t>
            </a:r>
            <a:endParaRPr sz="3500" b="1" i="0" u="none" strike="noStrike" cap="none">
              <a:solidFill>
                <a:schemeClr val="dk1"/>
              </a:solidFill>
              <a:latin typeface="DM Sans"/>
              <a:ea typeface="DM Sans"/>
              <a:cs typeface="DM Sans"/>
              <a:sym typeface="DM Sans"/>
            </a:endParaRPr>
          </a:p>
        </p:txBody>
      </p:sp>
      <p:grpSp>
        <p:nvGrpSpPr>
          <p:cNvPr id="445" name="Google Shape;445;p82"/>
          <p:cNvGrpSpPr/>
          <p:nvPr/>
        </p:nvGrpSpPr>
        <p:grpSpPr>
          <a:xfrm>
            <a:off x="4202550" y="994173"/>
            <a:ext cx="738900" cy="738900"/>
            <a:chOff x="4202550" y="994173"/>
            <a:chExt cx="738900" cy="738900"/>
          </a:xfrm>
        </p:grpSpPr>
        <p:sp>
          <p:nvSpPr>
            <p:cNvPr id="446" name="Google Shape;446;p82"/>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47" name="Google Shape;447;p82"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2" name="Rectángulo 1">
            <a:extLst>
              <a:ext uri="{FF2B5EF4-FFF2-40B4-BE49-F238E27FC236}">
                <a16:creationId xmlns:a16="http://schemas.microsoft.com/office/drawing/2014/main" id="{4B7F5814-DB35-7A9B-C9F2-159605FFFC4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83"/>
          <p:cNvSpPr txBox="1"/>
          <p:nvPr/>
        </p:nvSpPr>
        <p:spPr>
          <a:xfrm>
            <a:off x="501450" y="899375"/>
            <a:ext cx="731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Recursos multimedia</a:t>
            </a:r>
            <a:endParaRPr sz="4000" b="1" i="0" u="none" strike="noStrike" cap="none">
              <a:solidFill>
                <a:schemeClr val="dk1"/>
              </a:solidFill>
              <a:latin typeface="DM Sans"/>
              <a:ea typeface="DM Sans"/>
              <a:cs typeface="DM Sans"/>
              <a:sym typeface="DM Sans"/>
            </a:endParaRPr>
          </a:p>
        </p:txBody>
      </p:sp>
      <p:grpSp>
        <p:nvGrpSpPr>
          <p:cNvPr id="453" name="Google Shape;453;p83"/>
          <p:cNvGrpSpPr/>
          <p:nvPr/>
        </p:nvGrpSpPr>
        <p:grpSpPr>
          <a:xfrm>
            <a:off x="457358" y="468285"/>
            <a:ext cx="431074" cy="431074"/>
            <a:chOff x="4202550" y="994173"/>
            <a:chExt cx="738900" cy="738900"/>
          </a:xfrm>
        </p:grpSpPr>
        <p:sp>
          <p:nvSpPr>
            <p:cNvPr id="454" name="Google Shape;454;p83"/>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55" name="Google Shape;455;p83"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456" name="Google Shape;456;p83"/>
          <p:cNvSpPr txBox="1"/>
          <p:nvPr/>
        </p:nvSpPr>
        <p:spPr>
          <a:xfrm>
            <a:off x="930550" y="468275"/>
            <a:ext cx="3199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MATERIAL AMPLIADO</a:t>
            </a:r>
            <a:endParaRPr sz="1400" b="0" i="0" u="none" strike="noStrike" cap="none">
              <a:solidFill>
                <a:srgbClr val="000000"/>
              </a:solidFill>
              <a:latin typeface="DM Sans"/>
              <a:ea typeface="DM Sans"/>
              <a:cs typeface="DM Sans"/>
              <a:sym typeface="DM Sans"/>
            </a:endParaRPr>
          </a:p>
        </p:txBody>
      </p:sp>
      <p:sp>
        <p:nvSpPr>
          <p:cNvPr id="457" name="Google Shape;457;p83"/>
          <p:cNvSpPr txBox="1"/>
          <p:nvPr/>
        </p:nvSpPr>
        <p:spPr>
          <a:xfrm>
            <a:off x="457350" y="1725800"/>
            <a:ext cx="3834600" cy="1212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1" i="0" u="none" strike="noStrike" cap="none">
              <a:solidFill>
                <a:srgbClr val="000000"/>
              </a:solidFill>
              <a:latin typeface="DM Sans"/>
              <a:ea typeface="DM Sans"/>
              <a:cs typeface="DM Sans"/>
              <a:sym typeface="DM Sans"/>
            </a:endParaRPr>
          </a:p>
          <a:p>
            <a:pPr marL="0" marR="0" lvl="0" indent="0" algn="l" rtl="0">
              <a:lnSpc>
                <a:spcPct val="30000"/>
              </a:lnSpc>
              <a:spcBef>
                <a:spcPts val="0"/>
              </a:spcBef>
              <a:spcAft>
                <a:spcPts val="0"/>
              </a:spcAft>
              <a:buClr>
                <a:srgbClr val="000000"/>
              </a:buClr>
              <a:buSzPts val="1350"/>
              <a:buFont typeface="Arial"/>
              <a:buNone/>
            </a:pPr>
            <a:endParaRPr sz="1350" b="1" i="0" u="none" strike="noStrike" cap="none">
              <a:solidFill>
                <a:srgbClr val="000000"/>
              </a:solidFill>
              <a:latin typeface="DM Sans"/>
              <a:ea typeface="DM Sans"/>
              <a:cs typeface="DM Sans"/>
              <a:sym typeface="DM Sans"/>
            </a:endParaRPr>
          </a:p>
          <a:p>
            <a:pPr marL="457200" marR="0" lvl="0" indent="-314325" algn="l" rtl="0">
              <a:lnSpc>
                <a:spcPct val="115000"/>
              </a:lnSpc>
              <a:spcBef>
                <a:spcPts val="0"/>
              </a:spcBef>
              <a:spcAft>
                <a:spcPts val="0"/>
              </a:spcAft>
              <a:buClr>
                <a:srgbClr val="83AEFB"/>
              </a:buClr>
              <a:buSzPts val="1350"/>
              <a:buFont typeface="DM Sans"/>
              <a:buChar char="✓"/>
            </a:pPr>
            <a:r>
              <a:rPr lang="es" sz="1350" b="0" i="0" u="sng" strike="noStrike" cap="none">
                <a:solidFill>
                  <a:schemeClr val="hlink"/>
                </a:solidFill>
                <a:latin typeface="DM Sans"/>
                <a:ea typeface="DM Sans"/>
                <a:cs typeface="DM Sans"/>
                <a:sym typeface="DM Sans"/>
                <a:hlinkClick r:id="rId4"/>
              </a:rPr>
              <a:t>Ejemplo Clase</a:t>
            </a:r>
            <a:endParaRPr sz="1350" b="0" i="0" u="sng" strike="noStrike" cap="none">
              <a:solidFill>
                <a:srgbClr val="83AEFB"/>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999999"/>
              </a:solidFill>
              <a:latin typeface="DM Sans"/>
              <a:ea typeface="DM Sans"/>
              <a:cs typeface="DM Sans"/>
              <a:sym typeface="DM Sans"/>
            </a:endParaRPr>
          </a:p>
          <a:p>
            <a:pPr marL="0" marR="0" lvl="0" indent="0" algn="l" rtl="0">
              <a:lnSpc>
                <a:spcPct val="100000"/>
              </a:lnSpc>
              <a:spcBef>
                <a:spcPts val="800"/>
              </a:spcBef>
              <a:spcAft>
                <a:spcPts val="800"/>
              </a:spcAft>
              <a:buClr>
                <a:srgbClr val="000000"/>
              </a:buClr>
              <a:buSzPts val="1350"/>
              <a:buFont typeface="Arial"/>
              <a:buNone/>
            </a:pPr>
            <a:endParaRPr sz="1350" b="1" i="0" u="none" strike="noStrike" cap="none">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A3BEFA6E-B321-9A59-7DD7-7D58076D29D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84"/>
          <p:cNvSpPr txBox="1"/>
          <p:nvPr/>
        </p:nvSpPr>
        <p:spPr>
          <a:xfrm>
            <a:off x="1339500" y="693075"/>
            <a:ext cx="6465000" cy="108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Resumen</a:t>
            </a:r>
            <a:r>
              <a:rPr lang="es" sz="4000" b="1" i="0" u="none" strike="noStrike" cap="none">
                <a:solidFill>
                  <a:srgbClr val="DEFC52"/>
                </a:solidFill>
                <a:latin typeface="DM Sans"/>
                <a:ea typeface="DM Sans"/>
                <a:cs typeface="DM Sans"/>
                <a:sym typeface="DM Sans"/>
              </a:rPr>
              <a:t> </a:t>
            </a:r>
            <a:endParaRPr sz="4000" b="1" i="0" u="none" strike="noStrike" cap="none">
              <a:solidFill>
                <a:srgbClr val="DEFC52"/>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4000"/>
              <a:buFont typeface="Arial"/>
              <a:buNone/>
            </a:pPr>
            <a:r>
              <a:rPr lang="es" sz="4000" b="1" i="0" u="none" strike="noStrike" cap="none">
                <a:solidFill>
                  <a:schemeClr val="lt1"/>
                </a:solidFill>
                <a:latin typeface="DM Sans"/>
                <a:ea typeface="DM Sans"/>
                <a:cs typeface="DM Sans"/>
                <a:sym typeface="DM Sans"/>
              </a:rPr>
              <a:t>de la clase hoy</a:t>
            </a:r>
            <a:endParaRPr sz="4000" b="0" i="0" u="none" strike="noStrike" cap="none">
              <a:solidFill>
                <a:schemeClr val="lt1"/>
              </a:solidFill>
              <a:latin typeface="DM Sans"/>
              <a:ea typeface="DM Sans"/>
              <a:cs typeface="DM Sans"/>
              <a:sym typeface="DM Sans"/>
            </a:endParaRPr>
          </a:p>
        </p:txBody>
      </p:sp>
      <p:sp>
        <p:nvSpPr>
          <p:cNvPr id="463" name="Google Shape;463;p84"/>
          <p:cNvSpPr txBox="1"/>
          <p:nvPr/>
        </p:nvSpPr>
        <p:spPr>
          <a:xfrm>
            <a:off x="2109143" y="2502363"/>
            <a:ext cx="4925700" cy="1348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15000"/>
              </a:lnSpc>
              <a:spcBef>
                <a:spcPts val="0"/>
              </a:spcBef>
              <a:spcAft>
                <a:spcPts val="0"/>
              </a:spcAft>
              <a:buClr>
                <a:schemeClr val="accent6"/>
              </a:buClr>
              <a:buSzPts val="1350"/>
              <a:buFont typeface="DM Sans"/>
              <a:buChar char="✓"/>
            </a:pPr>
            <a:r>
              <a:rPr lang="es" sz="1350" b="0" i="0" u="none" strike="noStrike" cap="none">
                <a:solidFill>
                  <a:schemeClr val="lt1"/>
                </a:solidFill>
                <a:latin typeface="DM Sans"/>
                <a:ea typeface="DM Sans"/>
                <a:cs typeface="DM Sans"/>
                <a:sym typeface="DM Sans"/>
              </a:rPr>
              <a:t>Programación Orientada a Objetos. </a:t>
            </a:r>
            <a:endParaRPr sz="1350" b="0" i="0" u="none" strike="noStrike" cap="none">
              <a:solidFill>
                <a:schemeClr val="lt1"/>
              </a:solidFill>
              <a:latin typeface="DM Sans"/>
              <a:ea typeface="DM Sans"/>
              <a:cs typeface="DM Sans"/>
              <a:sym typeface="DM Sans"/>
            </a:endParaRPr>
          </a:p>
          <a:p>
            <a:pPr marL="457200" marR="0" lvl="0" indent="-314325" algn="l" rtl="0">
              <a:lnSpc>
                <a:spcPct val="115000"/>
              </a:lnSpc>
              <a:spcBef>
                <a:spcPts val="0"/>
              </a:spcBef>
              <a:spcAft>
                <a:spcPts val="0"/>
              </a:spcAft>
              <a:buClr>
                <a:schemeClr val="accent6"/>
              </a:buClr>
              <a:buSzPts val="1350"/>
              <a:buFont typeface="DM Sans"/>
              <a:buChar char="✓"/>
            </a:pPr>
            <a:r>
              <a:rPr lang="es" sz="1350" b="0" i="0" u="none" strike="noStrike" cap="none">
                <a:solidFill>
                  <a:schemeClr val="lt1"/>
                </a:solidFill>
                <a:latin typeface="DM Sans"/>
                <a:ea typeface="DM Sans"/>
                <a:cs typeface="DM Sans"/>
                <a:sym typeface="DM Sans"/>
              </a:rPr>
              <a:t>Relaciones entre clases. </a:t>
            </a:r>
            <a:endParaRPr sz="1350" b="0" i="0" u="none" strike="noStrike" cap="none">
              <a:solidFill>
                <a:schemeClr val="lt1"/>
              </a:solidFill>
              <a:latin typeface="DM Sans"/>
              <a:ea typeface="DM Sans"/>
              <a:cs typeface="DM Sans"/>
              <a:sym typeface="DM Sans"/>
            </a:endParaRPr>
          </a:p>
          <a:p>
            <a:pPr marL="457200" marR="0" lvl="0" indent="-314325" algn="l" rtl="0">
              <a:lnSpc>
                <a:spcPct val="115000"/>
              </a:lnSpc>
              <a:spcBef>
                <a:spcPts val="0"/>
              </a:spcBef>
              <a:spcAft>
                <a:spcPts val="0"/>
              </a:spcAft>
              <a:buClr>
                <a:schemeClr val="accent6"/>
              </a:buClr>
              <a:buSzPts val="1350"/>
              <a:buFont typeface="DM Sans"/>
              <a:buChar char="✓"/>
            </a:pPr>
            <a:r>
              <a:rPr lang="es" sz="1350" b="0" i="0" u="none" strike="noStrike" cap="none">
                <a:solidFill>
                  <a:schemeClr val="lt1"/>
                </a:solidFill>
                <a:latin typeface="DM Sans"/>
                <a:ea typeface="DM Sans"/>
                <a:cs typeface="DM Sans"/>
                <a:sym typeface="DM Sans"/>
              </a:rPr>
              <a:t>Diagrama de clases.</a:t>
            </a:r>
            <a:endParaRPr sz="1350" b="0" i="0" u="none" strike="noStrike" cap="none">
              <a:solidFill>
                <a:schemeClr val="lt1"/>
              </a:solidFill>
              <a:latin typeface="DM Sans"/>
              <a:ea typeface="DM Sans"/>
              <a:cs typeface="DM Sans"/>
              <a:sym typeface="DM Sans"/>
            </a:endParaRPr>
          </a:p>
          <a:p>
            <a:pPr marL="457200" marR="0" lvl="0" indent="-314325" algn="l" rtl="0">
              <a:lnSpc>
                <a:spcPct val="115000"/>
              </a:lnSpc>
              <a:spcBef>
                <a:spcPts val="0"/>
              </a:spcBef>
              <a:spcAft>
                <a:spcPts val="0"/>
              </a:spcAft>
              <a:buClr>
                <a:schemeClr val="accent6"/>
              </a:buClr>
              <a:buSzPts val="1350"/>
              <a:buFont typeface="DM Sans"/>
              <a:buChar char="✓"/>
            </a:pPr>
            <a:r>
              <a:rPr lang="es" sz="1350" b="0" i="0" u="none" strike="noStrike" cap="none">
                <a:solidFill>
                  <a:schemeClr val="lt1"/>
                </a:solidFill>
                <a:latin typeface="DM Sans"/>
                <a:ea typeface="DM Sans"/>
                <a:cs typeface="DM Sans"/>
                <a:sym typeface="DM Sans"/>
              </a:rPr>
              <a:t>Diferencia entre POO y Tradicional.</a:t>
            </a:r>
            <a:endParaRPr sz="1350" b="0" i="0" u="none" strike="noStrike" cap="none">
              <a:solidFill>
                <a:schemeClr val="lt1"/>
              </a:solidFill>
              <a:latin typeface="DM Sans"/>
              <a:ea typeface="DM Sans"/>
              <a:cs typeface="DM Sans"/>
              <a:sym typeface="DM Sans"/>
            </a:endParaRPr>
          </a:p>
          <a:p>
            <a:pPr marL="457200" marR="0" lvl="0" indent="-314325" algn="l" rtl="0">
              <a:lnSpc>
                <a:spcPct val="115000"/>
              </a:lnSpc>
              <a:spcBef>
                <a:spcPts val="0"/>
              </a:spcBef>
              <a:spcAft>
                <a:spcPts val="0"/>
              </a:spcAft>
              <a:buClr>
                <a:schemeClr val="accent6"/>
              </a:buClr>
              <a:buSzPts val="1350"/>
              <a:buFont typeface="DM Sans"/>
              <a:buChar char="✓"/>
            </a:pPr>
            <a:r>
              <a:rPr lang="es" sz="1350" b="0" i="0" u="none" strike="noStrike" cap="none">
                <a:solidFill>
                  <a:schemeClr val="lt1"/>
                </a:solidFill>
                <a:latin typeface="DM Sans"/>
                <a:ea typeface="DM Sans"/>
                <a:cs typeface="DM Sans"/>
                <a:sym typeface="DM Sans"/>
              </a:rPr>
              <a:t>Ventajas de la POO.  </a:t>
            </a:r>
            <a:endParaRPr sz="135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2D2C7B0-9060-3ADD-CD7C-AD624791EBF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85"/>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Opina y valora</a:t>
            </a:r>
            <a:r>
              <a:rPr lang="es" sz="4000" b="1" i="0" u="none" strike="noStrike" cap="none">
                <a:solidFill>
                  <a:srgbClr val="DEFC52"/>
                </a:solidFill>
                <a:latin typeface="DM Sans"/>
                <a:ea typeface="DM Sans"/>
                <a:cs typeface="DM Sans"/>
                <a:sym typeface="DM Sans"/>
              </a:rPr>
              <a:t> </a:t>
            </a:r>
            <a:endParaRPr sz="4000" b="1" i="0" u="none" strike="noStrike" cap="none">
              <a:solidFill>
                <a:srgbClr val="DEFC52"/>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lt1"/>
                </a:solidFill>
                <a:latin typeface="DM Sans"/>
                <a:ea typeface="DM Sans"/>
                <a:cs typeface="DM Sans"/>
                <a:sym typeface="DM Sans"/>
              </a:rPr>
              <a:t>esta clase</a:t>
            </a:r>
            <a:endParaRPr sz="4000" b="1"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F487E51-8A04-CF90-B6CA-9FE20760F5C3}"/>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86"/>
          <p:cNvSpPr txBox="1"/>
          <p:nvPr/>
        </p:nvSpPr>
        <p:spPr>
          <a:xfrm>
            <a:off x="2382900" y="2171550"/>
            <a:ext cx="43782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s" sz="4000" b="1" i="0" u="none" strike="noStrike" cap="none">
                <a:solidFill>
                  <a:srgbClr val="FFFFFF"/>
                </a:solidFill>
                <a:latin typeface="DM Sans"/>
                <a:ea typeface="DM Sans"/>
                <a:cs typeface="DM Sans"/>
                <a:sym typeface="DM Sans"/>
              </a:rPr>
              <a:t>Muchas gracias</a:t>
            </a:r>
            <a:r>
              <a:rPr lang="es" sz="4000" b="1" i="0" u="none" strike="noStrike" cap="none">
                <a:solidFill>
                  <a:srgbClr val="EAFF6A"/>
                </a:solidFill>
                <a:latin typeface="DM Sans"/>
                <a:ea typeface="DM Sans"/>
                <a:cs typeface="DM Sans"/>
                <a:sym typeface="DM Sans"/>
              </a:rPr>
              <a:t>.</a:t>
            </a:r>
            <a:endParaRPr sz="4000" b="0"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3AEC41C1-209B-532B-A9A6-80D43A827FB0}"/>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1454</Words>
  <Application>Microsoft Office PowerPoint</Application>
  <PresentationFormat>Presentación en pantalla (16:9)</PresentationFormat>
  <Paragraphs>149</Paragraphs>
  <Slides>40</Slides>
  <Notes>40</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40</vt:i4>
      </vt:variant>
    </vt:vector>
  </HeadingPairs>
  <TitlesOfParts>
    <vt:vector size="47" baseType="lpstr">
      <vt:lpstr>Helvetica Neue</vt:lpstr>
      <vt:lpstr>DM Sans</vt:lpstr>
      <vt:lpstr>Arial</vt:lpstr>
      <vt:lpstr>Helvetica Neue Light</vt:lpstr>
      <vt:lpstr>Simple Light</vt:lpstr>
      <vt:lpstr>Coder</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Emanuel Tevez</cp:lastModifiedBy>
  <cp:revision>1</cp:revision>
  <dcterms:modified xsi:type="dcterms:W3CDTF">2025-10-02T19:02:03Z</dcterms:modified>
</cp:coreProperties>
</file>