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5"/>
  </p:notesMasterIdLst>
  <p:sldIdLst>
    <p:sldId id="260" r:id="rId2"/>
    <p:sldId id="261" r:id="rId3"/>
    <p:sldId id="262" r:id="rId4"/>
    <p:sldId id="263" r:id="rId5"/>
    <p:sldId id="264"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 id="294" r:id="rId36"/>
    <p:sldId id="295" r:id="rId37"/>
    <p:sldId id="296" r:id="rId38"/>
    <p:sldId id="297" r:id="rId39"/>
    <p:sldId id="298" r:id="rId40"/>
    <p:sldId id="299" r:id="rId41"/>
    <p:sldId id="300" r:id="rId42"/>
    <p:sldId id="301" r:id="rId43"/>
    <p:sldId id="302" r:id="rId44"/>
    <p:sldId id="303" r:id="rId45"/>
    <p:sldId id="304" r:id="rId46"/>
    <p:sldId id="305" r:id="rId47"/>
    <p:sldId id="306" r:id="rId48"/>
    <p:sldId id="307" r:id="rId49"/>
    <p:sldId id="308" r:id="rId50"/>
    <p:sldId id="309" r:id="rId51"/>
    <p:sldId id="310" r:id="rId52"/>
    <p:sldId id="311" r:id="rId53"/>
    <p:sldId id="312" r:id="rId54"/>
  </p:sldIdLst>
  <p:sldSz cx="9144000" cy="5143500" type="screen16x9"/>
  <p:notesSz cx="6858000" cy="9144000"/>
  <p:embeddedFontLst>
    <p:embeddedFont>
      <p:font typeface="DM Sans" pitchFamily="2" charset="0"/>
      <p:regular r:id="rId56"/>
      <p:bold r:id="rId57"/>
      <p:italic r:id="rId58"/>
      <p:boldItalic r:id="rId59"/>
    </p:embeddedFont>
    <p:embeddedFont>
      <p:font typeface="Helvetica Neue" panose="020B0604020202020204" charset="0"/>
      <p:regular r:id="rId60"/>
      <p:bold r:id="rId61"/>
      <p:italic r:id="rId62"/>
      <p:boldItalic r:id="rId63"/>
    </p:embeddedFont>
    <p:embeddedFont>
      <p:font typeface="Helvetica Neue Light" panose="020B0604020202020204" charset="0"/>
      <p:regular r:id="rId64"/>
      <p:bold r:id="rId65"/>
      <p:italic r:id="rId66"/>
      <p:boldItalic r:id="rId67"/>
    </p:embeddedFont>
    <p:embeddedFont>
      <p:font typeface="Roboto Mono" panose="00000009000000000000" pitchFamily="49" charset="0"/>
      <p:regular r:id="rId68"/>
      <p:bold r:id="rId69"/>
      <p:italic r:id="rId70"/>
      <p:boldItalic r:id="rId7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95">
          <p15:clr>
            <a:srgbClr val="A4A3A4"/>
          </p15:clr>
        </p15:guide>
        <p15:guide id="2" pos="5460">
          <p15:clr>
            <a:srgbClr val="A4A3A4"/>
          </p15:clr>
        </p15:guide>
        <p15:guide id="3" pos="300">
          <p15:clr>
            <a:srgbClr val="9AA0A6"/>
          </p15:clr>
        </p15:guide>
        <p15:guide id="4" orient="horz" pos="2892">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726" y="90"/>
      </p:cViewPr>
      <p:guideLst>
        <p:guide orient="horz" pos="295"/>
        <p:guide pos="5460"/>
        <p:guide pos="300"/>
        <p:guide orient="horz" pos="289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8.fntdata"/><Relationship Id="rId68"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3.fntdata"/><Relationship Id="rId66" Type="http://schemas.openxmlformats.org/officeDocument/2006/relationships/font" Target="fonts/font11.fntdata"/><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font" Target="fonts/font6.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1.fntdata"/><Relationship Id="rId64" Type="http://schemas.openxmlformats.org/officeDocument/2006/relationships/font" Target="fonts/font9.fntdata"/><Relationship Id="rId69" Type="http://schemas.openxmlformats.org/officeDocument/2006/relationships/font" Target="fonts/font14.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4.fntdata"/><Relationship Id="rId67"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7.fntdata"/><Relationship Id="rId70" Type="http://schemas.openxmlformats.org/officeDocument/2006/relationships/font" Target="fonts/font15.fntdata"/><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5.fntdata"/><Relationship Id="rId65" Type="http://schemas.openxmlformats.org/officeDocument/2006/relationships/font" Target="fonts/font10.fntdata"/><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3" Type="http://schemas.openxmlformats.org/officeDocument/2006/relationships/hyperlink" Target="mailto:contenidos@coderhouse.com" TargetMode="External"/><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 name="Google Shape;81;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b="1">
              <a:solidFill>
                <a:schemeClr val="dk1"/>
              </a:solidFill>
              <a:latin typeface="DM Sans"/>
              <a:ea typeface="DM Sans"/>
              <a:cs typeface="DM Sans"/>
              <a:sym typeface="DM San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1434ae9e097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1434ae9e097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fdc91a3675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 name="Google Shape;99;gfdc91a3675_0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fdc91a3675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 name="Google Shape;106;gfdc91a3675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1434ae9e097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1434ae9e097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fdc91a3675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fdc91a3675_0_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fdc91a3675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 name="Google Shape;127;gfdc91a3675_0_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fdc91a3675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gfdc91a3675_0_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sz="1400" b="1">
                <a:solidFill>
                  <a:schemeClr val="dk1"/>
                </a:solidFill>
                <a:latin typeface="Helvetica Neue"/>
                <a:ea typeface="Helvetica Neue"/>
                <a:cs typeface="Helvetica Neue"/>
                <a:sym typeface="Helvetica Neue"/>
              </a:rPr>
              <a:t>Profesor/a:</a:t>
            </a:r>
            <a:r>
              <a:rPr lang="es" sz="1400">
                <a:solidFill>
                  <a:schemeClr val="dk1"/>
                </a:solidFill>
                <a:latin typeface="Helvetica Neue Light"/>
                <a:ea typeface="Helvetica Neue Light"/>
                <a:cs typeface="Helvetica Neue Light"/>
                <a:sym typeface="Helvetica Neue Light"/>
              </a:rPr>
              <a:t> compartir pantalla codeando el ejemplo</a:t>
            </a:r>
            <a:endParaRPr>
              <a:solidFill>
                <a:schemeClr val="dk1"/>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fdc91a3675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7" name="Google Shape;147;gfdc91a3675_0_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sz="1400" b="1">
                <a:solidFill>
                  <a:schemeClr val="dk1"/>
                </a:solidFill>
                <a:latin typeface="Helvetica Neue"/>
                <a:ea typeface="Helvetica Neue"/>
                <a:cs typeface="Helvetica Neue"/>
                <a:sym typeface="Helvetica Neue"/>
              </a:rPr>
              <a:t>Profesor/a:</a:t>
            </a:r>
            <a:r>
              <a:rPr lang="es" sz="1400">
                <a:solidFill>
                  <a:schemeClr val="dk1"/>
                </a:solidFill>
                <a:latin typeface="Helvetica Neue Light"/>
                <a:ea typeface="Helvetica Neue Light"/>
                <a:cs typeface="Helvetica Neue Light"/>
                <a:sym typeface="Helvetica Neue Light"/>
              </a:rPr>
              <a:t> compartir pantalla codeando el ejemplo</a:t>
            </a:r>
            <a:endParaRPr>
              <a:solidFill>
                <a:schemeClr val="dk1"/>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fdc91a3675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 name="Google Shape;160;gfdc91a3675_0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fdc91a3675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8" name="Google Shape;168;gfdc91a3675_0_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fdc91a3675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 name="Google Shape;176;gfdc91a3675_0_8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Profesor/a: El intérprete repite la línea culpable y muestra una pequeña “flecha” que apunta al primer lugar donde se detectó el error. Este es causado por (o al menos detectado en) el símbolo que precede a la flecha: en el ejemplo, el error se detecta en la sentencia print, ya que falta el paréntesis de cierre(')') antes del mismo. Se muestran el nombre del archivo y el número de línea para que sepas dónde mirar en caso de que la entrada venga de un programa.</a:t>
            </a:r>
            <a:endParaRPr>
              <a:solidFill>
                <a:schemeClr val="dk1"/>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fdc91a3675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9" name="Google Shape;189;gfdc91a3675_0_9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sz="1400" b="1">
                <a:solidFill>
                  <a:schemeClr val="dk1"/>
                </a:solidFill>
                <a:latin typeface="Helvetica Neue"/>
                <a:ea typeface="Helvetica Neue"/>
                <a:cs typeface="Helvetica Neue"/>
                <a:sym typeface="Helvetica Neue"/>
              </a:rPr>
              <a:t>Profesor/a:</a:t>
            </a:r>
            <a:r>
              <a:rPr lang="es" sz="1400">
                <a:solidFill>
                  <a:schemeClr val="dk1"/>
                </a:solidFill>
                <a:latin typeface="Helvetica Neue Light"/>
                <a:ea typeface="Helvetica Neue Light"/>
                <a:cs typeface="Helvetica Neue Light"/>
                <a:sym typeface="Helvetica Neue Light"/>
              </a:rPr>
              <a:t> compartir pantalla codeando el ejemplo</a:t>
            </a:r>
            <a:endParaRPr>
              <a:solidFill>
                <a:schemeClr val="dk1"/>
              </a:solidFill>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a:solidFill>
                <a:schemeClr val="dk1"/>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fdc91a3675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2" name="Google Shape;202;gfdc91a3675_0_1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sz="1400" b="1">
                <a:solidFill>
                  <a:schemeClr val="dk1"/>
                </a:solidFill>
                <a:latin typeface="Helvetica Neue"/>
                <a:ea typeface="Helvetica Neue"/>
                <a:cs typeface="Helvetica Neue"/>
                <a:sym typeface="Helvetica Neue"/>
              </a:rPr>
              <a:t>Profesor/a:</a:t>
            </a:r>
            <a:r>
              <a:rPr lang="es" sz="1400">
                <a:solidFill>
                  <a:schemeClr val="dk1"/>
                </a:solidFill>
                <a:latin typeface="Helvetica Neue Light"/>
                <a:ea typeface="Helvetica Neue Light"/>
                <a:cs typeface="Helvetica Neue Light"/>
                <a:sym typeface="Helvetica Neue Light"/>
              </a:rPr>
              <a:t> compartir pantalla codeando el ejemplo</a:t>
            </a:r>
            <a:endParaRPr>
              <a:solidFill>
                <a:schemeClr val="dk1"/>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fdc91a3675_0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gfdc91a3675_0_1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sz="1400" b="1">
                <a:solidFill>
                  <a:schemeClr val="dk1"/>
                </a:solidFill>
                <a:latin typeface="Helvetica Neue"/>
                <a:ea typeface="Helvetica Neue"/>
                <a:cs typeface="Helvetica Neue"/>
                <a:sym typeface="Helvetica Neue"/>
              </a:rPr>
              <a:t>Profesor/a:</a:t>
            </a:r>
            <a:r>
              <a:rPr lang="es" sz="1400">
                <a:solidFill>
                  <a:schemeClr val="dk1"/>
                </a:solidFill>
                <a:latin typeface="Helvetica Neue Light"/>
                <a:ea typeface="Helvetica Neue Light"/>
                <a:cs typeface="Helvetica Neue Light"/>
                <a:sym typeface="Helvetica Neue Light"/>
              </a:rPr>
              <a:t> compartir pantalla codeando el ejemplo</a:t>
            </a:r>
            <a:endParaRPr>
              <a:solidFill>
                <a:schemeClr val="dk1"/>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fdc91a3675_0_1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7" name="Google Shape;227;gfdc91a3675_0_1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fdc91a3675_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7" name="Google Shape;237;gfdc91a3675_0_1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fdc91a3675_0_1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8" name="Google Shape;248;gfdc91a3675_0_1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1434ae9e097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1434ae9e097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fdc91a3675_0_1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9" name="Google Shape;259;gfdc91a3675_0_1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fdc91a3675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7" name="Google Shape;267;gfdc91a3675_0_1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fdc91a3675_0_1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9" name="Google Shape;279;gfdc91a3675_0_1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1434ae9e097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1434ae9e097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fdc91a3675_0_1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2" name="Google Shape;292;gfdc91a3675_0_1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sz="1400" b="1">
                <a:solidFill>
                  <a:schemeClr val="dk1"/>
                </a:solidFill>
                <a:latin typeface="Helvetica Neue"/>
                <a:ea typeface="Helvetica Neue"/>
                <a:cs typeface="Helvetica Neue"/>
                <a:sym typeface="Helvetica Neue"/>
              </a:rPr>
              <a:t>Profesor/a:</a:t>
            </a:r>
            <a:r>
              <a:rPr lang="es" sz="1400">
                <a:solidFill>
                  <a:schemeClr val="dk1"/>
                </a:solidFill>
                <a:latin typeface="Helvetica Neue Light"/>
                <a:ea typeface="Helvetica Neue Light"/>
                <a:cs typeface="Helvetica Neue Light"/>
                <a:sym typeface="Helvetica Neue Light"/>
              </a:rPr>
              <a:t> compartir pantalla codeando el ejemplo</a:t>
            </a:r>
            <a:endParaRPr>
              <a:solidFill>
                <a:schemeClr val="dk1"/>
              </a:solidFill>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a:solidFill>
                <a:schemeClr val="dk1"/>
              </a:solidFill>
              <a:latin typeface="DM Sans"/>
              <a:ea typeface="DM Sans"/>
              <a:cs typeface="DM Sans"/>
              <a:sym typeface="DM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fdc91a3675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4" name="Google Shape;304;gfdc91a3675_0_2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fdc91a3675_0_2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2" name="Google Shape;312;gfdc91a3675_0_2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fdc91a3675_0_2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0" name="Google Shape;320;gfdc91a3675_0_2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fdc91a3675_0_2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8" name="Google Shape;328;gfdc91a3675_0_2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fdc91a3675_0_2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4" name="Google Shape;334;gfdc91a3675_0_2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fdc91a3675_0_2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9" name="Google Shape;339;gfdc91a3675_0_2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fdc91a3675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6" name="Google Shape;346;gfdc91a3675_0_2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b="1">
                <a:solidFill>
                  <a:schemeClr val="dk1"/>
                </a:solidFill>
                <a:latin typeface="DM Sans"/>
                <a:ea typeface="DM Sans"/>
                <a:cs typeface="DM Sans"/>
                <a:sym typeface="DM Sans"/>
              </a:rPr>
              <a:t>Profesor/a:</a:t>
            </a:r>
            <a:r>
              <a:rPr lang="es">
                <a:solidFill>
                  <a:schemeClr val="dk1"/>
                </a:solidFill>
                <a:latin typeface="DM Sans"/>
                <a:ea typeface="DM Sans"/>
                <a:cs typeface="DM Sans"/>
                <a:sym typeface="DM Sans"/>
              </a:rPr>
              <a:t> Se puede poner except sólo o con ValueError</a:t>
            </a:r>
            <a:endParaRPr>
              <a:latin typeface="DM Sans"/>
              <a:ea typeface="DM Sans"/>
              <a:cs typeface="DM Sans"/>
              <a:sym typeface="DM San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1434ae9e097_0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6" name="Google Shape;356;g1434ae9e097_0_17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fdc91a3675_0_2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1" name="Google Shape;361;gfdc91a3675_0_2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fdc91a3675_0_2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7" name="Google Shape;367;gfdc91a3675_0_28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fdc91a3675_0_2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4" name="Google Shape;374;gfdc91a3675_0_2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b="1">
                <a:solidFill>
                  <a:schemeClr val="dk1"/>
                </a:solidFill>
                <a:latin typeface="DM Sans"/>
                <a:ea typeface="DM Sans"/>
                <a:cs typeface="DM Sans"/>
                <a:sym typeface="DM Sans"/>
              </a:rPr>
              <a:t>Profesor/a: </a:t>
            </a:r>
            <a:r>
              <a:rPr lang="es">
                <a:solidFill>
                  <a:schemeClr val="dk1"/>
                </a:solidFill>
                <a:latin typeface="DM Sans"/>
                <a:ea typeface="DM Sans"/>
                <a:cs typeface="DM Sans"/>
                <a:sym typeface="DM Sans"/>
              </a:rPr>
              <a:t>mostrar el ejemplo codeando en vivo </a:t>
            </a:r>
            <a:endParaRPr>
              <a:latin typeface="DM Sans"/>
              <a:ea typeface="DM Sans"/>
              <a:cs typeface="DM Sans"/>
              <a:sym typeface="DM San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fdc91a3675_0_3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4" name="Google Shape;384;gfdc91a3675_0_30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fdc91a3675_0_3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9" name="Google Shape;389;gfdc91a3675_0_3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fdc91a3675_0_3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6" name="Google Shape;396;gfdc91a3675_0_3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sz="1400" b="1">
                <a:solidFill>
                  <a:schemeClr val="dk1"/>
                </a:solidFill>
                <a:latin typeface="Helvetica Neue"/>
                <a:ea typeface="Helvetica Neue"/>
                <a:cs typeface="Helvetica Neue"/>
                <a:sym typeface="Helvetica Neue"/>
              </a:rPr>
              <a:t>Profesor/a:</a:t>
            </a:r>
            <a:r>
              <a:rPr lang="es" sz="1400">
                <a:solidFill>
                  <a:schemeClr val="dk1"/>
                </a:solidFill>
                <a:latin typeface="Helvetica Neue Light"/>
                <a:ea typeface="Helvetica Neue Light"/>
                <a:cs typeface="Helvetica Neue Light"/>
                <a:sym typeface="Helvetica Neue Light"/>
              </a:rPr>
              <a:t> compartir pantalla codeando el ejemplo</a:t>
            </a:r>
            <a:br>
              <a:rPr lang="es" sz="1400">
                <a:solidFill>
                  <a:schemeClr val="dk1"/>
                </a:solidFill>
                <a:latin typeface="Helvetica Neue Light"/>
                <a:ea typeface="Helvetica Neue Light"/>
                <a:cs typeface="Helvetica Neue Light"/>
                <a:sym typeface="Helvetica Neue Light"/>
              </a:rPr>
            </a:br>
            <a:br>
              <a:rPr lang="es" sz="1400">
                <a:solidFill>
                  <a:schemeClr val="dk1"/>
                </a:solidFill>
                <a:latin typeface="Helvetica Neue Light"/>
                <a:ea typeface="Helvetica Neue Light"/>
                <a:cs typeface="Helvetica Neue Light"/>
                <a:sym typeface="Helvetica Neue Light"/>
              </a:rPr>
            </a:br>
            <a:r>
              <a:rPr lang="es" sz="1400">
                <a:solidFill>
                  <a:schemeClr val="dk1"/>
                </a:solidFill>
                <a:latin typeface="Helvetica Neue Light"/>
                <a:ea typeface="Helvetica Neue Light"/>
                <a:cs typeface="Helvetica Neue Light"/>
                <a:sym typeface="Helvetica Neue Light"/>
              </a:rPr>
              <a:t>Introduce un número: 10</a:t>
            </a:r>
            <a:endParaRPr sz="1400">
              <a:solidFill>
                <a:schemeClr val="dk1"/>
              </a:solidFill>
              <a:latin typeface="Helvetica Neue Light"/>
              <a:ea typeface="Helvetica Neue Light"/>
              <a:cs typeface="Helvetica Neue Light"/>
              <a:sym typeface="Helvetica Neue Light"/>
            </a:endParaRPr>
          </a:p>
          <a:p>
            <a:pPr marL="0" lvl="0" indent="0" algn="l" rtl="0">
              <a:spcBef>
                <a:spcPts val="0"/>
              </a:spcBef>
              <a:spcAft>
                <a:spcPts val="0"/>
              </a:spcAft>
              <a:buClr>
                <a:schemeClr val="dk1"/>
              </a:buClr>
              <a:buSzPts val="1100"/>
              <a:buFont typeface="Arial"/>
              <a:buNone/>
            </a:pPr>
            <a:r>
              <a:rPr lang="es" sz="1400">
                <a:solidFill>
                  <a:schemeClr val="dk1"/>
                </a:solidFill>
                <a:latin typeface="Helvetica Neue Light"/>
                <a:ea typeface="Helvetica Neue Light"/>
                <a:cs typeface="Helvetica Neue Light"/>
                <a:sym typeface="Helvetica Neue Light"/>
              </a:rPr>
              <a:t>Ha ocurrido un error =&gt;  TypeError</a:t>
            </a:r>
            <a:endParaRPr sz="1400">
              <a:solidFill>
                <a:schemeClr val="dk1"/>
              </a:solidFill>
              <a:latin typeface="Helvetica Neue Light"/>
              <a:ea typeface="Helvetica Neue Light"/>
              <a:cs typeface="Helvetica Neue Light"/>
              <a:sym typeface="Helvetica Neue Light"/>
            </a:endParaRPr>
          </a:p>
          <a:p>
            <a:pPr marL="0" lvl="0" indent="0" algn="l" rtl="0">
              <a:spcBef>
                <a:spcPts val="0"/>
              </a:spcBef>
              <a:spcAft>
                <a:spcPts val="0"/>
              </a:spcAft>
              <a:buClr>
                <a:schemeClr val="dk1"/>
              </a:buClr>
              <a:buSzPts val="1100"/>
              <a:buFont typeface="Arial"/>
              <a:buNone/>
            </a:pPr>
            <a:endParaRPr>
              <a:solidFill>
                <a:schemeClr val="dk1"/>
              </a:solidFill>
              <a:latin typeface="DM Sans"/>
              <a:ea typeface="DM Sans"/>
              <a:cs typeface="DM Sans"/>
              <a:sym typeface="DM San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fdc91a3675_0_3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7" name="Google Shape;407;gfdc91a3675_0_3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sz="1400" b="1">
                <a:solidFill>
                  <a:schemeClr val="dk1"/>
                </a:solidFill>
                <a:latin typeface="Helvetica Neue"/>
                <a:ea typeface="Helvetica Neue"/>
                <a:cs typeface="Helvetica Neue"/>
                <a:sym typeface="Helvetica Neue"/>
              </a:rPr>
              <a:t>Profesor/a:</a:t>
            </a:r>
            <a:r>
              <a:rPr lang="es" sz="1400">
                <a:solidFill>
                  <a:schemeClr val="dk1"/>
                </a:solidFill>
                <a:latin typeface="Helvetica Neue Light"/>
                <a:ea typeface="Helvetica Neue Light"/>
                <a:cs typeface="Helvetica Neue Light"/>
                <a:sym typeface="Helvetica Neue Light"/>
              </a:rPr>
              <a:t> compartir pantalla codeando el ejemplo</a:t>
            </a:r>
            <a:endParaRPr>
              <a:latin typeface="DM Sans"/>
              <a:ea typeface="DM Sans"/>
              <a:cs typeface="DM Sans"/>
              <a:sym typeface="DM San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fdc91a3675_0_3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8" name="Google Shape;418;gfdc91a3675_0_3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sz="1400" b="1">
                <a:solidFill>
                  <a:schemeClr val="dk1"/>
                </a:solidFill>
                <a:latin typeface="Helvetica Neue"/>
                <a:ea typeface="Helvetica Neue"/>
                <a:cs typeface="Helvetica Neue"/>
                <a:sym typeface="Helvetica Neue"/>
              </a:rPr>
              <a:t>Profesor/a:</a:t>
            </a:r>
            <a:r>
              <a:rPr lang="es" sz="1400">
                <a:solidFill>
                  <a:schemeClr val="dk1"/>
                </a:solidFill>
                <a:latin typeface="Helvetica Neue Light"/>
                <a:ea typeface="Helvetica Neue Light"/>
                <a:cs typeface="Helvetica Neue Light"/>
                <a:sym typeface="Helvetica Neue Light"/>
              </a:rPr>
              <a:t> compartir pantalla codeando el ejemplo</a:t>
            </a:r>
            <a:endParaRPr>
              <a:latin typeface="DM Sans"/>
              <a:ea typeface="DM Sans"/>
              <a:cs typeface="DM Sans"/>
              <a:sym typeface="DM San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fdc91a3675_0_3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9" name="Google Shape;429;gfdc91a3675_0_3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sz="1400" b="1">
                <a:solidFill>
                  <a:schemeClr val="dk1"/>
                </a:solidFill>
                <a:latin typeface="Helvetica Neue"/>
                <a:ea typeface="Helvetica Neue"/>
                <a:cs typeface="Helvetica Neue"/>
                <a:sym typeface="Helvetica Neue"/>
              </a:rPr>
              <a:t>Profesor/a:</a:t>
            </a:r>
            <a:r>
              <a:rPr lang="es" sz="1400">
                <a:solidFill>
                  <a:schemeClr val="dk1"/>
                </a:solidFill>
                <a:latin typeface="Helvetica Neue Light"/>
                <a:ea typeface="Helvetica Neue Light"/>
                <a:cs typeface="Helvetica Neue Light"/>
                <a:sym typeface="Helvetica Neue Light"/>
              </a:rPr>
              <a:t> compartir pantalla codeando el ejemplo</a:t>
            </a:r>
            <a:br>
              <a:rPr lang="es" sz="1400">
                <a:solidFill>
                  <a:schemeClr val="dk1"/>
                </a:solidFill>
                <a:latin typeface="Helvetica Neue Light"/>
                <a:ea typeface="Helvetica Neue Light"/>
                <a:cs typeface="Helvetica Neue Light"/>
                <a:sym typeface="Helvetica Neue Light"/>
              </a:rPr>
            </a:br>
            <a:br>
              <a:rPr lang="es" sz="1400">
                <a:solidFill>
                  <a:schemeClr val="dk1"/>
                </a:solidFill>
                <a:latin typeface="Helvetica Neue Light"/>
                <a:ea typeface="Helvetica Neue Light"/>
                <a:cs typeface="Helvetica Neue Light"/>
                <a:sym typeface="Helvetica Neue Light"/>
              </a:rPr>
            </a:br>
            <a:r>
              <a:rPr lang="es">
                <a:solidFill>
                  <a:srgbClr val="37474F"/>
                </a:solidFill>
                <a:latin typeface="Roboto Mono"/>
                <a:ea typeface="Roboto Mono"/>
                <a:cs typeface="Roboto Mono"/>
                <a:sym typeface="Roboto Mono"/>
              </a:rPr>
              <a:t>TypeError</a:t>
            </a:r>
            <a:endParaRPr>
              <a:solidFill>
                <a:srgbClr val="37474F"/>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s">
                <a:solidFill>
                  <a:srgbClr val="37474F"/>
                </a:solidFill>
                <a:latin typeface="Roboto Mono"/>
                <a:ea typeface="Roboto Mono"/>
                <a:cs typeface="Roboto Mono"/>
                <a:sym typeface="Roboto Mono"/>
              </a:rPr>
              <a:t>int</a:t>
            </a:r>
            <a:endParaRPr>
              <a:solidFill>
                <a:srgbClr val="37474F"/>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s">
                <a:solidFill>
                  <a:srgbClr val="37474F"/>
                </a:solidFill>
                <a:latin typeface="Roboto Mono"/>
                <a:ea typeface="Roboto Mono"/>
                <a:cs typeface="Roboto Mono"/>
                <a:sym typeface="Roboto Mono"/>
              </a:rPr>
              <a:t>float</a:t>
            </a:r>
            <a:endParaRPr>
              <a:solidFill>
                <a:srgbClr val="37474F"/>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s">
                <a:solidFill>
                  <a:srgbClr val="37474F"/>
                </a:solidFill>
                <a:latin typeface="Roboto Mono"/>
                <a:ea typeface="Roboto Mono"/>
                <a:cs typeface="Roboto Mono"/>
                <a:sym typeface="Roboto Mono"/>
              </a:rPr>
              <a:t>list</a:t>
            </a:r>
            <a:endParaRPr>
              <a:solidFill>
                <a:srgbClr val="37474F"/>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s">
                <a:solidFill>
                  <a:srgbClr val="37474F"/>
                </a:solidFill>
                <a:latin typeface="Roboto Mono"/>
                <a:ea typeface="Roboto Mono"/>
                <a:cs typeface="Roboto Mono"/>
                <a:sym typeface="Roboto Mono"/>
              </a:rPr>
              <a:t>tuple</a:t>
            </a:r>
            <a:endParaRPr>
              <a:solidFill>
                <a:srgbClr val="37474F"/>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s">
                <a:solidFill>
                  <a:srgbClr val="37474F"/>
                </a:solidFill>
                <a:latin typeface="Roboto Mono"/>
                <a:ea typeface="Roboto Mono"/>
                <a:cs typeface="Roboto Mono"/>
                <a:sym typeface="Roboto Mono"/>
              </a:rPr>
              <a:t>dict</a:t>
            </a:r>
            <a:endParaRPr>
              <a:solidFill>
                <a:schemeClr val="dk1"/>
              </a:solidFill>
              <a:latin typeface="DM Sans"/>
              <a:ea typeface="DM Sans"/>
              <a:cs typeface="DM Sans"/>
              <a:sym typeface="DM San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fdc91a3675_0_3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0" name="Google Shape;440;gfdc91a3675_0_3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fdc91a3675_0_3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6" name="Google Shape;446;gfdc91a3675_0_3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sz="1400" b="1">
                <a:solidFill>
                  <a:schemeClr val="dk1"/>
                </a:solidFill>
                <a:latin typeface="Helvetica Neue"/>
                <a:ea typeface="Helvetica Neue"/>
                <a:cs typeface="Helvetica Neue"/>
                <a:sym typeface="Helvetica Neue"/>
              </a:rPr>
              <a:t>Profesor/a:</a:t>
            </a:r>
            <a:r>
              <a:rPr lang="es" sz="1400">
                <a:solidFill>
                  <a:schemeClr val="dk1"/>
                </a:solidFill>
                <a:latin typeface="Helvetica Neue Light"/>
                <a:ea typeface="Helvetica Neue Light"/>
                <a:cs typeface="Helvetica Neue Light"/>
                <a:sym typeface="Helvetica Neue Light"/>
              </a:rPr>
              <a:t> compartir pantalla codeando el ejemplo</a:t>
            </a:r>
            <a:endParaRPr>
              <a:latin typeface="DM Sans"/>
              <a:ea typeface="DM Sans"/>
              <a:cs typeface="DM Sans"/>
              <a:sym typeface="DM San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fdc91a3675_0_4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gfdc91a3675_0_40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Actividades en clase.</a:t>
            </a:r>
            <a:endParaRPr>
              <a:latin typeface="DM Sans"/>
              <a:ea typeface="DM Sans"/>
              <a:cs typeface="DM Sans"/>
              <a:sym typeface="DM San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gfdc91a3675_0_4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6" name="Google Shape;466;gfdc91a3675_0_4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sz="1400">
                <a:solidFill>
                  <a:schemeClr val="dk1"/>
                </a:solidFill>
                <a:latin typeface="Helvetica Neue Light"/>
                <a:ea typeface="Helvetica Neue Light"/>
                <a:cs typeface="Helvetica Neue Light"/>
                <a:sym typeface="Helvetica Neue Light"/>
              </a:rPr>
              <a:t>def dividir(a, b):</a:t>
            </a:r>
            <a:endParaRPr sz="1400">
              <a:solidFill>
                <a:schemeClr val="dk1"/>
              </a:solidFill>
              <a:latin typeface="Helvetica Neue Light"/>
              <a:ea typeface="Helvetica Neue Light"/>
              <a:cs typeface="Helvetica Neue Light"/>
              <a:sym typeface="Helvetica Neue Light"/>
            </a:endParaRPr>
          </a:p>
          <a:p>
            <a:pPr marL="0" lvl="0" indent="0" algn="l" rtl="0">
              <a:spcBef>
                <a:spcPts val="0"/>
              </a:spcBef>
              <a:spcAft>
                <a:spcPts val="0"/>
              </a:spcAft>
              <a:buClr>
                <a:schemeClr val="dk1"/>
              </a:buClr>
              <a:buSzPts val="1100"/>
              <a:buFont typeface="Arial"/>
              <a:buNone/>
            </a:pPr>
            <a:r>
              <a:rPr lang="es" sz="1400">
                <a:solidFill>
                  <a:schemeClr val="dk1"/>
                </a:solidFill>
                <a:latin typeface="Helvetica Neue Light"/>
                <a:ea typeface="Helvetica Neue Light"/>
                <a:cs typeface="Helvetica Neue Light"/>
                <a:sym typeface="Helvetica Neue Light"/>
              </a:rPr>
              <a:t>    try:</a:t>
            </a:r>
            <a:endParaRPr sz="1400">
              <a:solidFill>
                <a:schemeClr val="dk1"/>
              </a:solidFill>
              <a:latin typeface="Helvetica Neue Light"/>
              <a:ea typeface="Helvetica Neue Light"/>
              <a:cs typeface="Helvetica Neue Light"/>
              <a:sym typeface="Helvetica Neue Light"/>
            </a:endParaRPr>
          </a:p>
          <a:p>
            <a:pPr marL="0" lvl="0" indent="0" algn="l" rtl="0">
              <a:spcBef>
                <a:spcPts val="0"/>
              </a:spcBef>
              <a:spcAft>
                <a:spcPts val="0"/>
              </a:spcAft>
              <a:buClr>
                <a:schemeClr val="dk1"/>
              </a:buClr>
              <a:buSzPts val="1100"/>
              <a:buFont typeface="Arial"/>
              <a:buNone/>
            </a:pPr>
            <a:r>
              <a:rPr lang="es" sz="1400">
                <a:solidFill>
                  <a:schemeClr val="dk1"/>
                </a:solidFill>
                <a:latin typeface="Helvetica Neue Light"/>
                <a:ea typeface="Helvetica Neue Light"/>
                <a:cs typeface="Helvetica Neue Light"/>
                <a:sym typeface="Helvetica Neue Light"/>
              </a:rPr>
              <a:t>        return a/b</a:t>
            </a:r>
            <a:endParaRPr sz="1400">
              <a:solidFill>
                <a:schemeClr val="dk1"/>
              </a:solidFill>
              <a:latin typeface="Helvetica Neue Light"/>
              <a:ea typeface="Helvetica Neue Light"/>
              <a:cs typeface="Helvetica Neue Light"/>
              <a:sym typeface="Helvetica Neue Light"/>
            </a:endParaRPr>
          </a:p>
          <a:p>
            <a:pPr marL="0" lvl="0" indent="0" algn="l" rtl="0">
              <a:spcBef>
                <a:spcPts val="0"/>
              </a:spcBef>
              <a:spcAft>
                <a:spcPts val="0"/>
              </a:spcAft>
              <a:buClr>
                <a:schemeClr val="dk1"/>
              </a:buClr>
              <a:buSzPts val="1100"/>
              <a:buFont typeface="Arial"/>
              <a:buNone/>
            </a:pPr>
            <a:r>
              <a:rPr lang="es" sz="1400">
                <a:solidFill>
                  <a:schemeClr val="dk1"/>
                </a:solidFill>
                <a:latin typeface="Helvetica Neue Light"/>
                <a:ea typeface="Helvetica Neue Light"/>
                <a:cs typeface="Helvetica Neue Light"/>
                <a:sym typeface="Helvetica Neue Light"/>
              </a:rPr>
              <a:t>    except:</a:t>
            </a:r>
            <a:endParaRPr sz="1400">
              <a:solidFill>
                <a:schemeClr val="dk1"/>
              </a:solidFill>
              <a:latin typeface="Helvetica Neue Light"/>
              <a:ea typeface="Helvetica Neue Light"/>
              <a:cs typeface="Helvetica Neue Light"/>
              <a:sym typeface="Helvetica Neue Light"/>
            </a:endParaRPr>
          </a:p>
          <a:p>
            <a:pPr marL="0" lvl="0" indent="0" algn="l" rtl="0">
              <a:spcBef>
                <a:spcPts val="0"/>
              </a:spcBef>
              <a:spcAft>
                <a:spcPts val="0"/>
              </a:spcAft>
              <a:buClr>
                <a:schemeClr val="dk1"/>
              </a:buClr>
              <a:buSzPts val="1100"/>
              <a:buFont typeface="Arial"/>
              <a:buNone/>
            </a:pPr>
            <a:r>
              <a:rPr lang="es" sz="1400">
                <a:solidFill>
                  <a:schemeClr val="dk1"/>
                </a:solidFill>
                <a:latin typeface="Helvetica Neue Light"/>
                <a:ea typeface="Helvetica Neue Light"/>
                <a:cs typeface="Helvetica Neue Light"/>
                <a:sym typeface="Helvetica Neue Light"/>
              </a:rPr>
              <a:t>        print("No se puede dividir entre cero")</a:t>
            </a:r>
            <a:endParaRPr>
              <a:solidFill>
                <a:schemeClr val="dk1"/>
              </a:solidFill>
              <a:latin typeface="DM Sans"/>
              <a:ea typeface="DM Sans"/>
              <a:cs typeface="DM Sans"/>
              <a:sym typeface="DM San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gfdc91a3675_0_4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6" name="Google Shape;476;gfdc91a3675_0_4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highlight>
                  <a:schemeClr val="lt1"/>
                </a:highlight>
                <a:latin typeface="DM Sans"/>
                <a:ea typeface="DM Sans"/>
                <a:cs typeface="DM Sans"/>
                <a:sym typeface="DM Sans"/>
              </a:rPr>
              <a:t>Profesor/a: realizar la actividad si el contenido de la clase deja tiempo libre. La actividad puede ser resuelta de forma individual por el estudiante o mostrado en vivo por el docente. </a:t>
            </a:r>
            <a:endParaRPr>
              <a:solidFill>
                <a:schemeClr val="dk1"/>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highlight>
                <a:schemeClr val="lt1"/>
              </a:highlight>
              <a:latin typeface="DM Sans"/>
              <a:ea typeface="DM Sans"/>
              <a:cs typeface="DM Sans"/>
              <a:sym typeface="DM San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g1434ae9e097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5" name="Google Shape;485;g1434ae9e097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highlight>
                  <a:schemeClr val="lt1"/>
                </a:highlight>
                <a:latin typeface="DM Sans"/>
                <a:ea typeface="DM Sans"/>
                <a:cs typeface="DM Sans"/>
                <a:sym typeface="DM Sans"/>
              </a:rPr>
              <a:t>Profesor/a: realizar la actividad si el contenido de la clase deja tiempo libre. La actividad puede ser resuelta de forma individual por el estudiante o mostrado en vivo por el docente. </a:t>
            </a:r>
            <a:endParaRPr>
              <a:latin typeface="DM Sans"/>
              <a:ea typeface="DM Sans"/>
              <a:cs typeface="DM Sans"/>
              <a:sym typeface="DM San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7" name="Google Shape;497;p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Portada de Material Ampliado</a:t>
            </a:r>
            <a:endParaRPr>
              <a:latin typeface="DM Sans"/>
              <a:ea typeface="DM Sans"/>
              <a:cs typeface="DM Sans"/>
              <a:sym typeface="DM San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p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5" name="Google Shape;505;p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b="1">
                <a:solidFill>
                  <a:schemeClr val="dk1"/>
                </a:solidFill>
                <a:latin typeface="DM Sans"/>
                <a:ea typeface="DM Sans"/>
                <a:cs typeface="DM Sans"/>
                <a:sym typeface="DM Sans"/>
              </a:rPr>
              <a:t>Colocar el link de los recursos en el nombre de cada uno, así son autocontenidos y transparentes. </a:t>
            </a:r>
            <a:endParaRPr b="1">
              <a:solidFill>
                <a:schemeClr val="dk1"/>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que los estudiantes puedan explorar en sus casas los recursos vistos en clase: libros, artículos, herramientas, websites, videos (ajenos a Coder)</a:t>
            </a:r>
            <a:endParaRPr>
              <a:solidFill>
                <a:schemeClr val="dk1"/>
              </a:solidFill>
              <a:latin typeface="DM Sans"/>
              <a:ea typeface="DM Sans"/>
              <a:cs typeface="DM Sans"/>
              <a:sym typeface="DM Sans"/>
            </a:endParaRPr>
          </a:p>
          <a:p>
            <a:pPr marL="0" lvl="0" indent="0" algn="l" rtl="0">
              <a:lnSpc>
                <a:spcPct val="100000"/>
              </a:lnSpc>
              <a:spcBef>
                <a:spcPts val="0"/>
              </a:spcBef>
              <a:spcAft>
                <a:spcPts val="0"/>
              </a:spcAft>
              <a:buSzPts val="1100"/>
              <a:buNone/>
            </a:pPr>
            <a:r>
              <a:rPr lang="es">
                <a:solidFill>
                  <a:schemeClr val="dk1"/>
                </a:solidFill>
                <a:latin typeface="DM Sans"/>
                <a:ea typeface="DM Sans"/>
                <a:cs typeface="DM Sans"/>
                <a:sym typeface="DM Sans"/>
              </a:rPr>
              <a:t>Enviar el contenido a integrar a </a:t>
            </a:r>
            <a:r>
              <a:rPr lang="es" u="sng">
                <a:solidFill>
                  <a:schemeClr val="hlink"/>
                </a:solidFill>
                <a:latin typeface="DM Sans"/>
                <a:ea typeface="DM Sans"/>
                <a:cs typeface="DM Sans"/>
                <a:sym typeface="DM Sans"/>
                <a:hlinkClick r:id="rId3"/>
              </a:rPr>
              <a:t>contenidos@coderhouse.com</a:t>
            </a:r>
            <a:r>
              <a:rPr lang="es">
                <a:solidFill>
                  <a:schemeClr val="dk1"/>
                </a:solidFill>
                <a:latin typeface="DM Sans"/>
                <a:ea typeface="DM Sans"/>
                <a:cs typeface="DM Sans"/>
                <a:sym typeface="DM Sans"/>
              </a:rPr>
              <a:t> para que lo podamos incluir en el Repositorio.</a:t>
            </a:r>
            <a:endParaRPr>
              <a:solidFill>
                <a:schemeClr val="dk1"/>
              </a:solidFill>
              <a:latin typeface="DM Sans"/>
              <a:ea typeface="DM Sans"/>
              <a:cs typeface="DM Sans"/>
              <a:sym typeface="DM Sans"/>
            </a:endParaRPr>
          </a:p>
          <a:p>
            <a:pPr marL="0" lvl="0" indent="0" algn="l" rtl="0">
              <a:lnSpc>
                <a:spcPct val="100000"/>
              </a:lnSpc>
              <a:spcBef>
                <a:spcPts val="0"/>
              </a:spcBef>
              <a:spcAft>
                <a:spcPts val="0"/>
              </a:spcAft>
              <a:buSzPts val="1100"/>
              <a:buNone/>
            </a:pPr>
            <a:endParaRPr>
              <a:solidFill>
                <a:schemeClr val="dk1"/>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b="1">
                <a:solidFill>
                  <a:schemeClr val="accent1"/>
                </a:solidFill>
                <a:latin typeface="DM Sans"/>
                <a:ea typeface="DM Sans"/>
                <a:cs typeface="DM Sans"/>
                <a:sym typeface="DM Sans"/>
              </a:rPr>
              <a:t>El material recomendado es únicamente a modo de sugerencia.</a:t>
            </a:r>
            <a:br>
              <a:rPr lang="es" b="1">
                <a:solidFill>
                  <a:schemeClr val="accent1"/>
                </a:solidFill>
                <a:latin typeface="DM Sans"/>
                <a:ea typeface="DM Sans"/>
                <a:cs typeface="DM Sans"/>
                <a:sym typeface="DM Sans"/>
              </a:rPr>
            </a:br>
            <a:r>
              <a:rPr lang="es" b="1">
                <a:solidFill>
                  <a:schemeClr val="accent1"/>
                </a:solidFill>
                <a:latin typeface="DM Sans"/>
                <a:ea typeface="DM Sans"/>
                <a:cs typeface="DM Sans"/>
                <a:sym typeface="DM Sans"/>
              </a:rPr>
              <a:t>Coderhouse no brinda este material por estar sujeto a derechos de autor.</a:t>
            </a:r>
            <a:endParaRPr>
              <a:solidFill>
                <a:schemeClr val="accent1"/>
              </a:solidFill>
              <a:latin typeface="DM Sans"/>
              <a:ea typeface="DM Sans"/>
              <a:cs typeface="DM Sans"/>
              <a:sym typeface="DM San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p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6" name="Google Shape;516;p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Obligatoria. Se sugiere ubicar al finalizar la explicación de algún tema, para abrir formalmente el espacio de preguntas y ordenar la interacción.</a:t>
            </a:r>
            <a:endParaRPr>
              <a:latin typeface="DM Sans"/>
              <a:ea typeface="DM Sans"/>
              <a:cs typeface="DM Sans"/>
              <a:sym typeface="DM San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p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1" name="Google Shape;521;p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Obligatoria siempre. Completar el resumen con palabras claves de lo visto. En caso de cerrar con el “mapa de conceptos” se puede sacar. </a:t>
            </a:r>
            <a:endParaRPr>
              <a:latin typeface="DM Sans"/>
              <a:ea typeface="DM Sans"/>
              <a:cs typeface="DM Sans"/>
              <a:sym typeface="DM San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p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7" name="Google Shape;527;p8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Obligatoria siempre.</a:t>
            </a:r>
            <a:endParaRPr>
              <a:latin typeface="DM Sans"/>
              <a:ea typeface="DM Sans"/>
              <a:cs typeface="DM Sans"/>
              <a:sym typeface="DM San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p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2" name="Google Shape;532;p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Todas las clases</a:t>
            </a:r>
            <a:endParaRPr>
              <a:latin typeface="DM Sans"/>
              <a:ea typeface="DM Sans"/>
              <a:cs typeface="DM Sans"/>
              <a:sym typeface="DM Sans"/>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02-A">
  <p:cSld name="SECTION_HEADER_1_1_1_1_1_1_1_1_1_1">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02-B">
  <p:cSld name="SECTION_HEADER_1">
    <p:bg>
      <p:bgPr>
        <a:blipFill>
          <a:blip r:embed="rId2">
            <a:alphaModFix/>
          </a:blip>
          <a:stretch>
            <a:fillRect/>
          </a:stretch>
        </a:blipFill>
        <a:effectLst/>
      </p:bgPr>
    </p:bg>
    <p:spTree>
      <p:nvGrpSpPr>
        <p:cNvPr id="1" name="Shape 11"/>
        <p:cNvGrpSpPr/>
        <p:nvPr/>
      </p:nvGrpSpPr>
      <p:grpSpPr>
        <a:xfrm>
          <a:off x="0" y="0"/>
          <a:ext cx="0" cy="0"/>
          <a:chOff x="0" y="0"/>
          <a:chExt cx="0" cy="0"/>
        </a:xfrm>
      </p:grpSpPr>
      <p:pic>
        <p:nvPicPr>
          <p:cNvPr id="12" name="Google Shape;12;p3" title="logo coderhouse"/>
          <p:cNvPicPr preferRelativeResize="0"/>
          <p:nvPr/>
        </p:nvPicPr>
        <p:blipFill rotWithShape="1">
          <a:blip r:embed="rId3">
            <a:alphaModFix/>
          </a:blip>
          <a:srcRect/>
          <a:stretch/>
        </p:blipFill>
        <p:spPr>
          <a:xfrm>
            <a:off x="7874775" y="4720250"/>
            <a:ext cx="1024025" cy="2116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Fondo blanco">
  <p:cSld name="SECTION_HEADER_1_1_1_1_1_1_1_1">
    <p:spTree>
      <p:nvGrpSpPr>
        <p:cNvPr id="1" name="Shape 13"/>
        <p:cNvGrpSpPr/>
        <p:nvPr/>
      </p:nvGrpSpPr>
      <p:grpSpPr>
        <a:xfrm>
          <a:off x="0" y="0"/>
          <a:ext cx="0" cy="0"/>
          <a:chOff x="0" y="0"/>
          <a:chExt cx="0" cy="0"/>
        </a:xfrm>
      </p:grpSpPr>
      <p:pic>
        <p:nvPicPr>
          <p:cNvPr id="14" name="Google Shape;14;p4" title="logo coderhouse"/>
          <p:cNvPicPr preferRelativeResize="0"/>
          <p:nvPr/>
        </p:nvPicPr>
        <p:blipFill rotWithShape="1">
          <a:blip r:embed="rId2">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03-A">
  <p:cSld name="SECTION_HEADER_1_1">
    <p:bg>
      <p:bgPr>
        <a:blipFill>
          <a:blip r:embed="rId2">
            <a:alphaModFix/>
          </a:blip>
          <a:stretch>
            <a:fillRect/>
          </a:stretch>
        </a:blipFill>
        <a:effectLst/>
      </p:bgPr>
    </p:bg>
    <p:spTree>
      <p:nvGrpSpPr>
        <p:cNvPr id="1" name="Shape 15"/>
        <p:cNvGrpSpPr/>
        <p:nvPr/>
      </p:nvGrpSpPr>
      <p:grpSpPr>
        <a:xfrm>
          <a:off x="0" y="0"/>
          <a:ext cx="0" cy="0"/>
          <a:chOff x="0" y="0"/>
          <a:chExt cx="0" cy="0"/>
        </a:xfrm>
      </p:grpSpPr>
      <p:pic>
        <p:nvPicPr>
          <p:cNvPr id="16" name="Google Shape;16;p5"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 imagen">
  <p:cSld name="SECTION_HEADER_1_1_1_1_1_1_1">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6"/>
          <p:cNvSpPr/>
          <p:nvPr/>
        </p:nvSpPr>
        <p:spPr>
          <a:xfrm>
            <a:off x="6592475" y="0"/>
            <a:ext cx="2551500" cy="51435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9" name="Google Shape;19;p6"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rátula 1">
  <p:cSld name="SECTION_HEADER_1_1_1">
    <p:bg>
      <p:bgPr>
        <a:blipFill>
          <a:blip r:embed="rId2">
            <a:alphaModFix/>
          </a:blip>
          <a:stretch>
            <a:fillRect/>
          </a:stretch>
        </a:blipFill>
        <a:effectLst/>
      </p:bgPr>
    </p:bg>
    <p:spTree>
      <p:nvGrpSpPr>
        <p:cNvPr id="1" name="Shape 20"/>
        <p:cNvGrpSpPr/>
        <p:nvPr/>
      </p:nvGrpSpPr>
      <p:grpSpPr>
        <a:xfrm>
          <a:off x="0" y="0"/>
          <a:ext cx="0" cy="0"/>
          <a:chOff x="0" y="0"/>
          <a:chExt cx="0" cy="0"/>
        </a:xfrm>
      </p:grpSpPr>
      <p:pic>
        <p:nvPicPr>
          <p:cNvPr id="21" name="Google Shape;21;p7"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03-B">
  <p:cSld name="SECTION_HEADER_1_1_1_1_1_1_1_1_1">
    <p:bg>
      <p:bgPr>
        <a:blipFill>
          <a:blip r:embed="rId2">
            <a:alphaModFix/>
          </a:blip>
          <a:stretch>
            <a:fillRect/>
          </a:stretch>
        </a:blipFill>
        <a:effectLst/>
      </p:bgPr>
    </p:bg>
    <p:spTree>
      <p:nvGrpSpPr>
        <p:cNvPr id="1" name="Shape 22"/>
        <p:cNvGrpSpPr/>
        <p:nvPr/>
      </p:nvGrpSpPr>
      <p:grpSpPr>
        <a:xfrm>
          <a:off x="0" y="0"/>
          <a:ext cx="0" cy="0"/>
          <a:chOff x="0" y="0"/>
          <a:chExt cx="0" cy="0"/>
        </a:xfrm>
      </p:grpSpPr>
      <p:pic>
        <p:nvPicPr>
          <p:cNvPr id="23" name="Google Shape;23;p8"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rátula 2">
  <p:cSld name="SECTION_HEADER_1_1_1_1">
    <p:bg>
      <p:bgPr>
        <a:blipFill>
          <a:blip r:embed="rId2">
            <a:alphaModFix/>
          </a:blip>
          <a:stretch>
            <a:fillRect/>
          </a:stretch>
        </a:blipFill>
        <a:effectLst/>
      </p:bgPr>
    </p:bg>
    <p:spTree>
      <p:nvGrpSpPr>
        <p:cNvPr id="1" name="Shape 24"/>
        <p:cNvGrpSpPr/>
        <p:nvPr/>
      </p:nvGrpSpPr>
      <p:grpSpPr>
        <a:xfrm>
          <a:off x="0" y="0"/>
          <a:ext cx="0" cy="0"/>
          <a:chOff x="0" y="0"/>
          <a:chExt cx="0" cy="0"/>
        </a:xfrm>
      </p:grpSpPr>
      <p:pic>
        <p:nvPicPr>
          <p:cNvPr id="25" name="Google Shape;25;p9"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rátula 3">
  <p:cSld name="SECTION_HEADER_1_1_1_1_1">
    <p:bg>
      <p:bgPr>
        <a:blipFill>
          <a:blip r:embed="rId2">
            <a:alphaModFix/>
          </a:blip>
          <a:stretch>
            <a:fillRect/>
          </a:stretch>
        </a:blipFill>
        <a:effectLst/>
      </p:bgPr>
    </p:bg>
    <p:spTree>
      <p:nvGrpSpPr>
        <p:cNvPr id="1" name="Shape 26"/>
        <p:cNvGrpSpPr/>
        <p:nvPr/>
      </p:nvGrpSpPr>
      <p:grpSpPr>
        <a:xfrm>
          <a:off x="0" y="0"/>
          <a:ext cx="0" cy="0"/>
          <a:chOff x="0" y="0"/>
          <a:chExt cx="0" cy="0"/>
        </a:xfrm>
      </p:grpSpPr>
      <p:pic>
        <p:nvPicPr>
          <p:cNvPr id="27" name="Google Shape;27;p10"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uadro">
  <p:cSld name="SECTION_HEADER_1_1_1_1_1_1">
    <p:bg>
      <p:bgPr>
        <a:blipFill>
          <a:blip r:embed="rId2">
            <a:alphaModFix/>
          </a:blip>
          <a:stretch>
            <a:fillRect/>
          </a:stretch>
        </a:blipFill>
        <a:effectLst/>
      </p:bgPr>
    </p:bg>
    <p:spTree>
      <p:nvGrpSpPr>
        <p:cNvPr id="1" name="Shape 28"/>
        <p:cNvGrpSpPr/>
        <p:nvPr/>
      </p:nvGrpSpPr>
      <p:grpSpPr>
        <a:xfrm>
          <a:off x="0" y="0"/>
          <a:ext cx="0" cy="0"/>
          <a:chOff x="0" y="0"/>
          <a:chExt cx="0" cy="0"/>
        </a:xfrm>
      </p:grpSpPr>
      <p:pic>
        <p:nvPicPr>
          <p:cNvPr id="29" name="Google Shape;29;p11"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co 1" type="title">
  <p:cSld name="TITLE">
    <p:spTree>
      <p:nvGrpSpPr>
        <p:cNvPr id="1" name="Shape 30"/>
        <p:cNvGrpSpPr/>
        <p:nvPr/>
      </p:nvGrpSpPr>
      <p:grpSpPr>
        <a:xfrm>
          <a:off x="0" y="0"/>
          <a:ext cx="0" cy="0"/>
          <a:chOff x="0" y="0"/>
          <a:chExt cx="0" cy="0"/>
        </a:xfrm>
      </p:grpSpPr>
      <p:sp>
        <p:nvSpPr>
          <p:cNvPr id="31" name="Google Shape;31;p1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000"/>
              <a:buFont typeface="DM Sans"/>
              <a:buNone/>
              <a:defRPr sz="4000" b="1">
                <a:latin typeface="DM Sans"/>
                <a:ea typeface="DM Sans"/>
                <a:cs typeface="DM Sans"/>
                <a:sym typeface="DM Sans"/>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32" name="Google Shape;32;p1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000"/>
              <a:buFont typeface="Helvetica Neue Light"/>
              <a:buNone/>
              <a:defRPr sz="2000">
                <a:latin typeface="Helvetica Neue Light"/>
                <a:ea typeface="Helvetica Neue Light"/>
                <a:cs typeface="Helvetica Neue Light"/>
                <a:sym typeface="Helvetica Neue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pic>
        <p:nvPicPr>
          <p:cNvPr id="33" name="Google Shape;33;p12" title="logo CoderHouse"/>
          <p:cNvPicPr preferRelativeResize="0"/>
          <p:nvPr/>
        </p:nvPicPr>
        <p:blipFill rotWithShape="1">
          <a:blip r:embed="rId2">
            <a:alphaModFix/>
          </a:blip>
          <a:srcRect/>
          <a:stretch/>
        </p:blipFill>
        <p:spPr>
          <a:xfrm>
            <a:off x="7811413" y="4692275"/>
            <a:ext cx="1150750" cy="26757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entrenamiento-python-basico.readthedocs.io/es/latest/leccion9/errores.html"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hyperlink" Target="https://entrenamiento-python-basico.readthedocs.io/es/latest/leccion9/errores.html"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hyperlink" Target="https://entrenamiento-python-basico.readthedocs.io/es/latest/leccion9/errores.html"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0.xml"/><Relationship Id="rId4" Type="http://schemas.openxmlformats.org/officeDocument/2006/relationships/hyperlink" Target="https://entrenamiento-python-basico.readthedocs.io/es/latest/leccion9/errores.html"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hyperlink" Target="https://entrenamiento-python-basico.readthedocs.io/es/latest/leccion9/errores.html"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entrenamiento-python-basico.readthedocs.io/es/latest/leccion9/errores.html" TargetMode="External"/><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hyperlink" Target="https://entrenamiento-python-basico.readthedocs.io/es/latest/leccion9/errores.html" TargetMode="External"/><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0.xml"/><Relationship Id="rId4" Type="http://schemas.openxmlformats.org/officeDocument/2006/relationships/hyperlink" Target="https://entrenamiento-python-basico.readthedocs.io/es/latest/leccion9/errores.html"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0.xml"/><Relationship Id="rId4" Type="http://schemas.openxmlformats.org/officeDocument/2006/relationships/hyperlink" Target="https://entrenamiento-python-basico.readthedocs.io/es/latest/leccion9/errores.html"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0.xml"/><Relationship Id="rId5" Type="http://schemas.openxmlformats.org/officeDocument/2006/relationships/image" Target="../media/image17.png"/><Relationship Id="rId4" Type="http://schemas.openxmlformats.org/officeDocument/2006/relationships/hyperlink" Target="https://entrenamiento-python-basico.readthedocs.io/es/latest/leccion9/errores.html"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0.xml"/><Relationship Id="rId4" Type="http://schemas.openxmlformats.org/officeDocument/2006/relationships/hyperlink" Target="https://entrenamiento-python-basico.readthedocs.io/es/latest/leccion9/errores.html"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hyperlink" Target="https://entrenamiento-python-basico.readthedocs.io/es/latest/leccion9/errores.html"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10.xml"/><Relationship Id="rId4" Type="http://schemas.openxmlformats.org/officeDocument/2006/relationships/hyperlink" Target="https://entrenamiento-python-basico.readthedocs.io/es/latest/leccion9/errores.html"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entrenamiento-python-basico.readthedocs.io/es/latest/leccion9/errores.html" TargetMode="External"/><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10.xml"/><Relationship Id="rId5" Type="http://schemas.openxmlformats.org/officeDocument/2006/relationships/hyperlink" Target="https://www.thernandez.es/blog/2.html" TargetMode="External"/><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hyperlink" Target="https://www.thernandez.es/blog/2.html"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5.xml"/><Relationship Id="rId4" Type="http://schemas.openxmlformats.org/officeDocument/2006/relationships/hyperlink" Target="https://www.thernandez.es/blog/2.html"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5.xml"/><Relationship Id="rId4" Type="http://schemas.openxmlformats.org/officeDocument/2006/relationships/hyperlink" Target="https://www.thernandez.es/blog/2.html" TargetMode="Externa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5.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3.xml"/><Relationship Id="rId5" Type="http://schemas.openxmlformats.org/officeDocument/2006/relationships/hyperlink" Target="https://docs.google.com/document/d/1gpnG9qgo1xxXPyMWUkl13tTtYE_bQlui11Zb9icmEk8/edit?usp=sharing" TargetMode="External"/><Relationship Id="rId4" Type="http://schemas.openxmlformats.org/officeDocument/2006/relationships/image" Target="../media/image23.png"/></Relationships>
</file>

<file path=ppt/slides/_rels/slide4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8.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8" Type="http://schemas.openxmlformats.org/officeDocument/2006/relationships/hyperlink" Target="https://colab.research.google.com/drive/13Bo4fN5qwsDNy0u0c5K7zO8JOkQvo3-J?usp=sharing" TargetMode="External"/><Relationship Id="rId3" Type="http://schemas.openxmlformats.org/officeDocument/2006/relationships/image" Target="../media/image24.png"/><Relationship Id="rId7" Type="http://schemas.openxmlformats.org/officeDocument/2006/relationships/hyperlink" Target="https://entrenamiento-python-basico.readthedocs.io/es/latest/leccion9/exceptions.html" TargetMode="External"/><Relationship Id="rId2" Type="http://schemas.openxmlformats.org/officeDocument/2006/relationships/notesSlide" Target="../notesSlides/notesSlide49.xml"/><Relationship Id="rId1" Type="http://schemas.openxmlformats.org/officeDocument/2006/relationships/slideLayout" Target="../slideLayouts/slideLayout3.xml"/><Relationship Id="rId6" Type="http://schemas.openxmlformats.org/officeDocument/2006/relationships/hyperlink" Target="https://entrenamiento-python-basico.readthedocs.io/es/latest/leccion9/errores.html#definiendo-acciones-de-limpieza" TargetMode="External"/><Relationship Id="rId5" Type="http://schemas.openxmlformats.org/officeDocument/2006/relationships/hyperlink" Target="https://entrenamiento-python-basico.readthedocs.io/es/latest/leccion9/errores.html#manejando-excepciones" TargetMode="External"/><Relationship Id="rId4" Type="http://schemas.openxmlformats.org/officeDocument/2006/relationships/hyperlink" Target="https://entrenamiento-python-basico.readthedocs.io/es/latest/leccion9/errores.html" TargetMode="Externa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7"/>
          <p:cNvSpPr txBox="1"/>
          <p:nvPr/>
        </p:nvSpPr>
        <p:spPr>
          <a:xfrm>
            <a:off x="501450" y="468275"/>
            <a:ext cx="8141100" cy="6003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000"/>
              <a:buFont typeface="Arial"/>
              <a:buNone/>
            </a:pPr>
            <a:r>
              <a:rPr lang="es" sz="3000" b="1" i="0" u="none" strike="noStrike" cap="none">
                <a:solidFill>
                  <a:srgbClr val="EAFF6A"/>
                </a:solidFill>
                <a:latin typeface="DM Sans"/>
                <a:ea typeface="DM Sans"/>
                <a:cs typeface="DM Sans"/>
                <a:sym typeface="DM Sans"/>
              </a:rPr>
              <a:t>Objetivos de la clase</a:t>
            </a:r>
            <a:endParaRPr sz="3000" b="1" i="0" u="none" strike="noStrike" cap="none">
              <a:solidFill>
                <a:srgbClr val="EAFF6A"/>
              </a:solidFill>
              <a:latin typeface="DM Sans"/>
              <a:ea typeface="DM Sans"/>
              <a:cs typeface="DM Sans"/>
              <a:sym typeface="DM Sans"/>
            </a:endParaRPr>
          </a:p>
        </p:txBody>
      </p:sp>
      <p:pic>
        <p:nvPicPr>
          <p:cNvPr id="84" name="Google Shape;84;p17"/>
          <p:cNvPicPr preferRelativeResize="0"/>
          <p:nvPr/>
        </p:nvPicPr>
        <p:blipFill rotWithShape="1">
          <a:blip r:embed="rId3">
            <a:alphaModFix/>
          </a:blip>
          <a:srcRect/>
          <a:stretch/>
        </p:blipFill>
        <p:spPr>
          <a:xfrm>
            <a:off x="2172438" y="1545313"/>
            <a:ext cx="196975" cy="196975"/>
          </a:xfrm>
          <a:prstGeom prst="rect">
            <a:avLst/>
          </a:prstGeom>
          <a:noFill/>
          <a:ln>
            <a:noFill/>
          </a:ln>
        </p:spPr>
      </p:pic>
      <p:sp>
        <p:nvSpPr>
          <p:cNvPr id="85" name="Google Shape;85;p17"/>
          <p:cNvSpPr txBox="1"/>
          <p:nvPr/>
        </p:nvSpPr>
        <p:spPr>
          <a:xfrm>
            <a:off x="2690561" y="1451613"/>
            <a:ext cx="4281300" cy="60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b="1">
                <a:solidFill>
                  <a:schemeClr val="lt1"/>
                </a:solidFill>
                <a:latin typeface="DM Sans"/>
                <a:ea typeface="DM Sans"/>
                <a:cs typeface="DM Sans"/>
                <a:sym typeface="DM Sans"/>
              </a:rPr>
              <a:t>Identificar </a:t>
            </a:r>
            <a:r>
              <a:rPr lang="es" sz="1350">
                <a:solidFill>
                  <a:schemeClr val="lt1"/>
                </a:solidFill>
                <a:latin typeface="DM Sans"/>
                <a:ea typeface="DM Sans"/>
                <a:cs typeface="DM Sans"/>
                <a:sym typeface="DM Sans"/>
              </a:rPr>
              <a:t>las diferencias entre errores y excepciones. </a:t>
            </a:r>
            <a:endParaRPr sz="1350" b="0" i="0" u="none" strike="noStrike" cap="none">
              <a:solidFill>
                <a:schemeClr val="lt1"/>
              </a:solidFill>
              <a:latin typeface="DM Sans"/>
              <a:ea typeface="DM Sans"/>
              <a:cs typeface="DM Sans"/>
              <a:sym typeface="DM Sans"/>
            </a:endParaRPr>
          </a:p>
        </p:txBody>
      </p:sp>
      <p:pic>
        <p:nvPicPr>
          <p:cNvPr id="86" name="Google Shape;86;p17"/>
          <p:cNvPicPr preferRelativeResize="0"/>
          <p:nvPr/>
        </p:nvPicPr>
        <p:blipFill rotWithShape="1">
          <a:blip r:embed="rId3">
            <a:alphaModFix/>
          </a:blip>
          <a:srcRect/>
          <a:stretch/>
        </p:blipFill>
        <p:spPr>
          <a:xfrm>
            <a:off x="2172138" y="2178713"/>
            <a:ext cx="196975" cy="196975"/>
          </a:xfrm>
          <a:prstGeom prst="rect">
            <a:avLst/>
          </a:prstGeom>
          <a:noFill/>
          <a:ln>
            <a:noFill/>
          </a:ln>
        </p:spPr>
      </p:pic>
      <p:sp>
        <p:nvSpPr>
          <p:cNvPr id="87" name="Google Shape;87;p17"/>
          <p:cNvSpPr txBox="1"/>
          <p:nvPr/>
        </p:nvSpPr>
        <p:spPr>
          <a:xfrm>
            <a:off x="2690561" y="2054738"/>
            <a:ext cx="4281300" cy="392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b="1">
                <a:solidFill>
                  <a:schemeClr val="lt1"/>
                </a:solidFill>
                <a:latin typeface="DM Sans"/>
                <a:ea typeface="DM Sans"/>
                <a:cs typeface="DM Sans"/>
                <a:sym typeface="DM Sans"/>
              </a:rPr>
              <a:t>Utilizar </a:t>
            </a:r>
            <a:r>
              <a:rPr lang="es" sz="1350">
                <a:solidFill>
                  <a:schemeClr val="lt1"/>
                </a:solidFill>
                <a:latin typeface="DM Sans"/>
                <a:ea typeface="DM Sans"/>
                <a:cs typeface="DM Sans"/>
                <a:sym typeface="DM Sans"/>
              </a:rPr>
              <a:t>excepciones existentes.</a:t>
            </a:r>
            <a:endParaRPr sz="1350" b="0" i="0" u="none" strike="noStrike" cap="none">
              <a:solidFill>
                <a:schemeClr val="lt1"/>
              </a:solidFill>
              <a:latin typeface="DM Sans"/>
              <a:ea typeface="DM Sans"/>
              <a:cs typeface="DM Sans"/>
              <a:sym typeface="DM Sans"/>
            </a:endParaRPr>
          </a:p>
        </p:txBody>
      </p:sp>
      <p:pic>
        <p:nvPicPr>
          <p:cNvPr id="88" name="Google Shape;88;p17"/>
          <p:cNvPicPr preferRelativeResize="0"/>
          <p:nvPr/>
        </p:nvPicPr>
        <p:blipFill rotWithShape="1">
          <a:blip r:embed="rId3">
            <a:alphaModFix/>
          </a:blip>
          <a:srcRect/>
          <a:stretch/>
        </p:blipFill>
        <p:spPr>
          <a:xfrm>
            <a:off x="2172138" y="3009938"/>
            <a:ext cx="196975" cy="196975"/>
          </a:xfrm>
          <a:prstGeom prst="rect">
            <a:avLst/>
          </a:prstGeom>
          <a:noFill/>
          <a:ln>
            <a:noFill/>
          </a:ln>
        </p:spPr>
      </p:pic>
      <p:sp>
        <p:nvSpPr>
          <p:cNvPr id="89" name="Google Shape;89;p17"/>
          <p:cNvSpPr txBox="1"/>
          <p:nvPr/>
        </p:nvSpPr>
        <p:spPr>
          <a:xfrm>
            <a:off x="2690561" y="2912213"/>
            <a:ext cx="4281300" cy="392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b="1">
                <a:solidFill>
                  <a:schemeClr val="lt1"/>
                </a:solidFill>
                <a:latin typeface="DM Sans"/>
                <a:ea typeface="DM Sans"/>
                <a:cs typeface="DM Sans"/>
                <a:sym typeface="DM Sans"/>
              </a:rPr>
              <a:t>Crear </a:t>
            </a:r>
            <a:r>
              <a:rPr lang="es" sz="1350">
                <a:solidFill>
                  <a:schemeClr val="lt1"/>
                </a:solidFill>
                <a:latin typeface="DM Sans"/>
                <a:ea typeface="DM Sans"/>
                <a:cs typeface="DM Sans"/>
                <a:sym typeface="DM Sans"/>
              </a:rPr>
              <a:t>excepciones propias.</a:t>
            </a:r>
            <a:endParaRPr sz="1350" b="0" i="0" u="none" strike="noStrike" cap="none">
              <a:solidFill>
                <a:schemeClr val="lt1"/>
              </a:solidFill>
              <a:latin typeface="DM Sans"/>
              <a:ea typeface="DM Sans"/>
              <a:cs typeface="DM Sans"/>
              <a:sym typeface="DM Sans"/>
            </a:endParaRPr>
          </a:p>
        </p:txBody>
      </p:sp>
      <p:cxnSp>
        <p:nvCxnSpPr>
          <p:cNvPr id="90" name="Google Shape;90;p17"/>
          <p:cNvCxnSpPr>
            <a:stCxn id="84" idx="2"/>
            <a:endCxn id="86" idx="0"/>
          </p:cNvCxnSpPr>
          <p:nvPr/>
        </p:nvCxnSpPr>
        <p:spPr>
          <a:xfrm rot="-5400000" flipH="1">
            <a:off x="2052976" y="1960238"/>
            <a:ext cx="436500" cy="600"/>
          </a:xfrm>
          <a:prstGeom prst="bentConnector3">
            <a:avLst>
              <a:gd name="adj1" fmla="val 49991"/>
            </a:avLst>
          </a:prstGeom>
          <a:noFill/>
          <a:ln w="9525" cap="flat" cmpd="sng">
            <a:solidFill>
              <a:srgbClr val="EAFF6A"/>
            </a:solidFill>
            <a:prstDash val="solid"/>
            <a:round/>
            <a:headEnd type="none" w="sm" len="sm"/>
            <a:tailEnd type="none" w="sm" len="sm"/>
          </a:ln>
        </p:spPr>
      </p:cxnSp>
      <p:cxnSp>
        <p:nvCxnSpPr>
          <p:cNvPr id="91" name="Google Shape;91;p17"/>
          <p:cNvCxnSpPr>
            <a:stCxn id="86" idx="2"/>
            <a:endCxn id="88" idx="0"/>
          </p:cNvCxnSpPr>
          <p:nvPr/>
        </p:nvCxnSpPr>
        <p:spPr>
          <a:xfrm rot="-5400000" flipH="1">
            <a:off x="1953826" y="2692488"/>
            <a:ext cx="634200" cy="600"/>
          </a:xfrm>
          <a:prstGeom prst="bentConnector3">
            <a:avLst>
              <a:gd name="adj1" fmla="val 50004"/>
            </a:avLst>
          </a:prstGeom>
          <a:noFill/>
          <a:ln w="9525" cap="flat" cmpd="sng">
            <a:solidFill>
              <a:srgbClr val="EAFF6A"/>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p:nvPr/>
        </p:nvSpPr>
        <p:spPr>
          <a:xfrm>
            <a:off x="1461300" y="2202300"/>
            <a:ext cx="6221400" cy="7389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4000" b="1">
                <a:solidFill>
                  <a:schemeClr val="dk1"/>
                </a:solidFill>
                <a:latin typeface="DM Sans"/>
                <a:ea typeface="DM Sans"/>
                <a:cs typeface="DM Sans"/>
                <a:sym typeface="DM Sans"/>
              </a:rPr>
              <a:t>Errores y excepciones</a:t>
            </a:r>
            <a:endParaRPr sz="4000" b="1">
              <a:solidFill>
                <a:schemeClr val="dk1"/>
              </a:solidFill>
              <a:latin typeface="DM Sans"/>
              <a:ea typeface="DM Sans"/>
              <a:cs typeface="DM Sans"/>
              <a:sym typeface="DM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9"/>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a:solidFill>
                  <a:schemeClr val="dk1"/>
                </a:solidFill>
                <a:latin typeface="DM Sans"/>
                <a:ea typeface="DM Sans"/>
                <a:cs typeface="DM Sans"/>
                <a:sym typeface="DM Sans"/>
              </a:rPr>
              <a:t>Aprendiendo del error</a:t>
            </a:r>
            <a:endParaRPr sz="4000" b="1" i="0" u="none" strike="noStrike" cap="none">
              <a:solidFill>
                <a:schemeClr val="dk1"/>
              </a:solidFill>
              <a:latin typeface="DM Sans"/>
              <a:ea typeface="DM Sans"/>
              <a:cs typeface="DM Sans"/>
              <a:sym typeface="DM Sans"/>
            </a:endParaRPr>
          </a:p>
        </p:txBody>
      </p:sp>
      <p:sp>
        <p:nvSpPr>
          <p:cNvPr id="102" name="Google Shape;102;p19"/>
          <p:cNvSpPr txBox="1"/>
          <p:nvPr/>
        </p:nvSpPr>
        <p:spPr>
          <a:xfrm>
            <a:off x="473350" y="1908175"/>
            <a:ext cx="3834600" cy="2055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a:latin typeface="DM Sans"/>
                <a:ea typeface="DM Sans"/>
                <a:cs typeface="DM Sans"/>
                <a:sym typeface="DM Sans"/>
              </a:rPr>
              <a:t>En la programación, se aprende a base de equivocarse, por lo tanto, debemos tolerar nuestros propios fallos para poder avanzar.	 </a:t>
            </a:r>
            <a:endParaRPr sz="1350">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r>
              <a:rPr lang="es" sz="1350">
                <a:latin typeface="DM Sans"/>
                <a:ea typeface="DM Sans"/>
                <a:cs typeface="DM Sans"/>
                <a:sym typeface="DM Sans"/>
              </a:rPr>
              <a:t>Programar no es fácil, podemos equivocarnos desde la concepción de la idea o también al escribir código, para lo primero poco podemos hacer, ya que es algo que mejorará con la práctica. </a:t>
            </a:r>
            <a:endParaRPr sz="1350">
              <a:latin typeface="DM Sans"/>
              <a:ea typeface="DM Sans"/>
              <a:cs typeface="DM Sans"/>
              <a:sym typeface="DM Sans"/>
            </a:endParaRPr>
          </a:p>
        </p:txBody>
      </p:sp>
      <p:sp>
        <p:nvSpPr>
          <p:cNvPr id="103" name="Google Shape;103;p19"/>
          <p:cNvSpPr txBox="1"/>
          <p:nvPr/>
        </p:nvSpPr>
        <p:spPr>
          <a:xfrm>
            <a:off x="4527575" y="1908175"/>
            <a:ext cx="3834600" cy="808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b="1">
                <a:highlight>
                  <a:schemeClr val="accent4"/>
                </a:highlight>
                <a:latin typeface="DM Sans"/>
                <a:ea typeface="DM Sans"/>
                <a:cs typeface="DM Sans"/>
                <a:sym typeface="DM Sans"/>
              </a:rPr>
              <a:t>¡A programar se aprende programando y cometer errores es la prueba de que estás avanzando!</a:t>
            </a:r>
            <a:endParaRPr sz="1350" b="1" i="0" u="none" strike="noStrike" cap="none">
              <a:solidFill>
                <a:srgbClr val="000000"/>
              </a:solidFill>
              <a:highlight>
                <a:schemeClr val="accent4"/>
              </a:highlight>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0"/>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a:solidFill>
                  <a:schemeClr val="dk1"/>
                </a:solidFill>
                <a:latin typeface="DM Sans"/>
                <a:ea typeface="DM Sans"/>
                <a:cs typeface="DM Sans"/>
                <a:sym typeface="DM Sans"/>
              </a:rPr>
              <a:t>Errores y excepciones</a:t>
            </a:r>
            <a:endParaRPr sz="4000" b="1" i="0" u="none" strike="noStrike" cap="none">
              <a:solidFill>
                <a:schemeClr val="dk1"/>
              </a:solidFill>
              <a:latin typeface="DM Sans"/>
              <a:ea typeface="DM Sans"/>
              <a:cs typeface="DM Sans"/>
              <a:sym typeface="DM Sans"/>
            </a:endParaRPr>
          </a:p>
        </p:txBody>
      </p:sp>
      <p:sp>
        <p:nvSpPr>
          <p:cNvPr id="109" name="Google Shape;109;p20"/>
          <p:cNvSpPr txBox="1"/>
          <p:nvPr/>
        </p:nvSpPr>
        <p:spPr>
          <a:xfrm>
            <a:off x="473350" y="1908175"/>
            <a:ext cx="3834600" cy="1223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a:latin typeface="DM Sans"/>
                <a:ea typeface="DM Sans"/>
                <a:cs typeface="DM Sans"/>
                <a:sym typeface="DM Sans"/>
              </a:rPr>
              <a:t>Hasta ahora los mensajes de error no habían sido más que mencionados, pero si probaste los ejemplos probablemente hayas visto algunos. Hay (al menos) dos tipos diferentes de errores: errores de sintaxis y excepciones.</a:t>
            </a:r>
            <a:endParaRPr sz="1350">
              <a:latin typeface="DM Sans"/>
              <a:ea typeface="DM Sans"/>
              <a:cs typeface="DM Sans"/>
              <a:sym typeface="DM Sans"/>
            </a:endParaRPr>
          </a:p>
        </p:txBody>
      </p:sp>
      <p:sp>
        <p:nvSpPr>
          <p:cNvPr id="110" name="Google Shape;110;p20"/>
          <p:cNvSpPr txBox="1"/>
          <p:nvPr/>
        </p:nvSpPr>
        <p:spPr>
          <a:xfrm>
            <a:off x="4527575" y="1908175"/>
            <a:ext cx="3834600" cy="1015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b="1">
                <a:highlight>
                  <a:schemeClr val="accent4"/>
                </a:highlight>
                <a:latin typeface="DM Sans"/>
                <a:ea typeface="DM Sans"/>
                <a:cs typeface="DM Sans"/>
                <a:sym typeface="DM Sans"/>
              </a:rPr>
              <a:t>Cuando el programa falla ocasiona su detención, por lo cual tenemos que ser capaces de detectar por qué y cómo prevenir estas fallas.</a:t>
            </a:r>
            <a:endParaRPr sz="1350" b="1" i="0" u="none" strike="noStrike" cap="none">
              <a:solidFill>
                <a:srgbClr val="000000"/>
              </a:solidFill>
              <a:highlight>
                <a:schemeClr val="accent4"/>
              </a:highlight>
              <a:latin typeface="DM Sans"/>
              <a:ea typeface="DM Sans"/>
              <a:cs typeface="DM Sans"/>
              <a:sym typeface="DM Sans"/>
            </a:endParaRPr>
          </a:p>
        </p:txBody>
      </p:sp>
      <p:sp>
        <p:nvSpPr>
          <p:cNvPr id="111" name="Google Shape;111;p20"/>
          <p:cNvSpPr txBox="1"/>
          <p:nvPr/>
        </p:nvSpPr>
        <p:spPr>
          <a:xfrm>
            <a:off x="76200" y="4775375"/>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s" sz="1100" b="1" i="0" u="none" strike="noStrike" cap="none">
                <a:solidFill>
                  <a:srgbClr val="000000"/>
                </a:solidFill>
                <a:latin typeface="DM Sans"/>
                <a:ea typeface="DM Sans"/>
                <a:cs typeface="DM Sans"/>
                <a:sym typeface="DM Sans"/>
              </a:rPr>
              <a:t>Fuente</a:t>
            </a:r>
            <a:r>
              <a:rPr lang="es" sz="1100" i="0" u="none" strike="noStrike" cap="none">
                <a:solidFill>
                  <a:srgbClr val="000000"/>
                </a:solidFill>
                <a:latin typeface="DM Sans"/>
                <a:ea typeface="DM Sans"/>
                <a:cs typeface="DM Sans"/>
                <a:sym typeface="DM Sans"/>
              </a:rPr>
              <a:t>: </a:t>
            </a:r>
            <a:r>
              <a:rPr lang="es" sz="1100" i="0" u="sng" strike="noStrike" cap="none">
                <a:solidFill>
                  <a:srgbClr val="0563C1"/>
                </a:solidFill>
                <a:latin typeface="DM Sans"/>
                <a:ea typeface="DM Sans"/>
                <a:cs typeface="DM Sans"/>
                <a:sym typeface="DM Sans"/>
                <a:hlinkClick r:id="rId3">
                  <a:extLst>
                    <a:ext uri="{A12FA001-AC4F-418D-AE19-62706E023703}">
                      <ahyp:hlinkClr xmlns:ahyp="http://schemas.microsoft.com/office/drawing/2018/hyperlinkcolor" val="tx"/>
                    </a:ext>
                  </a:extLst>
                </a:hlinkClick>
              </a:rPr>
              <a:t>EntrenamientoPython</a:t>
            </a:r>
            <a:endParaRPr sz="1100" i="0" u="none" strike="noStrike" cap="none">
              <a:solidFill>
                <a:srgbClr val="000000"/>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53DC3067-D33C-E792-D531-26B736A4E7A1}"/>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1"/>
          <p:cNvSpPr txBox="1"/>
          <p:nvPr/>
        </p:nvSpPr>
        <p:spPr>
          <a:xfrm>
            <a:off x="1404863" y="2202300"/>
            <a:ext cx="6221400" cy="7389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4000" b="1">
                <a:solidFill>
                  <a:srgbClr val="EAFF6A"/>
                </a:solidFill>
                <a:latin typeface="DM Sans"/>
                <a:ea typeface="DM Sans"/>
                <a:cs typeface="DM Sans"/>
                <a:sym typeface="DM Sans"/>
              </a:rPr>
              <a:t>Errores</a:t>
            </a:r>
            <a:endParaRPr sz="4000" b="1">
              <a:solidFill>
                <a:srgbClr val="EAFF6A"/>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6A262769-6E19-33D9-70D8-C1A326527783}"/>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2"/>
          <p:cNvSpPr txBox="1"/>
          <p:nvPr/>
        </p:nvSpPr>
        <p:spPr>
          <a:xfrm>
            <a:off x="457725" y="1071050"/>
            <a:ext cx="4730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a:solidFill>
                  <a:schemeClr val="dk1"/>
                </a:solidFill>
                <a:latin typeface="DM Sans"/>
                <a:ea typeface="DM Sans"/>
                <a:cs typeface="DM Sans"/>
                <a:sym typeface="DM Sans"/>
              </a:rPr>
              <a:t>Errores</a:t>
            </a:r>
            <a:endParaRPr sz="4000" b="1" i="0" u="none" strike="noStrike" cap="none">
              <a:solidFill>
                <a:schemeClr val="dk1"/>
              </a:solidFill>
              <a:latin typeface="DM Sans"/>
              <a:ea typeface="DM Sans"/>
              <a:cs typeface="DM Sans"/>
              <a:sym typeface="DM Sans"/>
            </a:endParaRPr>
          </a:p>
        </p:txBody>
      </p:sp>
      <p:sp>
        <p:nvSpPr>
          <p:cNvPr id="122" name="Google Shape;122;p22"/>
          <p:cNvSpPr txBox="1"/>
          <p:nvPr/>
        </p:nvSpPr>
        <p:spPr>
          <a:xfrm>
            <a:off x="457725" y="2211625"/>
            <a:ext cx="4730100" cy="1639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a:latin typeface="DM Sans"/>
                <a:ea typeface="DM Sans"/>
                <a:cs typeface="DM Sans"/>
                <a:sym typeface="DM Sans"/>
              </a:rPr>
              <a:t>Si algo tienen la mayoría de lenguajes de programación es que son exigentes con las instrucciones. Cuando en nuestro programa ocurre algún fallo Python nos lanzará un aviso indicando que ocurrió y detendrá la ejecución.</a:t>
            </a:r>
            <a:endParaRPr sz="1350">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a:highlight>
                <a:schemeClr val="accent4"/>
              </a:highlight>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r>
              <a:rPr lang="es" sz="1350">
                <a:highlight>
                  <a:schemeClr val="accent4"/>
                </a:highlight>
                <a:latin typeface="DM Sans"/>
                <a:ea typeface="DM Sans"/>
                <a:cs typeface="DM Sans"/>
                <a:sym typeface="DM Sans"/>
              </a:rPr>
              <a:t>Los errores sintácticos están ligados a la sintaxis, que es la escritura de las instrucciones.</a:t>
            </a:r>
            <a:endParaRPr sz="1350">
              <a:highlight>
                <a:schemeClr val="accent4"/>
              </a:highlight>
              <a:latin typeface="DM Sans"/>
              <a:ea typeface="DM Sans"/>
              <a:cs typeface="DM Sans"/>
              <a:sym typeface="DM Sans"/>
            </a:endParaRPr>
          </a:p>
        </p:txBody>
      </p:sp>
      <p:pic>
        <p:nvPicPr>
          <p:cNvPr id="123" name="Google Shape;123;p22"/>
          <p:cNvPicPr preferRelativeResize="0"/>
          <p:nvPr/>
        </p:nvPicPr>
        <p:blipFill rotWithShape="1">
          <a:blip r:embed="rId3">
            <a:alphaModFix/>
          </a:blip>
          <a:srcRect/>
          <a:stretch/>
        </p:blipFill>
        <p:spPr>
          <a:xfrm>
            <a:off x="5574800" y="1648778"/>
            <a:ext cx="1928100" cy="1928100"/>
          </a:xfrm>
          <a:prstGeom prst="rect">
            <a:avLst/>
          </a:prstGeom>
          <a:noFill/>
          <a:ln>
            <a:noFill/>
          </a:ln>
        </p:spPr>
      </p:pic>
      <p:sp>
        <p:nvSpPr>
          <p:cNvPr id="124" name="Google Shape;124;p22"/>
          <p:cNvSpPr txBox="1"/>
          <p:nvPr/>
        </p:nvSpPr>
        <p:spPr>
          <a:xfrm>
            <a:off x="76200" y="4775375"/>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100"/>
              <a:buFont typeface="Arial"/>
              <a:buNone/>
            </a:pPr>
            <a:r>
              <a:rPr lang="es" sz="1100" b="1" i="0" u="none" strike="noStrike" cap="none">
                <a:solidFill>
                  <a:srgbClr val="000000"/>
                </a:solidFill>
                <a:latin typeface="DM Sans"/>
                <a:ea typeface="DM Sans"/>
                <a:cs typeface="DM Sans"/>
                <a:sym typeface="DM Sans"/>
              </a:rPr>
              <a:t>Fuente</a:t>
            </a:r>
            <a:r>
              <a:rPr lang="es" sz="1100" i="0" u="none" strike="noStrike" cap="none">
                <a:solidFill>
                  <a:srgbClr val="000000"/>
                </a:solidFill>
                <a:latin typeface="DM Sans"/>
                <a:ea typeface="DM Sans"/>
                <a:cs typeface="DM Sans"/>
                <a:sym typeface="DM Sans"/>
              </a:rPr>
              <a:t>: </a:t>
            </a:r>
            <a:r>
              <a:rPr lang="es" sz="1100" i="0" u="sng" strike="noStrike" cap="none">
                <a:solidFill>
                  <a:srgbClr val="0563C1"/>
                </a:solidFill>
                <a:latin typeface="DM Sans"/>
                <a:ea typeface="DM Sans"/>
                <a:cs typeface="DM Sans"/>
                <a:sym typeface="DM Sans"/>
                <a:hlinkClick r:id="rId4">
                  <a:extLst>
                    <a:ext uri="{A12FA001-AC4F-418D-AE19-62706E023703}">
                      <ahyp:hlinkClr xmlns:ahyp="http://schemas.microsoft.com/office/drawing/2018/hyperlinkcolor" val="tx"/>
                    </a:ext>
                  </a:extLst>
                </a:hlinkClick>
              </a:rPr>
              <a:t>EntrenamientoPython</a:t>
            </a:r>
            <a:endParaRPr sz="1100" i="0" u="none" strike="noStrike" cap="none">
              <a:solidFill>
                <a:srgbClr val="000000"/>
              </a:solidFill>
              <a:latin typeface="DM Sans"/>
              <a:ea typeface="DM Sans"/>
              <a:cs typeface="DM Sans"/>
              <a:sym typeface="DM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3"/>
          <p:cNvSpPr txBox="1"/>
          <p:nvPr/>
        </p:nvSpPr>
        <p:spPr>
          <a:xfrm>
            <a:off x="457725" y="1071050"/>
            <a:ext cx="53007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a:solidFill>
                  <a:schemeClr val="dk1"/>
                </a:solidFill>
                <a:latin typeface="DM Sans"/>
                <a:ea typeface="DM Sans"/>
                <a:cs typeface="DM Sans"/>
                <a:sym typeface="DM Sans"/>
              </a:rPr>
              <a:t>Errores sintácticos</a:t>
            </a:r>
            <a:endParaRPr sz="4000" b="1" i="0" u="none" strike="noStrike" cap="none">
              <a:solidFill>
                <a:schemeClr val="dk1"/>
              </a:solidFill>
              <a:latin typeface="DM Sans"/>
              <a:ea typeface="DM Sans"/>
              <a:cs typeface="DM Sans"/>
              <a:sym typeface="DM Sans"/>
            </a:endParaRPr>
          </a:p>
        </p:txBody>
      </p:sp>
      <p:sp>
        <p:nvSpPr>
          <p:cNvPr id="130" name="Google Shape;130;p23"/>
          <p:cNvSpPr txBox="1"/>
          <p:nvPr/>
        </p:nvSpPr>
        <p:spPr>
          <a:xfrm>
            <a:off x="457725" y="2211625"/>
            <a:ext cx="4730100" cy="1639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a:latin typeface="DM Sans"/>
                <a:ea typeface="DM Sans"/>
                <a:cs typeface="DM Sans"/>
                <a:sym typeface="DM Sans"/>
              </a:rPr>
              <a:t>Algunos de los errores sintácticos más comunes: </a:t>
            </a:r>
            <a:endParaRPr sz="1350">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Cerrar paréntesis</a:t>
            </a:r>
            <a:endParaRPr sz="1350">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Cerrar comillas o utilizar distintas comillas al abrir y cerrar</a:t>
            </a:r>
            <a:endParaRPr sz="1350">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Tabular mal el código</a:t>
            </a:r>
            <a:endParaRPr sz="1350">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No poner dos puntos al definir una función</a:t>
            </a:r>
            <a:endParaRPr sz="1350">
              <a:latin typeface="DM Sans"/>
              <a:ea typeface="DM Sans"/>
              <a:cs typeface="DM Sans"/>
              <a:sym typeface="DM Sans"/>
            </a:endParaRPr>
          </a:p>
        </p:txBody>
      </p:sp>
      <p:pic>
        <p:nvPicPr>
          <p:cNvPr id="131" name="Google Shape;131;p23"/>
          <p:cNvPicPr preferRelativeResize="0"/>
          <p:nvPr/>
        </p:nvPicPr>
        <p:blipFill rotWithShape="1">
          <a:blip r:embed="rId3">
            <a:alphaModFix/>
          </a:blip>
          <a:srcRect/>
          <a:stretch/>
        </p:blipFill>
        <p:spPr>
          <a:xfrm>
            <a:off x="5672400" y="2067178"/>
            <a:ext cx="1928100" cy="1928100"/>
          </a:xfrm>
          <a:prstGeom prst="rect">
            <a:avLst/>
          </a:prstGeom>
          <a:noFill/>
          <a:ln>
            <a:noFill/>
          </a:ln>
        </p:spPr>
      </p:pic>
      <p:sp>
        <p:nvSpPr>
          <p:cNvPr id="132" name="Google Shape;132;p23"/>
          <p:cNvSpPr txBox="1"/>
          <p:nvPr/>
        </p:nvSpPr>
        <p:spPr>
          <a:xfrm>
            <a:off x="76200" y="4775375"/>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100"/>
              <a:buFont typeface="Arial"/>
              <a:buNone/>
            </a:pPr>
            <a:r>
              <a:rPr lang="es" sz="1100" b="1" i="0" u="none" strike="noStrike" cap="none">
                <a:solidFill>
                  <a:srgbClr val="000000"/>
                </a:solidFill>
                <a:latin typeface="DM Sans"/>
                <a:ea typeface="DM Sans"/>
                <a:cs typeface="DM Sans"/>
                <a:sym typeface="DM Sans"/>
              </a:rPr>
              <a:t>Fuente</a:t>
            </a:r>
            <a:r>
              <a:rPr lang="es" sz="1100" i="0" u="none" strike="noStrike" cap="none">
                <a:solidFill>
                  <a:srgbClr val="000000"/>
                </a:solidFill>
                <a:latin typeface="DM Sans"/>
                <a:ea typeface="DM Sans"/>
                <a:cs typeface="DM Sans"/>
                <a:sym typeface="DM Sans"/>
              </a:rPr>
              <a:t>: </a:t>
            </a:r>
            <a:r>
              <a:rPr lang="es" sz="1100" i="0" u="sng" strike="noStrike" cap="none">
                <a:solidFill>
                  <a:srgbClr val="0563C1"/>
                </a:solidFill>
                <a:latin typeface="DM Sans"/>
                <a:ea typeface="DM Sans"/>
                <a:cs typeface="DM Sans"/>
                <a:sym typeface="DM Sans"/>
                <a:hlinkClick r:id="rId4">
                  <a:extLst>
                    <a:ext uri="{A12FA001-AC4F-418D-AE19-62706E023703}">
                      <ahyp:hlinkClr xmlns:ahyp="http://schemas.microsoft.com/office/drawing/2018/hyperlinkcolor" val="tx"/>
                    </a:ext>
                  </a:extLst>
                </a:hlinkClick>
              </a:rPr>
              <a:t>EntrenamientoPython</a:t>
            </a:r>
            <a:endParaRPr sz="1100" i="0" u="none" strike="noStrike" cap="none">
              <a:solidFill>
                <a:srgbClr val="000000"/>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B0821C83-5D1F-DDFC-8D32-F03DCA1797B5}"/>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4"/>
          <p:cNvSpPr/>
          <p:nvPr/>
        </p:nvSpPr>
        <p:spPr>
          <a:xfrm>
            <a:off x="647400" y="1189150"/>
            <a:ext cx="7849200" cy="33174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 name="Google Shape;138;p24"/>
          <p:cNvSpPr txBox="1"/>
          <p:nvPr/>
        </p:nvSpPr>
        <p:spPr>
          <a:xfrm>
            <a:off x="1461300" y="345975"/>
            <a:ext cx="6221400" cy="6696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3500"/>
              <a:buFont typeface="Arial"/>
              <a:buNone/>
            </a:pPr>
            <a:r>
              <a:rPr lang="es" sz="3500" b="1">
                <a:solidFill>
                  <a:schemeClr val="lt1"/>
                </a:solidFill>
                <a:latin typeface="DM Sans"/>
                <a:ea typeface="DM Sans"/>
                <a:cs typeface="DM Sans"/>
                <a:sym typeface="DM Sans"/>
              </a:rPr>
              <a:t>Errores sintácticos</a:t>
            </a:r>
            <a:endParaRPr sz="3500" b="1" i="0" u="none" strike="noStrike" cap="none">
              <a:solidFill>
                <a:schemeClr val="lt1"/>
              </a:solidFill>
              <a:latin typeface="DM Sans"/>
              <a:ea typeface="DM Sans"/>
              <a:cs typeface="DM Sans"/>
              <a:sym typeface="DM Sans"/>
            </a:endParaRPr>
          </a:p>
        </p:txBody>
      </p:sp>
      <p:grpSp>
        <p:nvGrpSpPr>
          <p:cNvPr id="139" name="Google Shape;139;p24"/>
          <p:cNvGrpSpPr/>
          <p:nvPr/>
        </p:nvGrpSpPr>
        <p:grpSpPr>
          <a:xfrm>
            <a:off x="8212626" y="215723"/>
            <a:ext cx="738900" cy="738900"/>
            <a:chOff x="473351" y="619523"/>
            <a:chExt cx="738900" cy="738900"/>
          </a:xfrm>
        </p:grpSpPr>
        <p:sp>
          <p:nvSpPr>
            <p:cNvPr id="140" name="Google Shape;140;p24"/>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41" name="Google Shape;141;p24"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sp>
        <p:nvSpPr>
          <p:cNvPr id="142" name="Google Shape;142;p24"/>
          <p:cNvSpPr txBox="1"/>
          <p:nvPr/>
        </p:nvSpPr>
        <p:spPr>
          <a:xfrm>
            <a:off x="959975" y="1373375"/>
            <a:ext cx="4520100" cy="2171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1350">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endParaRPr sz="1350">
              <a:solidFill>
                <a:schemeClr val="dk1"/>
              </a:solidFill>
              <a:latin typeface="DM Sans"/>
              <a:ea typeface="DM Sans"/>
              <a:cs typeface="DM Sans"/>
              <a:sym typeface="DM Sans"/>
            </a:endParaRPr>
          </a:p>
          <a:p>
            <a:pPr marL="0" lvl="0" indent="0" algn="l" rtl="0">
              <a:lnSpc>
                <a:spcPct val="150000"/>
              </a:lnSpc>
              <a:spcBef>
                <a:spcPts val="0"/>
              </a:spcBef>
              <a:spcAft>
                <a:spcPts val="0"/>
              </a:spcAft>
              <a:buClr>
                <a:schemeClr val="dk1"/>
              </a:buClr>
              <a:buSzPts val="1100"/>
              <a:buFont typeface="Arial"/>
              <a:buNone/>
            </a:pPr>
            <a:r>
              <a:rPr lang="es">
                <a:solidFill>
                  <a:srgbClr val="770000"/>
                </a:solidFill>
                <a:highlight>
                  <a:srgbClr val="EAFF6A"/>
                </a:highlight>
                <a:latin typeface="Helvetica Neue"/>
                <a:ea typeface="Helvetica Neue"/>
                <a:cs typeface="Helvetica Neue"/>
                <a:sym typeface="Helvetica Neue"/>
              </a:rPr>
              <a:t>&gt;&gt;&gt;</a:t>
            </a:r>
            <a:r>
              <a:rPr lang="es">
                <a:solidFill>
                  <a:schemeClr val="dk1"/>
                </a:solidFill>
                <a:highlight>
                  <a:srgbClr val="EAFF6A"/>
                </a:highlight>
                <a:latin typeface="Helvetica Neue"/>
                <a:ea typeface="Helvetica Neue"/>
                <a:cs typeface="Helvetica Neue"/>
                <a:sym typeface="Helvetica Neue"/>
              </a:rPr>
              <a:t> </a:t>
            </a:r>
            <a:r>
              <a:rPr lang="es">
                <a:solidFill>
                  <a:srgbClr val="0D904F"/>
                </a:solidFill>
                <a:highlight>
                  <a:srgbClr val="EAFF6A"/>
                </a:highlight>
                <a:latin typeface="Helvetica Neue"/>
                <a:ea typeface="Helvetica Neue"/>
                <a:cs typeface="Helvetica Neue"/>
                <a:sym typeface="Helvetica Neue"/>
              </a:rPr>
              <a:t>print</a:t>
            </a:r>
            <a:r>
              <a:rPr lang="es">
                <a:solidFill>
                  <a:schemeClr val="dk1"/>
                </a:solidFill>
                <a:highlight>
                  <a:srgbClr val="EAFF6A"/>
                </a:highlight>
                <a:latin typeface="Helvetica Neue"/>
                <a:ea typeface="Helvetica Neue"/>
                <a:cs typeface="Helvetica Neue"/>
                <a:sym typeface="Helvetica Neue"/>
              </a:rPr>
              <a:t>(“Hola”</a:t>
            </a:r>
            <a:endParaRPr>
              <a:solidFill>
                <a:schemeClr val="dk1"/>
              </a:solidFill>
              <a:highlight>
                <a:srgbClr val="EAFF6A"/>
              </a:highlight>
              <a:latin typeface="Helvetica Neue"/>
              <a:ea typeface="Helvetica Neue"/>
              <a:cs typeface="Helvetica Neue"/>
              <a:sym typeface="Helvetica Neue"/>
            </a:endParaRPr>
          </a:p>
          <a:p>
            <a:pPr marL="0" lvl="0" indent="0" algn="l" rtl="0">
              <a:lnSpc>
                <a:spcPct val="150000"/>
              </a:lnSpc>
              <a:spcBef>
                <a:spcPts val="0"/>
              </a:spcBef>
              <a:spcAft>
                <a:spcPts val="0"/>
              </a:spcAft>
              <a:buClr>
                <a:schemeClr val="dk1"/>
              </a:buClr>
              <a:buSzPts val="1100"/>
              <a:buFont typeface="Arial"/>
              <a:buNone/>
            </a:pPr>
            <a:r>
              <a:rPr lang="es">
                <a:solidFill>
                  <a:srgbClr val="FF0000"/>
                </a:solidFill>
                <a:highlight>
                  <a:srgbClr val="EAFF6A"/>
                </a:highlight>
                <a:latin typeface="Helvetica Neue"/>
                <a:ea typeface="Helvetica Neue"/>
                <a:cs typeface="Helvetica Neue"/>
                <a:sym typeface="Helvetica Neue"/>
              </a:rPr>
              <a:t>File "&lt;ipython-input-1-8bc9f5174855&gt;", line 1</a:t>
            </a:r>
            <a:endParaRPr>
              <a:solidFill>
                <a:srgbClr val="FF0000"/>
              </a:solidFill>
              <a:highlight>
                <a:srgbClr val="EAFF6A"/>
              </a:highlight>
              <a:latin typeface="Helvetica Neue"/>
              <a:ea typeface="Helvetica Neue"/>
              <a:cs typeface="Helvetica Neue"/>
              <a:sym typeface="Helvetica Neue"/>
            </a:endParaRPr>
          </a:p>
          <a:p>
            <a:pPr marL="0" lvl="0" indent="0" algn="l" rtl="0">
              <a:lnSpc>
                <a:spcPct val="150000"/>
              </a:lnSpc>
              <a:spcBef>
                <a:spcPts val="0"/>
              </a:spcBef>
              <a:spcAft>
                <a:spcPts val="0"/>
              </a:spcAft>
              <a:buClr>
                <a:schemeClr val="dk1"/>
              </a:buClr>
              <a:buSzPts val="1100"/>
              <a:buFont typeface="Arial"/>
              <a:buNone/>
            </a:pPr>
            <a:r>
              <a:rPr lang="es">
                <a:solidFill>
                  <a:srgbClr val="FF0000"/>
                </a:solidFill>
                <a:highlight>
                  <a:srgbClr val="EAFF6A"/>
                </a:highlight>
                <a:latin typeface="Helvetica Neue"/>
                <a:ea typeface="Helvetica Neue"/>
                <a:cs typeface="Helvetica Neue"/>
                <a:sym typeface="Helvetica Neue"/>
              </a:rPr>
              <a:t>    print("Hola"</a:t>
            </a:r>
            <a:endParaRPr>
              <a:solidFill>
                <a:srgbClr val="FF0000"/>
              </a:solidFill>
              <a:highlight>
                <a:srgbClr val="EAFF6A"/>
              </a:highlight>
              <a:latin typeface="Helvetica Neue"/>
              <a:ea typeface="Helvetica Neue"/>
              <a:cs typeface="Helvetica Neue"/>
              <a:sym typeface="Helvetica Neue"/>
            </a:endParaRPr>
          </a:p>
          <a:p>
            <a:pPr marL="0" lvl="0" indent="0" algn="l" rtl="0">
              <a:lnSpc>
                <a:spcPct val="150000"/>
              </a:lnSpc>
              <a:spcBef>
                <a:spcPts val="0"/>
              </a:spcBef>
              <a:spcAft>
                <a:spcPts val="0"/>
              </a:spcAft>
              <a:buClr>
                <a:schemeClr val="dk1"/>
              </a:buClr>
              <a:buSzPts val="1100"/>
              <a:buFont typeface="Arial"/>
              <a:buNone/>
            </a:pPr>
            <a:r>
              <a:rPr lang="es">
                <a:solidFill>
                  <a:srgbClr val="FF0000"/>
                </a:solidFill>
                <a:highlight>
                  <a:srgbClr val="EAFF6A"/>
                </a:highlight>
                <a:latin typeface="Helvetica Neue"/>
                <a:ea typeface="Helvetica Neue"/>
                <a:cs typeface="Helvetica Neue"/>
                <a:sym typeface="Helvetica Neue"/>
              </a:rPr>
              <a:t>                ^</a:t>
            </a:r>
            <a:endParaRPr>
              <a:solidFill>
                <a:srgbClr val="FF0000"/>
              </a:solidFill>
              <a:highlight>
                <a:srgbClr val="EAFF6A"/>
              </a:highlight>
              <a:latin typeface="Helvetica Neue"/>
              <a:ea typeface="Helvetica Neue"/>
              <a:cs typeface="Helvetica Neue"/>
              <a:sym typeface="Helvetica Neue"/>
            </a:endParaRPr>
          </a:p>
          <a:p>
            <a:pPr marL="0" lvl="0" indent="0" algn="l" rtl="0">
              <a:lnSpc>
                <a:spcPct val="150000"/>
              </a:lnSpc>
              <a:spcBef>
                <a:spcPts val="0"/>
              </a:spcBef>
              <a:spcAft>
                <a:spcPts val="0"/>
              </a:spcAft>
              <a:buClr>
                <a:schemeClr val="dk1"/>
              </a:buClr>
              <a:buSzPts val="1100"/>
              <a:buFont typeface="Arial"/>
              <a:buNone/>
            </a:pPr>
            <a:r>
              <a:rPr lang="es" b="1">
                <a:solidFill>
                  <a:srgbClr val="FF0000"/>
                </a:solidFill>
                <a:highlight>
                  <a:srgbClr val="EAFF6A"/>
                </a:highlight>
                <a:latin typeface="Helvetica Neue"/>
                <a:ea typeface="Helvetica Neue"/>
                <a:cs typeface="Helvetica Neue"/>
                <a:sym typeface="Helvetica Neue"/>
              </a:rPr>
              <a:t>SyntaxError:</a:t>
            </a:r>
            <a:r>
              <a:rPr lang="es">
                <a:solidFill>
                  <a:srgbClr val="FF0000"/>
                </a:solidFill>
                <a:highlight>
                  <a:srgbClr val="EAFF6A"/>
                </a:highlight>
                <a:latin typeface="Helvetica Neue"/>
                <a:ea typeface="Helvetica Neue"/>
                <a:cs typeface="Helvetica Neue"/>
                <a:sym typeface="Helvetica Neue"/>
              </a:rPr>
              <a:t> unexpected EOF while parsing</a:t>
            </a:r>
            <a:endParaRPr sz="1350">
              <a:solidFill>
                <a:schemeClr val="dk1"/>
              </a:solidFill>
              <a:highlight>
                <a:srgbClr val="EAFF6A"/>
              </a:highlight>
              <a:latin typeface="DM Sans"/>
              <a:ea typeface="DM Sans"/>
              <a:cs typeface="DM Sans"/>
              <a:sym typeface="DM Sans"/>
            </a:endParaRPr>
          </a:p>
        </p:txBody>
      </p:sp>
      <p:sp>
        <p:nvSpPr>
          <p:cNvPr id="143" name="Google Shape;143;p24"/>
          <p:cNvSpPr txBox="1"/>
          <p:nvPr/>
        </p:nvSpPr>
        <p:spPr>
          <a:xfrm>
            <a:off x="5212625" y="1788438"/>
            <a:ext cx="3000000" cy="1566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s" sz="1350">
                <a:solidFill>
                  <a:schemeClr val="dk1"/>
                </a:solidFill>
                <a:latin typeface="DM Sans"/>
                <a:ea typeface="DM Sans"/>
                <a:cs typeface="DM Sans"/>
                <a:sym typeface="DM Sans"/>
              </a:rPr>
              <a:t>Vamos a provocar algunos errores</a:t>
            </a:r>
            <a:endParaRPr sz="1350">
              <a:solidFill>
                <a:schemeClr val="dk1"/>
              </a:solidFill>
              <a:latin typeface="DM Sans"/>
              <a:ea typeface="DM Sans"/>
              <a:cs typeface="DM Sans"/>
              <a:sym typeface="DM Sans"/>
            </a:endParaRPr>
          </a:p>
          <a:p>
            <a:pPr marL="0" marR="0" lvl="0" indent="0" algn="l" rtl="0">
              <a:lnSpc>
                <a:spcPct val="150000"/>
              </a:lnSpc>
              <a:spcBef>
                <a:spcPts val="0"/>
              </a:spcBef>
              <a:spcAft>
                <a:spcPts val="0"/>
              </a:spcAft>
              <a:buClr>
                <a:srgbClr val="000000"/>
              </a:buClr>
              <a:buSzPts val="1600"/>
              <a:buFont typeface="Arial"/>
              <a:buNone/>
            </a:pPr>
            <a:endParaRPr sz="1350">
              <a:highlight>
                <a:schemeClr val="accent4"/>
              </a:highlight>
              <a:latin typeface="DM Sans"/>
              <a:ea typeface="DM Sans"/>
              <a:cs typeface="DM Sans"/>
              <a:sym typeface="DM Sans"/>
            </a:endParaRPr>
          </a:p>
          <a:p>
            <a:pPr marL="0" marR="0" lvl="0" indent="0" algn="l" rtl="0">
              <a:lnSpc>
                <a:spcPct val="150000"/>
              </a:lnSpc>
              <a:spcBef>
                <a:spcPts val="0"/>
              </a:spcBef>
              <a:spcAft>
                <a:spcPts val="0"/>
              </a:spcAft>
              <a:buClr>
                <a:srgbClr val="000000"/>
              </a:buClr>
              <a:buSzPts val="1600"/>
              <a:buFont typeface="Arial"/>
              <a:buNone/>
            </a:pPr>
            <a:r>
              <a:rPr lang="es" sz="1350" b="1" i="0" u="none" strike="noStrike" cap="none">
                <a:solidFill>
                  <a:srgbClr val="000000"/>
                </a:solidFill>
                <a:highlight>
                  <a:schemeClr val="accent4"/>
                </a:highlight>
                <a:latin typeface="DM Sans"/>
                <a:ea typeface="DM Sans"/>
                <a:cs typeface="DM Sans"/>
                <a:sym typeface="DM Sans"/>
              </a:rPr>
              <a:t>EOF </a:t>
            </a:r>
            <a:r>
              <a:rPr lang="es" sz="1350" i="0" u="none" strike="noStrike" cap="none">
                <a:solidFill>
                  <a:srgbClr val="000000"/>
                </a:solidFill>
                <a:highlight>
                  <a:schemeClr val="accent4"/>
                </a:highlight>
                <a:latin typeface="DM Sans"/>
                <a:ea typeface="DM Sans"/>
                <a:cs typeface="DM Sans"/>
                <a:sym typeface="DM Sans"/>
              </a:rPr>
              <a:t>significa </a:t>
            </a:r>
            <a:r>
              <a:rPr lang="es" sz="1350" b="1" i="0" u="none" strike="noStrike" cap="none">
                <a:solidFill>
                  <a:srgbClr val="000000"/>
                </a:solidFill>
                <a:highlight>
                  <a:schemeClr val="accent4"/>
                </a:highlight>
                <a:latin typeface="DM Sans"/>
                <a:ea typeface="DM Sans"/>
                <a:cs typeface="DM Sans"/>
                <a:sym typeface="DM Sans"/>
              </a:rPr>
              <a:t>end of file</a:t>
            </a:r>
            <a:r>
              <a:rPr lang="es" sz="1350" i="0" u="none" strike="noStrike" cap="none">
                <a:solidFill>
                  <a:srgbClr val="000000"/>
                </a:solidFill>
                <a:highlight>
                  <a:schemeClr val="accent4"/>
                </a:highlight>
                <a:latin typeface="DM Sans"/>
                <a:ea typeface="DM Sans"/>
                <a:cs typeface="DM Sans"/>
                <a:sym typeface="DM Sans"/>
              </a:rPr>
              <a:t>, el error nos indica que esperaba que se cierre con un paréntesis</a:t>
            </a:r>
            <a:r>
              <a:rPr lang="es" sz="1350">
                <a:highlight>
                  <a:schemeClr val="accent4"/>
                </a:highlight>
                <a:latin typeface="DM Sans"/>
                <a:ea typeface="DM Sans"/>
                <a:cs typeface="DM Sans"/>
                <a:sym typeface="DM Sans"/>
              </a:rPr>
              <a:t>.</a:t>
            </a:r>
            <a:endParaRPr sz="1350" i="0" u="none" strike="noStrike" cap="none">
              <a:solidFill>
                <a:srgbClr val="000000"/>
              </a:solidFill>
              <a:highlight>
                <a:schemeClr val="accent4"/>
              </a:highlight>
              <a:latin typeface="DM Sans"/>
              <a:ea typeface="DM Sans"/>
              <a:cs typeface="DM Sans"/>
              <a:sym typeface="DM Sans"/>
            </a:endParaRPr>
          </a:p>
        </p:txBody>
      </p:sp>
      <p:sp>
        <p:nvSpPr>
          <p:cNvPr id="144" name="Google Shape;144;p24"/>
          <p:cNvSpPr txBox="1"/>
          <p:nvPr/>
        </p:nvSpPr>
        <p:spPr>
          <a:xfrm>
            <a:off x="76200" y="4772725"/>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s" sz="1100" b="1" i="0" u="none" strike="noStrike" cap="none">
                <a:solidFill>
                  <a:srgbClr val="000000"/>
                </a:solidFill>
                <a:latin typeface="DM Sans"/>
                <a:ea typeface="DM Sans"/>
                <a:cs typeface="DM Sans"/>
                <a:sym typeface="DM Sans"/>
              </a:rPr>
              <a:t>Fuente</a:t>
            </a:r>
            <a:r>
              <a:rPr lang="es" sz="1100" i="0" u="none" strike="noStrike" cap="none">
                <a:solidFill>
                  <a:srgbClr val="000000"/>
                </a:solidFill>
                <a:latin typeface="DM Sans"/>
                <a:ea typeface="DM Sans"/>
                <a:cs typeface="DM Sans"/>
                <a:sym typeface="DM Sans"/>
              </a:rPr>
              <a:t>: </a:t>
            </a:r>
            <a:r>
              <a:rPr lang="es" sz="1100" i="0" u="sng" strike="noStrike" cap="none">
                <a:solidFill>
                  <a:srgbClr val="0563C1"/>
                </a:solidFill>
                <a:latin typeface="DM Sans"/>
                <a:ea typeface="DM Sans"/>
                <a:cs typeface="DM Sans"/>
                <a:sym typeface="DM Sans"/>
                <a:hlinkClick r:id="rId4">
                  <a:extLst>
                    <a:ext uri="{A12FA001-AC4F-418D-AE19-62706E023703}">
                      <ahyp:hlinkClr xmlns:ahyp="http://schemas.microsoft.com/office/drawing/2018/hyperlinkcolor" val="tx"/>
                    </a:ext>
                  </a:extLst>
                </a:hlinkClick>
              </a:rPr>
              <a:t>EntrenamientoPython</a:t>
            </a:r>
            <a:endParaRPr sz="1100" i="0" u="none" strike="noStrike" cap="none">
              <a:solidFill>
                <a:srgbClr val="000000"/>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D2E0105E-A457-636F-4E2C-FE6759DF1C94}"/>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5"/>
          <p:cNvSpPr/>
          <p:nvPr/>
        </p:nvSpPr>
        <p:spPr>
          <a:xfrm>
            <a:off x="647400" y="1189150"/>
            <a:ext cx="7849200" cy="33174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 name="Google Shape;150;p25"/>
          <p:cNvSpPr txBox="1"/>
          <p:nvPr/>
        </p:nvSpPr>
        <p:spPr>
          <a:xfrm>
            <a:off x="1461300" y="345975"/>
            <a:ext cx="6221400" cy="6696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3500"/>
              <a:buFont typeface="Arial"/>
              <a:buNone/>
            </a:pPr>
            <a:r>
              <a:rPr lang="es" sz="3500" b="1">
                <a:solidFill>
                  <a:schemeClr val="lt1"/>
                </a:solidFill>
                <a:latin typeface="DM Sans"/>
                <a:ea typeface="DM Sans"/>
                <a:cs typeface="DM Sans"/>
                <a:sym typeface="DM Sans"/>
              </a:rPr>
              <a:t>Errores de nombre</a:t>
            </a:r>
            <a:endParaRPr sz="3500" b="1" i="0" u="none" strike="noStrike" cap="none">
              <a:solidFill>
                <a:schemeClr val="lt1"/>
              </a:solidFill>
              <a:latin typeface="DM Sans"/>
              <a:ea typeface="DM Sans"/>
              <a:cs typeface="DM Sans"/>
              <a:sym typeface="DM Sans"/>
            </a:endParaRPr>
          </a:p>
        </p:txBody>
      </p:sp>
      <p:grpSp>
        <p:nvGrpSpPr>
          <p:cNvPr id="151" name="Google Shape;151;p25"/>
          <p:cNvGrpSpPr/>
          <p:nvPr/>
        </p:nvGrpSpPr>
        <p:grpSpPr>
          <a:xfrm>
            <a:off x="8212626" y="215723"/>
            <a:ext cx="738900" cy="738900"/>
            <a:chOff x="473351" y="619523"/>
            <a:chExt cx="738900" cy="738900"/>
          </a:xfrm>
        </p:grpSpPr>
        <p:sp>
          <p:nvSpPr>
            <p:cNvPr id="152" name="Google Shape;152;p25"/>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53" name="Google Shape;153;p25"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sp>
        <p:nvSpPr>
          <p:cNvPr id="154" name="Google Shape;154;p25"/>
          <p:cNvSpPr txBox="1"/>
          <p:nvPr/>
        </p:nvSpPr>
        <p:spPr>
          <a:xfrm>
            <a:off x="959975" y="1373375"/>
            <a:ext cx="6784200" cy="1109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1350">
                <a:solidFill>
                  <a:schemeClr val="dk1"/>
                </a:solidFill>
                <a:latin typeface="DM Sans"/>
                <a:ea typeface="DM Sans"/>
                <a:cs typeface="DM Sans"/>
                <a:sym typeface="DM Sans"/>
              </a:rPr>
              <a:t>Se producen cuando el sistema interpreta que debe ejecutar alguna función, pero no está definida. Devuelve </a:t>
            </a:r>
            <a:r>
              <a:rPr lang="es" sz="1350">
                <a:solidFill>
                  <a:schemeClr val="dk1"/>
                </a:solidFill>
                <a:highlight>
                  <a:schemeClr val="accent4"/>
                </a:highlight>
                <a:latin typeface="DM Sans"/>
                <a:ea typeface="DM Sans"/>
                <a:cs typeface="DM Sans"/>
                <a:sym typeface="DM Sans"/>
              </a:rPr>
              <a:t>NameError</a:t>
            </a:r>
            <a:r>
              <a:rPr lang="es" sz="1350">
                <a:solidFill>
                  <a:schemeClr val="dk1"/>
                </a:solidFill>
                <a:latin typeface="DM Sans"/>
                <a:ea typeface="DM Sans"/>
                <a:cs typeface="DM Sans"/>
                <a:sym typeface="DM Sans"/>
              </a:rPr>
              <a:t>:</a:t>
            </a:r>
            <a:endParaRPr sz="1350">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endParaRPr sz="1350">
              <a:solidFill>
                <a:schemeClr val="dk1"/>
              </a:solidFill>
              <a:latin typeface="DM Sans"/>
              <a:ea typeface="DM Sans"/>
              <a:cs typeface="DM Sans"/>
              <a:sym typeface="DM Sans"/>
            </a:endParaRPr>
          </a:p>
          <a:p>
            <a:pPr marL="0" lvl="0" indent="0" algn="l" rtl="0">
              <a:lnSpc>
                <a:spcPct val="150000"/>
              </a:lnSpc>
              <a:spcBef>
                <a:spcPts val="0"/>
              </a:spcBef>
              <a:spcAft>
                <a:spcPts val="0"/>
              </a:spcAft>
              <a:buNone/>
            </a:pPr>
            <a:endParaRPr sz="1350">
              <a:solidFill>
                <a:schemeClr val="dk1"/>
              </a:solidFill>
              <a:latin typeface="DM Sans"/>
              <a:ea typeface="DM Sans"/>
              <a:cs typeface="DM Sans"/>
              <a:sym typeface="DM Sans"/>
            </a:endParaRPr>
          </a:p>
        </p:txBody>
      </p:sp>
      <p:sp>
        <p:nvSpPr>
          <p:cNvPr id="155" name="Google Shape;155;p25"/>
          <p:cNvSpPr txBox="1"/>
          <p:nvPr/>
        </p:nvSpPr>
        <p:spPr>
          <a:xfrm>
            <a:off x="5212625" y="2526663"/>
            <a:ext cx="3000000" cy="7041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600"/>
              <a:buFont typeface="Arial"/>
              <a:buNone/>
            </a:pPr>
            <a:r>
              <a:rPr lang="es" sz="1350">
                <a:highlight>
                  <a:schemeClr val="accent4"/>
                </a:highlight>
                <a:latin typeface="DM Sans"/>
                <a:ea typeface="DM Sans"/>
                <a:cs typeface="DM Sans"/>
                <a:sym typeface="DM Sans"/>
              </a:rPr>
              <a:t>Pint no es la función print para imprimir por pantalla.</a:t>
            </a:r>
            <a:endParaRPr sz="1350" i="0" u="none" strike="noStrike" cap="none">
              <a:solidFill>
                <a:srgbClr val="000000"/>
              </a:solidFill>
              <a:highlight>
                <a:schemeClr val="accent4"/>
              </a:highlight>
              <a:latin typeface="DM Sans"/>
              <a:ea typeface="DM Sans"/>
              <a:cs typeface="DM Sans"/>
              <a:sym typeface="DM Sans"/>
            </a:endParaRPr>
          </a:p>
        </p:txBody>
      </p:sp>
      <p:sp>
        <p:nvSpPr>
          <p:cNvPr id="156" name="Google Shape;156;p25"/>
          <p:cNvSpPr txBox="1"/>
          <p:nvPr/>
        </p:nvSpPr>
        <p:spPr>
          <a:xfrm>
            <a:off x="76200" y="4772725"/>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s" sz="1100" b="1" i="0" u="none" strike="noStrike" cap="none">
                <a:solidFill>
                  <a:srgbClr val="000000"/>
                </a:solidFill>
                <a:latin typeface="DM Sans"/>
                <a:ea typeface="DM Sans"/>
                <a:cs typeface="DM Sans"/>
                <a:sym typeface="DM Sans"/>
              </a:rPr>
              <a:t>Fuente</a:t>
            </a:r>
            <a:r>
              <a:rPr lang="es" sz="1100" i="0" u="none" strike="noStrike" cap="none">
                <a:solidFill>
                  <a:srgbClr val="000000"/>
                </a:solidFill>
                <a:latin typeface="DM Sans"/>
                <a:ea typeface="DM Sans"/>
                <a:cs typeface="DM Sans"/>
                <a:sym typeface="DM Sans"/>
              </a:rPr>
              <a:t>: </a:t>
            </a:r>
            <a:r>
              <a:rPr lang="es" sz="1100" i="0" u="sng" strike="noStrike" cap="none">
                <a:solidFill>
                  <a:srgbClr val="0563C1"/>
                </a:solidFill>
                <a:latin typeface="DM Sans"/>
                <a:ea typeface="DM Sans"/>
                <a:cs typeface="DM Sans"/>
                <a:sym typeface="DM Sans"/>
                <a:hlinkClick r:id="rId4">
                  <a:extLst>
                    <a:ext uri="{A12FA001-AC4F-418D-AE19-62706E023703}">
                      <ahyp:hlinkClr xmlns:ahyp="http://schemas.microsoft.com/office/drawing/2018/hyperlinkcolor" val="tx"/>
                    </a:ext>
                  </a:extLst>
                </a:hlinkClick>
              </a:rPr>
              <a:t>EntrenamientoPython</a:t>
            </a:r>
            <a:endParaRPr sz="1100" i="0" u="none" strike="noStrike" cap="none">
              <a:solidFill>
                <a:srgbClr val="000000"/>
              </a:solidFill>
              <a:latin typeface="DM Sans"/>
              <a:ea typeface="DM Sans"/>
              <a:cs typeface="DM Sans"/>
              <a:sym typeface="DM Sans"/>
            </a:endParaRPr>
          </a:p>
        </p:txBody>
      </p:sp>
      <p:sp>
        <p:nvSpPr>
          <p:cNvPr id="157" name="Google Shape;157;p25"/>
          <p:cNvSpPr txBox="1"/>
          <p:nvPr/>
        </p:nvSpPr>
        <p:spPr>
          <a:xfrm>
            <a:off x="959975" y="2361200"/>
            <a:ext cx="4298400" cy="1481700"/>
          </a:xfrm>
          <a:prstGeom prst="rect">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100"/>
              <a:buFont typeface="Arial"/>
              <a:buNone/>
            </a:pPr>
            <a:r>
              <a:rPr lang="es" sz="1350" i="0" u="none" strike="noStrike" cap="none">
                <a:solidFill>
                  <a:srgbClr val="770000"/>
                </a:solidFill>
                <a:highlight>
                  <a:srgbClr val="EAFF6A"/>
                </a:highlight>
                <a:latin typeface="DM Sans"/>
                <a:ea typeface="DM Sans"/>
                <a:cs typeface="DM Sans"/>
                <a:sym typeface="DM Sans"/>
              </a:rPr>
              <a:t>&gt;&gt;&gt;</a:t>
            </a:r>
            <a:r>
              <a:rPr lang="es" sz="1350" i="0" u="none" strike="noStrike" cap="none">
                <a:solidFill>
                  <a:srgbClr val="000000"/>
                </a:solidFill>
                <a:highlight>
                  <a:srgbClr val="EAFF6A"/>
                </a:highlight>
                <a:latin typeface="DM Sans"/>
                <a:ea typeface="DM Sans"/>
                <a:cs typeface="DM Sans"/>
                <a:sym typeface="DM Sans"/>
              </a:rPr>
              <a:t> </a:t>
            </a:r>
            <a:r>
              <a:rPr lang="es" sz="1350" i="0" u="none" strike="noStrike" cap="none">
                <a:solidFill>
                  <a:srgbClr val="0D904F"/>
                </a:solidFill>
                <a:highlight>
                  <a:srgbClr val="EAFF6A"/>
                </a:highlight>
                <a:latin typeface="DM Sans"/>
                <a:ea typeface="DM Sans"/>
                <a:cs typeface="DM Sans"/>
                <a:sym typeface="DM Sans"/>
              </a:rPr>
              <a:t>pint</a:t>
            </a:r>
            <a:r>
              <a:rPr lang="es" sz="1350" i="0" u="none" strike="noStrike" cap="none">
                <a:solidFill>
                  <a:srgbClr val="000000"/>
                </a:solidFill>
                <a:highlight>
                  <a:srgbClr val="EAFF6A"/>
                </a:highlight>
                <a:latin typeface="DM Sans"/>
                <a:ea typeface="DM Sans"/>
                <a:cs typeface="DM Sans"/>
                <a:sym typeface="DM Sans"/>
              </a:rPr>
              <a:t>(“Hola”)</a:t>
            </a:r>
            <a:endParaRPr sz="1350" i="0" u="none" strike="noStrike" cap="none">
              <a:solidFill>
                <a:srgbClr val="000000"/>
              </a:solidFill>
              <a:highlight>
                <a:srgbClr val="EAFF6A"/>
              </a:highlight>
              <a:latin typeface="DM Sans"/>
              <a:ea typeface="DM Sans"/>
              <a:cs typeface="DM Sans"/>
              <a:sym typeface="DM Sans"/>
            </a:endParaRPr>
          </a:p>
          <a:p>
            <a:pPr marL="0" marR="0" lvl="0" indent="0" algn="l" rtl="0">
              <a:lnSpc>
                <a:spcPct val="115000"/>
              </a:lnSpc>
              <a:spcBef>
                <a:spcPts val="0"/>
              </a:spcBef>
              <a:spcAft>
                <a:spcPts val="0"/>
              </a:spcAft>
              <a:buClr>
                <a:srgbClr val="000000"/>
              </a:buClr>
              <a:buSzPts val="1100"/>
              <a:buFont typeface="Arial"/>
              <a:buNone/>
            </a:pPr>
            <a:r>
              <a:rPr lang="es" sz="1350" i="0" u="none" strike="noStrike" cap="none">
                <a:solidFill>
                  <a:srgbClr val="FF0000"/>
                </a:solidFill>
                <a:highlight>
                  <a:srgbClr val="EAFF6A"/>
                </a:highlight>
                <a:latin typeface="DM Sans"/>
                <a:ea typeface="DM Sans"/>
                <a:cs typeface="DM Sans"/>
                <a:sym typeface="DM Sans"/>
              </a:rPr>
              <a:t>&lt;ipython-input-2-155163d628c2&gt; in &lt;module&gt;()</a:t>
            </a:r>
            <a:endParaRPr sz="1350" i="0" u="none" strike="noStrike" cap="none">
              <a:solidFill>
                <a:srgbClr val="FF0000"/>
              </a:solidFill>
              <a:highlight>
                <a:srgbClr val="EAFF6A"/>
              </a:highlight>
              <a:latin typeface="DM Sans"/>
              <a:ea typeface="DM Sans"/>
              <a:cs typeface="DM Sans"/>
              <a:sym typeface="DM Sans"/>
            </a:endParaRPr>
          </a:p>
          <a:p>
            <a:pPr marL="0" marR="0" lvl="0" indent="0" algn="l" rtl="0">
              <a:lnSpc>
                <a:spcPct val="115000"/>
              </a:lnSpc>
              <a:spcBef>
                <a:spcPts val="0"/>
              </a:spcBef>
              <a:spcAft>
                <a:spcPts val="0"/>
              </a:spcAft>
              <a:buClr>
                <a:srgbClr val="000000"/>
              </a:buClr>
              <a:buSzPts val="1100"/>
              <a:buFont typeface="Arial"/>
              <a:buNone/>
            </a:pPr>
            <a:r>
              <a:rPr lang="es" sz="1350" i="0" u="none" strike="noStrike" cap="none">
                <a:solidFill>
                  <a:srgbClr val="FF0000"/>
                </a:solidFill>
                <a:highlight>
                  <a:srgbClr val="EAFF6A"/>
                </a:highlight>
                <a:latin typeface="DM Sans"/>
                <a:ea typeface="DM Sans"/>
                <a:cs typeface="DM Sans"/>
                <a:sym typeface="DM Sans"/>
              </a:rPr>
              <a:t>----&gt; 1 pint("Hola")</a:t>
            </a:r>
            <a:endParaRPr sz="1350" i="0" u="none" strike="noStrike" cap="none">
              <a:solidFill>
                <a:srgbClr val="FF0000"/>
              </a:solidFill>
              <a:highlight>
                <a:srgbClr val="EAFF6A"/>
              </a:highlight>
              <a:latin typeface="DM Sans"/>
              <a:ea typeface="DM Sans"/>
              <a:cs typeface="DM Sans"/>
              <a:sym typeface="DM Sans"/>
            </a:endParaRPr>
          </a:p>
          <a:p>
            <a:pPr marL="0" marR="0" lvl="0" indent="0" algn="l" rtl="0">
              <a:lnSpc>
                <a:spcPct val="115000"/>
              </a:lnSpc>
              <a:spcBef>
                <a:spcPts val="0"/>
              </a:spcBef>
              <a:spcAft>
                <a:spcPts val="0"/>
              </a:spcAft>
              <a:buClr>
                <a:srgbClr val="000000"/>
              </a:buClr>
              <a:buSzPts val="1100"/>
              <a:buFont typeface="Arial"/>
              <a:buNone/>
            </a:pPr>
            <a:endParaRPr sz="1350" i="0" u="none" strike="noStrike" cap="none">
              <a:solidFill>
                <a:srgbClr val="FF0000"/>
              </a:solidFill>
              <a:highlight>
                <a:srgbClr val="EAFF6A"/>
              </a:highlight>
              <a:latin typeface="DM Sans"/>
              <a:ea typeface="DM Sans"/>
              <a:cs typeface="DM Sans"/>
              <a:sym typeface="DM Sans"/>
            </a:endParaRPr>
          </a:p>
          <a:p>
            <a:pPr marL="0" marR="0" lvl="0" indent="0" algn="l" rtl="0">
              <a:lnSpc>
                <a:spcPct val="115000"/>
              </a:lnSpc>
              <a:spcBef>
                <a:spcPts val="0"/>
              </a:spcBef>
              <a:spcAft>
                <a:spcPts val="0"/>
              </a:spcAft>
              <a:buClr>
                <a:srgbClr val="000000"/>
              </a:buClr>
              <a:buSzPts val="1100"/>
              <a:buFont typeface="Arial"/>
              <a:buNone/>
            </a:pPr>
            <a:r>
              <a:rPr lang="es" sz="1350" i="0" u="none" strike="noStrike" cap="none">
                <a:solidFill>
                  <a:srgbClr val="FF0000"/>
                </a:solidFill>
                <a:highlight>
                  <a:srgbClr val="EAFF6A"/>
                </a:highlight>
                <a:latin typeface="DM Sans"/>
                <a:ea typeface="DM Sans"/>
                <a:cs typeface="DM Sans"/>
                <a:sym typeface="DM Sans"/>
              </a:rPr>
              <a:t>NameError: name 'pint' is not defined</a:t>
            </a:r>
            <a:endParaRPr sz="1350" i="0" u="none" strike="noStrike" cap="none">
              <a:solidFill>
                <a:srgbClr val="FF0000"/>
              </a:solidFill>
              <a:highlight>
                <a:srgbClr val="EAFF6A"/>
              </a:highlight>
              <a:latin typeface="DM Sans"/>
              <a:ea typeface="DM Sans"/>
              <a:cs typeface="DM Sans"/>
              <a:sym typeface="DM Sans"/>
            </a:endParaRPr>
          </a:p>
          <a:p>
            <a:pPr marL="0" marR="0" lvl="0" indent="0" algn="l" rtl="0">
              <a:lnSpc>
                <a:spcPct val="115000"/>
              </a:lnSpc>
              <a:spcBef>
                <a:spcPts val="0"/>
              </a:spcBef>
              <a:spcAft>
                <a:spcPts val="0"/>
              </a:spcAft>
              <a:buClr>
                <a:srgbClr val="000000"/>
              </a:buClr>
              <a:buSzPts val="1100"/>
              <a:buFont typeface="Arial"/>
              <a:buNone/>
            </a:pPr>
            <a:endParaRPr sz="1800" b="0" i="0" u="none" strike="noStrike" cap="none">
              <a:solidFill>
                <a:srgbClr val="000000"/>
              </a:solidFill>
              <a:latin typeface="Helvetica Neue Light"/>
              <a:ea typeface="Helvetica Neue Light"/>
              <a:cs typeface="Helvetica Neue Light"/>
              <a:sym typeface="Helvetica Neue Light"/>
            </a:endParaRPr>
          </a:p>
        </p:txBody>
      </p:sp>
      <p:sp>
        <p:nvSpPr>
          <p:cNvPr id="2" name="Rectángulo 1">
            <a:extLst>
              <a:ext uri="{FF2B5EF4-FFF2-40B4-BE49-F238E27FC236}">
                <a16:creationId xmlns:a16="http://schemas.microsoft.com/office/drawing/2014/main" id="{A56DFAF6-4728-6C38-B38C-5389A62B19C7}"/>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6"/>
          <p:cNvSpPr txBox="1"/>
          <p:nvPr/>
        </p:nvSpPr>
        <p:spPr>
          <a:xfrm>
            <a:off x="457725" y="1071050"/>
            <a:ext cx="53007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a:solidFill>
                  <a:schemeClr val="dk1"/>
                </a:solidFill>
                <a:latin typeface="DM Sans"/>
                <a:ea typeface="DM Sans"/>
                <a:cs typeface="DM Sans"/>
                <a:sym typeface="DM Sans"/>
              </a:rPr>
              <a:t>Errores semánticos</a:t>
            </a:r>
            <a:endParaRPr sz="4000" b="1" i="0" u="none" strike="noStrike" cap="none">
              <a:solidFill>
                <a:schemeClr val="dk1"/>
              </a:solidFill>
              <a:latin typeface="DM Sans"/>
              <a:ea typeface="DM Sans"/>
              <a:cs typeface="DM Sans"/>
              <a:sym typeface="DM Sans"/>
            </a:endParaRPr>
          </a:p>
        </p:txBody>
      </p:sp>
      <p:sp>
        <p:nvSpPr>
          <p:cNvPr id="163" name="Google Shape;163;p26"/>
          <p:cNvSpPr txBox="1"/>
          <p:nvPr/>
        </p:nvSpPr>
        <p:spPr>
          <a:xfrm>
            <a:off x="457725" y="2211625"/>
            <a:ext cx="4730100" cy="1847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s" sz="1350">
                <a:latin typeface="DM Sans"/>
                <a:ea typeface="DM Sans"/>
                <a:cs typeface="DM Sans"/>
                <a:sym typeface="DM Sans"/>
              </a:rPr>
              <a:t>La mayoría de errores sintácticos y de nombre </a:t>
            </a:r>
            <a:r>
              <a:rPr lang="es" sz="1350">
                <a:highlight>
                  <a:schemeClr val="accent4"/>
                </a:highlight>
                <a:latin typeface="DM Sans"/>
                <a:ea typeface="DM Sans"/>
                <a:cs typeface="DM Sans"/>
                <a:sym typeface="DM Sans"/>
              </a:rPr>
              <a:t>los identifican los editores de código antes de la ejecución, pero existen otros tipos que pasan más desapercibidos</a:t>
            </a:r>
            <a:r>
              <a:rPr lang="es" sz="1350">
                <a:latin typeface="DM Sans"/>
                <a:ea typeface="DM Sans"/>
                <a:cs typeface="DM Sans"/>
                <a:sym typeface="DM Sans"/>
              </a:rPr>
              <a:t>.</a:t>
            </a:r>
            <a:endParaRPr sz="1350">
              <a:latin typeface="DM Sans"/>
              <a:ea typeface="DM Sans"/>
              <a:cs typeface="DM Sans"/>
              <a:sym typeface="DM Sans"/>
            </a:endParaRPr>
          </a:p>
          <a:p>
            <a:pPr marL="0" marR="0" lvl="0" indent="0" algn="l" rtl="0">
              <a:lnSpc>
                <a:spcPct val="100000"/>
              </a:lnSpc>
              <a:spcBef>
                <a:spcPts val="0"/>
              </a:spcBef>
              <a:spcAft>
                <a:spcPts val="0"/>
              </a:spcAft>
              <a:buNone/>
            </a:pPr>
            <a:endParaRPr sz="1350">
              <a:latin typeface="DM Sans"/>
              <a:ea typeface="DM Sans"/>
              <a:cs typeface="DM Sans"/>
              <a:sym typeface="DM Sans"/>
            </a:endParaRPr>
          </a:p>
          <a:p>
            <a:pPr marL="0" marR="0" lvl="0" indent="0" algn="l" rtl="0">
              <a:lnSpc>
                <a:spcPct val="100000"/>
              </a:lnSpc>
              <a:spcBef>
                <a:spcPts val="0"/>
              </a:spcBef>
              <a:spcAft>
                <a:spcPts val="0"/>
              </a:spcAft>
              <a:buNone/>
            </a:pPr>
            <a:r>
              <a:rPr lang="es" sz="1350">
                <a:latin typeface="DM Sans"/>
                <a:ea typeface="DM Sans"/>
                <a:cs typeface="DM Sans"/>
                <a:sym typeface="DM Sans"/>
              </a:rPr>
              <a:t>Estos errores son muy difíciles de identificar porque van ligados al sentido del funcionamiento y dependen de la situación. Algunas veces pueden ocurrir y otras no.</a:t>
            </a:r>
            <a:endParaRPr sz="1350">
              <a:latin typeface="DM Sans"/>
              <a:ea typeface="DM Sans"/>
              <a:cs typeface="DM Sans"/>
              <a:sym typeface="DM Sans"/>
            </a:endParaRPr>
          </a:p>
          <a:p>
            <a:pPr marL="0" marR="0" lvl="0" indent="0" algn="l" rtl="0">
              <a:lnSpc>
                <a:spcPct val="100000"/>
              </a:lnSpc>
              <a:spcBef>
                <a:spcPts val="0"/>
              </a:spcBef>
              <a:spcAft>
                <a:spcPts val="0"/>
              </a:spcAft>
              <a:buNone/>
            </a:pPr>
            <a:endParaRPr sz="1350">
              <a:latin typeface="DM Sans"/>
              <a:ea typeface="DM Sans"/>
              <a:cs typeface="DM Sans"/>
              <a:sym typeface="DM Sans"/>
            </a:endParaRPr>
          </a:p>
        </p:txBody>
      </p:sp>
      <p:sp>
        <p:nvSpPr>
          <p:cNvPr id="164" name="Google Shape;164;p26"/>
          <p:cNvSpPr txBox="1"/>
          <p:nvPr/>
        </p:nvSpPr>
        <p:spPr>
          <a:xfrm>
            <a:off x="76200" y="4775375"/>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100"/>
              <a:buFont typeface="Arial"/>
              <a:buNone/>
            </a:pPr>
            <a:r>
              <a:rPr lang="es" sz="1100" b="1" i="0" u="none" strike="noStrike" cap="none">
                <a:solidFill>
                  <a:srgbClr val="000000"/>
                </a:solidFill>
                <a:latin typeface="DM Sans"/>
                <a:ea typeface="DM Sans"/>
                <a:cs typeface="DM Sans"/>
                <a:sym typeface="DM Sans"/>
              </a:rPr>
              <a:t>Fuente</a:t>
            </a:r>
            <a:r>
              <a:rPr lang="es" sz="1100" i="0" u="none" strike="noStrike" cap="none">
                <a:solidFill>
                  <a:srgbClr val="000000"/>
                </a:solidFill>
                <a:latin typeface="DM Sans"/>
                <a:ea typeface="DM Sans"/>
                <a:cs typeface="DM Sans"/>
                <a:sym typeface="DM Sans"/>
              </a:rPr>
              <a:t>: </a:t>
            </a:r>
            <a:r>
              <a:rPr lang="es" sz="1100" i="0" u="sng" strike="noStrike" cap="none">
                <a:solidFill>
                  <a:srgbClr val="0563C1"/>
                </a:solidFill>
                <a:latin typeface="DM Sans"/>
                <a:ea typeface="DM Sans"/>
                <a:cs typeface="DM Sans"/>
                <a:sym typeface="DM Sans"/>
                <a:hlinkClick r:id="rId3">
                  <a:extLst>
                    <a:ext uri="{A12FA001-AC4F-418D-AE19-62706E023703}">
                      <ahyp:hlinkClr xmlns:ahyp="http://schemas.microsoft.com/office/drawing/2018/hyperlinkcolor" val="tx"/>
                    </a:ext>
                  </a:extLst>
                </a:hlinkClick>
              </a:rPr>
              <a:t>EntrenamientoPython</a:t>
            </a:r>
            <a:endParaRPr sz="1100" i="0" u="none" strike="noStrike" cap="none">
              <a:solidFill>
                <a:srgbClr val="000000"/>
              </a:solidFill>
              <a:latin typeface="DM Sans"/>
              <a:ea typeface="DM Sans"/>
              <a:cs typeface="DM Sans"/>
              <a:sym typeface="DM Sans"/>
            </a:endParaRPr>
          </a:p>
        </p:txBody>
      </p:sp>
      <p:pic>
        <p:nvPicPr>
          <p:cNvPr id="165" name="Google Shape;165;p26"/>
          <p:cNvPicPr preferRelativeResize="0"/>
          <p:nvPr/>
        </p:nvPicPr>
        <p:blipFill rotWithShape="1">
          <a:blip r:embed="rId4">
            <a:alphaModFix/>
          </a:blip>
          <a:srcRect/>
          <a:stretch/>
        </p:blipFill>
        <p:spPr>
          <a:xfrm>
            <a:off x="5758424" y="1965137"/>
            <a:ext cx="1920076" cy="1920015"/>
          </a:xfrm>
          <a:prstGeom prst="rect">
            <a:avLst/>
          </a:prstGeom>
          <a:noFill/>
          <a:ln>
            <a:noFill/>
          </a:ln>
        </p:spPr>
      </p:pic>
      <p:sp>
        <p:nvSpPr>
          <p:cNvPr id="2" name="Rectángulo 1">
            <a:extLst>
              <a:ext uri="{FF2B5EF4-FFF2-40B4-BE49-F238E27FC236}">
                <a16:creationId xmlns:a16="http://schemas.microsoft.com/office/drawing/2014/main" id="{A43B5F2C-DA3B-E7F5-61EA-59CA798EC130}"/>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7"/>
          <p:cNvSpPr txBox="1"/>
          <p:nvPr/>
        </p:nvSpPr>
        <p:spPr>
          <a:xfrm>
            <a:off x="457725" y="1071050"/>
            <a:ext cx="53007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a:solidFill>
                  <a:schemeClr val="dk1"/>
                </a:solidFill>
                <a:latin typeface="DM Sans"/>
                <a:ea typeface="DM Sans"/>
                <a:cs typeface="DM Sans"/>
                <a:sym typeface="DM Sans"/>
              </a:rPr>
              <a:t>Errores semánticos</a:t>
            </a:r>
            <a:endParaRPr sz="4000" b="1" i="0" u="none" strike="noStrike" cap="none">
              <a:solidFill>
                <a:schemeClr val="dk1"/>
              </a:solidFill>
              <a:latin typeface="DM Sans"/>
              <a:ea typeface="DM Sans"/>
              <a:cs typeface="DM Sans"/>
              <a:sym typeface="DM Sans"/>
            </a:endParaRPr>
          </a:p>
        </p:txBody>
      </p:sp>
      <p:sp>
        <p:nvSpPr>
          <p:cNvPr id="171" name="Google Shape;171;p27"/>
          <p:cNvSpPr txBox="1"/>
          <p:nvPr/>
        </p:nvSpPr>
        <p:spPr>
          <a:xfrm>
            <a:off x="457725" y="2211625"/>
            <a:ext cx="4730100" cy="808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s" sz="1350">
                <a:latin typeface="DM Sans"/>
                <a:ea typeface="DM Sans"/>
                <a:cs typeface="DM Sans"/>
                <a:sym typeface="DM Sans"/>
              </a:rPr>
              <a:t>La mejor forma de prevenirlos es programando mucho y aprendiendo de tus propios fallos, </a:t>
            </a:r>
            <a:r>
              <a:rPr lang="es" sz="1350">
                <a:highlight>
                  <a:schemeClr val="accent4"/>
                </a:highlight>
                <a:latin typeface="DM Sans"/>
                <a:ea typeface="DM Sans"/>
                <a:cs typeface="DM Sans"/>
                <a:sym typeface="DM Sans"/>
              </a:rPr>
              <a:t>la experiencia es la clave</a:t>
            </a:r>
            <a:r>
              <a:rPr lang="es" sz="1350">
                <a:latin typeface="DM Sans"/>
                <a:ea typeface="DM Sans"/>
                <a:cs typeface="DM Sans"/>
                <a:sym typeface="DM Sans"/>
              </a:rPr>
              <a:t>. Veamos a continuación algunos ejemplos. </a:t>
            </a:r>
            <a:endParaRPr sz="1350">
              <a:latin typeface="DM Sans"/>
              <a:ea typeface="DM Sans"/>
              <a:cs typeface="DM Sans"/>
              <a:sym typeface="DM Sans"/>
            </a:endParaRPr>
          </a:p>
        </p:txBody>
      </p:sp>
      <p:sp>
        <p:nvSpPr>
          <p:cNvPr id="172" name="Google Shape;172;p27"/>
          <p:cNvSpPr txBox="1"/>
          <p:nvPr/>
        </p:nvSpPr>
        <p:spPr>
          <a:xfrm>
            <a:off x="76200" y="4775375"/>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100"/>
              <a:buFont typeface="Arial"/>
              <a:buNone/>
            </a:pPr>
            <a:r>
              <a:rPr lang="es" sz="1100" b="1" i="0" u="none" strike="noStrike" cap="none">
                <a:solidFill>
                  <a:srgbClr val="000000"/>
                </a:solidFill>
                <a:latin typeface="DM Sans"/>
                <a:ea typeface="DM Sans"/>
                <a:cs typeface="DM Sans"/>
                <a:sym typeface="DM Sans"/>
              </a:rPr>
              <a:t>Fuente</a:t>
            </a:r>
            <a:r>
              <a:rPr lang="es" sz="1100" i="0" u="none" strike="noStrike" cap="none">
                <a:solidFill>
                  <a:srgbClr val="000000"/>
                </a:solidFill>
                <a:latin typeface="DM Sans"/>
                <a:ea typeface="DM Sans"/>
                <a:cs typeface="DM Sans"/>
                <a:sym typeface="DM Sans"/>
              </a:rPr>
              <a:t>: </a:t>
            </a:r>
            <a:r>
              <a:rPr lang="es" sz="1100" i="0" u="sng" strike="noStrike" cap="none">
                <a:solidFill>
                  <a:srgbClr val="0563C1"/>
                </a:solidFill>
                <a:latin typeface="DM Sans"/>
                <a:ea typeface="DM Sans"/>
                <a:cs typeface="DM Sans"/>
                <a:sym typeface="DM Sans"/>
                <a:hlinkClick r:id="rId3">
                  <a:extLst>
                    <a:ext uri="{A12FA001-AC4F-418D-AE19-62706E023703}">
                      <ahyp:hlinkClr xmlns:ahyp="http://schemas.microsoft.com/office/drawing/2018/hyperlinkcolor" val="tx"/>
                    </a:ext>
                  </a:extLst>
                </a:hlinkClick>
              </a:rPr>
              <a:t>EntrenamientoPython</a:t>
            </a:r>
            <a:endParaRPr sz="1100" i="0" u="none" strike="noStrike" cap="none">
              <a:solidFill>
                <a:srgbClr val="000000"/>
              </a:solidFill>
              <a:latin typeface="DM Sans"/>
              <a:ea typeface="DM Sans"/>
              <a:cs typeface="DM Sans"/>
              <a:sym typeface="DM Sans"/>
            </a:endParaRPr>
          </a:p>
        </p:txBody>
      </p:sp>
      <p:pic>
        <p:nvPicPr>
          <p:cNvPr id="173" name="Google Shape;173;p27"/>
          <p:cNvPicPr preferRelativeResize="0"/>
          <p:nvPr/>
        </p:nvPicPr>
        <p:blipFill rotWithShape="1">
          <a:blip r:embed="rId4">
            <a:alphaModFix/>
          </a:blip>
          <a:srcRect/>
          <a:stretch/>
        </p:blipFill>
        <p:spPr>
          <a:xfrm>
            <a:off x="5857450" y="1809950"/>
            <a:ext cx="2064026" cy="2064026"/>
          </a:xfrm>
          <a:prstGeom prst="rect">
            <a:avLst/>
          </a:prstGeom>
          <a:noFill/>
          <a:ln>
            <a:noFill/>
          </a:ln>
        </p:spPr>
      </p:pic>
      <p:sp>
        <p:nvSpPr>
          <p:cNvPr id="2" name="Rectángulo 1">
            <a:extLst>
              <a:ext uri="{FF2B5EF4-FFF2-40B4-BE49-F238E27FC236}">
                <a16:creationId xmlns:a16="http://schemas.microsoft.com/office/drawing/2014/main" id="{F5B9FB27-125D-002A-36DA-6AA53F16E9CF}"/>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8"/>
          <p:cNvSpPr/>
          <p:nvPr/>
        </p:nvSpPr>
        <p:spPr>
          <a:xfrm>
            <a:off x="647400" y="1189150"/>
            <a:ext cx="7849200" cy="33174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 name="Google Shape;179;p28"/>
          <p:cNvSpPr txBox="1"/>
          <p:nvPr/>
        </p:nvSpPr>
        <p:spPr>
          <a:xfrm>
            <a:off x="1461300" y="345975"/>
            <a:ext cx="6221400" cy="6696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3500"/>
              <a:buFont typeface="Arial"/>
              <a:buNone/>
            </a:pPr>
            <a:r>
              <a:rPr lang="es" sz="3500" b="1">
                <a:solidFill>
                  <a:schemeClr val="lt1"/>
                </a:solidFill>
                <a:latin typeface="DM Sans"/>
                <a:ea typeface="DM Sans"/>
                <a:cs typeface="DM Sans"/>
                <a:sym typeface="DM Sans"/>
              </a:rPr>
              <a:t>Errores semánticos</a:t>
            </a:r>
            <a:endParaRPr sz="3500" b="1" i="0" u="none" strike="noStrike" cap="none">
              <a:solidFill>
                <a:schemeClr val="lt1"/>
              </a:solidFill>
              <a:latin typeface="DM Sans"/>
              <a:ea typeface="DM Sans"/>
              <a:cs typeface="DM Sans"/>
              <a:sym typeface="DM Sans"/>
            </a:endParaRPr>
          </a:p>
        </p:txBody>
      </p:sp>
      <p:grpSp>
        <p:nvGrpSpPr>
          <p:cNvPr id="180" name="Google Shape;180;p28"/>
          <p:cNvGrpSpPr/>
          <p:nvPr/>
        </p:nvGrpSpPr>
        <p:grpSpPr>
          <a:xfrm>
            <a:off x="8212626" y="215723"/>
            <a:ext cx="738900" cy="738900"/>
            <a:chOff x="473351" y="619523"/>
            <a:chExt cx="738900" cy="738900"/>
          </a:xfrm>
        </p:grpSpPr>
        <p:sp>
          <p:nvSpPr>
            <p:cNvPr id="181" name="Google Shape;181;p28"/>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82" name="Google Shape;182;p28"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sp>
        <p:nvSpPr>
          <p:cNvPr id="183" name="Google Shape;183;p28"/>
          <p:cNvSpPr txBox="1"/>
          <p:nvPr/>
        </p:nvSpPr>
        <p:spPr>
          <a:xfrm>
            <a:off x="959975" y="1373375"/>
            <a:ext cx="3979800" cy="2065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1350">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endParaRPr sz="1350">
              <a:solidFill>
                <a:schemeClr val="dk1"/>
              </a:solidFill>
              <a:highlight>
                <a:srgbClr val="EAFF6A"/>
              </a:highlight>
              <a:latin typeface="DM Sans"/>
              <a:ea typeface="DM Sans"/>
              <a:cs typeface="DM Sans"/>
              <a:sym typeface="DM Sans"/>
            </a:endParaRPr>
          </a:p>
          <a:p>
            <a:pPr marL="0" lvl="0" indent="0" algn="l" rtl="0">
              <a:lnSpc>
                <a:spcPct val="115000"/>
              </a:lnSpc>
              <a:spcBef>
                <a:spcPts val="0"/>
              </a:spcBef>
              <a:spcAft>
                <a:spcPts val="0"/>
              </a:spcAft>
              <a:buClr>
                <a:schemeClr val="dk1"/>
              </a:buClr>
              <a:buSzPts val="1600"/>
              <a:buFont typeface="Arial"/>
              <a:buNone/>
            </a:pPr>
            <a:r>
              <a:rPr lang="es" sz="1350">
                <a:solidFill>
                  <a:srgbClr val="770000"/>
                </a:solidFill>
                <a:highlight>
                  <a:srgbClr val="EAFF6A"/>
                </a:highlight>
                <a:latin typeface="DM Sans"/>
                <a:ea typeface="DM Sans"/>
                <a:cs typeface="DM Sans"/>
                <a:sym typeface="DM Sans"/>
              </a:rPr>
              <a:t>&gt;&gt;&gt;</a:t>
            </a:r>
            <a:r>
              <a:rPr lang="es" sz="1350">
                <a:solidFill>
                  <a:schemeClr val="dk1"/>
                </a:solidFill>
                <a:highlight>
                  <a:srgbClr val="EAFF6A"/>
                </a:highlight>
                <a:latin typeface="DM Sans"/>
                <a:ea typeface="DM Sans"/>
                <a:cs typeface="DM Sans"/>
                <a:sym typeface="DM Sans"/>
              </a:rPr>
              <a:t> lista = []</a:t>
            </a:r>
            <a:endParaRPr sz="1350">
              <a:solidFill>
                <a:schemeClr val="dk1"/>
              </a:solidFill>
              <a:highlight>
                <a:srgbClr val="EAFF6A"/>
              </a:highlight>
              <a:latin typeface="DM Sans"/>
              <a:ea typeface="DM Sans"/>
              <a:cs typeface="DM Sans"/>
              <a:sym typeface="DM Sans"/>
            </a:endParaRPr>
          </a:p>
          <a:p>
            <a:pPr marL="0" lvl="0" indent="0" algn="l" rtl="0">
              <a:lnSpc>
                <a:spcPct val="115000"/>
              </a:lnSpc>
              <a:spcBef>
                <a:spcPts val="0"/>
              </a:spcBef>
              <a:spcAft>
                <a:spcPts val="0"/>
              </a:spcAft>
              <a:buClr>
                <a:schemeClr val="dk1"/>
              </a:buClr>
              <a:buSzPts val="1600"/>
              <a:buFont typeface="Arial"/>
              <a:buNone/>
            </a:pPr>
            <a:r>
              <a:rPr lang="es" sz="1350">
                <a:solidFill>
                  <a:srgbClr val="770000"/>
                </a:solidFill>
                <a:highlight>
                  <a:srgbClr val="EAFF6A"/>
                </a:highlight>
                <a:latin typeface="DM Sans"/>
                <a:ea typeface="DM Sans"/>
                <a:cs typeface="DM Sans"/>
                <a:sym typeface="DM Sans"/>
              </a:rPr>
              <a:t>&gt;&gt;&gt;</a:t>
            </a:r>
            <a:r>
              <a:rPr lang="es" sz="1350">
                <a:solidFill>
                  <a:schemeClr val="dk1"/>
                </a:solidFill>
                <a:highlight>
                  <a:srgbClr val="EAFF6A"/>
                </a:highlight>
                <a:latin typeface="DM Sans"/>
                <a:ea typeface="DM Sans"/>
                <a:cs typeface="DM Sans"/>
                <a:sym typeface="DM Sans"/>
              </a:rPr>
              <a:t> lista.</a:t>
            </a:r>
            <a:r>
              <a:rPr lang="es" sz="1350">
                <a:solidFill>
                  <a:srgbClr val="303F9F"/>
                </a:solidFill>
                <a:highlight>
                  <a:srgbClr val="EAFF6A"/>
                </a:highlight>
                <a:latin typeface="DM Sans"/>
                <a:ea typeface="DM Sans"/>
                <a:cs typeface="DM Sans"/>
                <a:sym typeface="DM Sans"/>
              </a:rPr>
              <a:t>pop</a:t>
            </a:r>
            <a:r>
              <a:rPr lang="es" sz="1350">
                <a:solidFill>
                  <a:schemeClr val="dk1"/>
                </a:solidFill>
                <a:highlight>
                  <a:srgbClr val="EAFF6A"/>
                </a:highlight>
                <a:latin typeface="DM Sans"/>
                <a:ea typeface="DM Sans"/>
                <a:cs typeface="DM Sans"/>
                <a:sym typeface="DM Sans"/>
              </a:rPr>
              <a:t>()</a:t>
            </a:r>
            <a:endParaRPr sz="1350">
              <a:solidFill>
                <a:schemeClr val="dk1"/>
              </a:solidFill>
              <a:highlight>
                <a:srgbClr val="EAFF6A"/>
              </a:highlight>
              <a:latin typeface="DM Sans"/>
              <a:ea typeface="DM Sans"/>
              <a:cs typeface="DM Sans"/>
              <a:sym typeface="DM Sans"/>
            </a:endParaRPr>
          </a:p>
          <a:p>
            <a:pPr marL="0" lvl="0" indent="0" algn="l" rtl="0">
              <a:lnSpc>
                <a:spcPct val="115000"/>
              </a:lnSpc>
              <a:spcBef>
                <a:spcPts val="0"/>
              </a:spcBef>
              <a:spcAft>
                <a:spcPts val="0"/>
              </a:spcAft>
              <a:buClr>
                <a:schemeClr val="dk1"/>
              </a:buClr>
              <a:buSzPts val="1600"/>
              <a:buFont typeface="Arial"/>
              <a:buNone/>
            </a:pPr>
            <a:r>
              <a:rPr lang="es" sz="1350">
                <a:solidFill>
                  <a:srgbClr val="FF0000"/>
                </a:solidFill>
                <a:latin typeface="DM Sans"/>
                <a:ea typeface="DM Sans"/>
                <a:cs typeface="DM Sans"/>
                <a:sym typeface="DM Sans"/>
              </a:rPr>
              <a:t>&lt;ipython-input-6-9e6f3717293a&gt; in &lt;module&gt;()</a:t>
            </a:r>
            <a:endParaRPr sz="1350">
              <a:solidFill>
                <a:srgbClr val="FF0000"/>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1600"/>
              <a:buFont typeface="Arial"/>
              <a:buNone/>
            </a:pPr>
            <a:r>
              <a:rPr lang="es" sz="1350">
                <a:solidFill>
                  <a:srgbClr val="FF0000"/>
                </a:solidFill>
                <a:latin typeface="DM Sans"/>
                <a:ea typeface="DM Sans"/>
                <a:cs typeface="DM Sans"/>
                <a:sym typeface="DM Sans"/>
              </a:rPr>
              <a:t>----&gt; 1 l.pop()</a:t>
            </a:r>
            <a:endParaRPr sz="1350">
              <a:solidFill>
                <a:srgbClr val="FF0000"/>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1600"/>
              <a:buFont typeface="Arial"/>
              <a:buNone/>
            </a:pPr>
            <a:endParaRPr sz="1350">
              <a:solidFill>
                <a:srgbClr val="FF0000"/>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1600"/>
              <a:buFont typeface="Arial"/>
              <a:buNone/>
            </a:pPr>
            <a:r>
              <a:rPr lang="es" sz="1350">
                <a:solidFill>
                  <a:srgbClr val="FF0000"/>
                </a:solidFill>
                <a:latin typeface="DM Sans"/>
                <a:ea typeface="DM Sans"/>
                <a:cs typeface="DM Sans"/>
                <a:sym typeface="DM Sans"/>
              </a:rPr>
              <a:t>IndexError: pop from empty list</a:t>
            </a:r>
            <a:endParaRPr sz="1350">
              <a:solidFill>
                <a:schemeClr val="dk1"/>
              </a:solidFill>
              <a:latin typeface="DM Sans"/>
              <a:ea typeface="DM Sans"/>
              <a:cs typeface="DM Sans"/>
              <a:sym typeface="DM Sans"/>
            </a:endParaRPr>
          </a:p>
        </p:txBody>
      </p:sp>
      <p:sp>
        <p:nvSpPr>
          <p:cNvPr id="184" name="Google Shape;184;p28"/>
          <p:cNvSpPr txBox="1"/>
          <p:nvPr/>
        </p:nvSpPr>
        <p:spPr>
          <a:xfrm>
            <a:off x="76200" y="4772725"/>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s" sz="1100" b="1" i="0" u="none" strike="noStrike" cap="none">
                <a:solidFill>
                  <a:srgbClr val="000000"/>
                </a:solidFill>
                <a:latin typeface="DM Sans"/>
                <a:ea typeface="DM Sans"/>
                <a:cs typeface="DM Sans"/>
                <a:sym typeface="DM Sans"/>
              </a:rPr>
              <a:t>Fuente</a:t>
            </a:r>
            <a:r>
              <a:rPr lang="es" sz="1100" i="0" u="none" strike="noStrike" cap="none">
                <a:solidFill>
                  <a:srgbClr val="000000"/>
                </a:solidFill>
                <a:latin typeface="DM Sans"/>
                <a:ea typeface="DM Sans"/>
                <a:cs typeface="DM Sans"/>
                <a:sym typeface="DM Sans"/>
              </a:rPr>
              <a:t>: </a:t>
            </a:r>
            <a:r>
              <a:rPr lang="es" sz="1100" i="0" u="sng" strike="noStrike" cap="none">
                <a:solidFill>
                  <a:srgbClr val="0563C1"/>
                </a:solidFill>
                <a:latin typeface="DM Sans"/>
                <a:ea typeface="DM Sans"/>
                <a:cs typeface="DM Sans"/>
                <a:sym typeface="DM Sans"/>
                <a:hlinkClick r:id="rId4">
                  <a:extLst>
                    <a:ext uri="{A12FA001-AC4F-418D-AE19-62706E023703}">
                      <ahyp:hlinkClr xmlns:ahyp="http://schemas.microsoft.com/office/drawing/2018/hyperlinkcolor" val="tx"/>
                    </a:ext>
                  </a:extLst>
                </a:hlinkClick>
              </a:rPr>
              <a:t>EntrenamientoPython</a:t>
            </a:r>
            <a:endParaRPr sz="1100" i="0" u="none" strike="noStrike" cap="none">
              <a:solidFill>
                <a:srgbClr val="000000"/>
              </a:solidFill>
              <a:latin typeface="DM Sans"/>
              <a:ea typeface="DM Sans"/>
              <a:cs typeface="DM Sans"/>
              <a:sym typeface="DM Sans"/>
            </a:endParaRPr>
          </a:p>
        </p:txBody>
      </p:sp>
      <p:sp>
        <p:nvSpPr>
          <p:cNvPr id="185" name="Google Shape;185;p28"/>
          <p:cNvSpPr txBox="1"/>
          <p:nvPr/>
        </p:nvSpPr>
        <p:spPr>
          <a:xfrm>
            <a:off x="5212625" y="1934650"/>
            <a:ext cx="3000000" cy="1826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1350">
                <a:solidFill>
                  <a:schemeClr val="dk1"/>
                </a:solidFill>
                <a:latin typeface="DM Sans"/>
                <a:ea typeface="DM Sans"/>
                <a:cs typeface="DM Sans"/>
                <a:sym typeface="DM Sans"/>
              </a:rPr>
              <a:t>Si intentamos sacar un elemento de una lista vacía, algo que no tiene mucho sentido, el programa dará fallo de tipo </a:t>
            </a:r>
            <a:r>
              <a:rPr lang="es" sz="1350">
                <a:solidFill>
                  <a:schemeClr val="dk1"/>
                </a:solidFill>
                <a:highlight>
                  <a:schemeClr val="accent4"/>
                </a:highlight>
                <a:latin typeface="DM Sans"/>
                <a:ea typeface="DM Sans"/>
                <a:cs typeface="DM Sans"/>
                <a:sym typeface="DM Sans"/>
              </a:rPr>
              <a:t>IndexError</a:t>
            </a:r>
            <a:r>
              <a:rPr lang="es" sz="1350">
                <a:solidFill>
                  <a:schemeClr val="dk1"/>
                </a:solidFill>
                <a:latin typeface="DM Sans"/>
                <a:ea typeface="DM Sans"/>
                <a:cs typeface="DM Sans"/>
                <a:sym typeface="DM Sans"/>
              </a:rPr>
              <a:t>. </a:t>
            </a:r>
            <a:endParaRPr sz="1350">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r>
              <a:rPr lang="es" sz="1350">
                <a:solidFill>
                  <a:schemeClr val="dk1"/>
                </a:solidFill>
                <a:latin typeface="DM Sans"/>
                <a:ea typeface="DM Sans"/>
                <a:cs typeface="DM Sans"/>
                <a:sym typeface="DM Sans"/>
              </a:rPr>
              <a:t>Esta situación </a:t>
            </a:r>
            <a:r>
              <a:rPr lang="es" sz="1350">
                <a:solidFill>
                  <a:schemeClr val="dk1"/>
                </a:solidFill>
                <a:highlight>
                  <a:schemeClr val="accent4"/>
                </a:highlight>
                <a:latin typeface="DM Sans"/>
                <a:ea typeface="DM Sans"/>
                <a:cs typeface="DM Sans"/>
                <a:sym typeface="DM Sans"/>
              </a:rPr>
              <a:t>ocurre sólo durante la ejecución del programa</a:t>
            </a:r>
            <a:r>
              <a:rPr lang="es" sz="1350">
                <a:solidFill>
                  <a:schemeClr val="dk1"/>
                </a:solidFill>
                <a:latin typeface="DM Sans"/>
                <a:ea typeface="DM Sans"/>
                <a:cs typeface="DM Sans"/>
                <a:sym typeface="DM Sans"/>
              </a:rPr>
              <a:t>, por lo que los editores no lo detectarán:</a:t>
            </a:r>
            <a:endParaRPr/>
          </a:p>
        </p:txBody>
      </p:sp>
      <p:sp>
        <p:nvSpPr>
          <p:cNvPr id="186" name="Google Shape;186;p28"/>
          <p:cNvSpPr txBox="1"/>
          <p:nvPr/>
        </p:nvSpPr>
        <p:spPr>
          <a:xfrm>
            <a:off x="914225" y="1832375"/>
            <a:ext cx="4207800" cy="1768200"/>
          </a:xfrm>
          <a:prstGeom prst="rect">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100"/>
              <a:buFont typeface="Arial"/>
              <a:buNone/>
            </a:pPr>
            <a:endParaRPr sz="1350" i="0" u="none" strike="noStrike" cap="none">
              <a:solidFill>
                <a:srgbClr val="FF0000"/>
              </a:solidFill>
              <a:highlight>
                <a:srgbClr val="EAFF6A"/>
              </a:highlight>
              <a:latin typeface="DM Sans"/>
              <a:ea typeface="DM Sans"/>
              <a:cs typeface="DM Sans"/>
              <a:sym typeface="DM Sans"/>
            </a:endParaRPr>
          </a:p>
          <a:p>
            <a:pPr marL="0" marR="0" lvl="0" indent="0" algn="l" rtl="0">
              <a:lnSpc>
                <a:spcPct val="115000"/>
              </a:lnSpc>
              <a:spcBef>
                <a:spcPts val="0"/>
              </a:spcBef>
              <a:spcAft>
                <a:spcPts val="0"/>
              </a:spcAft>
              <a:buClr>
                <a:srgbClr val="000000"/>
              </a:buClr>
              <a:buSzPts val="1100"/>
              <a:buFont typeface="Arial"/>
              <a:buNone/>
            </a:pPr>
            <a:endParaRPr sz="1800" b="0" i="0" u="none" strike="noStrike" cap="none">
              <a:solidFill>
                <a:srgbClr val="000000"/>
              </a:solidFill>
              <a:latin typeface="Helvetica Neue Light"/>
              <a:ea typeface="Helvetica Neue Light"/>
              <a:cs typeface="Helvetica Neue Light"/>
              <a:sym typeface="Helvetica Neue Light"/>
            </a:endParaRPr>
          </a:p>
        </p:txBody>
      </p:sp>
      <p:sp>
        <p:nvSpPr>
          <p:cNvPr id="2" name="Rectángulo 1">
            <a:extLst>
              <a:ext uri="{FF2B5EF4-FFF2-40B4-BE49-F238E27FC236}">
                <a16:creationId xmlns:a16="http://schemas.microsoft.com/office/drawing/2014/main" id="{DE7257CE-7A51-FD40-6BFB-66E9F320C3BE}"/>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9"/>
          <p:cNvSpPr/>
          <p:nvPr/>
        </p:nvSpPr>
        <p:spPr>
          <a:xfrm>
            <a:off x="647400" y="1189150"/>
            <a:ext cx="7849200" cy="33174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p29"/>
          <p:cNvSpPr txBox="1"/>
          <p:nvPr/>
        </p:nvSpPr>
        <p:spPr>
          <a:xfrm>
            <a:off x="1461300" y="345975"/>
            <a:ext cx="6221400" cy="6696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3500"/>
              <a:buFont typeface="Arial"/>
              <a:buNone/>
            </a:pPr>
            <a:r>
              <a:rPr lang="es" sz="3500" b="1">
                <a:solidFill>
                  <a:schemeClr val="lt1"/>
                </a:solidFill>
                <a:latin typeface="DM Sans"/>
                <a:ea typeface="DM Sans"/>
                <a:cs typeface="DM Sans"/>
                <a:sym typeface="DM Sans"/>
              </a:rPr>
              <a:t>Errores semánticos</a:t>
            </a:r>
            <a:endParaRPr sz="3500" b="1" i="0" u="none" strike="noStrike" cap="none">
              <a:solidFill>
                <a:schemeClr val="lt1"/>
              </a:solidFill>
              <a:latin typeface="DM Sans"/>
              <a:ea typeface="DM Sans"/>
              <a:cs typeface="DM Sans"/>
              <a:sym typeface="DM Sans"/>
            </a:endParaRPr>
          </a:p>
        </p:txBody>
      </p:sp>
      <p:grpSp>
        <p:nvGrpSpPr>
          <p:cNvPr id="193" name="Google Shape;193;p29"/>
          <p:cNvGrpSpPr/>
          <p:nvPr/>
        </p:nvGrpSpPr>
        <p:grpSpPr>
          <a:xfrm>
            <a:off x="8212626" y="215723"/>
            <a:ext cx="738900" cy="738900"/>
            <a:chOff x="473351" y="619523"/>
            <a:chExt cx="738900" cy="738900"/>
          </a:xfrm>
        </p:grpSpPr>
        <p:sp>
          <p:nvSpPr>
            <p:cNvPr id="194" name="Google Shape;194;p29"/>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95" name="Google Shape;195;p29"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sp>
        <p:nvSpPr>
          <p:cNvPr id="196" name="Google Shape;196;p29"/>
          <p:cNvSpPr txBox="1"/>
          <p:nvPr/>
        </p:nvSpPr>
        <p:spPr>
          <a:xfrm>
            <a:off x="1461300" y="2293150"/>
            <a:ext cx="2619000" cy="1109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1350">
              <a:solidFill>
                <a:schemeClr val="dk1"/>
              </a:solidFill>
              <a:highlight>
                <a:srgbClr val="EAFF6A"/>
              </a:highlight>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350">
                <a:solidFill>
                  <a:srgbClr val="770000"/>
                </a:solidFill>
                <a:highlight>
                  <a:srgbClr val="EAFF6A"/>
                </a:highlight>
                <a:latin typeface="DM Sans"/>
                <a:ea typeface="DM Sans"/>
                <a:cs typeface="DM Sans"/>
                <a:sym typeface="DM Sans"/>
              </a:rPr>
              <a:t>&gt;&gt;&gt; lista = []</a:t>
            </a:r>
            <a:endParaRPr sz="1350">
              <a:solidFill>
                <a:srgbClr val="770000"/>
              </a:solidFill>
              <a:highlight>
                <a:srgbClr val="EAFF6A"/>
              </a:highlight>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350">
                <a:solidFill>
                  <a:srgbClr val="770000"/>
                </a:solidFill>
                <a:highlight>
                  <a:srgbClr val="EAFF6A"/>
                </a:highlight>
                <a:latin typeface="DM Sans"/>
                <a:ea typeface="DM Sans"/>
                <a:cs typeface="DM Sans"/>
                <a:sym typeface="DM Sans"/>
              </a:rPr>
              <a:t>&gt;&gt;&gt; if len(lista) &gt; 0:</a:t>
            </a:r>
            <a:endParaRPr sz="1350">
              <a:solidFill>
                <a:srgbClr val="770000"/>
              </a:solidFill>
              <a:highlight>
                <a:srgbClr val="EAFF6A"/>
              </a:highlight>
              <a:latin typeface="DM Sans"/>
              <a:ea typeface="DM Sans"/>
              <a:cs typeface="DM Sans"/>
              <a:sym typeface="DM Sans"/>
            </a:endParaRPr>
          </a:p>
          <a:p>
            <a:pPr marL="0" lvl="0" indent="457200" algn="l" rtl="0">
              <a:lnSpc>
                <a:spcPct val="115000"/>
              </a:lnSpc>
              <a:spcBef>
                <a:spcPts val="0"/>
              </a:spcBef>
              <a:spcAft>
                <a:spcPts val="0"/>
              </a:spcAft>
              <a:buNone/>
            </a:pPr>
            <a:r>
              <a:rPr lang="es" sz="1350">
                <a:solidFill>
                  <a:srgbClr val="770000"/>
                </a:solidFill>
                <a:highlight>
                  <a:srgbClr val="EAFF6A"/>
                </a:highlight>
                <a:latin typeface="DM Sans"/>
                <a:ea typeface="DM Sans"/>
                <a:cs typeface="DM Sans"/>
                <a:sym typeface="DM Sans"/>
              </a:rPr>
              <a:t>lista.pop()</a:t>
            </a:r>
            <a:endParaRPr sz="1350">
              <a:solidFill>
                <a:srgbClr val="770000"/>
              </a:solidFill>
              <a:highlight>
                <a:srgbClr val="EAFF6A"/>
              </a:highlight>
              <a:latin typeface="DM Sans"/>
              <a:ea typeface="DM Sans"/>
              <a:cs typeface="DM Sans"/>
              <a:sym typeface="DM Sans"/>
            </a:endParaRPr>
          </a:p>
        </p:txBody>
      </p:sp>
      <p:sp>
        <p:nvSpPr>
          <p:cNvPr id="197" name="Google Shape;197;p29"/>
          <p:cNvSpPr txBox="1"/>
          <p:nvPr/>
        </p:nvSpPr>
        <p:spPr>
          <a:xfrm>
            <a:off x="76200" y="4772725"/>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s" sz="1100" b="1" i="0" u="none" strike="noStrike" cap="none">
                <a:solidFill>
                  <a:srgbClr val="000000"/>
                </a:solidFill>
                <a:latin typeface="DM Sans"/>
                <a:ea typeface="DM Sans"/>
                <a:cs typeface="DM Sans"/>
                <a:sym typeface="DM Sans"/>
              </a:rPr>
              <a:t>Fuente</a:t>
            </a:r>
            <a:r>
              <a:rPr lang="es" sz="1100" i="0" u="none" strike="noStrike" cap="none">
                <a:solidFill>
                  <a:srgbClr val="000000"/>
                </a:solidFill>
                <a:latin typeface="DM Sans"/>
                <a:ea typeface="DM Sans"/>
                <a:cs typeface="DM Sans"/>
                <a:sym typeface="DM Sans"/>
              </a:rPr>
              <a:t>: </a:t>
            </a:r>
            <a:r>
              <a:rPr lang="es" sz="1100" i="0" u="sng" strike="noStrike" cap="none">
                <a:solidFill>
                  <a:srgbClr val="0563C1"/>
                </a:solidFill>
                <a:latin typeface="DM Sans"/>
                <a:ea typeface="DM Sans"/>
                <a:cs typeface="DM Sans"/>
                <a:sym typeface="DM Sans"/>
                <a:hlinkClick r:id="rId4">
                  <a:extLst>
                    <a:ext uri="{A12FA001-AC4F-418D-AE19-62706E023703}">
                      <ahyp:hlinkClr xmlns:ahyp="http://schemas.microsoft.com/office/drawing/2018/hyperlinkcolor" val="tx"/>
                    </a:ext>
                  </a:extLst>
                </a:hlinkClick>
              </a:rPr>
              <a:t>EntrenamientoPython</a:t>
            </a:r>
            <a:endParaRPr sz="1100" i="0" u="none" strike="noStrike" cap="none">
              <a:solidFill>
                <a:srgbClr val="000000"/>
              </a:solidFill>
              <a:latin typeface="DM Sans"/>
              <a:ea typeface="DM Sans"/>
              <a:cs typeface="DM Sans"/>
              <a:sym typeface="DM Sans"/>
            </a:endParaRPr>
          </a:p>
        </p:txBody>
      </p:sp>
      <p:sp>
        <p:nvSpPr>
          <p:cNvPr id="198" name="Google Shape;198;p29"/>
          <p:cNvSpPr txBox="1"/>
          <p:nvPr/>
        </p:nvSpPr>
        <p:spPr>
          <a:xfrm>
            <a:off x="4974450" y="2173750"/>
            <a:ext cx="3000000" cy="1348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1350">
                <a:solidFill>
                  <a:schemeClr val="dk1"/>
                </a:solidFill>
                <a:latin typeface="DM Sans"/>
                <a:ea typeface="DM Sans"/>
                <a:cs typeface="DM Sans"/>
                <a:sym typeface="DM Sans"/>
              </a:rPr>
              <a:t>Para prevenir el error deberíamos </a:t>
            </a:r>
            <a:r>
              <a:rPr lang="es" sz="1350">
                <a:solidFill>
                  <a:schemeClr val="dk1"/>
                </a:solidFill>
                <a:highlight>
                  <a:schemeClr val="accent4"/>
                </a:highlight>
                <a:latin typeface="DM Sans"/>
                <a:ea typeface="DM Sans"/>
                <a:cs typeface="DM Sans"/>
                <a:sym typeface="DM Sans"/>
              </a:rPr>
              <a:t>comprobar que una lista tenga como mínimo un elemento antes de intentar sacarlo</a:t>
            </a:r>
            <a:r>
              <a:rPr lang="es" sz="1350">
                <a:solidFill>
                  <a:schemeClr val="dk1"/>
                </a:solidFill>
                <a:latin typeface="DM Sans"/>
                <a:ea typeface="DM Sans"/>
                <a:cs typeface="DM Sans"/>
                <a:sym typeface="DM Sans"/>
              </a:rPr>
              <a:t>, algo factible utilizando la función </a:t>
            </a:r>
            <a:r>
              <a:rPr lang="es" sz="1350">
                <a:solidFill>
                  <a:schemeClr val="dk1"/>
                </a:solidFill>
                <a:highlight>
                  <a:schemeClr val="accent4"/>
                </a:highlight>
                <a:latin typeface="DM Sans"/>
                <a:ea typeface="DM Sans"/>
                <a:cs typeface="DM Sans"/>
                <a:sym typeface="DM Sans"/>
              </a:rPr>
              <a:t>len()</a:t>
            </a:r>
            <a:r>
              <a:rPr lang="es" sz="1350">
                <a:solidFill>
                  <a:schemeClr val="dk1"/>
                </a:solidFill>
                <a:latin typeface="DM Sans"/>
                <a:ea typeface="DM Sans"/>
                <a:cs typeface="DM Sans"/>
                <a:sym typeface="DM Sans"/>
              </a:rPr>
              <a:t>:</a:t>
            </a:r>
            <a:endParaRPr sz="1350">
              <a:solidFill>
                <a:schemeClr val="dk1"/>
              </a:solidFill>
              <a:latin typeface="DM Sans"/>
              <a:ea typeface="DM Sans"/>
              <a:cs typeface="DM Sans"/>
              <a:sym typeface="DM Sans"/>
            </a:endParaRPr>
          </a:p>
        </p:txBody>
      </p:sp>
      <p:sp>
        <p:nvSpPr>
          <p:cNvPr id="199" name="Google Shape;199;p29"/>
          <p:cNvSpPr/>
          <p:nvPr/>
        </p:nvSpPr>
        <p:spPr>
          <a:xfrm>
            <a:off x="1304300" y="2293150"/>
            <a:ext cx="1907400" cy="1242900"/>
          </a:xfrm>
          <a:prstGeom prst="rect">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ángulo 1">
            <a:extLst>
              <a:ext uri="{FF2B5EF4-FFF2-40B4-BE49-F238E27FC236}">
                <a16:creationId xmlns:a16="http://schemas.microsoft.com/office/drawing/2014/main" id="{3112EF98-0BCE-CFB7-8C0E-C97C85F73B5F}"/>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0"/>
          <p:cNvSpPr/>
          <p:nvPr/>
        </p:nvSpPr>
        <p:spPr>
          <a:xfrm>
            <a:off x="647400" y="1189150"/>
            <a:ext cx="7849200" cy="33174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 name="Google Shape;205;p30"/>
          <p:cNvSpPr txBox="1"/>
          <p:nvPr/>
        </p:nvSpPr>
        <p:spPr>
          <a:xfrm>
            <a:off x="1461300" y="345975"/>
            <a:ext cx="6221400" cy="6696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3500"/>
              <a:buFont typeface="Arial"/>
              <a:buNone/>
            </a:pPr>
            <a:r>
              <a:rPr lang="es" sz="3500" b="1">
                <a:solidFill>
                  <a:schemeClr val="lt1"/>
                </a:solidFill>
                <a:latin typeface="DM Sans"/>
                <a:ea typeface="DM Sans"/>
                <a:cs typeface="DM Sans"/>
                <a:sym typeface="DM Sans"/>
              </a:rPr>
              <a:t>Errores semánticos</a:t>
            </a:r>
            <a:endParaRPr sz="3500" b="1" i="0" u="none" strike="noStrike" cap="none">
              <a:solidFill>
                <a:schemeClr val="lt1"/>
              </a:solidFill>
              <a:latin typeface="DM Sans"/>
              <a:ea typeface="DM Sans"/>
              <a:cs typeface="DM Sans"/>
              <a:sym typeface="DM Sans"/>
            </a:endParaRPr>
          </a:p>
        </p:txBody>
      </p:sp>
      <p:grpSp>
        <p:nvGrpSpPr>
          <p:cNvPr id="206" name="Google Shape;206;p30"/>
          <p:cNvGrpSpPr/>
          <p:nvPr/>
        </p:nvGrpSpPr>
        <p:grpSpPr>
          <a:xfrm>
            <a:off x="8212626" y="215723"/>
            <a:ext cx="738900" cy="738900"/>
            <a:chOff x="473351" y="619523"/>
            <a:chExt cx="738900" cy="738900"/>
          </a:xfrm>
        </p:grpSpPr>
        <p:sp>
          <p:nvSpPr>
            <p:cNvPr id="207" name="Google Shape;207;p30"/>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08" name="Google Shape;208;p30"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sp>
        <p:nvSpPr>
          <p:cNvPr id="209" name="Google Shape;209;p30"/>
          <p:cNvSpPr txBox="1"/>
          <p:nvPr/>
        </p:nvSpPr>
        <p:spPr>
          <a:xfrm>
            <a:off x="959975" y="1373375"/>
            <a:ext cx="7172100" cy="870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1350">
                <a:solidFill>
                  <a:schemeClr val="dk1"/>
                </a:solidFill>
                <a:latin typeface="DM Sans"/>
                <a:ea typeface="DM Sans"/>
                <a:cs typeface="DM Sans"/>
                <a:sym typeface="DM Sans"/>
              </a:rPr>
              <a:t>Cuando leemos un valor con la función</a:t>
            </a:r>
            <a:r>
              <a:rPr lang="es" sz="1350">
                <a:solidFill>
                  <a:schemeClr val="dk1"/>
                </a:solidFill>
                <a:highlight>
                  <a:schemeClr val="accent4"/>
                </a:highlight>
                <a:latin typeface="DM Sans"/>
                <a:ea typeface="DM Sans"/>
                <a:cs typeface="DM Sans"/>
                <a:sym typeface="DM Sans"/>
              </a:rPr>
              <a:t> input(),</a:t>
            </a:r>
            <a:r>
              <a:rPr lang="es" sz="1350">
                <a:solidFill>
                  <a:schemeClr val="dk1"/>
                </a:solidFill>
                <a:latin typeface="DM Sans"/>
                <a:ea typeface="DM Sans"/>
                <a:cs typeface="DM Sans"/>
                <a:sym typeface="DM Sans"/>
              </a:rPr>
              <a:t> éste siempre se obtendrá como una cadena de caracteres. </a:t>
            </a:r>
            <a:r>
              <a:rPr lang="es" sz="1350">
                <a:solidFill>
                  <a:schemeClr val="dk1"/>
                </a:solidFill>
                <a:highlight>
                  <a:schemeClr val="accent4"/>
                </a:highlight>
                <a:latin typeface="DM Sans"/>
                <a:ea typeface="DM Sans"/>
                <a:cs typeface="DM Sans"/>
                <a:sym typeface="DM Sans"/>
              </a:rPr>
              <a:t>Si intentamos operarlo directamente con otros números tendremos un fallo TypeError</a:t>
            </a:r>
            <a:r>
              <a:rPr lang="es" sz="1350">
                <a:solidFill>
                  <a:schemeClr val="dk1"/>
                </a:solidFill>
                <a:latin typeface="DM Sans"/>
                <a:ea typeface="DM Sans"/>
                <a:cs typeface="DM Sans"/>
                <a:sym typeface="DM Sans"/>
              </a:rPr>
              <a:t> que tampoco detectan los editores de código:</a:t>
            </a:r>
            <a:endParaRPr sz="1350">
              <a:solidFill>
                <a:srgbClr val="770000"/>
              </a:solidFill>
              <a:highlight>
                <a:schemeClr val="lt1"/>
              </a:highlight>
              <a:latin typeface="DM Sans"/>
              <a:ea typeface="DM Sans"/>
              <a:cs typeface="DM Sans"/>
              <a:sym typeface="DM Sans"/>
            </a:endParaRPr>
          </a:p>
        </p:txBody>
      </p:sp>
      <p:sp>
        <p:nvSpPr>
          <p:cNvPr id="210" name="Google Shape;210;p30"/>
          <p:cNvSpPr txBox="1"/>
          <p:nvPr/>
        </p:nvSpPr>
        <p:spPr>
          <a:xfrm>
            <a:off x="76200" y="4772725"/>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s" sz="1100" b="1" i="0" u="none" strike="noStrike" cap="none">
                <a:solidFill>
                  <a:srgbClr val="000000"/>
                </a:solidFill>
                <a:latin typeface="DM Sans"/>
                <a:ea typeface="DM Sans"/>
                <a:cs typeface="DM Sans"/>
                <a:sym typeface="DM Sans"/>
              </a:rPr>
              <a:t>Fuente</a:t>
            </a:r>
            <a:r>
              <a:rPr lang="es" sz="1100" i="0" u="none" strike="noStrike" cap="none">
                <a:solidFill>
                  <a:srgbClr val="000000"/>
                </a:solidFill>
                <a:latin typeface="DM Sans"/>
                <a:ea typeface="DM Sans"/>
                <a:cs typeface="DM Sans"/>
                <a:sym typeface="DM Sans"/>
              </a:rPr>
              <a:t>: </a:t>
            </a:r>
            <a:r>
              <a:rPr lang="es" sz="1100" i="0" u="sng" strike="noStrike" cap="none">
                <a:solidFill>
                  <a:srgbClr val="0563C1"/>
                </a:solidFill>
                <a:latin typeface="DM Sans"/>
                <a:ea typeface="DM Sans"/>
                <a:cs typeface="DM Sans"/>
                <a:sym typeface="DM Sans"/>
                <a:hlinkClick r:id="rId4">
                  <a:extLst>
                    <a:ext uri="{A12FA001-AC4F-418D-AE19-62706E023703}">
                      <ahyp:hlinkClr xmlns:ahyp="http://schemas.microsoft.com/office/drawing/2018/hyperlinkcolor" val="tx"/>
                    </a:ext>
                  </a:extLst>
                </a:hlinkClick>
              </a:rPr>
              <a:t>EntrenamientoPython</a:t>
            </a:r>
            <a:endParaRPr sz="1100" i="0" u="none" strike="noStrike" cap="none">
              <a:solidFill>
                <a:srgbClr val="000000"/>
              </a:solidFill>
              <a:latin typeface="DM Sans"/>
              <a:ea typeface="DM Sans"/>
              <a:cs typeface="DM Sans"/>
              <a:sym typeface="DM Sans"/>
            </a:endParaRPr>
          </a:p>
        </p:txBody>
      </p:sp>
      <p:pic>
        <p:nvPicPr>
          <p:cNvPr id="211" name="Google Shape;211;p30"/>
          <p:cNvPicPr preferRelativeResize="0"/>
          <p:nvPr/>
        </p:nvPicPr>
        <p:blipFill rotWithShape="1">
          <a:blip r:embed="rId5">
            <a:alphaModFix/>
          </a:blip>
          <a:srcRect/>
          <a:stretch/>
        </p:blipFill>
        <p:spPr>
          <a:xfrm>
            <a:off x="2191350" y="2537975"/>
            <a:ext cx="4863206" cy="1758475"/>
          </a:xfrm>
          <a:prstGeom prst="rect">
            <a:avLst/>
          </a:prstGeom>
          <a:noFill/>
          <a:ln>
            <a:noFill/>
          </a:ln>
        </p:spPr>
      </p:pic>
      <p:sp>
        <p:nvSpPr>
          <p:cNvPr id="2" name="Rectángulo 1">
            <a:extLst>
              <a:ext uri="{FF2B5EF4-FFF2-40B4-BE49-F238E27FC236}">
                <a16:creationId xmlns:a16="http://schemas.microsoft.com/office/drawing/2014/main" id="{63FEA79E-51B0-0229-6FEB-583E8D93F8BA}"/>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1"/>
          <p:cNvSpPr/>
          <p:nvPr/>
        </p:nvSpPr>
        <p:spPr>
          <a:xfrm>
            <a:off x="647400" y="1189150"/>
            <a:ext cx="7849200" cy="33174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 name="Google Shape;217;p31"/>
          <p:cNvSpPr txBox="1"/>
          <p:nvPr/>
        </p:nvSpPr>
        <p:spPr>
          <a:xfrm>
            <a:off x="1461300" y="345975"/>
            <a:ext cx="6221400" cy="6696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3500"/>
              <a:buFont typeface="Arial"/>
              <a:buNone/>
            </a:pPr>
            <a:r>
              <a:rPr lang="es" sz="3500" b="1">
                <a:solidFill>
                  <a:schemeClr val="lt1"/>
                </a:solidFill>
                <a:latin typeface="DM Sans"/>
                <a:ea typeface="DM Sans"/>
                <a:cs typeface="DM Sans"/>
                <a:sym typeface="DM Sans"/>
              </a:rPr>
              <a:t>Errores semánticos</a:t>
            </a:r>
            <a:endParaRPr sz="3500" b="1" i="0" u="none" strike="noStrike" cap="none">
              <a:solidFill>
                <a:schemeClr val="lt1"/>
              </a:solidFill>
              <a:latin typeface="DM Sans"/>
              <a:ea typeface="DM Sans"/>
              <a:cs typeface="DM Sans"/>
              <a:sym typeface="DM Sans"/>
            </a:endParaRPr>
          </a:p>
        </p:txBody>
      </p:sp>
      <p:grpSp>
        <p:nvGrpSpPr>
          <p:cNvPr id="218" name="Google Shape;218;p31"/>
          <p:cNvGrpSpPr/>
          <p:nvPr/>
        </p:nvGrpSpPr>
        <p:grpSpPr>
          <a:xfrm>
            <a:off x="8212626" y="215723"/>
            <a:ext cx="738900" cy="738900"/>
            <a:chOff x="473351" y="619523"/>
            <a:chExt cx="738900" cy="738900"/>
          </a:xfrm>
        </p:grpSpPr>
        <p:sp>
          <p:nvSpPr>
            <p:cNvPr id="219" name="Google Shape;219;p31"/>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20" name="Google Shape;220;p31"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sp>
        <p:nvSpPr>
          <p:cNvPr id="221" name="Google Shape;221;p31"/>
          <p:cNvSpPr txBox="1"/>
          <p:nvPr/>
        </p:nvSpPr>
        <p:spPr>
          <a:xfrm>
            <a:off x="959975" y="2464600"/>
            <a:ext cx="3872700" cy="870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1350">
                <a:solidFill>
                  <a:srgbClr val="770000"/>
                </a:solidFill>
                <a:highlight>
                  <a:srgbClr val="EAFF6A"/>
                </a:highlight>
                <a:latin typeface="DM Sans"/>
                <a:ea typeface="DM Sans"/>
                <a:cs typeface="DM Sans"/>
                <a:sym typeface="DM Sans"/>
              </a:rPr>
              <a:t>&gt;&gt;&gt;</a:t>
            </a:r>
            <a:r>
              <a:rPr lang="es" sz="1350">
                <a:solidFill>
                  <a:schemeClr val="dk1"/>
                </a:solidFill>
                <a:highlight>
                  <a:srgbClr val="EAFF6A"/>
                </a:highlight>
                <a:latin typeface="DM Sans"/>
                <a:ea typeface="DM Sans"/>
                <a:cs typeface="DM Sans"/>
                <a:sym typeface="DM Sans"/>
              </a:rPr>
              <a:t> n = float(input("Introduce un número: "))</a:t>
            </a:r>
            <a:endParaRPr sz="1350">
              <a:solidFill>
                <a:schemeClr val="dk1"/>
              </a:solidFill>
              <a:highlight>
                <a:srgbClr val="EAFF6A"/>
              </a:highlight>
              <a:latin typeface="DM Sans"/>
              <a:ea typeface="DM Sans"/>
              <a:cs typeface="DM Sans"/>
              <a:sym typeface="DM Sans"/>
            </a:endParaRPr>
          </a:p>
          <a:p>
            <a:pPr marL="0" lvl="0" indent="0" algn="l" rtl="0">
              <a:lnSpc>
                <a:spcPct val="115000"/>
              </a:lnSpc>
              <a:spcBef>
                <a:spcPts val="0"/>
              </a:spcBef>
              <a:spcAft>
                <a:spcPts val="0"/>
              </a:spcAft>
              <a:buNone/>
            </a:pPr>
            <a:r>
              <a:rPr lang="es" sz="1350">
                <a:solidFill>
                  <a:srgbClr val="770000"/>
                </a:solidFill>
                <a:highlight>
                  <a:srgbClr val="EAFF6A"/>
                </a:highlight>
                <a:latin typeface="DM Sans"/>
                <a:ea typeface="DM Sans"/>
                <a:cs typeface="DM Sans"/>
                <a:sym typeface="DM Sans"/>
              </a:rPr>
              <a:t>&gt;&gt;&gt;</a:t>
            </a:r>
            <a:r>
              <a:rPr lang="es" sz="1350">
                <a:solidFill>
                  <a:schemeClr val="dk1"/>
                </a:solidFill>
                <a:highlight>
                  <a:srgbClr val="EAFF6A"/>
                </a:highlight>
                <a:latin typeface="DM Sans"/>
                <a:ea typeface="DM Sans"/>
                <a:cs typeface="DM Sans"/>
                <a:sym typeface="DM Sans"/>
              </a:rPr>
              <a:t> m = 4</a:t>
            </a:r>
            <a:endParaRPr sz="1350">
              <a:solidFill>
                <a:schemeClr val="dk1"/>
              </a:solidFill>
              <a:highlight>
                <a:srgbClr val="EAFF6A"/>
              </a:highlight>
              <a:latin typeface="DM Sans"/>
              <a:ea typeface="DM Sans"/>
              <a:cs typeface="DM Sans"/>
              <a:sym typeface="DM Sans"/>
            </a:endParaRPr>
          </a:p>
          <a:p>
            <a:pPr marL="0" lvl="0" indent="0" algn="l" rtl="0">
              <a:lnSpc>
                <a:spcPct val="115000"/>
              </a:lnSpc>
              <a:spcBef>
                <a:spcPts val="0"/>
              </a:spcBef>
              <a:spcAft>
                <a:spcPts val="0"/>
              </a:spcAft>
              <a:buNone/>
            </a:pPr>
            <a:r>
              <a:rPr lang="es" sz="1350">
                <a:solidFill>
                  <a:srgbClr val="770000"/>
                </a:solidFill>
                <a:highlight>
                  <a:srgbClr val="EAFF6A"/>
                </a:highlight>
                <a:latin typeface="DM Sans"/>
                <a:ea typeface="DM Sans"/>
                <a:cs typeface="DM Sans"/>
                <a:sym typeface="DM Sans"/>
              </a:rPr>
              <a:t>&gt;&gt;&gt;</a:t>
            </a:r>
            <a:r>
              <a:rPr lang="es" sz="1350">
                <a:solidFill>
                  <a:schemeClr val="dk1"/>
                </a:solidFill>
                <a:highlight>
                  <a:srgbClr val="EAFF6A"/>
                </a:highlight>
                <a:latin typeface="DM Sans"/>
                <a:ea typeface="DM Sans"/>
                <a:cs typeface="DM Sans"/>
                <a:sym typeface="DM Sans"/>
              </a:rPr>
              <a:t> </a:t>
            </a:r>
            <a:r>
              <a:rPr lang="es" sz="1350">
                <a:solidFill>
                  <a:srgbClr val="0D904F"/>
                </a:solidFill>
                <a:highlight>
                  <a:srgbClr val="EAFF6A"/>
                </a:highlight>
                <a:latin typeface="DM Sans"/>
                <a:ea typeface="DM Sans"/>
                <a:cs typeface="DM Sans"/>
                <a:sym typeface="DM Sans"/>
              </a:rPr>
              <a:t>print</a:t>
            </a:r>
            <a:r>
              <a:rPr lang="es" sz="1350">
                <a:solidFill>
                  <a:schemeClr val="dk1"/>
                </a:solidFill>
                <a:highlight>
                  <a:srgbClr val="EAFF6A"/>
                </a:highlight>
                <a:latin typeface="DM Sans"/>
                <a:ea typeface="DM Sans"/>
                <a:cs typeface="DM Sans"/>
                <a:sym typeface="DM Sans"/>
              </a:rPr>
              <a:t>(f"{</a:t>
            </a:r>
            <a:r>
              <a:rPr lang="es" sz="1350">
                <a:solidFill>
                  <a:schemeClr val="dk1"/>
                </a:solidFill>
                <a:highlight>
                  <a:schemeClr val="accent6"/>
                </a:highlight>
                <a:latin typeface="DM Sans"/>
                <a:ea typeface="DM Sans"/>
                <a:cs typeface="DM Sans"/>
                <a:sym typeface="DM Sans"/>
              </a:rPr>
              <a:t>n</a:t>
            </a:r>
            <a:r>
              <a:rPr lang="es" sz="1350">
                <a:solidFill>
                  <a:schemeClr val="dk1"/>
                </a:solidFill>
                <a:highlight>
                  <a:srgbClr val="EAFF6A"/>
                </a:highlight>
                <a:latin typeface="DM Sans"/>
                <a:ea typeface="DM Sans"/>
                <a:cs typeface="DM Sans"/>
                <a:sym typeface="DM Sans"/>
              </a:rPr>
              <a:t>}/{</a:t>
            </a:r>
            <a:r>
              <a:rPr lang="es" sz="1350">
                <a:solidFill>
                  <a:schemeClr val="dk1"/>
                </a:solidFill>
                <a:highlight>
                  <a:schemeClr val="accent6"/>
                </a:highlight>
                <a:latin typeface="DM Sans"/>
                <a:ea typeface="DM Sans"/>
                <a:cs typeface="DM Sans"/>
                <a:sym typeface="DM Sans"/>
              </a:rPr>
              <a:t>m</a:t>
            </a:r>
            <a:r>
              <a:rPr lang="es" sz="1350">
                <a:solidFill>
                  <a:schemeClr val="dk1"/>
                </a:solidFill>
                <a:highlight>
                  <a:srgbClr val="EAFF6A"/>
                </a:highlight>
                <a:latin typeface="DM Sans"/>
                <a:ea typeface="DM Sans"/>
                <a:cs typeface="DM Sans"/>
                <a:sym typeface="DM Sans"/>
              </a:rPr>
              <a:t>} = {</a:t>
            </a:r>
            <a:r>
              <a:rPr lang="es" sz="1350">
                <a:solidFill>
                  <a:schemeClr val="dk1"/>
                </a:solidFill>
                <a:highlight>
                  <a:schemeClr val="accent6"/>
                </a:highlight>
                <a:latin typeface="DM Sans"/>
                <a:ea typeface="DM Sans"/>
                <a:cs typeface="DM Sans"/>
                <a:sym typeface="DM Sans"/>
              </a:rPr>
              <a:t>n/m</a:t>
            </a:r>
            <a:r>
              <a:rPr lang="es" sz="1350">
                <a:solidFill>
                  <a:schemeClr val="dk1"/>
                </a:solidFill>
                <a:highlight>
                  <a:srgbClr val="EAFF6A"/>
                </a:highlight>
                <a:latin typeface="DM Sans"/>
                <a:ea typeface="DM Sans"/>
                <a:cs typeface="DM Sans"/>
                <a:sym typeface="DM Sans"/>
              </a:rPr>
              <a:t>}")</a:t>
            </a:r>
            <a:endParaRPr sz="1350">
              <a:solidFill>
                <a:schemeClr val="dk1"/>
              </a:solidFill>
              <a:highlight>
                <a:srgbClr val="EAFF6A"/>
              </a:highlight>
              <a:latin typeface="DM Sans"/>
              <a:ea typeface="DM Sans"/>
              <a:cs typeface="DM Sans"/>
              <a:sym typeface="DM Sans"/>
            </a:endParaRPr>
          </a:p>
        </p:txBody>
      </p:sp>
      <p:sp>
        <p:nvSpPr>
          <p:cNvPr id="222" name="Google Shape;222;p31"/>
          <p:cNvSpPr txBox="1"/>
          <p:nvPr/>
        </p:nvSpPr>
        <p:spPr>
          <a:xfrm>
            <a:off x="76200" y="4772725"/>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s" sz="1100" b="1" i="0" u="none" strike="noStrike" cap="none">
                <a:solidFill>
                  <a:srgbClr val="000000"/>
                </a:solidFill>
                <a:latin typeface="DM Sans"/>
                <a:ea typeface="DM Sans"/>
                <a:cs typeface="DM Sans"/>
                <a:sym typeface="DM Sans"/>
              </a:rPr>
              <a:t>Fuente</a:t>
            </a:r>
            <a:r>
              <a:rPr lang="es" sz="1100" i="0" u="none" strike="noStrike" cap="none">
                <a:solidFill>
                  <a:srgbClr val="000000"/>
                </a:solidFill>
                <a:latin typeface="DM Sans"/>
                <a:ea typeface="DM Sans"/>
                <a:cs typeface="DM Sans"/>
                <a:sym typeface="DM Sans"/>
              </a:rPr>
              <a:t>: </a:t>
            </a:r>
            <a:r>
              <a:rPr lang="es" sz="1100" i="0" u="sng" strike="noStrike" cap="none">
                <a:solidFill>
                  <a:srgbClr val="0563C1"/>
                </a:solidFill>
                <a:latin typeface="DM Sans"/>
                <a:ea typeface="DM Sans"/>
                <a:cs typeface="DM Sans"/>
                <a:sym typeface="DM Sans"/>
                <a:hlinkClick r:id="rId4">
                  <a:extLst>
                    <a:ext uri="{A12FA001-AC4F-418D-AE19-62706E023703}">
                      <ahyp:hlinkClr xmlns:ahyp="http://schemas.microsoft.com/office/drawing/2018/hyperlinkcolor" val="tx"/>
                    </a:ext>
                  </a:extLst>
                </a:hlinkClick>
              </a:rPr>
              <a:t>EntrenamientoPython</a:t>
            </a:r>
            <a:endParaRPr sz="1100" i="0" u="none" strike="noStrike" cap="none">
              <a:solidFill>
                <a:srgbClr val="000000"/>
              </a:solidFill>
              <a:latin typeface="DM Sans"/>
              <a:ea typeface="DM Sans"/>
              <a:cs typeface="DM Sans"/>
              <a:sym typeface="DM Sans"/>
            </a:endParaRPr>
          </a:p>
        </p:txBody>
      </p:sp>
      <p:sp>
        <p:nvSpPr>
          <p:cNvPr id="223" name="Google Shape;223;p31"/>
          <p:cNvSpPr/>
          <p:nvPr/>
        </p:nvSpPr>
        <p:spPr>
          <a:xfrm>
            <a:off x="959975" y="2272688"/>
            <a:ext cx="4055100" cy="1242900"/>
          </a:xfrm>
          <a:prstGeom prst="rect">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31"/>
          <p:cNvSpPr txBox="1"/>
          <p:nvPr/>
        </p:nvSpPr>
        <p:spPr>
          <a:xfrm>
            <a:off x="5285200" y="2412700"/>
            <a:ext cx="3000000" cy="870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1350">
                <a:solidFill>
                  <a:schemeClr val="dk1"/>
                </a:solidFill>
                <a:latin typeface="DM Sans"/>
                <a:ea typeface="DM Sans"/>
                <a:cs typeface="DM Sans"/>
                <a:sym typeface="DM Sans"/>
              </a:rPr>
              <a:t>Como ya sabemos este error se puede prevenir transformando la cadena a entero o flotante:</a:t>
            </a:r>
            <a:endParaRPr sz="1350">
              <a:solidFill>
                <a:schemeClr val="dk1"/>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EDBCDA55-FC1F-0ACE-2D52-CA29AFC12B1E}"/>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grpSp>
        <p:nvGrpSpPr>
          <p:cNvPr id="229" name="Google Shape;229;p32"/>
          <p:cNvGrpSpPr/>
          <p:nvPr/>
        </p:nvGrpSpPr>
        <p:grpSpPr>
          <a:xfrm>
            <a:off x="4202556" y="994173"/>
            <a:ext cx="738900" cy="738900"/>
            <a:chOff x="974706" y="2467173"/>
            <a:chExt cx="738900" cy="738900"/>
          </a:xfrm>
        </p:grpSpPr>
        <p:sp>
          <p:nvSpPr>
            <p:cNvPr id="230" name="Google Shape;230;p32"/>
            <p:cNvSpPr/>
            <p:nvPr/>
          </p:nvSpPr>
          <p:spPr>
            <a:xfrm>
              <a:off x="974706" y="2467173"/>
              <a:ext cx="738900" cy="738900"/>
            </a:xfrm>
            <a:prstGeom prst="ellipse">
              <a:avLst/>
            </a:prstGeom>
            <a:solidFill>
              <a:srgbClr val="EA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31" name="Google Shape;231;p32" title="ícono de actividad en clase"/>
            <p:cNvPicPr preferRelativeResize="0"/>
            <p:nvPr/>
          </p:nvPicPr>
          <p:blipFill rotWithShape="1">
            <a:blip r:embed="rId3">
              <a:alphaModFix/>
            </a:blip>
            <a:srcRect/>
            <a:stretch/>
          </p:blipFill>
          <p:spPr>
            <a:xfrm>
              <a:off x="1109750" y="2610275"/>
              <a:ext cx="452650" cy="452650"/>
            </a:xfrm>
            <a:prstGeom prst="rect">
              <a:avLst/>
            </a:prstGeom>
            <a:noFill/>
            <a:ln>
              <a:noFill/>
            </a:ln>
          </p:spPr>
        </p:pic>
      </p:grpSp>
      <p:sp>
        <p:nvSpPr>
          <p:cNvPr id="232" name="Google Shape;232;p32"/>
          <p:cNvSpPr txBox="1"/>
          <p:nvPr/>
        </p:nvSpPr>
        <p:spPr>
          <a:xfrm>
            <a:off x="1461300" y="2208625"/>
            <a:ext cx="62214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a:solidFill>
                  <a:schemeClr val="dk1"/>
                </a:solidFill>
                <a:latin typeface="DM Sans"/>
                <a:ea typeface="DM Sans"/>
                <a:cs typeface="DM Sans"/>
                <a:sym typeface="DM Sans"/>
              </a:rPr>
              <a:t>Desafío de errores</a:t>
            </a:r>
            <a:endParaRPr sz="4000" b="1" i="0" u="none" strike="noStrike" cap="none">
              <a:solidFill>
                <a:schemeClr val="dk1"/>
              </a:solidFill>
              <a:highlight>
                <a:srgbClr val="EAFF6A"/>
              </a:highlight>
              <a:latin typeface="DM Sans"/>
              <a:ea typeface="DM Sans"/>
              <a:cs typeface="DM Sans"/>
              <a:sym typeface="DM Sans"/>
            </a:endParaRPr>
          </a:p>
        </p:txBody>
      </p:sp>
      <p:sp>
        <p:nvSpPr>
          <p:cNvPr id="233" name="Google Shape;233;p32"/>
          <p:cNvSpPr txBox="1"/>
          <p:nvPr/>
        </p:nvSpPr>
        <p:spPr>
          <a:xfrm>
            <a:off x="987300" y="3849138"/>
            <a:ext cx="71694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 sz="2000" b="0" i="0" u="none" strike="noStrike" cap="none">
                <a:solidFill>
                  <a:srgbClr val="83AEFB"/>
                </a:solidFill>
                <a:latin typeface="DM Sans"/>
                <a:ea typeface="DM Sans"/>
                <a:cs typeface="DM Sans"/>
                <a:sym typeface="DM Sans"/>
              </a:rPr>
              <a:t>Duración: </a:t>
            </a:r>
            <a:r>
              <a:rPr lang="es" sz="2000" b="1">
                <a:solidFill>
                  <a:srgbClr val="83AEFB"/>
                </a:solidFill>
                <a:latin typeface="DM Sans"/>
                <a:ea typeface="DM Sans"/>
                <a:cs typeface="DM Sans"/>
                <a:sym typeface="DM Sans"/>
              </a:rPr>
              <a:t>10 minutos</a:t>
            </a:r>
            <a:endParaRPr sz="2000" b="1" i="0" u="none" strike="noStrike" cap="none">
              <a:solidFill>
                <a:srgbClr val="83AEFB"/>
              </a:solidFill>
              <a:latin typeface="DM Sans"/>
              <a:ea typeface="DM Sans"/>
              <a:cs typeface="DM Sans"/>
              <a:sym typeface="DM Sans"/>
            </a:endParaRPr>
          </a:p>
        </p:txBody>
      </p:sp>
      <p:sp>
        <p:nvSpPr>
          <p:cNvPr id="234" name="Google Shape;234;p32"/>
          <p:cNvSpPr txBox="1"/>
          <p:nvPr/>
        </p:nvSpPr>
        <p:spPr>
          <a:xfrm>
            <a:off x="987300" y="2947538"/>
            <a:ext cx="71694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s" sz="2000">
                <a:solidFill>
                  <a:srgbClr val="999999"/>
                </a:solidFill>
                <a:latin typeface="DM Sans"/>
                <a:ea typeface="DM Sans"/>
                <a:cs typeface="DM Sans"/>
                <a:sym typeface="DM Sans"/>
              </a:rPr>
              <a:t>Retorna None cuando sucede el fallo </a:t>
            </a:r>
            <a:endParaRPr sz="2000">
              <a:solidFill>
                <a:srgbClr val="999999"/>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78C9E95C-1CC7-A9A1-5443-563262DF6448}"/>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grpSp>
        <p:nvGrpSpPr>
          <p:cNvPr id="239" name="Google Shape;239;p33"/>
          <p:cNvGrpSpPr/>
          <p:nvPr/>
        </p:nvGrpSpPr>
        <p:grpSpPr>
          <a:xfrm>
            <a:off x="457347" y="468298"/>
            <a:ext cx="431074" cy="431074"/>
            <a:chOff x="974706" y="2467173"/>
            <a:chExt cx="738900" cy="738900"/>
          </a:xfrm>
        </p:grpSpPr>
        <p:sp>
          <p:nvSpPr>
            <p:cNvPr id="240" name="Google Shape;240;p33"/>
            <p:cNvSpPr/>
            <p:nvPr/>
          </p:nvSpPr>
          <p:spPr>
            <a:xfrm>
              <a:off x="974706" y="2467173"/>
              <a:ext cx="738900" cy="738900"/>
            </a:xfrm>
            <a:prstGeom prst="ellipse">
              <a:avLst/>
            </a:prstGeom>
            <a:solidFill>
              <a:srgbClr val="EA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41" name="Google Shape;241;p33" title="ícono de actividad en clase"/>
            <p:cNvPicPr preferRelativeResize="0"/>
            <p:nvPr/>
          </p:nvPicPr>
          <p:blipFill rotWithShape="1">
            <a:blip r:embed="rId3">
              <a:alphaModFix/>
            </a:blip>
            <a:srcRect/>
            <a:stretch/>
          </p:blipFill>
          <p:spPr>
            <a:xfrm>
              <a:off x="1109750" y="2610275"/>
              <a:ext cx="452650" cy="452650"/>
            </a:xfrm>
            <a:prstGeom prst="rect">
              <a:avLst/>
            </a:prstGeom>
            <a:noFill/>
            <a:ln>
              <a:noFill/>
            </a:ln>
          </p:spPr>
        </p:pic>
      </p:grpSp>
      <p:sp>
        <p:nvSpPr>
          <p:cNvPr id="242" name="Google Shape;242;p33"/>
          <p:cNvSpPr txBox="1"/>
          <p:nvPr/>
        </p:nvSpPr>
        <p:spPr>
          <a:xfrm>
            <a:off x="501450" y="1081750"/>
            <a:ext cx="49872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a:solidFill>
                  <a:schemeClr val="dk1"/>
                </a:solidFill>
                <a:latin typeface="DM Sans"/>
                <a:ea typeface="DM Sans"/>
                <a:cs typeface="DM Sans"/>
                <a:sym typeface="DM Sans"/>
              </a:rPr>
              <a:t>Desafío de errores</a:t>
            </a:r>
            <a:endParaRPr sz="4000" b="1" i="0" u="none" strike="noStrike" cap="none">
              <a:solidFill>
                <a:schemeClr val="dk1"/>
              </a:solidFill>
              <a:latin typeface="DM Sans"/>
              <a:ea typeface="DM Sans"/>
              <a:cs typeface="DM Sans"/>
              <a:sym typeface="DM Sans"/>
            </a:endParaRPr>
          </a:p>
        </p:txBody>
      </p:sp>
      <p:pic>
        <p:nvPicPr>
          <p:cNvPr id="243" name="Google Shape;243;p33"/>
          <p:cNvPicPr preferRelativeResize="0"/>
          <p:nvPr/>
        </p:nvPicPr>
        <p:blipFill rotWithShape="1">
          <a:blip r:embed="rId4">
            <a:alphaModFix/>
          </a:blip>
          <a:srcRect/>
          <a:stretch/>
        </p:blipFill>
        <p:spPr>
          <a:xfrm>
            <a:off x="7811413" y="4692275"/>
            <a:ext cx="1150750" cy="267575"/>
          </a:xfrm>
          <a:prstGeom prst="rect">
            <a:avLst/>
          </a:prstGeom>
          <a:noFill/>
          <a:ln>
            <a:noFill/>
          </a:ln>
        </p:spPr>
      </p:pic>
      <p:sp>
        <p:nvSpPr>
          <p:cNvPr id="244" name="Google Shape;244;p33"/>
          <p:cNvSpPr txBox="1"/>
          <p:nvPr/>
        </p:nvSpPr>
        <p:spPr>
          <a:xfrm>
            <a:off x="601025" y="2003025"/>
            <a:ext cx="6691800" cy="2470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b="1" i="0" u="none" strike="noStrike" cap="none">
                <a:solidFill>
                  <a:srgbClr val="000000"/>
                </a:solidFill>
                <a:latin typeface="DM Sans"/>
                <a:ea typeface="DM Sans"/>
                <a:cs typeface="DM Sans"/>
                <a:sym typeface="DM Sans"/>
              </a:rPr>
              <a:t>Descripción de la actividad. </a:t>
            </a:r>
            <a:endParaRPr sz="1350" b="1"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r>
              <a:rPr lang="es" sz="1350">
                <a:latin typeface="DM Sans"/>
                <a:ea typeface="DM Sans"/>
                <a:cs typeface="DM Sans"/>
                <a:sym typeface="DM Sans"/>
              </a:rPr>
              <a:t>En la función de nuestro ejercicio hay un fallo potencial, averigua cuándo sucede y retorna el valor None en ese caso especial, en cualquier otro caso devuelve el resultado normal de la función.</a:t>
            </a:r>
            <a:endParaRPr sz="1350">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r>
              <a:rPr lang="es" sz="1350" b="1">
                <a:latin typeface="DM Sans"/>
                <a:ea typeface="DM Sans"/>
                <a:cs typeface="DM Sans"/>
                <a:sym typeface="DM Sans"/>
              </a:rPr>
              <a:t>&gt;&gt;&gt; def dividir(a, b):</a:t>
            </a:r>
            <a:endParaRPr sz="1350" b="1">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r>
              <a:rPr lang="es" sz="1350" b="1">
                <a:latin typeface="DM Sans"/>
                <a:ea typeface="DM Sans"/>
                <a:cs typeface="DM Sans"/>
                <a:sym typeface="DM Sans"/>
              </a:rPr>
              <a:t>return a/b</a:t>
            </a:r>
            <a:endParaRPr sz="1350" b="1">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r>
              <a:rPr lang="es" sz="1350" b="1">
                <a:latin typeface="DM Sans"/>
                <a:ea typeface="DM Sans"/>
                <a:cs typeface="DM Sans"/>
                <a:sym typeface="DM Sans"/>
              </a:rPr>
              <a:t>Pista</a:t>
            </a:r>
            <a:r>
              <a:rPr lang="es" sz="1350">
                <a:latin typeface="DM Sans"/>
                <a:ea typeface="DM Sans"/>
                <a:cs typeface="DM Sans"/>
                <a:sym typeface="DM Sans"/>
              </a:rPr>
              <a:t>: Valor indeterminado</a:t>
            </a:r>
            <a:endParaRPr sz="1350">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endParaRPr sz="1350">
              <a:latin typeface="DM Sans"/>
              <a:ea typeface="DM Sans"/>
              <a:cs typeface="DM Sans"/>
              <a:sym typeface="DM Sans"/>
            </a:endParaRPr>
          </a:p>
        </p:txBody>
      </p:sp>
      <p:sp>
        <p:nvSpPr>
          <p:cNvPr id="245" name="Google Shape;245;p33"/>
          <p:cNvSpPr txBox="1"/>
          <p:nvPr/>
        </p:nvSpPr>
        <p:spPr>
          <a:xfrm>
            <a:off x="930550" y="468275"/>
            <a:ext cx="24612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 sz="1600" b="0" i="0" u="none" strike="noStrike" cap="none">
                <a:solidFill>
                  <a:schemeClr val="dk1"/>
                </a:solidFill>
                <a:latin typeface="DM Sans"/>
                <a:ea typeface="DM Sans"/>
                <a:cs typeface="DM Sans"/>
                <a:sym typeface="DM Sans"/>
              </a:rPr>
              <a:t>ACTIVIDAD EN CLASE</a:t>
            </a:r>
            <a:endParaRPr sz="1400" b="0" i="0" u="none" strike="noStrike" cap="none">
              <a:solidFill>
                <a:srgbClr val="000000"/>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BC91F4BA-CC08-C238-2C77-0C4E2130DC92}"/>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34"/>
          <p:cNvSpPr txBox="1"/>
          <p:nvPr/>
        </p:nvSpPr>
        <p:spPr>
          <a:xfrm>
            <a:off x="1461300" y="1598325"/>
            <a:ext cx="6221400" cy="14316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5000"/>
              <a:buFont typeface="Arial"/>
              <a:buNone/>
            </a:pPr>
            <a:r>
              <a:rPr lang="es" sz="5000" b="0" i="0" u="none" strike="noStrike" cap="none">
                <a:solidFill>
                  <a:srgbClr val="E8E7E3"/>
                </a:solidFill>
                <a:latin typeface="Arial"/>
                <a:ea typeface="Arial"/>
                <a:cs typeface="Arial"/>
                <a:sym typeface="Arial"/>
              </a:rPr>
              <a:t>☕</a:t>
            </a:r>
            <a:endParaRPr sz="5000" b="0" i="0" u="none" strike="noStrike" cap="none">
              <a:solidFill>
                <a:srgbClr val="E8E7E3"/>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rgbClr val="EAFF6A"/>
                </a:solidFill>
                <a:latin typeface="DM Sans"/>
                <a:ea typeface="DM Sans"/>
                <a:cs typeface="DM Sans"/>
                <a:sym typeface="DM Sans"/>
              </a:rPr>
              <a:t>Break</a:t>
            </a:r>
            <a:endParaRPr sz="4000" b="1" i="0" u="none" strike="noStrike" cap="none">
              <a:solidFill>
                <a:schemeClr val="lt1"/>
              </a:solidFill>
              <a:latin typeface="DM Sans"/>
              <a:ea typeface="DM Sans"/>
              <a:cs typeface="DM Sans"/>
              <a:sym typeface="DM Sans"/>
            </a:endParaRPr>
          </a:p>
        </p:txBody>
      </p:sp>
      <p:sp>
        <p:nvSpPr>
          <p:cNvPr id="251" name="Google Shape;251;p34"/>
          <p:cNvSpPr txBox="1"/>
          <p:nvPr/>
        </p:nvSpPr>
        <p:spPr>
          <a:xfrm>
            <a:off x="2998200" y="2971950"/>
            <a:ext cx="31476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 sz="2000" b="0" i="0" u="none" strike="noStrike" cap="none">
                <a:solidFill>
                  <a:schemeClr val="lt1"/>
                </a:solidFill>
                <a:latin typeface="DM Sans"/>
                <a:ea typeface="DM Sans"/>
                <a:cs typeface="DM Sans"/>
                <a:sym typeface="DM Sans"/>
              </a:rPr>
              <a:t>¡</a:t>
            </a:r>
            <a:r>
              <a:rPr lang="es" sz="2000">
                <a:solidFill>
                  <a:schemeClr val="lt1"/>
                </a:solidFill>
                <a:latin typeface="DM Sans"/>
                <a:ea typeface="DM Sans"/>
                <a:cs typeface="DM Sans"/>
                <a:sym typeface="DM Sans"/>
              </a:rPr>
              <a:t>5</a:t>
            </a:r>
            <a:r>
              <a:rPr lang="es" sz="2000" b="0" i="0" u="none" strike="noStrike" cap="none">
                <a:solidFill>
                  <a:schemeClr val="lt1"/>
                </a:solidFill>
                <a:latin typeface="DM Sans"/>
                <a:ea typeface="DM Sans"/>
                <a:cs typeface="DM Sans"/>
                <a:sym typeface="DM Sans"/>
              </a:rPr>
              <a:t> minutos y volvemos!</a:t>
            </a:r>
            <a:endParaRPr sz="2000" b="0" i="0" u="none" strike="noStrike" cap="none">
              <a:solidFill>
                <a:schemeClr val="lt1"/>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5F5C9C4D-2331-7F44-A16C-E6D16098806F}"/>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
        <p:nvSpPr>
          <p:cNvPr id="3" name="Rectángulo 2">
            <a:extLst>
              <a:ext uri="{FF2B5EF4-FFF2-40B4-BE49-F238E27FC236}">
                <a16:creationId xmlns:a16="http://schemas.microsoft.com/office/drawing/2014/main" id="{7AFABDE9-F29F-0C5B-4767-E4F979A74E6B}"/>
              </a:ext>
            </a:extLst>
          </p:cNvPr>
          <p:cNvSpPr/>
          <p:nvPr/>
        </p:nvSpPr>
        <p:spPr>
          <a:xfrm>
            <a:off x="0" y="1614810"/>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35"/>
          <p:cNvSpPr txBox="1"/>
          <p:nvPr/>
        </p:nvSpPr>
        <p:spPr>
          <a:xfrm>
            <a:off x="1404863" y="2202300"/>
            <a:ext cx="6221400" cy="7389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4000" b="1">
                <a:solidFill>
                  <a:srgbClr val="EA90FF"/>
                </a:solidFill>
                <a:latin typeface="DM Sans"/>
                <a:ea typeface="DM Sans"/>
                <a:cs typeface="DM Sans"/>
                <a:sym typeface="DM Sans"/>
              </a:rPr>
              <a:t>Excepciones</a:t>
            </a:r>
            <a:endParaRPr sz="4000" b="1">
              <a:solidFill>
                <a:srgbClr val="EA90FF"/>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5C0AEA28-51A3-EF72-A201-6D0C38F5F02D}"/>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6"/>
          <p:cNvSpPr txBox="1"/>
          <p:nvPr/>
        </p:nvSpPr>
        <p:spPr>
          <a:xfrm>
            <a:off x="457725" y="1071050"/>
            <a:ext cx="4730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a:solidFill>
                  <a:schemeClr val="dk1"/>
                </a:solidFill>
                <a:latin typeface="DM Sans"/>
                <a:ea typeface="DM Sans"/>
                <a:cs typeface="DM Sans"/>
                <a:sym typeface="DM Sans"/>
              </a:rPr>
              <a:t>Excepciones</a:t>
            </a:r>
            <a:endParaRPr sz="4000" b="1" i="0" u="none" strike="noStrike" cap="none">
              <a:solidFill>
                <a:schemeClr val="dk1"/>
              </a:solidFill>
              <a:latin typeface="DM Sans"/>
              <a:ea typeface="DM Sans"/>
              <a:cs typeface="DM Sans"/>
              <a:sym typeface="DM Sans"/>
            </a:endParaRPr>
          </a:p>
        </p:txBody>
      </p:sp>
      <p:sp>
        <p:nvSpPr>
          <p:cNvPr id="262" name="Google Shape;262;p36"/>
          <p:cNvSpPr txBox="1"/>
          <p:nvPr/>
        </p:nvSpPr>
        <p:spPr>
          <a:xfrm>
            <a:off x="457725" y="2211625"/>
            <a:ext cx="4730100" cy="1431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a:latin typeface="DM Sans"/>
                <a:ea typeface="DM Sans"/>
                <a:cs typeface="DM Sans"/>
                <a:sym typeface="DM Sans"/>
              </a:rPr>
              <a:t>Incluso si la sentencia o expresión es sintácticamente correcta, puede generar un error cuando se intenta ejecutarla. </a:t>
            </a:r>
            <a:r>
              <a:rPr lang="es" sz="1350">
                <a:highlight>
                  <a:schemeClr val="accent4"/>
                </a:highlight>
                <a:latin typeface="DM Sans"/>
                <a:ea typeface="DM Sans"/>
                <a:cs typeface="DM Sans"/>
                <a:sym typeface="DM Sans"/>
              </a:rPr>
              <a:t>Los errores detectados durante la ejecución se llaman excepciones</a:t>
            </a:r>
            <a:r>
              <a:rPr lang="es" sz="1350">
                <a:latin typeface="DM Sans"/>
                <a:ea typeface="DM Sans"/>
                <a:cs typeface="DM Sans"/>
                <a:sym typeface="DM Sans"/>
              </a:rPr>
              <a:t>, y no son incondicionalmente fatales: pronto aprenderás cómo manejarlos en los programas en Python. </a:t>
            </a:r>
            <a:endParaRPr sz="1350" b="0" i="0" u="none" strike="noStrike" cap="none">
              <a:solidFill>
                <a:srgbClr val="000000"/>
              </a:solidFill>
              <a:latin typeface="DM Sans"/>
              <a:ea typeface="DM Sans"/>
              <a:cs typeface="DM Sans"/>
              <a:sym typeface="DM Sans"/>
            </a:endParaRPr>
          </a:p>
        </p:txBody>
      </p:sp>
      <p:pic>
        <p:nvPicPr>
          <p:cNvPr id="263" name="Google Shape;263;p36"/>
          <p:cNvPicPr preferRelativeResize="0"/>
          <p:nvPr/>
        </p:nvPicPr>
        <p:blipFill rotWithShape="1">
          <a:blip r:embed="rId3">
            <a:alphaModFix/>
          </a:blip>
          <a:srcRect/>
          <a:stretch/>
        </p:blipFill>
        <p:spPr>
          <a:xfrm>
            <a:off x="5605125" y="2026852"/>
            <a:ext cx="2052750" cy="1514500"/>
          </a:xfrm>
          <a:prstGeom prst="rect">
            <a:avLst/>
          </a:prstGeom>
          <a:noFill/>
          <a:ln>
            <a:noFill/>
          </a:ln>
        </p:spPr>
      </p:pic>
      <p:sp>
        <p:nvSpPr>
          <p:cNvPr id="264" name="Google Shape;264;p36"/>
          <p:cNvSpPr txBox="1"/>
          <p:nvPr/>
        </p:nvSpPr>
        <p:spPr>
          <a:xfrm>
            <a:off x="76200" y="4789500"/>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s" sz="1100" b="1" i="0" u="none" strike="noStrike" cap="none">
                <a:solidFill>
                  <a:srgbClr val="000000"/>
                </a:solidFill>
                <a:latin typeface="DM Sans"/>
                <a:ea typeface="DM Sans"/>
                <a:cs typeface="DM Sans"/>
                <a:sym typeface="DM Sans"/>
              </a:rPr>
              <a:t>Fuente</a:t>
            </a:r>
            <a:r>
              <a:rPr lang="es" sz="1100" i="0" u="none" strike="noStrike" cap="none">
                <a:solidFill>
                  <a:srgbClr val="000000"/>
                </a:solidFill>
                <a:latin typeface="DM Sans"/>
                <a:ea typeface="DM Sans"/>
                <a:cs typeface="DM Sans"/>
                <a:sym typeface="DM Sans"/>
              </a:rPr>
              <a:t>: </a:t>
            </a:r>
            <a:r>
              <a:rPr lang="es" sz="1100" i="0" u="sng" strike="noStrike" cap="none">
                <a:solidFill>
                  <a:srgbClr val="0563C1"/>
                </a:solidFill>
                <a:latin typeface="DM Sans"/>
                <a:ea typeface="DM Sans"/>
                <a:cs typeface="DM Sans"/>
                <a:sym typeface="DM Sans"/>
                <a:hlinkClick r:id="rId4">
                  <a:extLst>
                    <a:ext uri="{A12FA001-AC4F-418D-AE19-62706E023703}">
                      <ahyp:hlinkClr xmlns:ahyp="http://schemas.microsoft.com/office/drawing/2018/hyperlinkcolor" val="tx"/>
                    </a:ext>
                  </a:extLst>
                </a:hlinkClick>
              </a:rPr>
              <a:t>EntrenamientoPython</a:t>
            </a:r>
            <a:endParaRPr sz="1100" i="0" u="none" strike="noStrike" cap="none">
              <a:solidFill>
                <a:srgbClr val="000000"/>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BE9F39CE-B5FF-4BF4-13D6-05600C8975F5}"/>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37"/>
          <p:cNvSpPr/>
          <p:nvPr/>
        </p:nvSpPr>
        <p:spPr>
          <a:xfrm>
            <a:off x="647400" y="1189150"/>
            <a:ext cx="7849200" cy="33174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 name="Google Shape;270;p37"/>
          <p:cNvSpPr txBox="1"/>
          <p:nvPr/>
        </p:nvSpPr>
        <p:spPr>
          <a:xfrm>
            <a:off x="1461300" y="345975"/>
            <a:ext cx="6221400" cy="6696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3500"/>
              <a:buFont typeface="Arial"/>
              <a:buNone/>
            </a:pPr>
            <a:r>
              <a:rPr lang="es" sz="3500" b="1">
                <a:solidFill>
                  <a:schemeClr val="lt1"/>
                </a:solidFill>
                <a:latin typeface="DM Sans"/>
                <a:ea typeface="DM Sans"/>
                <a:cs typeface="DM Sans"/>
                <a:sym typeface="DM Sans"/>
              </a:rPr>
              <a:t>Excepciones</a:t>
            </a:r>
            <a:endParaRPr sz="3500" b="1" i="0" u="none" strike="noStrike" cap="none">
              <a:solidFill>
                <a:schemeClr val="lt1"/>
              </a:solidFill>
              <a:latin typeface="DM Sans"/>
              <a:ea typeface="DM Sans"/>
              <a:cs typeface="DM Sans"/>
              <a:sym typeface="DM Sans"/>
            </a:endParaRPr>
          </a:p>
        </p:txBody>
      </p:sp>
      <p:grpSp>
        <p:nvGrpSpPr>
          <p:cNvPr id="271" name="Google Shape;271;p37"/>
          <p:cNvGrpSpPr/>
          <p:nvPr/>
        </p:nvGrpSpPr>
        <p:grpSpPr>
          <a:xfrm>
            <a:off x="8212626" y="215723"/>
            <a:ext cx="738900" cy="738900"/>
            <a:chOff x="473351" y="619523"/>
            <a:chExt cx="738900" cy="738900"/>
          </a:xfrm>
        </p:grpSpPr>
        <p:sp>
          <p:nvSpPr>
            <p:cNvPr id="272" name="Google Shape;272;p37"/>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3" name="Google Shape;273;p37"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sp>
        <p:nvSpPr>
          <p:cNvPr id="274" name="Google Shape;274;p37"/>
          <p:cNvSpPr txBox="1"/>
          <p:nvPr/>
        </p:nvSpPr>
        <p:spPr>
          <a:xfrm>
            <a:off x="5379225" y="2054200"/>
            <a:ext cx="2624100" cy="1587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1350">
                <a:solidFill>
                  <a:schemeClr val="dk1"/>
                </a:solidFill>
                <a:latin typeface="DM Sans"/>
                <a:ea typeface="DM Sans"/>
                <a:cs typeface="DM Sans"/>
                <a:sym typeface="DM Sans"/>
              </a:rPr>
              <a:t>Sin embargo, la mayoría de las excepciones no son manejadas por los programas, y resultan en </a:t>
            </a:r>
            <a:r>
              <a:rPr lang="es" sz="1350">
                <a:solidFill>
                  <a:schemeClr val="dk1"/>
                </a:solidFill>
                <a:highlight>
                  <a:schemeClr val="accent4"/>
                </a:highlight>
                <a:latin typeface="DM Sans"/>
                <a:ea typeface="DM Sans"/>
                <a:cs typeface="DM Sans"/>
                <a:sym typeface="DM Sans"/>
              </a:rPr>
              <a:t>mensajes de error</a:t>
            </a:r>
            <a:r>
              <a:rPr lang="es" sz="1350">
                <a:solidFill>
                  <a:schemeClr val="dk1"/>
                </a:solidFill>
                <a:latin typeface="DM Sans"/>
                <a:ea typeface="DM Sans"/>
                <a:cs typeface="DM Sans"/>
                <a:sym typeface="DM Sans"/>
              </a:rPr>
              <a:t> como los mostrados aquí:</a:t>
            </a:r>
            <a:endParaRPr sz="1350">
              <a:solidFill>
                <a:srgbClr val="770000"/>
              </a:solidFill>
              <a:highlight>
                <a:schemeClr val="lt1"/>
              </a:highlight>
              <a:latin typeface="DM Sans"/>
              <a:ea typeface="DM Sans"/>
              <a:cs typeface="DM Sans"/>
              <a:sym typeface="DM Sans"/>
            </a:endParaRPr>
          </a:p>
        </p:txBody>
      </p:sp>
      <p:sp>
        <p:nvSpPr>
          <p:cNvPr id="275" name="Google Shape;275;p37"/>
          <p:cNvSpPr txBox="1"/>
          <p:nvPr/>
        </p:nvSpPr>
        <p:spPr>
          <a:xfrm>
            <a:off x="76200" y="4772725"/>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s" sz="1100" b="1" i="0" u="none" strike="noStrike" cap="none">
                <a:solidFill>
                  <a:srgbClr val="000000"/>
                </a:solidFill>
                <a:latin typeface="DM Sans"/>
                <a:ea typeface="DM Sans"/>
                <a:cs typeface="DM Sans"/>
                <a:sym typeface="DM Sans"/>
              </a:rPr>
              <a:t>Fuente</a:t>
            </a:r>
            <a:r>
              <a:rPr lang="es" sz="1100" i="0" u="none" strike="noStrike" cap="none">
                <a:solidFill>
                  <a:srgbClr val="000000"/>
                </a:solidFill>
                <a:latin typeface="DM Sans"/>
                <a:ea typeface="DM Sans"/>
                <a:cs typeface="DM Sans"/>
                <a:sym typeface="DM Sans"/>
              </a:rPr>
              <a:t>: </a:t>
            </a:r>
            <a:r>
              <a:rPr lang="es" sz="1100" i="0" u="sng" strike="noStrike" cap="none">
                <a:solidFill>
                  <a:srgbClr val="0563C1"/>
                </a:solidFill>
                <a:latin typeface="DM Sans"/>
                <a:ea typeface="DM Sans"/>
                <a:cs typeface="DM Sans"/>
                <a:sym typeface="DM Sans"/>
                <a:hlinkClick r:id="rId4">
                  <a:extLst>
                    <a:ext uri="{A12FA001-AC4F-418D-AE19-62706E023703}">
                      <ahyp:hlinkClr xmlns:ahyp="http://schemas.microsoft.com/office/drawing/2018/hyperlinkcolor" val="tx"/>
                    </a:ext>
                  </a:extLst>
                </a:hlinkClick>
              </a:rPr>
              <a:t>EntrenamientoPython</a:t>
            </a:r>
            <a:endParaRPr sz="1100" i="0" u="none" strike="noStrike" cap="none">
              <a:solidFill>
                <a:srgbClr val="000000"/>
              </a:solidFill>
              <a:latin typeface="DM Sans"/>
              <a:ea typeface="DM Sans"/>
              <a:cs typeface="DM Sans"/>
              <a:sym typeface="DM Sans"/>
            </a:endParaRPr>
          </a:p>
        </p:txBody>
      </p:sp>
      <p:sp>
        <p:nvSpPr>
          <p:cNvPr id="276" name="Google Shape;276;p37"/>
          <p:cNvSpPr txBox="1"/>
          <p:nvPr/>
        </p:nvSpPr>
        <p:spPr>
          <a:xfrm>
            <a:off x="959975" y="1867200"/>
            <a:ext cx="4064400" cy="2303400"/>
          </a:xfrm>
          <a:prstGeom prst="rect">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100"/>
              <a:buFont typeface="Arial"/>
              <a:buNone/>
            </a:pPr>
            <a:r>
              <a:rPr lang="es" sz="1350" i="0" u="none" strike="noStrike" cap="none">
                <a:solidFill>
                  <a:srgbClr val="C65D09"/>
                </a:solidFill>
                <a:highlight>
                  <a:srgbClr val="EAFF6A"/>
                </a:highlight>
                <a:latin typeface="DM Sans"/>
                <a:ea typeface="DM Sans"/>
                <a:cs typeface="DM Sans"/>
                <a:sym typeface="DM Sans"/>
              </a:rPr>
              <a:t>&gt;&gt;&gt; </a:t>
            </a:r>
            <a:r>
              <a:rPr lang="es" sz="1350" i="0" u="none" strike="noStrike" cap="none">
                <a:solidFill>
                  <a:srgbClr val="208050"/>
                </a:solidFill>
                <a:highlight>
                  <a:srgbClr val="EAFF6A"/>
                </a:highlight>
                <a:latin typeface="DM Sans"/>
                <a:ea typeface="DM Sans"/>
                <a:cs typeface="DM Sans"/>
                <a:sym typeface="DM Sans"/>
              </a:rPr>
              <a:t>10</a:t>
            </a:r>
            <a:r>
              <a:rPr lang="es" sz="1350" i="0" u="none" strike="noStrike" cap="none">
                <a:solidFill>
                  <a:srgbClr val="3E4349"/>
                </a:solidFill>
                <a:highlight>
                  <a:srgbClr val="EAFF6A"/>
                </a:highlight>
                <a:latin typeface="DM Sans"/>
                <a:ea typeface="DM Sans"/>
                <a:cs typeface="DM Sans"/>
                <a:sym typeface="DM Sans"/>
              </a:rPr>
              <a:t> </a:t>
            </a:r>
            <a:r>
              <a:rPr lang="es" sz="1350" i="0" u="none" strike="noStrike" cap="none">
                <a:solidFill>
                  <a:srgbClr val="666666"/>
                </a:solidFill>
                <a:highlight>
                  <a:srgbClr val="EAFF6A"/>
                </a:highlight>
                <a:latin typeface="DM Sans"/>
                <a:ea typeface="DM Sans"/>
                <a:cs typeface="DM Sans"/>
                <a:sym typeface="DM Sans"/>
              </a:rPr>
              <a:t>*</a:t>
            </a:r>
            <a:r>
              <a:rPr lang="es" sz="1350" i="0" u="none" strike="noStrike" cap="none">
                <a:solidFill>
                  <a:srgbClr val="3E4349"/>
                </a:solidFill>
                <a:highlight>
                  <a:srgbClr val="EAFF6A"/>
                </a:highlight>
                <a:latin typeface="DM Sans"/>
                <a:ea typeface="DM Sans"/>
                <a:cs typeface="DM Sans"/>
                <a:sym typeface="DM Sans"/>
              </a:rPr>
              <a:t> (</a:t>
            </a:r>
            <a:r>
              <a:rPr lang="es" sz="1350" i="0" u="none" strike="noStrike" cap="none">
                <a:solidFill>
                  <a:srgbClr val="208050"/>
                </a:solidFill>
                <a:highlight>
                  <a:srgbClr val="EAFF6A"/>
                </a:highlight>
                <a:latin typeface="DM Sans"/>
                <a:ea typeface="DM Sans"/>
                <a:cs typeface="DM Sans"/>
                <a:sym typeface="DM Sans"/>
              </a:rPr>
              <a:t>1</a:t>
            </a:r>
            <a:r>
              <a:rPr lang="es" sz="1350" i="0" u="none" strike="noStrike" cap="none">
                <a:solidFill>
                  <a:srgbClr val="666666"/>
                </a:solidFill>
                <a:highlight>
                  <a:srgbClr val="EAFF6A"/>
                </a:highlight>
                <a:latin typeface="DM Sans"/>
                <a:ea typeface="DM Sans"/>
                <a:cs typeface="DM Sans"/>
                <a:sym typeface="DM Sans"/>
              </a:rPr>
              <a:t>/</a:t>
            </a:r>
            <a:r>
              <a:rPr lang="es" sz="1350" i="0" u="none" strike="noStrike" cap="none">
                <a:solidFill>
                  <a:srgbClr val="208050"/>
                </a:solidFill>
                <a:highlight>
                  <a:srgbClr val="EAFF6A"/>
                </a:highlight>
                <a:latin typeface="DM Sans"/>
                <a:ea typeface="DM Sans"/>
                <a:cs typeface="DM Sans"/>
                <a:sym typeface="DM Sans"/>
              </a:rPr>
              <a:t>0</a:t>
            </a:r>
            <a:r>
              <a:rPr lang="es" sz="1350" i="0" u="none" strike="noStrike" cap="none">
                <a:solidFill>
                  <a:srgbClr val="3E4349"/>
                </a:solidFill>
                <a:highlight>
                  <a:srgbClr val="EAFF6A"/>
                </a:highlight>
                <a:latin typeface="DM Sans"/>
                <a:ea typeface="DM Sans"/>
                <a:cs typeface="DM Sans"/>
                <a:sym typeface="DM Sans"/>
              </a:rPr>
              <a:t>)</a:t>
            </a:r>
            <a:endParaRPr sz="1350" i="0" u="none" strike="noStrike" cap="none">
              <a:solidFill>
                <a:srgbClr val="3E4349"/>
              </a:solidFill>
              <a:highlight>
                <a:srgbClr val="EAFF6A"/>
              </a:highlight>
              <a:latin typeface="DM Sans"/>
              <a:ea typeface="DM Sans"/>
              <a:cs typeface="DM Sans"/>
              <a:sym typeface="DM Sans"/>
            </a:endParaRPr>
          </a:p>
          <a:p>
            <a:pPr marL="0" marR="0" lvl="0" indent="0" algn="l" rtl="0">
              <a:lnSpc>
                <a:spcPct val="115000"/>
              </a:lnSpc>
              <a:spcBef>
                <a:spcPts val="0"/>
              </a:spcBef>
              <a:spcAft>
                <a:spcPts val="0"/>
              </a:spcAft>
              <a:buClr>
                <a:srgbClr val="000000"/>
              </a:buClr>
              <a:buSzPts val="1100"/>
              <a:buFont typeface="Arial"/>
              <a:buNone/>
            </a:pPr>
            <a:r>
              <a:rPr lang="es" sz="1350" i="0" u="none" strike="noStrike" cap="none">
                <a:solidFill>
                  <a:srgbClr val="0044DD"/>
                </a:solidFill>
                <a:highlight>
                  <a:srgbClr val="EAFF6A"/>
                </a:highlight>
                <a:latin typeface="DM Sans"/>
                <a:ea typeface="DM Sans"/>
                <a:cs typeface="DM Sans"/>
                <a:sym typeface="DM Sans"/>
              </a:rPr>
              <a:t>Traceback (most recent call last):</a:t>
            </a:r>
            <a:endParaRPr sz="1350" i="0" u="none" strike="noStrike" cap="none">
              <a:solidFill>
                <a:srgbClr val="3E4349"/>
              </a:solidFill>
              <a:highlight>
                <a:srgbClr val="EAFF6A"/>
              </a:highlight>
              <a:latin typeface="DM Sans"/>
              <a:ea typeface="DM Sans"/>
              <a:cs typeface="DM Sans"/>
              <a:sym typeface="DM Sans"/>
            </a:endParaRPr>
          </a:p>
          <a:p>
            <a:pPr marL="0" marR="0" lvl="0" indent="0" algn="l" rtl="0">
              <a:lnSpc>
                <a:spcPct val="115000"/>
              </a:lnSpc>
              <a:spcBef>
                <a:spcPts val="0"/>
              </a:spcBef>
              <a:spcAft>
                <a:spcPts val="0"/>
              </a:spcAft>
              <a:buClr>
                <a:srgbClr val="000000"/>
              </a:buClr>
              <a:buSzPts val="1100"/>
              <a:buFont typeface="Arial"/>
              <a:buNone/>
            </a:pPr>
            <a:r>
              <a:rPr lang="es" sz="1350" i="0" u="none" strike="noStrike" cap="none">
                <a:solidFill>
                  <a:srgbClr val="3E4349"/>
                </a:solidFill>
                <a:highlight>
                  <a:srgbClr val="EAFF6A"/>
                </a:highlight>
                <a:latin typeface="DM Sans"/>
                <a:ea typeface="DM Sans"/>
                <a:cs typeface="DM Sans"/>
                <a:sym typeface="DM Sans"/>
              </a:rPr>
              <a:t>  File </a:t>
            </a:r>
            <a:r>
              <a:rPr lang="es" sz="1350" i="0" u="none" strike="noStrike" cap="none">
                <a:solidFill>
                  <a:srgbClr val="007020"/>
                </a:solidFill>
                <a:highlight>
                  <a:srgbClr val="EAFF6A"/>
                </a:highlight>
                <a:latin typeface="DM Sans"/>
                <a:ea typeface="DM Sans"/>
                <a:cs typeface="DM Sans"/>
                <a:sym typeface="DM Sans"/>
              </a:rPr>
              <a:t>"&lt;stdin&gt;"</a:t>
            </a:r>
            <a:r>
              <a:rPr lang="es" sz="1350" i="0" u="none" strike="noStrike" cap="none">
                <a:solidFill>
                  <a:srgbClr val="3E4349"/>
                </a:solidFill>
                <a:highlight>
                  <a:srgbClr val="EAFF6A"/>
                </a:highlight>
                <a:latin typeface="DM Sans"/>
                <a:ea typeface="DM Sans"/>
                <a:cs typeface="DM Sans"/>
                <a:sym typeface="DM Sans"/>
              </a:rPr>
              <a:t>, line </a:t>
            </a:r>
            <a:r>
              <a:rPr lang="es" sz="1350" i="0" u="none" strike="noStrike" cap="none">
                <a:solidFill>
                  <a:srgbClr val="208050"/>
                </a:solidFill>
                <a:highlight>
                  <a:srgbClr val="EAFF6A"/>
                </a:highlight>
                <a:latin typeface="DM Sans"/>
                <a:ea typeface="DM Sans"/>
                <a:cs typeface="DM Sans"/>
                <a:sym typeface="DM Sans"/>
              </a:rPr>
              <a:t>1</a:t>
            </a:r>
            <a:r>
              <a:rPr lang="es" sz="1350" i="0" u="none" strike="noStrike" cap="none">
                <a:solidFill>
                  <a:srgbClr val="3E4349"/>
                </a:solidFill>
                <a:highlight>
                  <a:srgbClr val="EAFF6A"/>
                </a:highlight>
                <a:latin typeface="DM Sans"/>
                <a:ea typeface="DM Sans"/>
                <a:cs typeface="DM Sans"/>
                <a:sym typeface="DM Sans"/>
              </a:rPr>
              <a:t>, in ?</a:t>
            </a:r>
            <a:endParaRPr sz="1350" i="0" u="none" strike="noStrike" cap="none">
              <a:solidFill>
                <a:srgbClr val="3E4349"/>
              </a:solidFill>
              <a:highlight>
                <a:srgbClr val="EAFF6A"/>
              </a:highlight>
              <a:latin typeface="DM Sans"/>
              <a:ea typeface="DM Sans"/>
              <a:cs typeface="DM Sans"/>
              <a:sym typeface="DM Sans"/>
            </a:endParaRPr>
          </a:p>
          <a:p>
            <a:pPr marL="0" marR="0" lvl="0" indent="0" algn="l" rtl="0">
              <a:lnSpc>
                <a:spcPct val="115000"/>
              </a:lnSpc>
              <a:spcBef>
                <a:spcPts val="0"/>
              </a:spcBef>
              <a:spcAft>
                <a:spcPts val="0"/>
              </a:spcAft>
              <a:buClr>
                <a:srgbClr val="000000"/>
              </a:buClr>
              <a:buSzPts val="1100"/>
              <a:buFont typeface="Arial"/>
              <a:buNone/>
            </a:pPr>
            <a:r>
              <a:rPr lang="es" sz="1350" i="0" u="none" strike="noStrike" cap="none">
                <a:solidFill>
                  <a:srgbClr val="FF0000"/>
                </a:solidFill>
                <a:highlight>
                  <a:srgbClr val="EAFF6A"/>
                </a:highlight>
                <a:latin typeface="DM Sans"/>
                <a:ea typeface="DM Sans"/>
                <a:cs typeface="DM Sans"/>
                <a:sym typeface="DM Sans"/>
              </a:rPr>
              <a:t>ZeroDivisionError</a:t>
            </a:r>
            <a:r>
              <a:rPr lang="es" sz="1350" i="0" u="none" strike="noStrike" cap="none">
                <a:solidFill>
                  <a:srgbClr val="3E4349"/>
                </a:solidFill>
                <a:highlight>
                  <a:srgbClr val="EAFF6A"/>
                </a:highlight>
                <a:latin typeface="DM Sans"/>
                <a:ea typeface="DM Sans"/>
                <a:cs typeface="DM Sans"/>
                <a:sym typeface="DM Sans"/>
              </a:rPr>
              <a:t>: integer division or modulo by zero</a:t>
            </a:r>
            <a:endParaRPr sz="1350" i="0" u="none" strike="noStrike" cap="none">
              <a:solidFill>
                <a:srgbClr val="3E4349"/>
              </a:solidFill>
              <a:highlight>
                <a:srgbClr val="EAFF6A"/>
              </a:highlight>
              <a:latin typeface="DM Sans"/>
              <a:ea typeface="DM Sans"/>
              <a:cs typeface="DM Sans"/>
              <a:sym typeface="DM Sans"/>
            </a:endParaRPr>
          </a:p>
          <a:p>
            <a:pPr marL="0" marR="0" lvl="0" indent="0" algn="l" rtl="0">
              <a:lnSpc>
                <a:spcPct val="115000"/>
              </a:lnSpc>
              <a:spcBef>
                <a:spcPts val="0"/>
              </a:spcBef>
              <a:spcAft>
                <a:spcPts val="0"/>
              </a:spcAft>
              <a:buClr>
                <a:srgbClr val="000000"/>
              </a:buClr>
              <a:buSzPts val="1100"/>
              <a:buFont typeface="Arial"/>
              <a:buNone/>
            </a:pPr>
            <a:r>
              <a:rPr lang="es" sz="1350" i="0" u="none" strike="noStrike" cap="none">
                <a:solidFill>
                  <a:srgbClr val="C65D09"/>
                </a:solidFill>
                <a:highlight>
                  <a:srgbClr val="EAFF6A"/>
                </a:highlight>
                <a:latin typeface="DM Sans"/>
                <a:ea typeface="DM Sans"/>
                <a:cs typeface="DM Sans"/>
                <a:sym typeface="DM Sans"/>
              </a:rPr>
              <a:t>&gt;&gt;&gt; </a:t>
            </a:r>
            <a:r>
              <a:rPr lang="es" sz="1350" i="0" u="none" strike="noStrike" cap="none">
                <a:solidFill>
                  <a:srgbClr val="208050"/>
                </a:solidFill>
                <a:highlight>
                  <a:srgbClr val="EAFF6A"/>
                </a:highlight>
                <a:latin typeface="DM Sans"/>
                <a:ea typeface="DM Sans"/>
                <a:cs typeface="DM Sans"/>
                <a:sym typeface="DM Sans"/>
              </a:rPr>
              <a:t>4</a:t>
            </a:r>
            <a:r>
              <a:rPr lang="es" sz="1350" i="0" u="none" strike="noStrike" cap="none">
                <a:solidFill>
                  <a:srgbClr val="3E4349"/>
                </a:solidFill>
                <a:highlight>
                  <a:srgbClr val="EAFF6A"/>
                </a:highlight>
                <a:latin typeface="DM Sans"/>
                <a:ea typeface="DM Sans"/>
                <a:cs typeface="DM Sans"/>
                <a:sym typeface="DM Sans"/>
              </a:rPr>
              <a:t> </a:t>
            </a:r>
            <a:r>
              <a:rPr lang="es" sz="1350" i="0" u="none" strike="noStrike" cap="none">
                <a:solidFill>
                  <a:srgbClr val="666666"/>
                </a:solidFill>
                <a:highlight>
                  <a:srgbClr val="EAFF6A"/>
                </a:highlight>
                <a:latin typeface="DM Sans"/>
                <a:ea typeface="DM Sans"/>
                <a:cs typeface="DM Sans"/>
                <a:sym typeface="DM Sans"/>
              </a:rPr>
              <a:t>+</a:t>
            </a:r>
            <a:r>
              <a:rPr lang="es" sz="1350" i="0" u="none" strike="noStrike" cap="none">
                <a:solidFill>
                  <a:srgbClr val="3E4349"/>
                </a:solidFill>
                <a:highlight>
                  <a:srgbClr val="EAFF6A"/>
                </a:highlight>
                <a:latin typeface="DM Sans"/>
                <a:ea typeface="DM Sans"/>
                <a:cs typeface="DM Sans"/>
                <a:sym typeface="DM Sans"/>
              </a:rPr>
              <a:t> spam</a:t>
            </a:r>
            <a:r>
              <a:rPr lang="es" sz="1350" i="0" u="none" strike="noStrike" cap="none">
                <a:solidFill>
                  <a:srgbClr val="666666"/>
                </a:solidFill>
                <a:highlight>
                  <a:srgbClr val="EAFF6A"/>
                </a:highlight>
                <a:latin typeface="DM Sans"/>
                <a:ea typeface="DM Sans"/>
                <a:cs typeface="DM Sans"/>
                <a:sym typeface="DM Sans"/>
              </a:rPr>
              <a:t>*</a:t>
            </a:r>
            <a:r>
              <a:rPr lang="es" sz="1350" i="0" u="none" strike="noStrike" cap="none">
                <a:solidFill>
                  <a:srgbClr val="208050"/>
                </a:solidFill>
                <a:highlight>
                  <a:srgbClr val="EAFF6A"/>
                </a:highlight>
                <a:latin typeface="DM Sans"/>
                <a:ea typeface="DM Sans"/>
                <a:cs typeface="DM Sans"/>
                <a:sym typeface="DM Sans"/>
              </a:rPr>
              <a:t>3</a:t>
            </a:r>
            <a:endParaRPr sz="1350" i="0" u="none" strike="noStrike" cap="none">
              <a:solidFill>
                <a:srgbClr val="3E4349"/>
              </a:solidFill>
              <a:highlight>
                <a:srgbClr val="EAFF6A"/>
              </a:highlight>
              <a:latin typeface="DM Sans"/>
              <a:ea typeface="DM Sans"/>
              <a:cs typeface="DM Sans"/>
              <a:sym typeface="DM Sans"/>
            </a:endParaRPr>
          </a:p>
          <a:p>
            <a:pPr marL="0" marR="0" lvl="0" indent="0" algn="l" rtl="0">
              <a:lnSpc>
                <a:spcPct val="115000"/>
              </a:lnSpc>
              <a:spcBef>
                <a:spcPts val="0"/>
              </a:spcBef>
              <a:spcAft>
                <a:spcPts val="0"/>
              </a:spcAft>
              <a:buClr>
                <a:srgbClr val="000000"/>
              </a:buClr>
              <a:buSzPts val="1100"/>
              <a:buFont typeface="Arial"/>
              <a:buNone/>
            </a:pPr>
            <a:r>
              <a:rPr lang="es" sz="1350" i="0" u="none" strike="noStrike" cap="none">
                <a:solidFill>
                  <a:srgbClr val="0044DD"/>
                </a:solidFill>
                <a:highlight>
                  <a:srgbClr val="EAFF6A"/>
                </a:highlight>
                <a:latin typeface="DM Sans"/>
                <a:ea typeface="DM Sans"/>
                <a:cs typeface="DM Sans"/>
                <a:sym typeface="DM Sans"/>
              </a:rPr>
              <a:t>Traceback (most recent call last):</a:t>
            </a:r>
            <a:endParaRPr sz="1350" i="0" u="none" strike="noStrike" cap="none">
              <a:solidFill>
                <a:srgbClr val="3E4349"/>
              </a:solidFill>
              <a:highlight>
                <a:srgbClr val="EAFF6A"/>
              </a:highlight>
              <a:latin typeface="DM Sans"/>
              <a:ea typeface="DM Sans"/>
              <a:cs typeface="DM Sans"/>
              <a:sym typeface="DM Sans"/>
            </a:endParaRPr>
          </a:p>
          <a:p>
            <a:pPr marL="0" marR="0" lvl="0" indent="0" algn="l" rtl="0">
              <a:lnSpc>
                <a:spcPct val="115000"/>
              </a:lnSpc>
              <a:spcBef>
                <a:spcPts val="0"/>
              </a:spcBef>
              <a:spcAft>
                <a:spcPts val="0"/>
              </a:spcAft>
              <a:buClr>
                <a:srgbClr val="000000"/>
              </a:buClr>
              <a:buSzPts val="1100"/>
              <a:buFont typeface="Arial"/>
              <a:buNone/>
            </a:pPr>
            <a:r>
              <a:rPr lang="es" sz="1350" i="0" u="none" strike="noStrike" cap="none">
                <a:solidFill>
                  <a:srgbClr val="3E4349"/>
                </a:solidFill>
                <a:highlight>
                  <a:srgbClr val="EAFF6A"/>
                </a:highlight>
                <a:latin typeface="DM Sans"/>
                <a:ea typeface="DM Sans"/>
                <a:cs typeface="DM Sans"/>
                <a:sym typeface="DM Sans"/>
              </a:rPr>
              <a:t>  File </a:t>
            </a:r>
            <a:r>
              <a:rPr lang="es" sz="1350" i="0" u="none" strike="noStrike" cap="none">
                <a:solidFill>
                  <a:srgbClr val="007020"/>
                </a:solidFill>
                <a:highlight>
                  <a:srgbClr val="EAFF6A"/>
                </a:highlight>
                <a:latin typeface="DM Sans"/>
                <a:ea typeface="DM Sans"/>
                <a:cs typeface="DM Sans"/>
                <a:sym typeface="DM Sans"/>
              </a:rPr>
              <a:t>"&lt;stdin&gt;"</a:t>
            </a:r>
            <a:r>
              <a:rPr lang="es" sz="1350" i="0" u="none" strike="noStrike" cap="none">
                <a:solidFill>
                  <a:srgbClr val="3E4349"/>
                </a:solidFill>
                <a:highlight>
                  <a:srgbClr val="EAFF6A"/>
                </a:highlight>
                <a:latin typeface="DM Sans"/>
                <a:ea typeface="DM Sans"/>
                <a:cs typeface="DM Sans"/>
                <a:sym typeface="DM Sans"/>
              </a:rPr>
              <a:t>, line </a:t>
            </a:r>
            <a:r>
              <a:rPr lang="es" sz="1350" i="0" u="none" strike="noStrike" cap="none">
                <a:solidFill>
                  <a:srgbClr val="208050"/>
                </a:solidFill>
                <a:highlight>
                  <a:srgbClr val="EAFF6A"/>
                </a:highlight>
                <a:latin typeface="DM Sans"/>
                <a:ea typeface="DM Sans"/>
                <a:cs typeface="DM Sans"/>
                <a:sym typeface="DM Sans"/>
              </a:rPr>
              <a:t>1</a:t>
            </a:r>
            <a:r>
              <a:rPr lang="es" sz="1350" i="0" u="none" strike="noStrike" cap="none">
                <a:solidFill>
                  <a:srgbClr val="3E4349"/>
                </a:solidFill>
                <a:highlight>
                  <a:srgbClr val="EAFF6A"/>
                </a:highlight>
                <a:latin typeface="DM Sans"/>
                <a:ea typeface="DM Sans"/>
                <a:cs typeface="DM Sans"/>
                <a:sym typeface="DM Sans"/>
              </a:rPr>
              <a:t>, in ?</a:t>
            </a:r>
            <a:endParaRPr sz="1350" i="0" u="none" strike="noStrike" cap="none">
              <a:solidFill>
                <a:srgbClr val="3E4349"/>
              </a:solidFill>
              <a:highlight>
                <a:srgbClr val="EAFF6A"/>
              </a:highlight>
              <a:latin typeface="DM Sans"/>
              <a:ea typeface="DM Sans"/>
              <a:cs typeface="DM Sans"/>
              <a:sym typeface="DM Sans"/>
            </a:endParaRPr>
          </a:p>
          <a:p>
            <a:pPr marL="0" marR="0" lvl="0" indent="0" algn="l" rtl="0">
              <a:lnSpc>
                <a:spcPct val="115000"/>
              </a:lnSpc>
              <a:spcBef>
                <a:spcPts val="0"/>
              </a:spcBef>
              <a:spcAft>
                <a:spcPts val="0"/>
              </a:spcAft>
              <a:buClr>
                <a:srgbClr val="000000"/>
              </a:buClr>
              <a:buSzPts val="1100"/>
              <a:buFont typeface="Arial"/>
              <a:buNone/>
            </a:pPr>
            <a:r>
              <a:rPr lang="es" sz="1350" i="0" u="none" strike="noStrike" cap="none">
                <a:solidFill>
                  <a:srgbClr val="FF0000"/>
                </a:solidFill>
                <a:highlight>
                  <a:srgbClr val="EAFF6A"/>
                </a:highlight>
                <a:latin typeface="DM Sans"/>
                <a:ea typeface="DM Sans"/>
                <a:cs typeface="DM Sans"/>
                <a:sym typeface="DM Sans"/>
              </a:rPr>
              <a:t>NameError</a:t>
            </a:r>
            <a:r>
              <a:rPr lang="es" sz="1350" i="0" u="none" strike="noStrike" cap="none">
                <a:solidFill>
                  <a:srgbClr val="3E4349"/>
                </a:solidFill>
                <a:highlight>
                  <a:srgbClr val="EAFF6A"/>
                </a:highlight>
                <a:latin typeface="DM Sans"/>
                <a:ea typeface="DM Sans"/>
                <a:cs typeface="DM Sans"/>
                <a:sym typeface="DM Sans"/>
              </a:rPr>
              <a:t>: name 'spam' is not defined</a:t>
            </a:r>
            <a:endParaRPr sz="1350" i="0" u="none" strike="noStrike" cap="none">
              <a:solidFill>
                <a:srgbClr val="000000"/>
              </a:solidFill>
              <a:highlight>
                <a:srgbClr val="EAFF6A"/>
              </a:highlight>
              <a:latin typeface="DM Sans"/>
              <a:ea typeface="DM Sans"/>
              <a:cs typeface="DM Sans"/>
              <a:sym typeface="DM Sans"/>
            </a:endParaRPr>
          </a:p>
        </p:txBody>
      </p:sp>
      <p:sp>
        <p:nvSpPr>
          <p:cNvPr id="2" name="Rectángulo 1">
            <a:extLst>
              <a:ext uri="{FF2B5EF4-FFF2-40B4-BE49-F238E27FC236}">
                <a16:creationId xmlns:a16="http://schemas.microsoft.com/office/drawing/2014/main" id="{429772FD-AFC1-9181-6443-5EDE863072D0}"/>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38"/>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a:solidFill>
                  <a:schemeClr val="dk1"/>
                </a:solidFill>
                <a:latin typeface="DM Sans"/>
                <a:ea typeface="DM Sans"/>
                <a:cs typeface="DM Sans"/>
                <a:sym typeface="DM Sans"/>
              </a:rPr>
              <a:t>Excepciones</a:t>
            </a:r>
            <a:endParaRPr sz="4000" b="1" i="0" u="none" strike="noStrike" cap="none">
              <a:solidFill>
                <a:schemeClr val="dk1"/>
              </a:solidFill>
              <a:latin typeface="DM Sans"/>
              <a:ea typeface="DM Sans"/>
              <a:cs typeface="DM Sans"/>
              <a:sym typeface="DM Sans"/>
            </a:endParaRPr>
          </a:p>
        </p:txBody>
      </p:sp>
      <p:sp>
        <p:nvSpPr>
          <p:cNvPr id="282" name="Google Shape;282;p38"/>
          <p:cNvSpPr txBox="1"/>
          <p:nvPr/>
        </p:nvSpPr>
        <p:spPr>
          <a:xfrm>
            <a:off x="473350" y="1908175"/>
            <a:ext cx="3834600" cy="1015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a:latin typeface="DM Sans"/>
                <a:ea typeface="DM Sans"/>
                <a:cs typeface="DM Sans"/>
                <a:sym typeface="DM Sans"/>
              </a:rPr>
              <a:t>Como podemos suponer, es difícil prevenir fallos que ni siquiera nos habíamos planteado que podían existir. Por suerte para esas situaciones existen las excepciones.</a:t>
            </a:r>
            <a:endParaRPr sz="1350" b="0" i="0" u="none" strike="noStrike" cap="none">
              <a:solidFill>
                <a:srgbClr val="000000"/>
              </a:solidFill>
              <a:latin typeface="DM Sans"/>
              <a:ea typeface="DM Sans"/>
              <a:cs typeface="DM Sans"/>
              <a:sym typeface="DM Sans"/>
            </a:endParaRPr>
          </a:p>
        </p:txBody>
      </p:sp>
      <p:sp>
        <p:nvSpPr>
          <p:cNvPr id="283" name="Google Shape;283;p38"/>
          <p:cNvSpPr txBox="1"/>
          <p:nvPr/>
        </p:nvSpPr>
        <p:spPr>
          <a:xfrm>
            <a:off x="4527575" y="1908175"/>
            <a:ext cx="3834600" cy="808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a:latin typeface="DM Sans"/>
                <a:ea typeface="DM Sans"/>
                <a:cs typeface="DM Sans"/>
                <a:sym typeface="DM Sans"/>
              </a:rPr>
              <a:t>Las excepciones </a:t>
            </a:r>
            <a:r>
              <a:rPr lang="es" sz="1350">
                <a:highlight>
                  <a:schemeClr val="accent4"/>
                </a:highlight>
                <a:latin typeface="DM Sans"/>
                <a:ea typeface="DM Sans"/>
                <a:cs typeface="DM Sans"/>
                <a:sym typeface="DM Sans"/>
              </a:rPr>
              <a:t>son bloques de código que nos permiten continuar con la ejecución de un programa pese a que ocurra un error.</a:t>
            </a:r>
            <a:endParaRPr sz="1350" b="0" i="0" u="none" strike="noStrike" cap="none">
              <a:solidFill>
                <a:srgbClr val="000000"/>
              </a:solidFill>
              <a:highlight>
                <a:schemeClr val="accent4"/>
              </a:highlight>
              <a:latin typeface="DM Sans"/>
              <a:ea typeface="DM Sans"/>
              <a:cs typeface="DM Sans"/>
              <a:sym typeface="DM Sans"/>
            </a:endParaRPr>
          </a:p>
        </p:txBody>
      </p:sp>
      <p:sp>
        <p:nvSpPr>
          <p:cNvPr id="284" name="Google Shape;284;p38"/>
          <p:cNvSpPr txBox="1"/>
          <p:nvPr/>
        </p:nvSpPr>
        <p:spPr>
          <a:xfrm>
            <a:off x="76200" y="4775375"/>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s" sz="1100" b="1" i="0" u="none" strike="noStrike" cap="none">
                <a:solidFill>
                  <a:srgbClr val="000000"/>
                </a:solidFill>
                <a:latin typeface="DM Sans"/>
                <a:ea typeface="DM Sans"/>
                <a:cs typeface="DM Sans"/>
                <a:sym typeface="DM Sans"/>
              </a:rPr>
              <a:t>Fuente</a:t>
            </a:r>
            <a:r>
              <a:rPr lang="es" sz="1100" i="0" u="none" strike="noStrike" cap="none">
                <a:solidFill>
                  <a:srgbClr val="000000"/>
                </a:solidFill>
                <a:latin typeface="DM Sans"/>
                <a:ea typeface="DM Sans"/>
                <a:cs typeface="DM Sans"/>
                <a:sym typeface="DM Sans"/>
              </a:rPr>
              <a:t>: </a:t>
            </a:r>
            <a:r>
              <a:rPr lang="es" sz="1100" i="0" u="sng" strike="noStrike" cap="none">
                <a:solidFill>
                  <a:srgbClr val="0563C1"/>
                </a:solidFill>
                <a:latin typeface="DM Sans"/>
                <a:ea typeface="DM Sans"/>
                <a:cs typeface="DM Sans"/>
                <a:sym typeface="DM Sans"/>
                <a:hlinkClick r:id="rId3">
                  <a:extLst>
                    <a:ext uri="{A12FA001-AC4F-418D-AE19-62706E023703}">
                      <ahyp:hlinkClr xmlns:ahyp="http://schemas.microsoft.com/office/drawing/2018/hyperlinkcolor" val="tx"/>
                    </a:ext>
                  </a:extLst>
                </a:hlinkClick>
              </a:rPr>
              <a:t>EntrenamientoPython</a:t>
            </a:r>
            <a:endParaRPr sz="1100" i="0" u="none" strike="noStrike" cap="none">
              <a:solidFill>
                <a:srgbClr val="000000"/>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ED16CD8C-68E6-39AA-9E40-A83B0E597496}"/>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9"/>
          <p:cNvSpPr txBox="1"/>
          <p:nvPr/>
        </p:nvSpPr>
        <p:spPr>
          <a:xfrm>
            <a:off x="1461300" y="2202300"/>
            <a:ext cx="6221400" cy="7389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4000" b="1">
                <a:solidFill>
                  <a:schemeClr val="dk1"/>
                </a:solidFill>
                <a:latin typeface="DM Sans"/>
                <a:ea typeface="DM Sans"/>
                <a:cs typeface="DM Sans"/>
                <a:sym typeface="DM Sans"/>
              </a:rPr>
              <a:t>Try- Except</a:t>
            </a:r>
            <a:endParaRPr sz="4000" b="1">
              <a:solidFill>
                <a:schemeClr val="dk1"/>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46E379FB-7DE6-BB8A-649D-8BEBF3C6F2A8}"/>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40"/>
          <p:cNvSpPr/>
          <p:nvPr/>
        </p:nvSpPr>
        <p:spPr>
          <a:xfrm>
            <a:off x="647400" y="1189150"/>
            <a:ext cx="7849200" cy="33174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 name="Google Shape;295;p40"/>
          <p:cNvSpPr txBox="1"/>
          <p:nvPr/>
        </p:nvSpPr>
        <p:spPr>
          <a:xfrm>
            <a:off x="1461300" y="345975"/>
            <a:ext cx="6221400" cy="6696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3500"/>
              <a:buFont typeface="Arial"/>
              <a:buNone/>
            </a:pPr>
            <a:r>
              <a:rPr lang="es" sz="3500" b="1">
                <a:solidFill>
                  <a:schemeClr val="lt1"/>
                </a:solidFill>
                <a:latin typeface="DM Sans"/>
                <a:ea typeface="DM Sans"/>
                <a:cs typeface="DM Sans"/>
                <a:sym typeface="DM Sans"/>
              </a:rPr>
              <a:t>Try-Except</a:t>
            </a:r>
            <a:endParaRPr sz="3500" b="1" i="0" u="none" strike="noStrike" cap="none">
              <a:solidFill>
                <a:schemeClr val="lt1"/>
              </a:solidFill>
              <a:latin typeface="DM Sans"/>
              <a:ea typeface="DM Sans"/>
              <a:cs typeface="DM Sans"/>
              <a:sym typeface="DM Sans"/>
            </a:endParaRPr>
          </a:p>
        </p:txBody>
      </p:sp>
      <p:grpSp>
        <p:nvGrpSpPr>
          <p:cNvPr id="296" name="Google Shape;296;p40"/>
          <p:cNvGrpSpPr/>
          <p:nvPr/>
        </p:nvGrpSpPr>
        <p:grpSpPr>
          <a:xfrm>
            <a:off x="8212626" y="215723"/>
            <a:ext cx="738900" cy="738900"/>
            <a:chOff x="473351" y="619523"/>
            <a:chExt cx="738900" cy="738900"/>
          </a:xfrm>
        </p:grpSpPr>
        <p:sp>
          <p:nvSpPr>
            <p:cNvPr id="297" name="Google Shape;297;p40"/>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98" name="Google Shape;298;p40"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sp>
        <p:nvSpPr>
          <p:cNvPr id="299" name="Google Shape;299;p40"/>
          <p:cNvSpPr txBox="1"/>
          <p:nvPr/>
        </p:nvSpPr>
        <p:spPr>
          <a:xfrm>
            <a:off x="5464950" y="1829725"/>
            <a:ext cx="2656200" cy="1826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1350">
                <a:solidFill>
                  <a:schemeClr val="dk1"/>
                </a:solidFill>
                <a:latin typeface="DM Sans"/>
                <a:ea typeface="DM Sans"/>
                <a:cs typeface="DM Sans"/>
                <a:sym typeface="DM Sans"/>
              </a:rPr>
              <a:t>Para prevenir el fallo debemos poner el código propenso a errores en un </a:t>
            </a:r>
            <a:r>
              <a:rPr lang="es" sz="1350">
                <a:solidFill>
                  <a:schemeClr val="dk1"/>
                </a:solidFill>
                <a:highlight>
                  <a:schemeClr val="accent4"/>
                </a:highlight>
                <a:latin typeface="DM Sans"/>
                <a:ea typeface="DM Sans"/>
                <a:cs typeface="DM Sans"/>
                <a:sym typeface="DM Sans"/>
              </a:rPr>
              <a:t>bloque try</a:t>
            </a:r>
            <a:r>
              <a:rPr lang="es" sz="1350">
                <a:solidFill>
                  <a:schemeClr val="dk1"/>
                </a:solidFill>
                <a:latin typeface="DM Sans"/>
                <a:ea typeface="DM Sans"/>
                <a:cs typeface="DM Sans"/>
                <a:sym typeface="DM Sans"/>
              </a:rPr>
              <a:t> y luego encadenar un </a:t>
            </a:r>
            <a:r>
              <a:rPr lang="es" sz="1350">
                <a:solidFill>
                  <a:schemeClr val="dk1"/>
                </a:solidFill>
                <a:highlight>
                  <a:schemeClr val="accent4"/>
                </a:highlight>
                <a:latin typeface="DM Sans"/>
                <a:ea typeface="DM Sans"/>
                <a:cs typeface="DM Sans"/>
                <a:sym typeface="DM Sans"/>
              </a:rPr>
              <a:t>bloque except</a:t>
            </a:r>
            <a:r>
              <a:rPr lang="es" sz="1350">
                <a:solidFill>
                  <a:schemeClr val="dk1"/>
                </a:solidFill>
                <a:latin typeface="DM Sans"/>
                <a:ea typeface="DM Sans"/>
                <a:cs typeface="DM Sans"/>
                <a:sym typeface="DM Sans"/>
              </a:rPr>
              <a:t> para tratar la situación excepcional mostrando que ha ocurrido un fallo:</a:t>
            </a:r>
            <a:endParaRPr sz="1350">
              <a:solidFill>
                <a:srgbClr val="770000"/>
              </a:solidFill>
              <a:highlight>
                <a:schemeClr val="lt1"/>
              </a:highlight>
              <a:latin typeface="DM Sans"/>
              <a:ea typeface="DM Sans"/>
              <a:cs typeface="DM Sans"/>
              <a:sym typeface="DM Sans"/>
            </a:endParaRPr>
          </a:p>
        </p:txBody>
      </p:sp>
      <p:pic>
        <p:nvPicPr>
          <p:cNvPr id="300" name="Google Shape;300;p40"/>
          <p:cNvPicPr preferRelativeResize="0"/>
          <p:nvPr/>
        </p:nvPicPr>
        <p:blipFill rotWithShape="1">
          <a:blip r:embed="rId4">
            <a:alphaModFix/>
          </a:blip>
          <a:srcRect/>
          <a:stretch/>
        </p:blipFill>
        <p:spPr>
          <a:xfrm>
            <a:off x="884951" y="2039575"/>
            <a:ext cx="4290676" cy="1616550"/>
          </a:xfrm>
          <a:prstGeom prst="rect">
            <a:avLst/>
          </a:prstGeom>
          <a:noFill/>
          <a:ln>
            <a:noFill/>
          </a:ln>
        </p:spPr>
      </p:pic>
      <p:sp>
        <p:nvSpPr>
          <p:cNvPr id="301" name="Google Shape;301;p40"/>
          <p:cNvSpPr txBox="1"/>
          <p:nvPr/>
        </p:nvSpPr>
        <p:spPr>
          <a:xfrm>
            <a:off x="90425" y="4781707"/>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s" sz="1100" b="1" i="0" u="none" strike="noStrike" cap="none">
                <a:solidFill>
                  <a:srgbClr val="000000"/>
                </a:solidFill>
                <a:latin typeface="DM Sans"/>
                <a:ea typeface="DM Sans"/>
                <a:cs typeface="DM Sans"/>
                <a:sym typeface="DM Sans"/>
              </a:rPr>
              <a:t>Fuente</a:t>
            </a:r>
            <a:r>
              <a:rPr lang="es" sz="1100" i="0" u="none" strike="noStrike" cap="none">
                <a:solidFill>
                  <a:srgbClr val="000000"/>
                </a:solidFill>
                <a:latin typeface="DM Sans"/>
                <a:ea typeface="DM Sans"/>
                <a:cs typeface="DM Sans"/>
                <a:sym typeface="DM Sans"/>
              </a:rPr>
              <a:t>: </a:t>
            </a:r>
            <a:r>
              <a:rPr lang="es" sz="1100" i="0" u="sng" strike="noStrike" cap="none">
                <a:solidFill>
                  <a:srgbClr val="0563C1"/>
                </a:solidFill>
                <a:latin typeface="DM Sans"/>
                <a:ea typeface="DM Sans"/>
                <a:cs typeface="DM Sans"/>
                <a:sym typeface="DM Sans"/>
                <a:hlinkClick r:id="rId5">
                  <a:extLst>
                    <a:ext uri="{A12FA001-AC4F-418D-AE19-62706E023703}">
                      <ahyp:hlinkClr xmlns:ahyp="http://schemas.microsoft.com/office/drawing/2018/hyperlinkcolor" val="tx"/>
                    </a:ext>
                  </a:extLst>
                </a:hlinkClick>
              </a:rPr>
              <a:t>THernandez</a:t>
            </a:r>
            <a:endParaRPr sz="1100" i="0" u="none" strike="noStrike" cap="none">
              <a:solidFill>
                <a:srgbClr val="000000"/>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DE1732E1-3FAC-B0B0-0C66-2B6DC4ACA645}"/>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41"/>
          <p:cNvSpPr txBox="1"/>
          <p:nvPr/>
        </p:nvSpPr>
        <p:spPr>
          <a:xfrm>
            <a:off x="457725" y="1071050"/>
            <a:ext cx="4730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a:solidFill>
                  <a:schemeClr val="dk1"/>
                </a:solidFill>
                <a:latin typeface="DM Sans"/>
                <a:ea typeface="DM Sans"/>
                <a:cs typeface="DM Sans"/>
                <a:sym typeface="DM Sans"/>
              </a:rPr>
              <a:t>Try- Except</a:t>
            </a:r>
            <a:endParaRPr sz="4000" b="1" i="0" u="none" strike="noStrike" cap="none">
              <a:solidFill>
                <a:schemeClr val="dk1"/>
              </a:solidFill>
              <a:latin typeface="DM Sans"/>
              <a:ea typeface="DM Sans"/>
              <a:cs typeface="DM Sans"/>
              <a:sym typeface="DM Sans"/>
            </a:endParaRPr>
          </a:p>
        </p:txBody>
      </p:sp>
      <p:sp>
        <p:nvSpPr>
          <p:cNvPr id="307" name="Google Shape;307;p41"/>
          <p:cNvSpPr txBox="1"/>
          <p:nvPr/>
        </p:nvSpPr>
        <p:spPr>
          <a:xfrm>
            <a:off x="457725" y="2317000"/>
            <a:ext cx="4730100" cy="1431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a:latin typeface="DM Sans"/>
                <a:ea typeface="DM Sans"/>
                <a:cs typeface="DM Sans"/>
                <a:sym typeface="DM Sans"/>
              </a:rPr>
              <a:t>La sentencia </a:t>
            </a:r>
            <a:r>
              <a:rPr lang="es" sz="1350" b="1">
                <a:latin typeface="DM Sans"/>
                <a:ea typeface="DM Sans"/>
                <a:cs typeface="DM Sans"/>
                <a:sym typeface="DM Sans"/>
              </a:rPr>
              <a:t>try </a:t>
            </a:r>
            <a:r>
              <a:rPr lang="es" sz="1350">
                <a:latin typeface="DM Sans"/>
                <a:ea typeface="DM Sans"/>
                <a:cs typeface="DM Sans"/>
                <a:sym typeface="DM Sans"/>
              </a:rPr>
              <a:t>funciona de la siguiente manera:</a:t>
            </a:r>
            <a:endParaRPr sz="1350">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Se ejecuta el bloque try (el código entre las sentencias try y except).</a:t>
            </a:r>
            <a:endParaRPr sz="1350">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Si no ocurre ninguna excepción, el bloque except se saltea y termina la ejecución de la sentencia try.</a:t>
            </a:r>
            <a:endParaRPr sz="1350">
              <a:latin typeface="DM Sans"/>
              <a:ea typeface="DM Sans"/>
              <a:cs typeface="DM Sans"/>
              <a:sym typeface="DM Sans"/>
            </a:endParaRPr>
          </a:p>
        </p:txBody>
      </p:sp>
      <p:pic>
        <p:nvPicPr>
          <p:cNvPr id="308" name="Google Shape;308;p41"/>
          <p:cNvPicPr preferRelativeResize="0"/>
          <p:nvPr/>
        </p:nvPicPr>
        <p:blipFill rotWithShape="1">
          <a:blip r:embed="rId3">
            <a:alphaModFix/>
          </a:blip>
          <a:srcRect/>
          <a:stretch/>
        </p:blipFill>
        <p:spPr>
          <a:xfrm>
            <a:off x="5802000" y="1812612"/>
            <a:ext cx="2021725" cy="2021725"/>
          </a:xfrm>
          <a:prstGeom prst="rect">
            <a:avLst/>
          </a:prstGeom>
          <a:noFill/>
          <a:ln>
            <a:noFill/>
          </a:ln>
        </p:spPr>
      </p:pic>
      <p:sp>
        <p:nvSpPr>
          <p:cNvPr id="309" name="Google Shape;309;p41"/>
          <p:cNvSpPr txBox="1"/>
          <p:nvPr/>
        </p:nvSpPr>
        <p:spPr>
          <a:xfrm>
            <a:off x="76200" y="4775375"/>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s" sz="1100" b="1" i="0" u="none" strike="noStrike" cap="none">
                <a:solidFill>
                  <a:srgbClr val="000000"/>
                </a:solidFill>
                <a:latin typeface="DM Sans"/>
                <a:ea typeface="DM Sans"/>
                <a:cs typeface="DM Sans"/>
                <a:sym typeface="DM Sans"/>
              </a:rPr>
              <a:t>Fuente</a:t>
            </a:r>
            <a:r>
              <a:rPr lang="es" sz="1100" i="0" u="none" strike="noStrike" cap="none">
                <a:solidFill>
                  <a:srgbClr val="000000"/>
                </a:solidFill>
                <a:latin typeface="DM Sans"/>
                <a:ea typeface="DM Sans"/>
                <a:cs typeface="DM Sans"/>
                <a:sym typeface="DM Sans"/>
              </a:rPr>
              <a:t>: </a:t>
            </a:r>
            <a:r>
              <a:rPr lang="es" sz="1100" i="0" u="sng" strike="noStrike" cap="none">
                <a:solidFill>
                  <a:srgbClr val="0563C1"/>
                </a:solidFill>
                <a:latin typeface="DM Sans"/>
                <a:ea typeface="DM Sans"/>
                <a:cs typeface="DM Sans"/>
                <a:sym typeface="DM Sans"/>
                <a:hlinkClick r:id="rId4">
                  <a:extLst>
                    <a:ext uri="{A12FA001-AC4F-418D-AE19-62706E023703}">
                      <ahyp:hlinkClr xmlns:ahyp="http://schemas.microsoft.com/office/drawing/2018/hyperlinkcolor" val="tx"/>
                    </a:ext>
                  </a:extLst>
                </a:hlinkClick>
              </a:rPr>
              <a:t>THernandez</a:t>
            </a:r>
            <a:endParaRPr sz="1100" i="0" u="none" strike="noStrike" cap="none">
              <a:solidFill>
                <a:srgbClr val="000000"/>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2E9A730E-8703-7725-97F4-1D5BE6987E82}"/>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2"/>
          <p:cNvSpPr txBox="1"/>
          <p:nvPr/>
        </p:nvSpPr>
        <p:spPr>
          <a:xfrm>
            <a:off x="457725" y="1071050"/>
            <a:ext cx="4730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a:solidFill>
                  <a:schemeClr val="dk1"/>
                </a:solidFill>
                <a:latin typeface="DM Sans"/>
                <a:ea typeface="DM Sans"/>
                <a:cs typeface="DM Sans"/>
                <a:sym typeface="DM Sans"/>
              </a:rPr>
              <a:t>Try- Except</a:t>
            </a:r>
            <a:endParaRPr sz="4000" b="1" i="0" u="none" strike="noStrike" cap="none">
              <a:solidFill>
                <a:schemeClr val="dk1"/>
              </a:solidFill>
              <a:latin typeface="DM Sans"/>
              <a:ea typeface="DM Sans"/>
              <a:cs typeface="DM Sans"/>
              <a:sym typeface="DM Sans"/>
            </a:endParaRPr>
          </a:p>
        </p:txBody>
      </p:sp>
      <p:sp>
        <p:nvSpPr>
          <p:cNvPr id="315" name="Google Shape;315;p42"/>
          <p:cNvSpPr txBox="1"/>
          <p:nvPr/>
        </p:nvSpPr>
        <p:spPr>
          <a:xfrm>
            <a:off x="457725" y="2317000"/>
            <a:ext cx="4730100" cy="1847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s" sz="1350">
                <a:latin typeface="DM Sans"/>
                <a:ea typeface="DM Sans"/>
                <a:cs typeface="DM Sans"/>
                <a:sym typeface="DM Sans"/>
              </a:rPr>
              <a:t>La sentencia try funciona de la siguiente manera 👇</a:t>
            </a:r>
            <a:endParaRPr sz="1350">
              <a:latin typeface="DM Sans"/>
              <a:ea typeface="DM Sans"/>
              <a:cs typeface="DM Sans"/>
              <a:sym typeface="DM Sans"/>
            </a:endParaRPr>
          </a:p>
          <a:p>
            <a:pPr marL="0" marR="0" lvl="0" indent="0" algn="l" rtl="0">
              <a:lnSpc>
                <a:spcPct val="100000"/>
              </a:lnSpc>
              <a:spcBef>
                <a:spcPts val="0"/>
              </a:spcBef>
              <a:spcAft>
                <a:spcPts val="0"/>
              </a:spcAft>
              <a:buNone/>
            </a:pPr>
            <a:endParaRPr sz="1350">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Si ocurre una excepción durante la ejecución del bloque try, el resto del bloque se saltea. Luego, si su tipo coincide con la excepción nombrada luego de la palabra reservada except, se ejecuta el bloque except, y la ejecución continúa luego de la sentencia try.</a:t>
            </a:r>
            <a:endParaRPr sz="1350">
              <a:latin typeface="DM Sans"/>
              <a:ea typeface="DM Sans"/>
              <a:cs typeface="DM Sans"/>
              <a:sym typeface="DM Sans"/>
            </a:endParaRPr>
          </a:p>
        </p:txBody>
      </p:sp>
      <p:pic>
        <p:nvPicPr>
          <p:cNvPr id="316" name="Google Shape;316;p42"/>
          <p:cNvPicPr preferRelativeResize="0"/>
          <p:nvPr/>
        </p:nvPicPr>
        <p:blipFill rotWithShape="1">
          <a:blip r:embed="rId3">
            <a:alphaModFix/>
          </a:blip>
          <a:srcRect/>
          <a:stretch/>
        </p:blipFill>
        <p:spPr>
          <a:xfrm>
            <a:off x="5802000" y="1812612"/>
            <a:ext cx="2021725" cy="2021725"/>
          </a:xfrm>
          <a:prstGeom prst="rect">
            <a:avLst/>
          </a:prstGeom>
          <a:noFill/>
          <a:ln>
            <a:noFill/>
          </a:ln>
        </p:spPr>
      </p:pic>
      <p:sp>
        <p:nvSpPr>
          <p:cNvPr id="317" name="Google Shape;317;p42"/>
          <p:cNvSpPr txBox="1"/>
          <p:nvPr/>
        </p:nvSpPr>
        <p:spPr>
          <a:xfrm>
            <a:off x="76200" y="4775375"/>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s" sz="1100" b="1" i="0" u="none" strike="noStrike" cap="none">
                <a:solidFill>
                  <a:srgbClr val="000000"/>
                </a:solidFill>
                <a:latin typeface="DM Sans"/>
                <a:ea typeface="DM Sans"/>
                <a:cs typeface="DM Sans"/>
                <a:sym typeface="DM Sans"/>
              </a:rPr>
              <a:t>Fuente</a:t>
            </a:r>
            <a:r>
              <a:rPr lang="es" sz="1100" i="0" u="none" strike="noStrike" cap="none">
                <a:solidFill>
                  <a:srgbClr val="000000"/>
                </a:solidFill>
                <a:latin typeface="DM Sans"/>
                <a:ea typeface="DM Sans"/>
                <a:cs typeface="DM Sans"/>
                <a:sym typeface="DM Sans"/>
              </a:rPr>
              <a:t>: </a:t>
            </a:r>
            <a:r>
              <a:rPr lang="es" sz="1100" i="0" u="sng" strike="noStrike" cap="none">
                <a:solidFill>
                  <a:srgbClr val="0563C1"/>
                </a:solidFill>
                <a:latin typeface="DM Sans"/>
                <a:ea typeface="DM Sans"/>
                <a:cs typeface="DM Sans"/>
                <a:sym typeface="DM Sans"/>
                <a:hlinkClick r:id="rId4">
                  <a:extLst>
                    <a:ext uri="{A12FA001-AC4F-418D-AE19-62706E023703}">
                      <ahyp:hlinkClr xmlns:ahyp="http://schemas.microsoft.com/office/drawing/2018/hyperlinkcolor" val="tx"/>
                    </a:ext>
                  </a:extLst>
                </a:hlinkClick>
              </a:rPr>
              <a:t>THernandez</a:t>
            </a:r>
            <a:endParaRPr sz="1100" i="0" u="none" strike="noStrike" cap="none">
              <a:solidFill>
                <a:srgbClr val="000000"/>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29364112-2427-CFB8-BC83-3A4E2B3D89DD}"/>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43"/>
          <p:cNvSpPr txBox="1"/>
          <p:nvPr/>
        </p:nvSpPr>
        <p:spPr>
          <a:xfrm>
            <a:off x="457725" y="1071050"/>
            <a:ext cx="4730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a:solidFill>
                  <a:schemeClr val="dk1"/>
                </a:solidFill>
                <a:latin typeface="DM Sans"/>
                <a:ea typeface="DM Sans"/>
                <a:cs typeface="DM Sans"/>
                <a:sym typeface="DM Sans"/>
              </a:rPr>
              <a:t>Try- Except</a:t>
            </a:r>
            <a:endParaRPr sz="4000" b="1" i="0" u="none" strike="noStrike" cap="none">
              <a:solidFill>
                <a:schemeClr val="dk1"/>
              </a:solidFill>
              <a:latin typeface="DM Sans"/>
              <a:ea typeface="DM Sans"/>
              <a:cs typeface="DM Sans"/>
              <a:sym typeface="DM Sans"/>
            </a:endParaRPr>
          </a:p>
        </p:txBody>
      </p:sp>
      <p:sp>
        <p:nvSpPr>
          <p:cNvPr id="323" name="Google Shape;323;p43"/>
          <p:cNvSpPr txBox="1"/>
          <p:nvPr/>
        </p:nvSpPr>
        <p:spPr>
          <a:xfrm>
            <a:off x="457725" y="2317000"/>
            <a:ext cx="4730100" cy="1431600"/>
          </a:xfrm>
          <a:prstGeom prst="rect">
            <a:avLst/>
          </a:prstGeom>
          <a:noFill/>
          <a:ln>
            <a:noFill/>
          </a:ln>
        </p:spPr>
        <p:txBody>
          <a:bodyPr spcFirstLastPara="1" wrap="square" lIns="91425" tIns="91425" rIns="91425" bIns="91425" anchor="t" anchorCtr="0">
            <a:spAutoFit/>
          </a:bodyPr>
          <a:lstStyle/>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Si ocurre una </a:t>
            </a:r>
            <a:r>
              <a:rPr lang="es" sz="1350">
                <a:highlight>
                  <a:schemeClr val="accent4"/>
                </a:highlight>
                <a:latin typeface="DM Sans"/>
                <a:ea typeface="DM Sans"/>
                <a:cs typeface="DM Sans"/>
                <a:sym typeface="DM Sans"/>
              </a:rPr>
              <a:t>excepción que no coincide con la excepción nombrada en el except</a:t>
            </a:r>
            <a:r>
              <a:rPr lang="es" sz="1350">
                <a:latin typeface="DM Sans"/>
                <a:ea typeface="DM Sans"/>
                <a:cs typeface="DM Sans"/>
                <a:sym typeface="DM Sans"/>
              </a:rPr>
              <a:t>, esta </a:t>
            </a:r>
            <a:r>
              <a:rPr lang="es" sz="1350">
                <a:highlight>
                  <a:schemeClr val="accent4"/>
                </a:highlight>
                <a:latin typeface="DM Sans"/>
                <a:ea typeface="DM Sans"/>
                <a:cs typeface="DM Sans"/>
                <a:sym typeface="DM Sans"/>
              </a:rPr>
              <a:t>se pasa a declaraciones try de más afuera</a:t>
            </a:r>
            <a:r>
              <a:rPr lang="es" sz="1350">
                <a:latin typeface="DM Sans"/>
                <a:ea typeface="DM Sans"/>
                <a:cs typeface="DM Sans"/>
                <a:sym typeface="DM Sans"/>
              </a:rPr>
              <a:t>; si no se encuentra nada que la maneje, </a:t>
            </a:r>
            <a:r>
              <a:rPr lang="es" sz="1350">
                <a:highlight>
                  <a:schemeClr val="accent4"/>
                </a:highlight>
                <a:latin typeface="DM Sans"/>
                <a:ea typeface="DM Sans"/>
                <a:cs typeface="DM Sans"/>
                <a:sym typeface="DM Sans"/>
              </a:rPr>
              <a:t>es una excepción no manejada</a:t>
            </a:r>
            <a:r>
              <a:rPr lang="es" sz="1350">
                <a:latin typeface="DM Sans"/>
                <a:ea typeface="DM Sans"/>
                <a:cs typeface="DM Sans"/>
                <a:sym typeface="DM Sans"/>
              </a:rPr>
              <a:t>, y la ejecución se frena con un mensaje como los mostrados arriba.</a:t>
            </a:r>
            <a:endParaRPr sz="1350">
              <a:latin typeface="DM Sans"/>
              <a:ea typeface="DM Sans"/>
              <a:cs typeface="DM Sans"/>
              <a:sym typeface="DM Sans"/>
            </a:endParaRPr>
          </a:p>
        </p:txBody>
      </p:sp>
      <p:pic>
        <p:nvPicPr>
          <p:cNvPr id="324" name="Google Shape;324;p43"/>
          <p:cNvPicPr preferRelativeResize="0"/>
          <p:nvPr/>
        </p:nvPicPr>
        <p:blipFill rotWithShape="1">
          <a:blip r:embed="rId3">
            <a:alphaModFix/>
          </a:blip>
          <a:srcRect/>
          <a:stretch/>
        </p:blipFill>
        <p:spPr>
          <a:xfrm>
            <a:off x="5792425" y="1926162"/>
            <a:ext cx="2021725" cy="2021725"/>
          </a:xfrm>
          <a:prstGeom prst="rect">
            <a:avLst/>
          </a:prstGeom>
          <a:noFill/>
          <a:ln>
            <a:noFill/>
          </a:ln>
        </p:spPr>
      </p:pic>
      <p:sp>
        <p:nvSpPr>
          <p:cNvPr id="325" name="Google Shape;325;p43"/>
          <p:cNvSpPr txBox="1"/>
          <p:nvPr/>
        </p:nvSpPr>
        <p:spPr>
          <a:xfrm>
            <a:off x="76200" y="4775375"/>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s" sz="1100" b="1" i="0" u="none" strike="noStrike" cap="none">
                <a:solidFill>
                  <a:srgbClr val="000000"/>
                </a:solidFill>
                <a:latin typeface="DM Sans"/>
                <a:ea typeface="DM Sans"/>
                <a:cs typeface="DM Sans"/>
                <a:sym typeface="DM Sans"/>
              </a:rPr>
              <a:t>Fuente</a:t>
            </a:r>
            <a:r>
              <a:rPr lang="es" sz="1100" i="0" u="none" strike="noStrike" cap="none">
                <a:solidFill>
                  <a:srgbClr val="000000"/>
                </a:solidFill>
                <a:latin typeface="DM Sans"/>
                <a:ea typeface="DM Sans"/>
                <a:cs typeface="DM Sans"/>
                <a:sym typeface="DM Sans"/>
              </a:rPr>
              <a:t>: </a:t>
            </a:r>
            <a:r>
              <a:rPr lang="es" sz="1100" i="0" u="sng" strike="noStrike" cap="none">
                <a:solidFill>
                  <a:srgbClr val="0563C1"/>
                </a:solidFill>
                <a:latin typeface="DM Sans"/>
                <a:ea typeface="DM Sans"/>
                <a:cs typeface="DM Sans"/>
                <a:sym typeface="DM Sans"/>
                <a:hlinkClick r:id="rId4">
                  <a:extLst>
                    <a:ext uri="{A12FA001-AC4F-418D-AE19-62706E023703}">
                      <ahyp:hlinkClr xmlns:ahyp="http://schemas.microsoft.com/office/drawing/2018/hyperlinkcolor" val="tx"/>
                    </a:ext>
                  </a:extLst>
                </a:hlinkClick>
              </a:rPr>
              <a:t>THernandez</a:t>
            </a:r>
            <a:endParaRPr sz="1100" i="0" u="none" strike="noStrike" cap="none">
              <a:solidFill>
                <a:srgbClr val="000000"/>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EB0D857B-74D3-A409-5198-12995F103CBD}"/>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44"/>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a:solidFill>
                  <a:srgbClr val="EAFF6A"/>
                </a:solidFill>
                <a:latin typeface="DM Sans"/>
                <a:ea typeface="DM Sans"/>
                <a:cs typeface="DM Sans"/>
                <a:sym typeface="DM Sans"/>
              </a:rPr>
              <a:t>Try-Except</a:t>
            </a:r>
            <a:endParaRPr sz="4000" b="1" i="0" u="none" strike="noStrike" cap="none">
              <a:solidFill>
                <a:srgbClr val="EAFF6A"/>
              </a:solidFill>
              <a:latin typeface="DM Sans"/>
              <a:ea typeface="DM Sans"/>
              <a:cs typeface="DM Sans"/>
              <a:sym typeface="DM Sans"/>
            </a:endParaRPr>
          </a:p>
        </p:txBody>
      </p:sp>
      <p:sp>
        <p:nvSpPr>
          <p:cNvPr id="331" name="Google Shape;331;p44"/>
          <p:cNvSpPr txBox="1"/>
          <p:nvPr/>
        </p:nvSpPr>
        <p:spPr>
          <a:xfrm>
            <a:off x="473350" y="1626100"/>
            <a:ext cx="7275600" cy="1723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s" sz="2500">
                <a:solidFill>
                  <a:schemeClr val="lt1"/>
                </a:solidFill>
                <a:latin typeface="DM Sans"/>
                <a:ea typeface="DM Sans"/>
                <a:cs typeface="DM Sans"/>
                <a:sym typeface="DM Sans"/>
              </a:rPr>
              <a:t>Try - Except </a:t>
            </a:r>
            <a:r>
              <a:rPr lang="es" sz="2500" b="1">
                <a:solidFill>
                  <a:schemeClr val="lt1"/>
                </a:solidFill>
                <a:latin typeface="DM Sans"/>
                <a:ea typeface="DM Sans"/>
                <a:cs typeface="DM Sans"/>
                <a:sym typeface="DM Sans"/>
              </a:rPr>
              <a:t>nos permite controlar situaciones excepcionales que generalmente darían error</a:t>
            </a:r>
            <a:r>
              <a:rPr lang="es" sz="2500">
                <a:solidFill>
                  <a:schemeClr val="lt1"/>
                </a:solidFill>
                <a:latin typeface="DM Sans"/>
                <a:ea typeface="DM Sans"/>
                <a:cs typeface="DM Sans"/>
                <a:sym typeface="DM Sans"/>
              </a:rPr>
              <a:t> y en su lugar permite mostrar un mensaje o ejecutar una pieza de código alternativo.</a:t>
            </a:r>
            <a:endParaRPr sz="2500" b="1" i="0" u="none" strike="noStrike" cap="none">
              <a:solidFill>
                <a:srgbClr val="EAFF6A"/>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E1B03DB2-40D2-510D-E992-DE18823786AC}"/>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45"/>
          <p:cNvSpPr txBox="1"/>
          <p:nvPr/>
        </p:nvSpPr>
        <p:spPr>
          <a:xfrm>
            <a:off x="1461300" y="2202300"/>
            <a:ext cx="62214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a:solidFill>
                  <a:schemeClr val="dk1"/>
                </a:solidFill>
                <a:latin typeface="DM Sans"/>
                <a:ea typeface="DM Sans"/>
                <a:cs typeface="DM Sans"/>
                <a:sym typeface="DM Sans"/>
              </a:rPr>
              <a:t>Else</a:t>
            </a:r>
            <a:endParaRPr sz="4000" b="1" i="0" u="none" strike="noStrike" cap="none">
              <a:solidFill>
                <a:schemeClr val="dk1"/>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5A7F9E2B-1F15-2DFC-FA30-54EA6AB62B9E}"/>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6"/>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a:solidFill>
                  <a:schemeClr val="dk1"/>
                </a:solidFill>
                <a:latin typeface="DM Sans"/>
                <a:ea typeface="DM Sans"/>
                <a:cs typeface="DM Sans"/>
                <a:sym typeface="DM Sans"/>
              </a:rPr>
              <a:t>Else</a:t>
            </a:r>
            <a:endParaRPr sz="4000" b="1" i="0" u="none" strike="noStrike" cap="none">
              <a:solidFill>
                <a:schemeClr val="dk1"/>
              </a:solidFill>
              <a:latin typeface="DM Sans"/>
              <a:ea typeface="DM Sans"/>
              <a:cs typeface="DM Sans"/>
              <a:sym typeface="DM Sans"/>
            </a:endParaRPr>
          </a:p>
        </p:txBody>
      </p:sp>
      <p:sp>
        <p:nvSpPr>
          <p:cNvPr id="342" name="Google Shape;342;p46"/>
          <p:cNvSpPr txBox="1"/>
          <p:nvPr/>
        </p:nvSpPr>
        <p:spPr>
          <a:xfrm>
            <a:off x="473350" y="1908175"/>
            <a:ext cx="3834600" cy="1431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a:latin typeface="DM Sans"/>
                <a:ea typeface="DM Sans"/>
                <a:cs typeface="DM Sans"/>
                <a:sym typeface="DM Sans"/>
              </a:rPr>
              <a:t>Las declaraciones try - except tienen un </a:t>
            </a:r>
            <a:r>
              <a:rPr lang="es" sz="1350">
                <a:highlight>
                  <a:schemeClr val="accent4"/>
                </a:highlight>
                <a:latin typeface="DM Sans"/>
                <a:ea typeface="DM Sans"/>
                <a:cs typeface="DM Sans"/>
                <a:sym typeface="DM Sans"/>
              </a:rPr>
              <a:t>bloque else opcional</a:t>
            </a:r>
            <a:r>
              <a:rPr lang="es" sz="1350">
                <a:latin typeface="DM Sans"/>
                <a:ea typeface="DM Sans"/>
                <a:cs typeface="DM Sans"/>
                <a:sym typeface="DM Sans"/>
              </a:rPr>
              <a:t>, el cual, cuando está presente, debe seguir a los except. El bloque else es un buen momento para romper la iteración con break si todo funciona correctamente.</a:t>
            </a:r>
            <a:endParaRPr sz="1350" b="0" i="0" u="none" strike="noStrike" cap="none">
              <a:solidFill>
                <a:srgbClr val="000000"/>
              </a:solidFill>
              <a:latin typeface="DM Sans"/>
              <a:ea typeface="DM Sans"/>
              <a:cs typeface="DM Sans"/>
              <a:sym typeface="DM Sans"/>
            </a:endParaRPr>
          </a:p>
        </p:txBody>
      </p:sp>
      <p:sp>
        <p:nvSpPr>
          <p:cNvPr id="343" name="Google Shape;343;p46"/>
          <p:cNvSpPr txBox="1"/>
          <p:nvPr/>
        </p:nvSpPr>
        <p:spPr>
          <a:xfrm>
            <a:off x="4527575" y="1908175"/>
            <a:ext cx="3834600" cy="1223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a:highlight>
                  <a:schemeClr val="accent4"/>
                </a:highlight>
                <a:latin typeface="DM Sans"/>
                <a:ea typeface="DM Sans"/>
                <a:cs typeface="DM Sans"/>
                <a:sym typeface="DM Sans"/>
              </a:rPr>
              <a:t>El uso de else es mejor que agregar código adicional en el try</a:t>
            </a:r>
            <a:r>
              <a:rPr lang="es" sz="1350">
                <a:latin typeface="DM Sans"/>
                <a:ea typeface="DM Sans"/>
                <a:cs typeface="DM Sans"/>
                <a:sym typeface="DM Sans"/>
              </a:rPr>
              <a:t> porque evita capturar accidentalmente una excepción que no fue generada por el código que está protegido por la sentencia try - except.</a:t>
            </a:r>
            <a:endParaRPr sz="1350" b="0" i="0" u="none" strike="noStrike" cap="none">
              <a:solidFill>
                <a:srgbClr val="000000"/>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2890C199-78CB-D95F-EF65-9762B01EE96B}"/>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47"/>
          <p:cNvSpPr/>
          <p:nvPr/>
        </p:nvSpPr>
        <p:spPr>
          <a:xfrm>
            <a:off x="647400" y="1189150"/>
            <a:ext cx="7849200" cy="33174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9" name="Google Shape;349;p47"/>
          <p:cNvSpPr txBox="1"/>
          <p:nvPr/>
        </p:nvSpPr>
        <p:spPr>
          <a:xfrm>
            <a:off x="1461300" y="345975"/>
            <a:ext cx="6221400" cy="6696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3500"/>
              <a:buFont typeface="Arial"/>
              <a:buNone/>
            </a:pPr>
            <a:r>
              <a:rPr lang="es" sz="3500" b="1">
                <a:solidFill>
                  <a:schemeClr val="lt1"/>
                </a:solidFill>
                <a:latin typeface="DM Sans"/>
                <a:ea typeface="DM Sans"/>
                <a:cs typeface="DM Sans"/>
                <a:sym typeface="DM Sans"/>
              </a:rPr>
              <a:t>Else en ejemplo</a:t>
            </a:r>
            <a:endParaRPr sz="3500" b="1" i="0" u="none" strike="noStrike" cap="none">
              <a:solidFill>
                <a:schemeClr val="lt1"/>
              </a:solidFill>
              <a:latin typeface="DM Sans"/>
              <a:ea typeface="DM Sans"/>
              <a:cs typeface="DM Sans"/>
              <a:sym typeface="DM Sans"/>
            </a:endParaRPr>
          </a:p>
        </p:txBody>
      </p:sp>
      <p:grpSp>
        <p:nvGrpSpPr>
          <p:cNvPr id="350" name="Google Shape;350;p47"/>
          <p:cNvGrpSpPr/>
          <p:nvPr/>
        </p:nvGrpSpPr>
        <p:grpSpPr>
          <a:xfrm>
            <a:off x="8212626" y="215723"/>
            <a:ext cx="738900" cy="738900"/>
            <a:chOff x="473351" y="619523"/>
            <a:chExt cx="738900" cy="738900"/>
          </a:xfrm>
        </p:grpSpPr>
        <p:sp>
          <p:nvSpPr>
            <p:cNvPr id="351" name="Google Shape;351;p47"/>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52" name="Google Shape;352;p47"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sp>
        <p:nvSpPr>
          <p:cNvPr id="353" name="Google Shape;353;p47"/>
          <p:cNvSpPr txBox="1"/>
          <p:nvPr/>
        </p:nvSpPr>
        <p:spPr>
          <a:xfrm>
            <a:off x="2011550" y="1556925"/>
            <a:ext cx="5210400" cy="2495700"/>
          </a:xfrm>
          <a:prstGeom prst="rect">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1100">
                <a:solidFill>
                  <a:srgbClr val="37474F"/>
                </a:solidFill>
                <a:latin typeface="Roboto Mono"/>
                <a:ea typeface="Roboto Mono"/>
                <a:cs typeface="Roboto Mono"/>
                <a:sym typeface="Roboto Mono"/>
              </a:rPr>
              <a:t>while (True):</a:t>
            </a:r>
            <a:endParaRPr>
              <a:solidFill>
                <a:schemeClr val="dk1"/>
              </a:solidFill>
            </a:endParaRPr>
          </a:p>
          <a:p>
            <a:pPr marL="0" lvl="0" indent="0" algn="l" rtl="0">
              <a:lnSpc>
                <a:spcPct val="115000"/>
              </a:lnSpc>
              <a:spcBef>
                <a:spcPts val="0"/>
              </a:spcBef>
              <a:spcAft>
                <a:spcPts val="0"/>
              </a:spcAft>
              <a:buNone/>
            </a:pPr>
            <a:r>
              <a:rPr lang="es" sz="1100">
                <a:solidFill>
                  <a:srgbClr val="37474F"/>
                </a:solidFill>
                <a:latin typeface="Roboto Mono"/>
                <a:ea typeface="Roboto Mono"/>
                <a:cs typeface="Roboto Mono"/>
                <a:sym typeface="Roboto Mono"/>
              </a:rPr>
              <a:t>   try:  </a:t>
            </a:r>
            <a:endParaRPr>
              <a:solidFill>
                <a:schemeClr val="dk1"/>
              </a:solidFill>
            </a:endParaRPr>
          </a:p>
          <a:p>
            <a:pPr marL="0" lvl="0" indent="0" algn="l" rtl="0">
              <a:lnSpc>
                <a:spcPct val="115000"/>
              </a:lnSpc>
              <a:spcBef>
                <a:spcPts val="0"/>
              </a:spcBef>
              <a:spcAft>
                <a:spcPts val="0"/>
              </a:spcAft>
              <a:buNone/>
            </a:pPr>
            <a:r>
              <a:rPr lang="es" sz="1100">
                <a:solidFill>
                  <a:srgbClr val="37474F"/>
                </a:solidFill>
                <a:latin typeface="Roboto Mono"/>
                <a:ea typeface="Roboto Mono"/>
                <a:cs typeface="Roboto Mono"/>
                <a:sym typeface="Roboto Mono"/>
              </a:rPr>
              <a:t>      a = float(input("Introduce un número: "))</a:t>
            </a:r>
            <a:endParaRPr>
              <a:solidFill>
                <a:schemeClr val="dk1"/>
              </a:solidFill>
            </a:endParaRPr>
          </a:p>
          <a:p>
            <a:pPr marL="0" lvl="0" indent="0" algn="l" rtl="0">
              <a:lnSpc>
                <a:spcPct val="115000"/>
              </a:lnSpc>
              <a:spcBef>
                <a:spcPts val="0"/>
              </a:spcBef>
              <a:spcAft>
                <a:spcPts val="0"/>
              </a:spcAft>
              <a:buNone/>
            </a:pPr>
            <a:r>
              <a:rPr lang="es" sz="1100">
                <a:solidFill>
                  <a:srgbClr val="37474F"/>
                </a:solidFill>
                <a:latin typeface="Roboto Mono"/>
                <a:ea typeface="Roboto Mono"/>
                <a:cs typeface="Roboto Mono"/>
                <a:sym typeface="Roboto Mono"/>
              </a:rPr>
              <a:t>      b = float(input("Introduce otro número: "))</a:t>
            </a:r>
            <a:endParaRPr>
              <a:solidFill>
                <a:schemeClr val="dk1"/>
              </a:solidFill>
            </a:endParaRPr>
          </a:p>
          <a:p>
            <a:pPr marL="0" lvl="0" indent="0" algn="l" rtl="0">
              <a:lnSpc>
                <a:spcPct val="115000"/>
              </a:lnSpc>
              <a:spcBef>
                <a:spcPts val="0"/>
              </a:spcBef>
              <a:spcAft>
                <a:spcPts val="0"/>
              </a:spcAft>
              <a:buNone/>
            </a:pPr>
            <a:r>
              <a:rPr lang="es" sz="1100">
                <a:solidFill>
                  <a:srgbClr val="37474F"/>
                </a:solidFill>
                <a:latin typeface="Roboto Mono"/>
                <a:ea typeface="Roboto Mono"/>
                <a:cs typeface="Roboto Mono"/>
                <a:sym typeface="Roboto Mono"/>
              </a:rPr>
              <a:t>      print(a + b)</a:t>
            </a:r>
            <a:endParaRPr>
              <a:solidFill>
                <a:schemeClr val="dk1"/>
              </a:solidFill>
            </a:endParaRPr>
          </a:p>
          <a:p>
            <a:pPr marL="0" lvl="0" indent="0" algn="l" rtl="0">
              <a:lnSpc>
                <a:spcPct val="115000"/>
              </a:lnSpc>
              <a:spcBef>
                <a:spcPts val="0"/>
              </a:spcBef>
              <a:spcAft>
                <a:spcPts val="0"/>
              </a:spcAft>
              <a:buNone/>
            </a:pPr>
            <a:r>
              <a:rPr lang="es" sz="1100">
                <a:solidFill>
                  <a:srgbClr val="37474F"/>
                </a:solidFill>
                <a:latin typeface="Roboto Mono"/>
                <a:ea typeface="Roboto Mono"/>
                <a:cs typeface="Roboto Mono"/>
                <a:sym typeface="Roboto Mono"/>
              </a:rPr>
              <a:t>   except:</a:t>
            </a:r>
            <a:endParaRPr>
              <a:solidFill>
                <a:schemeClr val="dk1"/>
              </a:solidFill>
            </a:endParaRPr>
          </a:p>
          <a:p>
            <a:pPr marL="0" lvl="0" indent="0" algn="l" rtl="0">
              <a:lnSpc>
                <a:spcPct val="115000"/>
              </a:lnSpc>
              <a:spcBef>
                <a:spcPts val="0"/>
              </a:spcBef>
              <a:spcAft>
                <a:spcPts val="0"/>
              </a:spcAft>
              <a:buNone/>
            </a:pPr>
            <a:r>
              <a:rPr lang="es" sz="1100">
                <a:solidFill>
                  <a:srgbClr val="37474F"/>
                </a:solidFill>
                <a:latin typeface="Roboto Mono"/>
                <a:ea typeface="Roboto Mono"/>
                <a:cs typeface="Roboto Mono"/>
                <a:sym typeface="Roboto Mono"/>
              </a:rPr>
              <a:t>      print("Ha ocurrido un error. Tienes que introducir 2 números.")</a:t>
            </a:r>
            <a:endParaRPr>
              <a:solidFill>
                <a:schemeClr val="dk1"/>
              </a:solidFill>
            </a:endParaRPr>
          </a:p>
          <a:p>
            <a:pPr marL="0" lvl="0" indent="0" algn="l" rtl="0">
              <a:lnSpc>
                <a:spcPct val="115000"/>
              </a:lnSpc>
              <a:spcBef>
                <a:spcPts val="0"/>
              </a:spcBef>
              <a:spcAft>
                <a:spcPts val="0"/>
              </a:spcAft>
              <a:buNone/>
            </a:pPr>
            <a:r>
              <a:rPr lang="es" sz="1100">
                <a:solidFill>
                  <a:srgbClr val="37474F"/>
                </a:solidFill>
                <a:latin typeface="Roboto Mono"/>
                <a:ea typeface="Roboto Mono"/>
                <a:cs typeface="Roboto Mono"/>
                <a:sym typeface="Roboto Mono"/>
              </a:rPr>
              <a:t>   else:</a:t>
            </a:r>
            <a:endParaRPr>
              <a:solidFill>
                <a:schemeClr val="dk1"/>
              </a:solidFill>
            </a:endParaRPr>
          </a:p>
          <a:p>
            <a:pPr marL="0" lvl="0" indent="0" algn="l" rtl="0">
              <a:lnSpc>
                <a:spcPct val="115000"/>
              </a:lnSpc>
              <a:spcBef>
                <a:spcPts val="0"/>
              </a:spcBef>
              <a:spcAft>
                <a:spcPts val="0"/>
              </a:spcAft>
              <a:buNone/>
            </a:pPr>
            <a:r>
              <a:rPr lang="es" sz="1100">
                <a:solidFill>
                  <a:srgbClr val="37474F"/>
                </a:solidFill>
                <a:latin typeface="Roboto Mono"/>
                <a:ea typeface="Roboto Mono"/>
                <a:cs typeface="Roboto Mono"/>
                <a:sym typeface="Roboto Mono"/>
              </a:rPr>
              <a:t>      print("La suma se ha realizado correctamente.")</a:t>
            </a:r>
            <a:endParaRPr>
              <a:solidFill>
                <a:schemeClr val="dk1"/>
              </a:solidFill>
            </a:endParaRPr>
          </a:p>
          <a:p>
            <a:pPr marL="0" lvl="0" indent="0" algn="l" rtl="0">
              <a:lnSpc>
                <a:spcPct val="115000"/>
              </a:lnSpc>
              <a:spcBef>
                <a:spcPts val="0"/>
              </a:spcBef>
              <a:spcAft>
                <a:spcPts val="0"/>
              </a:spcAft>
              <a:buNone/>
            </a:pPr>
            <a:r>
              <a:rPr lang="es" sz="1100">
                <a:solidFill>
                  <a:srgbClr val="37474F"/>
                </a:solidFill>
                <a:latin typeface="Roboto Mono"/>
                <a:ea typeface="Roboto Mono"/>
                <a:cs typeface="Roboto Mono"/>
                <a:sym typeface="Roboto Mono"/>
              </a:rPr>
              <a:t>      break  # Importante romper la iteración si todo ha ido bien.</a:t>
            </a:r>
            <a:endParaRPr sz="1100">
              <a:solidFill>
                <a:srgbClr val="37474F"/>
              </a:solidFill>
              <a:latin typeface="Roboto Mono"/>
              <a:ea typeface="Roboto Mono"/>
              <a:cs typeface="Roboto Mono"/>
              <a:sym typeface="Roboto Mono"/>
            </a:endParaRPr>
          </a:p>
        </p:txBody>
      </p:sp>
      <p:sp>
        <p:nvSpPr>
          <p:cNvPr id="2" name="Rectángulo 1">
            <a:extLst>
              <a:ext uri="{FF2B5EF4-FFF2-40B4-BE49-F238E27FC236}">
                <a16:creationId xmlns:a16="http://schemas.microsoft.com/office/drawing/2014/main" id="{496F4BCA-75DD-0076-07FE-2B31F0FC18E6}"/>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48"/>
          <p:cNvSpPr txBox="1"/>
          <p:nvPr/>
        </p:nvSpPr>
        <p:spPr>
          <a:xfrm>
            <a:off x="1461300" y="2202300"/>
            <a:ext cx="62214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a:solidFill>
                  <a:schemeClr val="dk1"/>
                </a:solidFill>
                <a:latin typeface="DM Sans"/>
                <a:ea typeface="DM Sans"/>
                <a:cs typeface="DM Sans"/>
                <a:sym typeface="DM Sans"/>
              </a:rPr>
              <a:t>Finally</a:t>
            </a:r>
            <a:endParaRPr sz="4000" b="1" i="0" u="none" strike="noStrike" cap="none">
              <a:solidFill>
                <a:schemeClr val="dk1"/>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145BC413-B2E3-8766-2EE0-B9B70F83DF33}"/>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9"/>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a:solidFill>
                  <a:schemeClr val="dk1"/>
                </a:solidFill>
                <a:latin typeface="DM Sans"/>
                <a:ea typeface="DM Sans"/>
                <a:cs typeface="DM Sans"/>
                <a:sym typeface="DM Sans"/>
              </a:rPr>
              <a:t>Finally</a:t>
            </a:r>
            <a:endParaRPr sz="4000" b="1" i="0" u="none" strike="noStrike" cap="none">
              <a:solidFill>
                <a:schemeClr val="dk1"/>
              </a:solidFill>
              <a:latin typeface="DM Sans"/>
              <a:ea typeface="DM Sans"/>
              <a:cs typeface="DM Sans"/>
              <a:sym typeface="DM Sans"/>
            </a:endParaRPr>
          </a:p>
        </p:txBody>
      </p:sp>
      <p:sp>
        <p:nvSpPr>
          <p:cNvPr id="364" name="Google Shape;364;p49"/>
          <p:cNvSpPr txBox="1"/>
          <p:nvPr/>
        </p:nvSpPr>
        <p:spPr>
          <a:xfrm>
            <a:off x="473350" y="1908175"/>
            <a:ext cx="5676000" cy="1431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a:latin typeface="DM Sans"/>
                <a:ea typeface="DM Sans"/>
                <a:cs typeface="DM Sans"/>
                <a:sym typeface="DM Sans"/>
              </a:rPr>
              <a:t>La sentencia try tiene otra sentencia opcional que intenta definir acciones de limpieza que deben ser ejecutadas bajo ciertas circunstancias. Una sentencia finaly </a:t>
            </a:r>
            <a:r>
              <a:rPr lang="es" sz="1350">
                <a:highlight>
                  <a:schemeClr val="accent4"/>
                </a:highlight>
                <a:latin typeface="DM Sans"/>
                <a:ea typeface="DM Sans"/>
                <a:cs typeface="DM Sans"/>
                <a:sym typeface="DM Sans"/>
              </a:rPr>
              <a:t>siempre es ejecutada antes de salir de la sentencia try</a:t>
            </a:r>
            <a:r>
              <a:rPr lang="es" sz="1350">
                <a:latin typeface="DM Sans"/>
                <a:ea typeface="DM Sans"/>
                <a:cs typeface="DM Sans"/>
                <a:sym typeface="DM Sans"/>
              </a:rPr>
              <a:t>, ya sea que una excepción haya ocurrido o no. </a:t>
            </a:r>
            <a:endParaRPr sz="1350">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endParaRPr sz="1350">
              <a:latin typeface="DM Sans"/>
              <a:ea typeface="DM Sans"/>
              <a:cs typeface="DM Sans"/>
              <a:sym typeface="DM Sans"/>
            </a:endParaRPr>
          </a:p>
        </p:txBody>
      </p:sp>
      <p:sp>
        <p:nvSpPr>
          <p:cNvPr id="2" name="Rectángulo 1">
            <a:extLst>
              <a:ext uri="{FF2B5EF4-FFF2-40B4-BE49-F238E27FC236}">
                <a16:creationId xmlns:a16="http://schemas.microsoft.com/office/drawing/2014/main" id="{3976E013-9F3A-576B-2417-B3B2C413AEDE}"/>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50"/>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a:solidFill>
                  <a:schemeClr val="dk1"/>
                </a:solidFill>
                <a:latin typeface="DM Sans"/>
                <a:ea typeface="DM Sans"/>
                <a:cs typeface="DM Sans"/>
                <a:sym typeface="DM Sans"/>
              </a:rPr>
              <a:t>Finally</a:t>
            </a:r>
            <a:endParaRPr sz="4000" b="1" i="0" u="none" strike="noStrike" cap="none">
              <a:solidFill>
                <a:schemeClr val="dk1"/>
              </a:solidFill>
              <a:latin typeface="DM Sans"/>
              <a:ea typeface="DM Sans"/>
              <a:cs typeface="DM Sans"/>
              <a:sym typeface="DM Sans"/>
            </a:endParaRPr>
          </a:p>
        </p:txBody>
      </p:sp>
      <p:sp>
        <p:nvSpPr>
          <p:cNvPr id="370" name="Google Shape;370;p50"/>
          <p:cNvSpPr txBox="1"/>
          <p:nvPr/>
        </p:nvSpPr>
        <p:spPr>
          <a:xfrm>
            <a:off x="473350" y="1908175"/>
            <a:ext cx="3834600" cy="1639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a:latin typeface="DM Sans"/>
                <a:ea typeface="DM Sans"/>
                <a:cs typeface="DM Sans"/>
                <a:sym typeface="DM Sans"/>
              </a:rPr>
              <a:t>Cuando ocurre una excepción en la sentencia try y no fue manejada por una sentencia except (u ocurrió en una sentencia except o else), es relanzada luego de que se ejecuta la sentencia finally.</a:t>
            </a:r>
            <a:endParaRPr sz="1350">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endParaRPr sz="1350">
              <a:latin typeface="DM Sans"/>
              <a:ea typeface="DM Sans"/>
              <a:cs typeface="DM Sans"/>
              <a:sym typeface="DM Sans"/>
            </a:endParaRPr>
          </a:p>
        </p:txBody>
      </p:sp>
      <p:sp>
        <p:nvSpPr>
          <p:cNvPr id="371" name="Google Shape;371;p50"/>
          <p:cNvSpPr txBox="1"/>
          <p:nvPr/>
        </p:nvSpPr>
        <p:spPr>
          <a:xfrm>
            <a:off x="4527575" y="1908175"/>
            <a:ext cx="3834600" cy="1015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a:highlight>
                  <a:schemeClr val="accent4"/>
                </a:highlight>
                <a:latin typeface="DM Sans"/>
                <a:ea typeface="DM Sans"/>
                <a:cs typeface="DM Sans"/>
                <a:sym typeface="DM Sans"/>
              </a:rPr>
              <a:t>La sentencia finally es también ejecutada «a la salida» cuando cualquier otra sentencia de la sentencia try es dejada vía break, continue or return. </a:t>
            </a:r>
            <a:endParaRPr sz="1350" b="0" i="0" u="none" strike="noStrike" cap="none">
              <a:solidFill>
                <a:srgbClr val="000000"/>
              </a:solidFill>
              <a:highlight>
                <a:schemeClr val="accent4"/>
              </a:highlight>
              <a:latin typeface="DM Sans"/>
              <a:ea typeface="DM Sans"/>
              <a:cs typeface="DM Sans"/>
              <a:sym typeface="DM Sans"/>
            </a:endParaRPr>
          </a:p>
        </p:txBody>
      </p:sp>
      <p:sp>
        <p:nvSpPr>
          <p:cNvPr id="2" name="Rectángulo 1">
            <a:extLst>
              <a:ext uri="{FF2B5EF4-FFF2-40B4-BE49-F238E27FC236}">
                <a16:creationId xmlns:a16="http://schemas.microsoft.com/office/drawing/2014/main" id="{11DD6040-12C6-4FE9-1745-F68F45D05E8D}"/>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51"/>
          <p:cNvSpPr/>
          <p:nvPr/>
        </p:nvSpPr>
        <p:spPr>
          <a:xfrm>
            <a:off x="647400" y="1189150"/>
            <a:ext cx="7849200" cy="33174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7" name="Google Shape;377;p51"/>
          <p:cNvSpPr txBox="1"/>
          <p:nvPr/>
        </p:nvSpPr>
        <p:spPr>
          <a:xfrm>
            <a:off x="1461300" y="345975"/>
            <a:ext cx="6221400" cy="6696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3500"/>
              <a:buFont typeface="Arial"/>
              <a:buNone/>
            </a:pPr>
            <a:r>
              <a:rPr lang="es" sz="3500" b="1">
                <a:solidFill>
                  <a:schemeClr val="lt1"/>
                </a:solidFill>
                <a:latin typeface="DM Sans"/>
                <a:ea typeface="DM Sans"/>
                <a:cs typeface="DM Sans"/>
                <a:sym typeface="DM Sans"/>
              </a:rPr>
              <a:t>Finaly en ejemplo</a:t>
            </a:r>
            <a:endParaRPr sz="3500" b="1" i="0" u="none" strike="noStrike" cap="none">
              <a:solidFill>
                <a:schemeClr val="lt1"/>
              </a:solidFill>
              <a:latin typeface="DM Sans"/>
              <a:ea typeface="DM Sans"/>
              <a:cs typeface="DM Sans"/>
              <a:sym typeface="DM Sans"/>
            </a:endParaRPr>
          </a:p>
        </p:txBody>
      </p:sp>
      <p:grpSp>
        <p:nvGrpSpPr>
          <p:cNvPr id="378" name="Google Shape;378;p51"/>
          <p:cNvGrpSpPr/>
          <p:nvPr/>
        </p:nvGrpSpPr>
        <p:grpSpPr>
          <a:xfrm>
            <a:off x="8212626" y="215723"/>
            <a:ext cx="738900" cy="738900"/>
            <a:chOff x="473351" y="619523"/>
            <a:chExt cx="738900" cy="738900"/>
          </a:xfrm>
        </p:grpSpPr>
        <p:sp>
          <p:nvSpPr>
            <p:cNvPr id="379" name="Google Shape;379;p51"/>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80" name="Google Shape;380;p51"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sp>
        <p:nvSpPr>
          <p:cNvPr id="381" name="Google Shape;381;p51"/>
          <p:cNvSpPr txBox="1"/>
          <p:nvPr/>
        </p:nvSpPr>
        <p:spPr>
          <a:xfrm>
            <a:off x="1695475" y="1330950"/>
            <a:ext cx="6063000" cy="3021000"/>
          </a:xfrm>
          <a:prstGeom prst="rect">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1350">
                <a:solidFill>
                  <a:srgbClr val="37474F"/>
                </a:solidFill>
                <a:latin typeface="DM Sans"/>
                <a:ea typeface="DM Sans"/>
                <a:cs typeface="DM Sans"/>
                <a:sym typeface="DM Sans"/>
              </a:rPr>
              <a:t>while (True):</a:t>
            </a:r>
            <a:endParaRPr sz="1350">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r>
              <a:rPr lang="es" sz="1350">
                <a:solidFill>
                  <a:srgbClr val="37474F"/>
                </a:solidFill>
                <a:latin typeface="DM Sans"/>
                <a:ea typeface="DM Sans"/>
                <a:cs typeface="DM Sans"/>
                <a:sym typeface="DM Sans"/>
              </a:rPr>
              <a:t>   try:   </a:t>
            </a:r>
            <a:endParaRPr sz="1350">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r>
              <a:rPr lang="es" sz="1350">
                <a:solidFill>
                  <a:srgbClr val="37474F"/>
                </a:solidFill>
                <a:latin typeface="DM Sans"/>
                <a:ea typeface="DM Sans"/>
                <a:cs typeface="DM Sans"/>
                <a:sym typeface="DM Sans"/>
              </a:rPr>
              <a:t>      a = float(input("Introduce un número: "))</a:t>
            </a:r>
            <a:endParaRPr sz="1350">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r>
              <a:rPr lang="es" sz="1350">
                <a:solidFill>
                  <a:srgbClr val="37474F"/>
                </a:solidFill>
                <a:latin typeface="DM Sans"/>
                <a:ea typeface="DM Sans"/>
                <a:cs typeface="DM Sans"/>
                <a:sym typeface="DM Sans"/>
              </a:rPr>
              <a:t>      b = float(input("Introduce otro número: "))</a:t>
            </a:r>
            <a:endParaRPr sz="1350">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r>
              <a:rPr lang="es" sz="1350">
                <a:solidFill>
                  <a:srgbClr val="37474F"/>
                </a:solidFill>
                <a:latin typeface="DM Sans"/>
                <a:ea typeface="DM Sans"/>
                <a:cs typeface="DM Sans"/>
                <a:sym typeface="DM Sans"/>
              </a:rPr>
              <a:t>      print(a + b)</a:t>
            </a:r>
            <a:endParaRPr sz="1350">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r>
              <a:rPr lang="es" sz="1350">
                <a:solidFill>
                  <a:srgbClr val="37474F"/>
                </a:solidFill>
                <a:latin typeface="DM Sans"/>
                <a:ea typeface="DM Sans"/>
                <a:cs typeface="DM Sans"/>
                <a:sym typeface="DM Sans"/>
              </a:rPr>
              <a:t>   except:</a:t>
            </a:r>
            <a:endParaRPr sz="1350">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r>
              <a:rPr lang="es" sz="1350">
                <a:solidFill>
                  <a:srgbClr val="37474F"/>
                </a:solidFill>
                <a:latin typeface="DM Sans"/>
                <a:ea typeface="DM Sans"/>
                <a:cs typeface="DM Sans"/>
                <a:sym typeface="DM Sans"/>
              </a:rPr>
              <a:t>      print("Ha ocurrido un error. Tienes que introducir 2 números.")</a:t>
            </a:r>
            <a:endParaRPr sz="1350">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r>
              <a:rPr lang="es" sz="1350">
                <a:solidFill>
                  <a:srgbClr val="37474F"/>
                </a:solidFill>
                <a:latin typeface="DM Sans"/>
                <a:ea typeface="DM Sans"/>
                <a:cs typeface="DM Sans"/>
                <a:sym typeface="DM Sans"/>
              </a:rPr>
              <a:t>   else:</a:t>
            </a:r>
            <a:endParaRPr sz="1350">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r>
              <a:rPr lang="es" sz="1350">
                <a:solidFill>
                  <a:srgbClr val="37474F"/>
                </a:solidFill>
                <a:latin typeface="DM Sans"/>
                <a:ea typeface="DM Sans"/>
                <a:cs typeface="DM Sans"/>
                <a:sym typeface="DM Sans"/>
              </a:rPr>
              <a:t>      print("La suma se ha realizado correctamente.")</a:t>
            </a:r>
            <a:endParaRPr sz="1350">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r>
              <a:rPr lang="es" sz="1350">
                <a:solidFill>
                  <a:srgbClr val="37474F"/>
                </a:solidFill>
                <a:latin typeface="DM Sans"/>
                <a:ea typeface="DM Sans"/>
                <a:cs typeface="DM Sans"/>
                <a:sym typeface="DM Sans"/>
              </a:rPr>
              <a:t>      break   # Importante romper la iteración si todo ha ido bien.</a:t>
            </a:r>
            <a:endParaRPr sz="1350">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r>
              <a:rPr lang="es" sz="1350">
                <a:solidFill>
                  <a:srgbClr val="37474F"/>
                </a:solidFill>
                <a:latin typeface="DM Sans"/>
                <a:ea typeface="DM Sans"/>
                <a:cs typeface="DM Sans"/>
                <a:sym typeface="DM Sans"/>
              </a:rPr>
              <a:t>   finally:</a:t>
            </a:r>
            <a:endParaRPr sz="1350">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r>
              <a:rPr lang="es" sz="1350">
                <a:solidFill>
                  <a:srgbClr val="37474F"/>
                </a:solidFill>
                <a:latin typeface="DM Sans"/>
                <a:ea typeface="DM Sans"/>
                <a:cs typeface="DM Sans"/>
                <a:sym typeface="DM Sans"/>
              </a:rPr>
              <a:t>      print("Fin del bucle") # Esto se ejecuta siempre.</a:t>
            </a:r>
            <a:endParaRPr sz="1350">
              <a:solidFill>
                <a:srgbClr val="37474F"/>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6EB21524-F842-7203-7A16-B81151B82036}"/>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52"/>
          <p:cNvSpPr txBox="1"/>
          <p:nvPr/>
        </p:nvSpPr>
        <p:spPr>
          <a:xfrm>
            <a:off x="1461300" y="2202300"/>
            <a:ext cx="62214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a:solidFill>
                  <a:schemeClr val="dk1"/>
                </a:solidFill>
                <a:latin typeface="DM Sans"/>
                <a:ea typeface="DM Sans"/>
                <a:cs typeface="DM Sans"/>
                <a:sym typeface="DM Sans"/>
              </a:rPr>
              <a:t>Excepciones múltiples</a:t>
            </a:r>
            <a:endParaRPr sz="4000" b="1" i="0" u="none" strike="noStrike" cap="none">
              <a:solidFill>
                <a:schemeClr val="dk1"/>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61623DA2-A270-9601-D539-7BBD948DC0D4}"/>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53"/>
          <p:cNvSpPr txBox="1"/>
          <p:nvPr/>
        </p:nvSpPr>
        <p:spPr>
          <a:xfrm>
            <a:off x="457725" y="1071050"/>
            <a:ext cx="59025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a:solidFill>
                  <a:schemeClr val="dk1"/>
                </a:solidFill>
                <a:latin typeface="DM Sans"/>
                <a:ea typeface="DM Sans"/>
                <a:cs typeface="DM Sans"/>
                <a:sym typeface="DM Sans"/>
              </a:rPr>
              <a:t>Excepciones múltiples</a:t>
            </a:r>
            <a:endParaRPr sz="4000" b="1" i="0" u="none" strike="noStrike" cap="none">
              <a:solidFill>
                <a:schemeClr val="dk1"/>
              </a:solidFill>
              <a:latin typeface="DM Sans"/>
              <a:ea typeface="DM Sans"/>
              <a:cs typeface="DM Sans"/>
              <a:sym typeface="DM Sans"/>
            </a:endParaRPr>
          </a:p>
        </p:txBody>
      </p:sp>
      <p:sp>
        <p:nvSpPr>
          <p:cNvPr id="392" name="Google Shape;392;p53"/>
          <p:cNvSpPr txBox="1"/>
          <p:nvPr/>
        </p:nvSpPr>
        <p:spPr>
          <a:xfrm>
            <a:off x="457725" y="2211625"/>
            <a:ext cx="4730100" cy="1431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a:latin typeface="DM Sans"/>
                <a:ea typeface="DM Sans"/>
                <a:cs typeface="DM Sans"/>
                <a:sym typeface="DM Sans"/>
              </a:rPr>
              <a:t>En una misma pieza de código pueden ocurrir muchos errores distintos y quizá nos interese actuar de forma diferente en cada caso.</a:t>
            </a:r>
            <a:endParaRPr sz="1350">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r>
              <a:rPr lang="es" sz="1350">
                <a:highlight>
                  <a:schemeClr val="accent4"/>
                </a:highlight>
                <a:latin typeface="DM Sans"/>
                <a:ea typeface="DM Sans"/>
                <a:cs typeface="DM Sans"/>
                <a:sym typeface="DM Sans"/>
              </a:rPr>
              <a:t>Para esas situaciones algo que podemos hacer es asignar una excepción a una variable.</a:t>
            </a:r>
            <a:endParaRPr sz="1350">
              <a:highlight>
                <a:schemeClr val="accent4"/>
              </a:highlight>
              <a:latin typeface="DM Sans"/>
              <a:ea typeface="DM Sans"/>
              <a:cs typeface="DM Sans"/>
              <a:sym typeface="DM Sans"/>
            </a:endParaRPr>
          </a:p>
        </p:txBody>
      </p:sp>
      <p:pic>
        <p:nvPicPr>
          <p:cNvPr id="393" name="Google Shape;393;p53"/>
          <p:cNvPicPr preferRelativeResize="0"/>
          <p:nvPr/>
        </p:nvPicPr>
        <p:blipFill rotWithShape="1">
          <a:blip r:embed="rId3">
            <a:alphaModFix/>
          </a:blip>
          <a:srcRect/>
          <a:stretch/>
        </p:blipFill>
        <p:spPr>
          <a:xfrm>
            <a:off x="5612973" y="2028723"/>
            <a:ext cx="2022025" cy="2022025"/>
          </a:xfrm>
          <a:prstGeom prst="rect">
            <a:avLst/>
          </a:prstGeom>
          <a:noFill/>
          <a:ln>
            <a:noFill/>
          </a:ln>
        </p:spPr>
      </p:pic>
      <p:sp>
        <p:nvSpPr>
          <p:cNvPr id="2" name="Rectángulo 1">
            <a:extLst>
              <a:ext uri="{FF2B5EF4-FFF2-40B4-BE49-F238E27FC236}">
                <a16:creationId xmlns:a16="http://schemas.microsoft.com/office/drawing/2014/main" id="{784E021C-268E-C3AD-7E49-35DEA22AC666}"/>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54"/>
          <p:cNvSpPr/>
          <p:nvPr/>
        </p:nvSpPr>
        <p:spPr>
          <a:xfrm>
            <a:off x="647400" y="1189150"/>
            <a:ext cx="7849200" cy="33174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9" name="Google Shape;399;p54"/>
          <p:cNvSpPr txBox="1"/>
          <p:nvPr/>
        </p:nvSpPr>
        <p:spPr>
          <a:xfrm>
            <a:off x="1461300" y="345975"/>
            <a:ext cx="6221400" cy="6696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3500"/>
              <a:buFont typeface="Arial"/>
              <a:buNone/>
            </a:pPr>
            <a:r>
              <a:rPr lang="es" sz="3500" b="1">
                <a:solidFill>
                  <a:schemeClr val="lt1"/>
                </a:solidFill>
                <a:latin typeface="DM Sans"/>
                <a:ea typeface="DM Sans"/>
                <a:cs typeface="DM Sans"/>
                <a:sym typeface="DM Sans"/>
              </a:rPr>
              <a:t>Excepciones múltiples</a:t>
            </a:r>
            <a:endParaRPr sz="3500" b="1" i="0" u="none" strike="noStrike" cap="none">
              <a:solidFill>
                <a:schemeClr val="lt1"/>
              </a:solidFill>
              <a:latin typeface="DM Sans"/>
              <a:ea typeface="DM Sans"/>
              <a:cs typeface="DM Sans"/>
              <a:sym typeface="DM Sans"/>
            </a:endParaRPr>
          </a:p>
        </p:txBody>
      </p:sp>
      <p:grpSp>
        <p:nvGrpSpPr>
          <p:cNvPr id="400" name="Google Shape;400;p54"/>
          <p:cNvGrpSpPr/>
          <p:nvPr/>
        </p:nvGrpSpPr>
        <p:grpSpPr>
          <a:xfrm>
            <a:off x="8212626" y="215723"/>
            <a:ext cx="738900" cy="738900"/>
            <a:chOff x="473351" y="619523"/>
            <a:chExt cx="738900" cy="738900"/>
          </a:xfrm>
        </p:grpSpPr>
        <p:sp>
          <p:nvSpPr>
            <p:cNvPr id="401" name="Google Shape;401;p54"/>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02" name="Google Shape;402;p54"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sp>
        <p:nvSpPr>
          <p:cNvPr id="403" name="Google Shape;403;p54"/>
          <p:cNvSpPr txBox="1"/>
          <p:nvPr/>
        </p:nvSpPr>
        <p:spPr>
          <a:xfrm>
            <a:off x="1137750" y="1283500"/>
            <a:ext cx="6868500" cy="600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350">
                <a:latin typeface="DM Sans"/>
                <a:ea typeface="DM Sans"/>
                <a:cs typeface="DM Sans"/>
                <a:sym typeface="DM Sans"/>
              </a:rPr>
              <a:t>De esta forma es posible analizar el tipo de error que sucede gracias a su identificador:</a:t>
            </a:r>
            <a:endParaRPr/>
          </a:p>
        </p:txBody>
      </p:sp>
      <p:sp>
        <p:nvSpPr>
          <p:cNvPr id="404" name="Google Shape;404;p54"/>
          <p:cNvSpPr txBox="1"/>
          <p:nvPr/>
        </p:nvSpPr>
        <p:spPr>
          <a:xfrm>
            <a:off x="1899750" y="2151725"/>
            <a:ext cx="5631900" cy="1826400"/>
          </a:xfrm>
          <a:prstGeom prst="rect">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800"/>
              <a:buFont typeface="Arial"/>
              <a:buNone/>
            </a:pPr>
            <a:r>
              <a:rPr lang="es" sz="1350" i="0" u="none" strike="noStrike" cap="none">
                <a:solidFill>
                  <a:srgbClr val="770000"/>
                </a:solidFill>
                <a:highlight>
                  <a:srgbClr val="EAFF6A"/>
                </a:highlight>
                <a:latin typeface="DM Sans"/>
                <a:ea typeface="DM Sans"/>
                <a:cs typeface="DM Sans"/>
                <a:sym typeface="DM Sans"/>
              </a:rPr>
              <a:t>&gt;&gt;&gt;</a:t>
            </a:r>
            <a:r>
              <a:rPr lang="es" sz="1350" i="0" u="none" strike="noStrike" cap="none">
                <a:solidFill>
                  <a:srgbClr val="000000"/>
                </a:solidFill>
                <a:highlight>
                  <a:srgbClr val="EAFF6A"/>
                </a:highlight>
                <a:latin typeface="DM Sans"/>
                <a:ea typeface="DM Sans"/>
                <a:cs typeface="DM Sans"/>
                <a:sym typeface="DM Sans"/>
              </a:rPr>
              <a:t> </a:t>
            </a:r>
            <a:r>
              <a:rPr lang="es" sz="1350" i="0" u="none" strike="noStrike" cap="none">
                <a:solidFill>
                  <a:srgbClr val="3B78E7"/>
                </a:solidFill>
                <a:highlight>
                  <a:srgbClr val="EAFF6A"/>
                </a:highlight>
                <a:latin typeface="DM Sans"/>
                <a:ea typeface="DM Sans"/>
                <a:cs typeface="DM Sans"/>
                <a:sym typeface="DM Sans"/>
              </a:rPr>
              <a:t>try</a:t>
            </a:r>
            <a:r>
              <a:rPr lang="es" sz="1350" i="0" u="none" strike="noStrike" cap="none">
                <a:solidFill>
                  <a:srgbClr val="37474F"/>
                </a:solidFill>
                <a:highlight>
                  <a:srgbClr val="EAFF6A"/>
                </a:highlight>
                <a:latin typeface="DM Sans"/>
                <a:ea typeface="DM Sans"/>
                <a:cs typeface="DM Sans"/>
                <a:sym typeface="DM Sans"/>
              </a:rPr>
              <a:t>:</a:t>
            </a:r>
            <a:endParaRPr sz="1350" i="0" u="none" strike="noStrike" cap="none">
              <a:solidFill>
                <a:srgbClr val="37474F"/>
              </a:solidFill>
              <a:highlight>
                <a:srgbClr val="EAFF6A"/>
              </a:highlight>
              <a:latin typeface="DM Sans"/>
              <a:ea typeface="DM Sans"/>
              <a:cs typeface="DM Sans"/>
              <a:sym typeface="DM Sans"/>
            </a:endParaRPr>
          </a:p>
          <a:p>
            <a:pPr marL="457200" marR="0" lvl="0" indent="457200" algn="l" rtl="0">
              <a:lnSpc>
                <a:spcPct val="115000"/>
              </a:lnSpc>
              <a:spcBef>
                <a:spcPts val="0"/>
              </a:spcBef>
              <a:spcAft>
                <a:spcPts val="0"/>
              </a:spcAft>
              <a:buClr>
                <a:srgbClr val="000000"/>
              </a:buClr>
              <a:buSzPts val="1600"/>
              <a:buFont typeface="Arial"/>
              <a:buNone/>
            </a:pPr>
            <a:r>
              <a:rPr lang="es" sz="1350" i="0" u="none" strike="noStrike" cap="none">
                <a:solidFill>
                  <a:srgbClr val="37474F"/>
                </a:solidFill>
                <a:highlight>
                  <a:srgbClr val="EAFF6A"/>
                </a:highlight>
                <a:latin typeface="DM Sans"/>
                <a:ea typeface="DM Sans"/>
                <a:cs typeface="DM Sans"/>
                <a:sym typeface="DM Sans"/>
              </a:rPr>
              <a:t>n = </a:t>
            </a:r>
            <a:r>
              <a:rPr lang="es" sz="1350" i="0" u="none" strike="noStrike" cap="none">
                <a:solidFill>
                  <a:srgbClr val="C2185B"/>
                </a:solidFill>
                <a:highlight>
                  <a:srgbClr val="EAFF6A"/>
                </a:highlight>
                <a:latin typeface="DM Sans"/>
                <a:ea typeface="DM Sans"/>
                <a:cs typeface="DM Sans"/>
                <a:sym typeface="DM Sans"/>
              </a:rPr>
              <a:t>input</a:t>
            </a:r>
            <a:r>
              <a:rPr lang="es" sz="1350" i="0" u="none" strike="noStrike" cap="none">
                <a:solidFill>
                  <a:srgbClr val="37474F"/>
                </a:solidFill>
                <a:highlight>
                  <a:srgbClr val="EAFF6A"/>
                </a:highlight>
                <a:latin typeface="DM Sans"/>
                <a:ea typeface="DM Sans"/>
                <a:cs typeface="DM Sans"/>
                <a:sym typeface="DM Sans"/>
              </a:rPr>
              <a:t>(</a:t>
            </a:r>
            <a:r>
              <a:rPr lang="es" sz="1350" i="0" u="none" strike="noStrike" cap="none">
                <a:solidFill>
                  <a:srgbClr val="0D904F"/>
                </a:solidFill>
                <a:highlight>
                  <a:srgbClr val="EAFF6A"/>
                </a:highlight>
                <a:latin typeface="DM Sans"/>
                <a:ea typeface="DM Sans"/>
                <a:cs typeface="DM Sans"/>
                <a:sym typeface="DM Sans"/>
              </a:rPr>
              <a:t>"Introduce un número: "</a:t>
            </a:r>
            <a:r>
              <a:rPr lang="es" sz="1350" i="0" u="none" strike="noStrike" cap="none">
                <a:solidFill>
                  <a:srgbClr val="37474F"/>
                </a:solidFill>
                <a:highlight>
                  <a:srgbClr val="EAFF6A"/>
                </a:highlight>
                <a:latin typeface="DM Sans"/>
                <a:ea typeface="DM Sans"/>
                <a:cs typeface="DM Sans"/>
                <a:sym typeface="DM Sans"/>
              </a:rPr>
              <a:t>)  </a:t>
            </a:r>
            <a:r>
              <a:rPr lang="es" sz="1350" i="0" u="none" strike="noStrike" cap="none">
                <a:solidFill>
                  <a:srgbClr val="999999"/>
                </a:solidFill>
                <a:highlight>
                  <a:srgbClr val="EAFF6A"/>
                </a:highlight>
                <a:latin typeface="DM Sans"/>
                <a:ea typeface="DM Sans"/>
                <a:cs typeface="DM Sans"/>
                <a:sym typeface="DM Sans"/>
              </a:rPr>
              <a:t># no transformamos a número</a:t>
            </a:r>
            <a:endParaRPr sz="1350" i="0" u="none" strike="noStrike" cap="none">
              <a:solidFill>
                <a:srgbClr val="37474F"/>
              </a:solidFill>
              <a:highlight>
                <a:srgbClr val="EAFF6A"/>
              </a:highlight>
              <a:latin typeface="DM Sans"/>
              <a:ea typeface="DM Sans"/>
              <a:cs typeface="DM Sans"/>
              <a:sym typeface="DM Sans"/>
            </a:endParaRPr>
          </a:p>
          <a:p>
            <a:pPr marL="0" marR="0" lvl="0" indent="0" algn="l" rtl="0">
              <a:lnSpc>
                <a:spcPct val="115000"/>
              </a:lnSpc>
              <a:spcBef>
                <a:spcPts val="0"/>
              </a:spcBef>
              <a:spcAft>
                <a:spcPts val="0"/>
              </a:spcAft>
              <a:buClr>
                <a:srgbClr val="000000"/>
              </a:buClr>
              <a:buSzPts val="1600"/>
              <a:buFont typeface="Arial"/>
              <a:buNone/>
            </a:pPr>
            <a:r>
              <a:rPr lang="es" sz="1350" i="0" u="none" strike="noStrike" cap="none">
                <a:solidFill>
                  <a:srgbClr val="37474F"/>
                </a:solidFill>
                <a:highlight>
                  <a:srgbClr val="EAFF6A"/>
                </a:highlight>
                <a:latin typeface="DM Sans"/>
                <a:ea typeface="DM Sans"/>
                <a:cs typeface="DM Sans"/>
                <a:sym typeface="DM Sans"/>
              </a:rPr>
              <a:t>    		</a:t>
            </a:r>
            <a:r>
              <a:rPr lang="es" sz="1350" i="0" u="none" strike="noStrike" cap="none">
                <a:solidFill>
                  <a:srgbClr val="E74C3C"/>
                </a:solidFill>
                <a:highlight>
                  <a:srgbClr val="EAFF6A"/>
                </a:highlight>
                <a:latin typeface="DM Sans"/>
                <a:ea typeface="DM Sans"/>
                <a:cs typeface="DM Sans"/>
                <a:sym typeface="DM Sans"/>
              </a:rPr>
              <a:t>5</a:t>
            </a:r>
            <a:r>
              <a:rPr lang="es" sz="1350" i="0" u="none" strike="noStrike" cap="none">
                <a:solidFill>
                  <a:srgbClr val="37474F"/>
                </a:solidFill>
                <a:highlight>
                  <a:srgbClr val="EAFF6A"/>
                </a:highlight>
                <a:latin typeface="DM Sans"/>
                <a:ea typeface="DM Sans"/>
                <a:cs typeface="DM Sans"/>
                <a:sym typeface="DM Sans"/>
              </a:rPr>
              <a:t>/n</a:t>
            </a:r>
            <a:endParaRPr sz="1350" i="0" u="none" strike="noStrike" cap="none">
              <a:solidFill>
                <a:srgbClr val="37474F"/>
              </a:solidFill>
              <a:highlight>
                <a:srgbClr val="EAFF6A"/>
              </a:highlight>
              <a:latin typeface="DM Sans"/>
              <a:ea typeface="DM Sans"/>
              <a:cs typeface="DM Sans"/>
              <a:sym typeface="DM Sans"/>
            </a:endParaRPr>
          </a:p>
          <a:p>
            <a:pPr marL="0" marR="0" lvl="0" indent="457200" algn="l" rtl="0">
              <a:lnSpc>
                <a:spcPct val="115000"/>
              </a:lnSpc>
              <a:spcBef>
                <a:spcPts val="0"/>
              </a:spcBef>
              <a:spcAft>
                <a:spcPts val="0"/>
              </a:spcAft>
              <a:buClr>
                <a:srgbClr val="000000"/>
              </a:buClr>
              <a:buSzPts val="1600"/>
              <a:buFont typeface="Arial"/>
              <a:buNone/>
            </a:pPr>
            <a:r>
              <a:rPr lang="es" sz="1350" i="0" u="none" strike="noStrike" cap="none">
                <a:solidFill>
                  <a:srgbClr val="3B78E7"/>
                </a:solidFill>
                <a:highlight>
                  <a:srgbClr val="EAFF6A"/>
                </a:highlight>
                <a:latin typeface="DM Sans"/>
                <a:ea typeface="DM Sans"/>
                <a:cs typeface="DM Sans"/>
                <a:sym typeface="DM Sans"/>
              </a:rPr>
              <a:t>except</a:t>
            </a:r>
            <a:r>
              <a:rPr lang="es" sz="1350" i="0" u="none" strike="noStrike" cap="none">
                <a:solidFill>
                  <a:srgbClr val="37474F"/>
                </a:solidFill>
                <a:highlight>
                  <a:srgbClr val="EAFF6A"/>
                </a:highlight>
                <a:latin typeface="DM Sans"/>
                <a:ea typeface="DM Sans"/>
                <a:cs typeface="DM Sans"/>
                <a:sym typeface="DM Sans"/>
              </a:rPr>
              <a:t> </a:t>
            </a:r>
            <a:r>
              <a:rPr lang="es" sz="1350" i="0" u="none" strike="noStrike" cap="none">
                <a:solidFill>
                  <a:srgbClr val="C2185B"/>
                </a:solidFill>
                <a:highlight>
                  <a:srgbClr val="EAFF6A"/>
                </a:highlight>
                <a:latin typeface="DM Sans"/>
                <a:ea typeface="DM Sans"/>
                <a:cs typeface="DM Sans"/>
                <a:sym typeface="DM Sans"/>
              </a:rPr>
              <a:t>Exception</a:t>
            </a:r>
            <a:r>
              <a:rPr lang="es" sz="1350" i="0" u="none" strike="noStrike" cap="none">
                <a:solidFill>
                  <a:srgbClr val="37474F"/>
                </a:solidFill>
                <a:highlight>
                  <a:srgbClr val="EAFF6A"/>
                </a:highlight>
                <a:latin typeface="DM Sans"/>
                <a:ea typeface="DM Sans"/>
                <a:cs typeface="DM Sans"/>
                <a:sym typeface="DM Sans"/>
              </a:rPr>
              <a:t> </a:t>
            </a:r>
            <a:r>
              <a:rPr lang="es" sz="1350" i="0" u="none" strike="noStrike" cap="none">
                <a:solidFill>
                  <a:srgbClr val="3B78E7"/>
                </a:solidFill>
                <a:highlight>
                  <a:srgbClr val="EAFF6A"/>
                </a:highlight>
                <a:latin typeface="DM Sans"/>
                <a:ea typeface="DM Sans"/>
                <a:cs typeface="DM Sans"/>
                <a:sym typeface="DM Sans"/>
              </a:rPr>
              <a:t>as</a:t>
            </a:r>
            <a:r>
              <a:rPr lang="es" sz="1350" i="0" u="none" strike="noStrike" cap="none">
                <a:solidFill>
                  <a:srgbClr val="37474F"/>
                </a:solidFill>
                <a:highlight>
                  <a:srgbClr val="EAFF6A"/>
                </a:highlight>
                <a:latin typeface="DM Sans"/>
                <a:ea typeface="DM Sans"/>
                <a:cs typeface="DM Sans"/>
                <a:sym typeface="DM Sans"/>
              </a:rPr>
              <a:t> e:  </a:t>
            </a:r>
            <a:r>
              <a:rPr lang="es" sz="1350" i="0" u="none" strike="noStrike" cap="none">
                <a:solidFill>
                  <a:srgbClr val="999999"/>
                </a:solidFill>
                <a:highlight>
                  <a:srgbClr val="EAFF6A"/>
                </a:highlight>
                <a:latin typeface="DM Sans"/>
                <a:ea typeface="DM Sans"/>
                <a:cs typeface="DM Sans"/>
                <a:sym typeface="DM Sans"/>
              </a:rPr>
              <a:t># guardamos la excepción como una variable e</a:t>
            </a:r>
            <a:endParaRPr sz="1350" i="0" u="none" strike="noStrike" cap="none">
              <a:solidFill>
                <a:srgbClr val="37474F"/>
              </a:solidFill>
              <a:highlight>
                <a:srgbClr val="EAFF6A"/>
              </a:highlight>
              <a:latin typeface="DM Sans"/>
              <a:ea typeface="DM Sans"/>
              <a:cs typeface="DM Sans"/>
              <a:sym typeface="DM Sans"/>
            </a:endParaRPr>
          </a:p>
          <a:p>
            <a:pPr marL="0" marR="0" lvl="0" indent="0" algn="l" rtl="0">
              <a:lnSpc>
                <a:spcPct val="115000"/>
              </a:lnSpc>
              <a:spcBef>
                <a:spcPts val="0"/>
              </a:spcBef>
              <a:spcAft>
                <a:spcPts val="0"/>
              </a:spcAft>
              <a:buClr>
                <a:srgbClr val="000000"/>
              </a:buClr>
              <a:buSzPts val="1600"/>
              <a:buFont typeface="Arial"/>
              <a:buNone/>
            </a:pPr>
            <a:r>
              <a:rPr lang="es" sz="1350" i="0" u="none" strike="noStrike" cap="none">
                <a:solidFill>
                  <a:srgbClr val="37474F"/>
                </a:solidFill>
                <a:highlight>
                  <a:srgbClr val="EAFF6A"/>
                </a:highlight>
                <a:latin typeface="DM Sans"/>
                <a:ea typeface="DM Sans"/>
                <a:cs typeface="DM Sans"/>
                <a:sym typeface="DM Sans"/>
              </a:rPr>
              <a:t>    		</a:t>
            </a:r>
            <a:r>
              <a:rPr lang="es" sz="1350" i="0" u="none" strike="noStrike" cap="none">
                <a:solidFill>
                  <a:srgbClr val="C2185B"/>
                </a:solidFill>
                <a:highlight>
                  <a:srgbClr val="EAFF6A"/>
                </a:highlight>
                <a:latin typeface="DM Sans"/>
                <a:ea typeface="DM Sans"/>
                <a:cs typeface="DM Sans"/>
                <a:sym typeface="DM Sans"/>
              </a:rPr>
              <a:t>print</a:t>
            </a:r>
            <a:r>
              <a:rPr lang="es" sz="1350" i="0" u="none" strike="noStrike" cap="none">
                <a:solidFill>
                  <a:srgbClr val="37474F"/>
                </a:solidFill>
                <a:highlight>
                  <a:srgbClr val="EAFF6A"/>
                </a:highlight>
                <a:latin typeface="DM Sans"/>
                <a:ea typeface="DM Sans"/>
                <a:cs typeface="DM Sans"/>
                <a:sym typeface="DM Sans"/>
              </a:rPr>
              <a:t>(</a:t>
            </a:r>
            <a:r>
              <a:rPr lang="es" sz="1350" i="0" u="none" strike="noStrike" cap="none">
                <a:solidFill>
                  <a:srgbClr val="0D904F"/>
                </a:solidFill>
                <a:highlight>
                  <a:srgbClr val="EAFF6A"/>
                </a:highlight>
                <a:latin typeface="DM Sans"/>
                <a:ea typeface="DM Sans"/>
                <a:cs typeface="DM Sans"/>
                <a:sym typeface="DM Sans"/>
              </a:rPr>
              <a:t>"Ha ocurrido un error =&gt;"</a:t>
            </a:r>
            <a:r>
              <a:rPr lang="es" sz="1350" i="0" u="none" strike="noStrike" cap="none">
                <a:solidFill>
                  <a:srgbClr val="37474F"/>
                </a:solidFill>
                <a:highlight>
                  <a:srgbClr val="EAFF6A"/>
                </a:highlight>
                <a:latin typeface="DM Sans"/>
                <a:ea typeface="DM Sans"/>
                <a:cs typeface="DM Sans"/>
                <a:sym typeface="DM Sans"/>
              </a:rPr>
              <a:t>, </a:t>
            </a:r>
            <a:r>
              <a:rPr lang="es" sz="1350" i="0" u="none" strike="noStrike" cap="none">
                <a:solidFill>
                  <a:srgbClr val="C2185B"/>
                </a:solidFill>
                <a:highlight>
                  <a:srgbClr val="EAFF6A"/>
                </a:highlight>
                <a:latin typeface="DM Sans"/>
                <a:ea typeface="DM Sans"/>
                <a:cs typeface="DM Sans"/>
                <a:sym typeface="DM Sans"/>
              </a:rPr>
              <a:t>type</a:t>
            </a:r>
            <a:r>
              <a:rPr lang="es" sz="1350" i="0" u="none" strike="noStrike" cap="none">
                <a:solidFill>
                  <a:srgbClr val="37474F"/>
                </a:solidFill>
                <a:highlight>
                  <a:srgbClr val="EAFF6A"/>
                </a:highlight>
                <a:latin typeface="DM Sans"/>
                <a:ea typeface="DM Sans"/>
                <a:cs typeface="DM Sans"/>
                <a:sym typeface="DM Sans"/>
              </a:rPr>
              <a:t>(e).__name__)</a:t>
            </a:r>
            <a:endParaRPr sz="1350" i="0" u="none" strike="noStrike" cap="none">
              <a:solidFill>
                <a:srgbClr val="000000"/>
              </a:solidFill>
              <a:highlight>
                <a:srgbClr val="EAFF6A"/>
              </a:highlight>
              <a:latin typeface="DM Sans"/>
              <a:ea typeface="DM Sans"/>
              <a:cs typeface="DM Sans"/>
              <a:sym typeface="DM Sans"/>
            </a:endParaRPr>
          </a:p>
        </p:txBody>
      </p:sp>
      <p:sp>
        <p:nvSpPr>
          <p:cNvPr id="2" name="Rectángulo 1">
            <a:extLst>
              <a:ext uri="{FF2B5EF4-FFF2-40B4-BE49-F238E27FC236}">
                <a16:creationId xmlns:a16="http://schemas.microsoft.com/office/drawing/2014/main" id="{C6574540-A49B-0393-03EA-5FD5CDBECF01}"/>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55"/>
          <p:cNvSpPr/>
          <p:nvPr/>
        </p:nvSpPr>
        <p:spPr>
          <a:xfrm>
            <a:off x="647400" y="1189150"/>
            <a:ext cx="7849200" cy="33174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0" name="Google Shape;410;p55"/>
          <p:cNvSpPr txBox="1"/>
          <p:nvPr/>
        </p:nvSpPr>
        <p:spPr>
          <a:xfrm>
            <a:off x="1461300" y="345975"/>
            <a:ext cx="6221400" cy="6696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3500"/>
              <a:buFont typeface="Arial"/>
              <a:buNone/>
            </a:pPr>
            <a:r>
              <a:rPr lang="es" sz="3500" b="1">
                <a:solidFill>
                  <a:schemeClr val="lt1"/>
                </a:solidFill>
                <a:latin typeface="DM Sans"/>
                <a:ea typeface="DM Sans"/>
                <a:cs typeface="DM Sans"/>
                <a:sym typeface="DM Sans"/>
              </a:rPr>
              <a:t>Excepciones múltiples</a:t>
            </a:r>
            <a:endParaRPr sz="3500" b="1" i="0" u="none" strike="noStrike" cap="none">
              <a:solidFill>
                <a:schemeClr val="lt1"/>
              </a:solidFill>
              <a:latin typeface="DM Sans"/>
              <a:ea typeface="DM Sans"/>
              <a:cs typeface="DM Sans"/>
              <a:sym typeface="DM Sans"/>
            </a:endParaRPr>
          </a:p>
        </p:txBody>
      </p:sp>
      <p:grpSp>
        <p:nvGrpSpPr>
          <p:cNvPr id="411" name="Google Shape;411;p55"/>
          <p:cNvGrpSpPr/>
          <p:nvPr/>
        </p:nvGrpSpPr>
        <p:grpSpPr>
          <a:xfrm>
            <a:off x="8212626" y="215723"/>
            <a:ext cx="738900" cy="738900"/>
            <a:chOff x="473351" y="619523"/>
            <a:chExt cx="738900" cy="738900"/>
          </a:xfrm>
        </p:grpSpPr>
        <p:sp>
          <p:nvSpPr>
            <p:cNvPr id="412" name="Google Shape;412;p55"/>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13" name="Google Shape;413;p55"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sp>
        <p:nvSpPr>
          <p:cNvPr id="414" name="Google Shape;414;p55"/>
          <p:cNvSpPr txBox="1"/>
          <p:nvPr/>
        </p:nvSpPr>
        <p:spPr>
          <a:xfrm>
            <a:off x="5443525" y="2028250"/>
            <a:ext cx="2541300" cy="1639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350">
                <a:latin typeface="DM Sans"/>
                <a:ea typeface="DM Sans"/>
                <a:cs typeface="DM Sans"/>
                <a:sym typeface="DM Sans"/>
              </a:rPr>
              <a:t>Cada error tiene un identificador único que curiosamente se corresponde con su tipo de dato. Aprovechando eso podemos mostrar la clase del error utilizando la sintaxis:</a:t>
            </a:r>
            <a:endParaRPr/>
          </a:p>
        </p:txBody>
      </p:sp>
      <p:sp>
        <p:nvSpPr>
          <p:cNvPr id="415" name="Google Shape;415;p55"/>
          <p:cNvSpPr txBox="1"/>
          <p:nvPr/>
        </p:nvSpPr>
        <p:spPr>
          <a:xfrm>
            <a:off x="1679975" y="2651650"/>
            <a:ext cx="3000000" cy="392400"/>
          </a:xfrm>
          <a:prstGeom prst="rect">
            <a:avLst/>
          </a:prstGeom>
          <a:noFill/>
          <a:ln>
            <a:noFill/>
          </a:ln>
        </p:spPr>
        <p:txBody>
          <a:bodyPr spcFirstLastPara="1" wrap="square" lIns="91425" tIns="91425" rIns="91425" bIns="91425" anchor="t" anchorCtr="0">
            <a:spAutoFit/>
          </a:bodyPr>
          <a:lstStyle/>
          <a:p>
            <a:pPr marL="0" lvl="0" indent="0" algn="ctr" rtl="0">
              <a:lnSpc>
                <a:spcPct val="150000"/>
              </a:lnSpc>
              <a:spcBef>
                <a:spcPts val="0"/>
              </a:spcBef>
              <a:spcAft>
                <a:spcPts val="0"/>
              </a:spcAft>
              <a:buNone/>
            </a:pPr>
            <a:r>
              <a:rPr lang="es" sz="1350" b="1">
                <a:solidFill>
                  <a:schemeClr val="lt1"/>
                </a:solidFill>
                <a:highlight>
                  <a:srgbClr val="888888"/>
                </a:highlight>
                <a:latin typeface="DM Sans"/>
                <a:ea typeface="DM Sans"/>
                <a:cs typeface="DM Sans"/>
                <a:sym typeface="DM Sans"/>
              </a:rPr>
              <a:t>&gt;&gt;&gt; print( type(e) )</a:t>
            </a:r>
            <a:endParaRPr sz="1350">
              <a:latin typeface="DM Sans"/>
              <a:ea typeface="DM Sans"/>
              <a:cs typeface="DM Sans"/>
              <a:sym typeface="DM Sans"/>
            </a:endParaRPr>
          </a:p>
        </p:txBody>
      </p:sp>
      <p:sp>
        <p:nvSpPr>
          <p:cNvPr id="2" name="Rectángulo 1">
            <a:extLst>
              <a:ext uri="{FF2B5EF4-FFF2-40B4-BE49-F238E27FC236}">
                <a16:creationId xmlns:a16="http://schemas.microsoft.com/office/drawing/2014/main" id="{73AD9A15-6F65-5E1F-3796-9B1704D3E38D}"/>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56"/>
          <p:cNvSpPr/>
          <p:nvPr/>
        </p:nvSpPr>
        <p:spPr>
          <a:xfrm>
            <a:off x="647400" y="1189150"/>
            <a:ext cx="7849200" cy="33174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1" name="Google Shape;421;p56"/>
          <p:cNvSpPr txBox="1"/>
          <p:nvPr/>
        </p:nvSpPr>
        <p:spPr>
          <a:xfrm>
            <a:off x="1461300" y="345975"/>
            <a:ext cx="6221400" cy="6696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3500"/>
              <a:buFont typeface="Arial"/>
              <a:buNone/>
            </a:pPr>
            <a:r>
              <a:rPr lang="es" sz="3500" b="1">
                <a:solidFill>
                  <a:schemeClr val="lt1"/>
                </a:solidFill>
                <a:latin typeface="DM Sans"/>
                <a:ea typeface="DM Sans"/>
                <a:cs typeface="DM Sans"/>
                <a:sym typeface="DM Sans"/>
              </a:rPr>
              <a:t>Excepciones múltiples</a:t>
            </a:r>
            <a:endParaRPr sz="3500" b="1" i="0" u="none" strike="noStrike" cap="none">
              <a:solidFill>
                <a:schemeClr val="lt1"/>
              </a:solidFill>
              <a:latin typeface="DM Sans"/>
              <a:ea typeface="DM Sans"/>
              <a:cs typeface="DM Sans"/>
              <a:sym typeface="DM Sans"/>
            </a:endParaRPr>
          </a:p>
        </p:txBody>
      </p:sp>
      <p:grpSp>
        <p:nvGrpSpPr>
          <p:cNvPr id="422" name="Google Shape;422;p56"/>
          <p:cNvGrpSpPr/>
          <p:nvPr/>
        </p:nvGrpSpPr>
        <p:grpSpPr>
          <a:xfrm>
            <a:off x="8212626" y="215723"/>
            <a:ext cx="738900" cy="738900"/>
            <a:chOff x="473351" y="619523"/>
            <a:chExt cx="738900" cy="738900"/>
          </a:xfrm>
        </p:grpSpPr>
        <p:sp>
          <p:nvSpPr>
            <p:cNvPr id="423" name="Google Shape;423;p56"/>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24" name="Google Shape;424;p56"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sp>
        <p:nvSpPr>
          <p:cNvPr id="425" name="Google Shape;425;p56"/>
          <p:cNvSpPr txBox="1"/>
          <p:nvPr/>
        </p:nvSpPr>
        <p:spPr>
          <a:xfrm>
            <a:off x="4461300" y="2547700"/>
            <a:ext cx="3462900" cy="600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350">
                <a:latin typeface="DM Sans"/>
                <a:ea typeface="DM Sans"/>
                <a:cs typeface="DM Sans"/>
                <a:sym typeface="DM Sans"/>
              </a:rPr>
              <a:t>Es similar a conseguir el tipo (o clase) de cualquier otra variable o valor literal:</a:t>
            </a:r>
            <a:endParaRPr sz="1350">
              <a:latin typeface="DM Sans"/>
              <a:ea typeface="DM Sans"/>
              <a:cs typeface="DM Sans"/>
              <a:sym typeface="DM Sans"/>
            </a:endParaRPr>
          </a:p>
        </p:txBody>
      </p:sp>
      <p:sp>
        <p:nvSpPr>
          <p:cNvPr id="426" name="Google Shape;426;p56"/>
          <p:cNvSpPr txBox="1"/>
          <p:nvPr/>
        </p:nvSpPr>
        <p:spPr>
          <a:xfrm>
            <a:off x="1461300" y="2184100"/>
            <a:ext cx="3000000" cy="13275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s" sz="1350" b="1">
                <a:solidFill>
                  <a:schemeClr val="lt1"/>
                </a:solidFill>
                <a:highlight>
                  <a:srgbClr val="888888"/>
                </a:highlight>
                <a:latin typeface="DM Sans"/>
                <a:ea typeface="DM Sans"/>
                <a:cs typeface="DM Sans"/>
                <a:sym typeface="DM Sans"/>
              </a:rPr>
              <a:t>&gt;&gt;&gt; print(type(1))</a:t>
            </a:r>
            <a:endParaRPr sz="1350" b="1">
              <a:solidFill>
                <a:schemeClr val="lt1"/>
              </a:solidFill>
              <a:highlight>
                <a:srgbClr val="888888"/>
              </a:highlight>
              <a:latin typeface="DM Sans"/>
              <a:ea typeface="DM Sans"/>
              <a:cs typeface="DM Sans"/>
              <a:sym typeface="DM Sans"/>
            </a:endParaRPr>
          </a:p>
          <a:p>
            <a:pPr marL="0" lvl="0" indent="0" algn="l" rtl="0">
              <a:lnSpc>
                <a:spcPct val="150000"/>
              </a:lnSpc>
              <a:spcBef>
                <a:spcPts val="0"/>
              </a:spcBef>
              <a:spcAft>
                <a:spcPts val="0"/>
              </a:spcAft>
              <a:buNone/>
            </a:pPr>
            <a:r>
              <a:rPr lang="es" sz="1350" b="1">
                <a:solidFill>
                  <a:schemeClr val="lt1"/>
                </a:solidFill>
                <a:highlight>
                  <a:srgbClr val="888888"/>
                </a:highlight>
                <a:latin typeface="DM Sans"/>
                <a:ea typeface="DM Sans"/>
                <a:cs typeface="DM Sans"/>
                <a:sym typeface="DM Sans"/>
              </a:rPr>
              <a:t>&gt;&gt;&gt; print(type(3.14))</a:t>
            </a:r>
            <a:endParaRPr sz="1350" b="1">
              <a:solidFill>
                <a:schemeClr val="lt1"/>
              </a:solidFill>
              <a:highlight>
                <a:srgbClr val="888888"/>
              </a:highlight>
              <a:latin typeface="DM Sans"/>
              <a:ea typeface="DM Sans"/>
              <a:cs typeface="DM Sans"/>
              <a:sym typeface="DM Sans"/>
            </a:endParaRPr>
          </a:p>
          <a:p>
            <a:pPr marL="0" lvl="0" indent="0" algn="l" rtl="0">
              <a:lnSpc>
                <a:spcPct val="150000"/>
              </a:lnSpc>
              <a:spcBef>
                <a:spcPts val="0"/>
              </a:spcBef>
              <a:spcAft>
                <a:spcPts val="0"/>
              </a:spcAft>
              <a:buNone/>
            </a:pPr>
            <a:r>
              <a:rPr lang="es" sz="1350" b="1">
                <a:solidFill>
                  <a:schemeClr val="lt1"/>
                </a:solidFill>
                <a:highlight>
                  <a:srgbClr val="888888"/>
                </a:highlight>
                <a:latin typeface="DM Sans"/>
                <a:ea typeface="DM Sans"/>
                <a:cs typeface="DM Sans"/>
                <a:sym typeface="DM Sans"/>
              </a:rPr>
              <a:t>&gt;&gt;&gt; print(type([]))</a:t>
            </a:r>
            <a:endParaRPr sz="1350" b="1">
              <a:solidFill>
                <a:schemeClr val="lt1"/>
              </a:solidFill>
              <a:highlight>
                <a:srgbClr val="888888"/>
              </a:highlight>
              <a:latin typeface="DM Sans"/>
              <a:ea typeface="DM Sans"/>
              <a:cs typeface="DM Sans"/>
              <a:sym typeface="DM Sans"/>
            </a:endParaRPr>
          </a:p>
          <a:p>
            <a:pPr marL="0" lvl="0" indent="0" algn="l" rtl="0">
              <a:lnSpc>
                <a:spcPct val="150000"/>
              </a:lnSpc>
              <a:spcBef>
                <a:spcPts val="0"/>
              </a:spcBef>
              <a:spcAft>
                <a:spcPts val="0"/>
              </a:spcAft>
              <a:buNone/>
            </a:pPr>
            <a:r>
              <a:rPr lang="es" sz="1350" b="1">
                <a:solidFill>
                  <a:schemeClr val="lt1"/>
                </a:solidFill>
                <a:highlight>
                  <a:srgbClr val="888888"/>
                </a:highlight>
                <a:latin typeface="DM Sans"/>
                <a:ea typeface="DM Sans"/>
                <a:cs typeface="DM Sans"/>
                <a:sym typeface="DM Sans"/>
              </a:rPr>
              <a:t>&gt;&gt;&gt; print(type(()))</a:t>
            </a:r>
            <a:endParaRPr sz="1350">
              <a:latin typeface="DM Sans"/>
              <a:ea typeface="DM Sans"/>
              <a:cs typeface="DM Sans"/>
              <a:sym typeface="DM Sans"/>
            </a:endParaRPr>
          </a:p>
        </p:txBody>
      </p:sp>
      <p:sp>
        <p:nvSpPr>
          <p:cNvPr id="2" name="Rectángulo 1">
            <a:extLst>
              <a:ext uri="{FF2B5EF4-FFF2-40B4-BE49-F238E27FC236}">
                <a16:creationId xmlns:a16="http://schemas.microsoft.com/office/drawing/2014/main" id="{AB72736B-B585-CAB8-9C10-D7E87EA9FAE7}"/>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57"/>
          <p:cNvSpPr/>
          <p:nvPr/>
        </p:nvSpPr>
        <p:spPr>
          <a:xfrm>
            <a:off x="647400" y="1189150"/>
            <a:ext cx="7849200" cy="33174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2" name="Google Shape;432;p57"/>
          <p:cNvSpPr txBox="1"/>
          <p:nvPr/>
        </p:nvSpPr>
        <p:spPr>
          <a:xfrm>
            <a:off x="1461300" y="345975"/>
            <a:ext cx="6221400" cy="6696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3500"/>
              <a:buFont typeface="Arial"/>
              <a:buNone/>
            </a:pPr>
            <a:r>
              <a:rPr lang="es" sz="3500" b="1">
                <a:solidFill>
                  <a:schemeClr val="lt1"/>
                </a:solidFill>
                <a:latin typeface="DM Sans"/>
                <a:ea typeface="DM Sans"/>
                <a:cs typeface="DM Sans"/>
                <a:sym typeface="DM Sans"/>
              </a:rPr>
              <a:t>Excepciones múltiples</a:t>
            </a:r>
            <a:endParaRPr sz="3500" b="1" i="0" u="none" strike="noStrike" cap="none">
              <a:solidFill>
                <a:schemeClr val="lt1"/>
              </a:solidFill>
              <a:latin typeface="DM Sans"/>
              <a:ea typeface="DM Sans"/>
              <a:cs typeface="DM Sans"/>
              <a:sym typeface="DM Sans"/>
            </a:endParaRPr>
          </a:p>
        </p:txBody>
      </p:sp>
      <p:grpSp>
        <p:nvGrpSpPr>
          <p:cNvPr id="433" name="Google Shape;433;p57"/>
          <p:cNvGrpSpPr/>
          <p:nvPr/>
        </p:nvGrpSpPr>
        <p:grpSpPr>
          <a:xfrm>
            <a:off x="8212626" y="215723"/>
            <a:ext cx="738900" cy="738900"/>
            <a:chOff x="473351" y="619523"/>
            <a:chExt cx="738900" cy="738900"/>
          </a:xfrm>
        </p:grpSpPr>
        <p:sp>
          <p:nvSpPr>
            <p:cNvPr id="434" name="Google Shape;434;p57"/>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35" name="Google Shape;435;p57"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sp>
        <p:nvSpPr>
          <p:cNvPr id="436" name="Google Shape;436;p57"/>
          <p:cNvSpPr txBox="1"/>
          <p:nvPr/>
        </p:nvSpPr>
        <p:spPr>
          <a:xfrm>
            <a:off x="4843450" y="1820350"/>
            <a:ext cx="3109200" cy="205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350">
                <a:latin typeface="DM Sans"/>
                <a:ea typeface="DM Sans"/>
                <a:cs typeface="DM Sans"/>
                <a:sym typeface="DM Sans"/>
              </a:rPr>
              <a:t>Como vemos, siempre nos indica "class" delante. Eso es porque en Python todo son clases, pero hablaremos de este concepto más adelante. Lo importante ahora es que podemos mostrar solo el nombre del tipo de dato (la clase) consultando su propiedad especial name de la siguiente forma:</a:t>
            </a:r>
            <a:endParaRPr sz="1350">
              <a:latin typeface="DM Sans"/>
              <a:ea typeface="DM Sans"/>
              <a:cs typeface="DM Sans"/>
              <a:sym typeface="DM Sans"/>
            </a:endParaRPr>
          </a:p>
        </p:txBody>
      </p:sp>
      <p:sp>
        <p:nvSpPr>
          <p:cNvPr id="437" name="Google Shape;437;p57"/>
          <p:cNvSpPr txBox="1"/>
          <p:nvPr/>
        </p:nvSpPr>
        <p:spPr>
          <a:xfrm>
            <a:off x="1157300" y="2173750"/>
            <a:ext cx="3825600" cy="1348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1350" b="1">
                <a:solidFill>
                  <a:schemeClr val="lt1"/>
                </a:solidFill>
                <a:highlight>
                  <a:srgbClr val="888888"/>
                </a:highlight>
                <a:latin typeface="DM Sans"/>
                <a:ea typeface="DM Sans"/>
                <a:cs typeface="DM Sans"/>
                <a:sym typeface="DM Sans"/>
              </a:rPr>
              <a:t>&gt;&gt;&gt; print( type(e).__name__)</a:t>
            </a:r>
            <a:endParaRPr sz="1350" b="1">
              <a:solidFill>
                <a:schemeClr val="lt1"/>
              </a:solidFill>
              <a:highlight>
                <a:srgbClr val="888888"/>
              </a:highlight>
              <a:latin typeface="DM Sans"/>
              <a:ea typeface="DM Sans"/>
              <a:cs typeface="DM Sans"/>
              <a:sym typeface="DM Sans"/>
            </a:endParaRPr>
          </a:p>
          <a:p>
            <a:pPr marL="0" lvl="0" indent="0" algn="l" rtl="0">
              <a:lnSpc>
                <a:spcPct val="115000"/>
              </a:lnSpc>
              <a:spcBef>
                <a:spcPts val="0"/>
              </a:spcBef>
              <a:spcAft>
                <a:spcPts val="0"/>
              </a:spcAft>
              <a:buNone/>
            </a:pPr>
            <a:r>
              <a:rPr lang="es" sz="1350" b="1">
                <a:solidFill>
                  <a:schemeClr val="lt1"/>
                </a:solidFill>
                <a:highlight>
                  <a:srgbClr val="888888"/>
                </a:highlight>
                <a:latin typeface="DM Sans"/>
                <a:ea typeface="DM Sans"/>
                <a:cs typeface="DM Sans"/>
                <a:sym typeface="DM Sans"/>
              </a:rPr>
              <a:t>&gt;&gt;&gt; print(type(1).__name__)</a:t>
            </a:r>
            <a:endParaRPr sz="1350" b="1">
              <a:solidFill>
                <a:schemeClr val="lt1"/>
              </a:solidFill>
              <a:highlight>
                <a:srgbClr val="888888"/>
              </a:highlight>
              <a:latin typeface="DM Sans"/>
              <a:ea typeface="DM Sans"/>
              <a:cs typeface="DM Sans"/>
              <a:sym typeface="DM Sans"/>
            </a:endParaRPr>
          </a:p>
          <a:p>
            <a:pPr marL="0" lvl="0" indent="0" algn="l" rtl="0">
              <a:lnSpc>
                <a:spcPct val="115000"/>
              </a:lnSpc>
              <a:spcBef>
                <a:spcPts val="0"/>
              </a:spcBef>
              <a:spcAft>
                <a:spcPts val="0"/>
              </a:spcAft>
              <a:buNone/>
            </a:pPr>
            <a:r>
              <a:rPr lang="es" sz="1350" b="1">
                <a:solidFill>
                  <a:schemeClr val="lt1"/>
                </a:solidFill>
                <a:highlight>
                  <a:srgbClr val="888888"/>
                </a:highlight>
                <a:latin typeface="DM Sans"/>
                <a:ea typeface="DM Sans"/>
                <a:cs typeface="DM Sans"/>
                <a:sym typeface="DM Sans"/>
              </a:rPr>
              <a:t>&gt;&gt;&gt; print(type(3.14).__name__)</a:t>
            </a:r>
            <a:endParaRPr sz="1350" b="1">
              <a:solidFill>
                <a:schemeClr val="lt1"/>
              </a:solidFill>
              <a:highlight>
                <a:srgbClr val="888888"/>
              </a:highlight>
              <a:latin typeface="DM Sans"/>
              <a:ea typeface="DM Sans"/>
              <a:cs typeface="DM Sans"/>
              <a:sym typeface="DM Sans"/>
            </a:endParaRPr>
          </a:p>
          <a:p>
            <a:pPr marL="0" lvl="0" indent="0" algn="l" rtl="0">
              <a:lnSpc>
                <a:spcPct val="115000"/>
              </a:lnSpc>
              <a:spcBef>
                <a:spcPts val="0"/>
              </a:spcBef>
              <a:spcAft>
                <a:spcPts val="0"/>
              </a:spcAft>
              <a:buNone/>
            </a:pPr>
            <a:r>
              <a:rPr lang="es" sz="1350" b="1">
                <a:solidFill>
                  <a:schemeClr val="lt1"/>
                </a:solidFill>
                <a:highlight>
                  <a:srgbClr val="888888"/>
                </a:highlight>
                <a:latin typeface="DM Sans"/>
                <a:ea typeface="DM Sans"/>
                <a:cs typeface="DM Sans"/>
                <a:sym typeface="DM Sans"/>
              </a:rPr>
              <a:t>&gt;&gt;&gt; print(type([]).__name__)</a:t>
            </a:r>
            <a:endParaRPr sz="1350" b="1">
              <a:solidFill>
                <a:schemeClr val="lt1"/>
              </a:solidFill>
              <a:highlight>
                <a:srgbClr val="888888"/>
              </a:highlight>
              <a:latin typeface="DM Sans"/>
              <a:ea typeface="DM Sans"/>
              <a:cs typeface="DM Sans"/>
              <a:sym typeface="DM Sans"/>
            </a:endParaRPr>
          </a:p>
          <a:p>
            <a:pPr marL="0" lvl="0" indent="0" algn="l" rtl="0">
              <a:lnSpc>
                <a:spcPct val="115000"/>
              </a:lnSpc>
              <a:spcBef>
                <a:spcPts val="0"/>
              </a:spcBef>
              <a:spcAft>
                <a:spcPts val="0"/>
              </a:spcAft>
              <a:buNone/>
            </a:pPr>
            <a:r>
              <a:rPr lang="es" sz="1350" b="1">
                <a:solidFill>
                  <a:schemeClr val="lt1"/>
                </a:solidFill>
                <a:highlight>
                  <a:srgbClr val="888888"/>
                </a:highlight>
                <a:latin typeface="DM Sans"/>
                <a:ea typeface="DM Sans"/>
                <a:cs typeface="DM Sans"/>
                <a:sym typeface="DM Sans"/>
              </a:rPr>
              <a:t>&gt;&gt;&gt; print(type(()).__name__)</a:t>
            </a:r>
            <a:endParaRPr sz="1350">
              <a:latin typeface="DM Sans"/>
              <a:ea typeface="DM Sans"/>
              <a:cs typeface="DM Sans"/>
              <a:sym typeface="DM Sans"/>
            </a:endParaRPr>
          </a:p>
        </p:txBody>
      </p:sp>
      <p:sp>
        <p:nvSpPr>
          <p:cNvPr id="2" name="Rectángulo 1">
            <a:extLst>
              <a:ext uri="{FF2B5EF4-FFF2-40B4-BE49-F238E27FC236}">
                <a16:creationId xmlns:a16="http://schemas.microsoft.com/office/drawing/2014/main" id="{9562F40F-7B8A-C6A0-CD59-3F18F827CD97}"/>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58"/>
          <p:cNvSpPr txBox="1"/>
          <p:nvPr/>
        </p:nvSpPr>
        <p:spPr>
          <a:xfrm>
            <a:off x="457725" y="1071050"/>
            <a:ext cx="58833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chemeClr val="dk1"/>
              </a:buClr>
              <a:buSzPts val="1100"/>
              <a:buFont typeface="Arial"/>
              <a:buNone/>
            </a:pPr>
            <a:r>
              <a:rPr lang="es" sz="4000" b="1">
                <a:solidFill>
                  <a:schemeClr val="dk1"/>
                </a:solidFill>
                <a:latin typeface="DM Sans"/>
                <a:ea typeface="DM Sans"/>
                <a:cs typeface="DM Sans"/>
                <a:sym typeface="DM Sans"/>
              </a:rPr>
              <a:t>Excepciones múltiples</a:t>
            </a:r>
            <a:endParaRPr sz="4000" b="1">
              <a:solidFill>
                <a:schemeClr val="dk1"/>
              </a:solidFill>
              <a:latin typeface="DM Sans"/>
              <a:ea typeface="DM Sans"/>
              <a:cs typeface="DM Sans"/>
              <a:sym typeface="DM Sans"/>
            </a:endParaRPr>
          </a:p>
        </p:txBody>
      </p:sp>
      <p:sp>
        <p:nvSpPr>
          <p:cNvPr id="443" name="Google Shape;443;p58"/>
          <p:cNvSpPr txBox="1"/>
          <p:nvPr/>
        </p:nvSpPr>
        <p:spPr>
          <a:xfrm>
            <a:off x="457725" y="2211625"/>
            <a:ext cx="4730100" cy="1431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a:latin typeface="DM Sans"/>
                <a:ea typeface="DM Sans"/>
                <a:cs typeface="DM Sans"/>
                <a:sym typeface="DM Sans"/>
              </a:rPr>
              <a:t>Gracias a los identificadores de errores podemos crear múltiples comprobaciones, siempre que dejemos en último lugar la excepción por defecto. Excepción que engloba cualquier tipo de error.</a:t>
            </a:r>
            <a:endParaRPr sz="1350">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r>
              <a:rPr lang="es" sz="1350">
                <a:highlight>
                  <a:schemeClr val="accent4"/>
                </a:highlight>
                <a:latin typeface="DM Sans"/>
                <a:ea typeface="DM Sans"/>
                <a:cs typeface="DM Sans"/>
                <a:sym typeface="DM Sans"/>
              </a:rPr>
              <a:t>Veamos a continuación un ejemplo</a:t>
            </a:r>
            <a:endParaRPr sz="1350">
              <a:highlight>
                <a:schemeClr val="accent4"/>
              </a:highlight>
              <a:latin typeface="DM Sans"/>
              <a:ea typeface="DM Sans"/>
              <a:cs typeface="DM Sans"/>
              <a:sym typeface="DM Sans"/>
            </a:endParaRPr>
          </a:p>
        </p:txBody>
      </p:sp>
      <p:sp>
        <p:nvSpPr>
          <p:cNvPr id="2" name="Rectángulo 1">
            <a:extLst>
              <a:ext uri="{FF2B5EF4-FFF2-40B4-BE49-F238E27FC236}">
                <a16:creationId xmlns:a16="http://schemas.microsoft.com/office/drawing/2014/main" id="{7E359470-8C39-F451-AA7E-0434D3610384}"/>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59"/>
          <p:cNvSpPr/>
          <p:nvPr/>
        </p:nvSpPr>
        <p:spPr>
          <a:xfrm>
            <a:off x="647400" y="1189150"/>
            <a:ext cx="7849200" cy="33174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9" name="Google Shape;449;p59"/>
          <p:cNvSpPr txBox="1"/>
          <p:nvPr/>
        </p:nvSpPr>
        <p:spPr>
          <a:xfrm>
            <a:off x="1461300" y="345975"/>
            <a:ext cx="6221400" cy="6696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3500"/>
              <a:buFont typeface="Arial"/>
              <a:buNone/>
            </a:pPr>
            <a:r>
              <a:rPr lang="es" sz="3500" b="1">
                <a:solidFill>
                  <a:schemeClr val="lt1"/>
                </a:solidFill>
                <a:latin typeface="DM Sans"/>
                <a:ea typeface="DM Sans"/>
                <a:cs typeface="DM Sans"/>
                <a:sym typeface="DM Sans"/>
              </a:rPr>
              <a:t>Excepciones múltiples</a:t>
            </a:r>
            <a:endParaRPr sz="3500" b="1" i="0" u="none" strike="noStrike" cap="none">
              <a:solidFill>
                <a:schemeClr val="lt1"/>
              </a:solidFill>
              <a:latin typeface="DM Sans"/>
              <a:ea typeface="DM Sans"/>
              <a:cs typeface="DM Sans"/>
              <a:sym typeface="DM Sans"/>
            </a:endParaRPr>
          </a:p>
        </p:txBody>
      </p:sp>
      <p:grpSp>
        <p:nvGrpSpPr>
          <p:cNvPr id="450" name="Google Shape;450;p59"/>
          <p:cNvGrpSpPr/>
          <p:nvPr/>
        </p:nvGrpSpPr>
        <p:grpSpPr>
          <a:xfrm>
            <a:off x="8212626" y="215723"/>
            <a:ext cx="738900" cy="738900"/>
            <a:chOff x="473351" y="619523"/>
            <a:chExt cx="738900" cy="738900"/>
          </a:xfrm>
        </p:grpSpPr>
        <p:sp>
          <p:nvSpPr>
            <p:cNvPr id="451" name="Google Shape;451;p59"/>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52" name="Google Shape;452;p59"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sp>
        <p:nvSpPr>
          <p:cNvPr id="453" name="Google Shape;453;p59"/>
          <p:cNvSpPr txBox="1"/>
          <p:nvPr/>
        </p:nvSpPr>
        <p:spPr>
          <a:xfrm>
            <a:off x="1144075" y="1379825"/>
            <a:ext cx="7189200" cy="2730000"/>
          </a:xfrm>
          <a:prstGeom prst="rect">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r>
              <a:rPr lang="es" sz="1350">
                <a:solidFill>
                  <a:srgbClr val="770000"/>
                </a:solidFill>
                <a:highlight>
                  <a:srgbClr val="EAFF6A"/>
                </a:highlight>
                <a:latin typeface="DM Sans"/>
                <a:ea typeface="DM Sans"/>
                <a:cs typeface="DM Sans"/>
                <a:sym typeface="DM Sans"/>
              </a:rPr>
              <a:t>&gt;&gt;&gt;</a:t>
            </a:r>
            <a:r>
              <a:rPr lang="es" sz="1350">
                <a:solidFill>
                  <a:srgbClr val="000000"/>
                </a:solidFill>
                <a:highlight>
                  <a:srgbClr val="EAFF6A"/>
                </a:highlight>
                <a:latin typeface="DM Sans"/>
                <a:ea typeface="DM Sans"/>
                <a:cs typeface="DM Sans"/>
                <a:sym typeface="DM Sans"/>
              </a:rPr>
              <a:t> </a:t>
            </a:r>
            <a:r>
              <a:rPr lang="es" sz="1350">
                <a:solidFill>
                  <a:srgbClr val="3B78E7"/>
                </a:solidFill>
                <a:highlight>
                  <a:srgbClr val="EAFF6A"/>
                </a:highlight>
                <a:latin typeface="DM Sans"/>
                <a:ea typeface="DM Sans"/>
                <a:cs typeface="DM Sans"/>
                <a:sym typeface="DM Sans"/>
              </a:rPr>
              <a:t>try</a:t>
            </a:r>
            <a:r>
              <a:rPr lang="es" sz="1350">
                <a:solidFill>
                  <a:srgbClr val="37474F"/>
                </a:solidFill>
                <a:highlight>
                  <a:srgbClr val="EAFF6A"/>
                </a:highlight>
                <a:latin typeface="DM Sans"/>
                <a:ea typeface="DM Sans"/>
                <a:cs typeface="DM Sans"/>
                <a:sym typeface="DM Sans"/>
              </a:rPr>
              <a:t>:</a:t>
            </a:r>
            <a:endParaRPr sz="1350">
              <a:solidFill>
                <a:srgbClr val="37474F"/>
              </a:solidFill>
              <a:highlight>
                <a:srgbClr val="EAFF6A"/>
              </a:highlight>
              <a:latin typeface="DM Sans"/>
              <a:ea typeface="DM Sans"/>
              <a:cs typeface="DM Sans"/>
              <a:sym typeface="DM Sans"/>
            </a:endParaRPr>
          </a:p>
          <a:p>
            <a:pPr marL="0" lvl="0" indent="0" algn="l" rtl="0">
              <a:lnSpc>
                <a:spcPct val="115000"/>
              </a:lnSpc>
              <a:spcBef>
                <a:spcPts val="0"/>
              </a:spcBef>
              <a:spcAft>
                <a:spcPts val="0"/>
              </a:spcAft>
              <a:buClr>
                <a:srgbClr val="000000"/>
              </a:buClr>
              <a:buSzPts val="1100"/>
              <a:buFont typeface="Arial"/>
              <a:buNone/>
            </a:pPr>
            <a:r>
              <a:rPr lang="es" sz="1350">
                <a:solidFill>
                  <a:srgbClr val="37474F"/>
                </a:solidFill>
                <a:highlight>
                  <a:srgbClr val="EAFF6A"/>
                </a:highlight>
                <a:latin typeface="DM Sans"/>
                <a:ea typeface="DM Sans"/>
                <a:cs typeface="DM Sans"/>
                <a:sym typeface="DM Sans"/>
              </a:rPr>
              <a:t>    		n = </a:t>
            </a:r>
            <a:r>
              <a:rPr lang="es" sz="1350">
                <a:solidFill>
                  <a:srgbClr val="C2185B"/>
                </a:solidFill>
                <a:highlight>
                  <a:srgbClr val="EAFF6A"/>
                </a:highlight>
                <a:latin typeface="DM Sans"/>
                <a:ea typeface="DM Sans"/>
                <a:cs typeface="DM Sans"/>
                <a:sym typeface="DM Sans"/>
              </a:rPr>
              <a:t>float</a:t>
            </a:r>
            <a:r>
              <a:rPr lang="es" sz="1350">
                <a:solidFill>
                  <a:srgbClr val="37474F"/>
                </a:solidFill>
                <a:highlight>
                  <a:srgbClr val="EAFF6A"/>
                </a:highlight>
                <a:latin typeface="DM Sans"/>
                <a:ea typeface="DM Sans"/>
                <a:cs typeface="DM Sans"/>
                <a:sym typeface="DM Sans"/>
              </a:rPr>
              <a:t>(</a:t>
            </a:r>
            <a:r>
              <a:rPr lang="es" sz="1350">
                <a:solidFill>
                  <a:srgbClr val="C2185B"/>
                </a:solidFill>
                <a:highlight>
                  <a:srgbClr val="EAFF6A"/>
                </a:highlight>
                <a:latin typeface="DM Sans"/>
                <a:ea typeface="DM Sans"/>
                <a:cs typeface="DM Sans"/>
                <a:sym typeface="DM Sans"/>
              </a:rPr>
              <a:t>input</a:t>
            </a:r>
            <a:r>
              <a:rPr lang="es" sz="1350">
                <a:solidFill>
                  <a:srgbClr val="37474F"/>
                </a:solidFill>
                <a:highlight>
                  <a:srgbClr val="EAFF6A"/>
                </a:highlight>
                <a:latin typeface="DM Sans"/>
                <a:ea typeface="DM Sans"/>
                <a:cs typeface="DM Sans"/>
                <a:sym typeface="DM Sans"/>
              </a:rPr>
              <a:t>(</a:t>
            </a:r>
            <a:r>
              <a:rPr lang="es" sz="1350">
                <a:solidFill>
                  <a:srgbClr val="0D904F"/>
                </a:solidFill>
                <a:highlight>
                  <a:srgbClr val="EAFF6A"/>
                </a:highlight>
                <a:latin typeface="DM Sans"/>
                <a:ea typeface="DM Sans"/>
                <a:cs typeface="DM Sans"/>
                <a:sym typeface="DM Sans"/>
              </a:rPr>
              <a:t>"Introduce un número divisor: "</a:t>
            </a:r>
            <a:r>
              <a:rPr lang="es" sz="1350">
                <a:solidFill>
                  <a:srgbClr val="37474F"/>
                </a:solidFill>
                <a:highlight>
                  <a:srgbClr val="EAFF6A"/>
                </a:highlight>
                <a:latin typeface="DM Sans"/>
                <a:ea typeface="DM Sans"/>
                <a:cs typeface="DM Sans"/>
                <a:sym typeface="DM Sans"/>
              </a:rPr>
              <a:t>))</a:t>
            </a:r>
            <a:endParaRPr sz="1350">
              <a:solidFill>
                <a:srgbClr val="37474F"/>
              </a:solidFill>
              <a:highlight>
                <a:srgbClr val="EAFF6A"/>
              </a:highlight>
              <a:latin typeface="DM Sans"/>
              <a:ea typeface="DM Sans"/>
              <a:cs typeface="DM Sans"/>
              <a:sym typeface="DM Sans"/>
            </a:endParaRPr>
          </a:p>
          <a:p>
            <a:pPr marL="0" lvl="0" indent="0" algn="l" rtl="0">
              <a:lnSpc>
                <a:spcPct val="115000"/>
              </a:lnSpc>
              <a:spcBef>
                <a:spcPts val="0"/>
              </a:spcBef>
              <a:spcAft>
                <a:spcPts val="0"/>
              </a:spcAft>
              <a:buClr>
                <a:srgbClr val="000000"/>
              </a:buClr>
              <a:buSzPts val="1100"/>
              <a:buFont typeface="Arial"/>
              <a:buNone/>
            </a:pPr>
            <a:r>
              <a:rPr lang="es" sz="1350">
                <a:solidFill>
                  <a:srgbClr val="37474F"/>
                </a:solidFill>
                <a:highlight>
                  <a:srgbClr val="EAFF6A"/>
                </a:highlight>
                <a:latin typeface="DM Sans"/>
                <a:ea typeface="DM Sans"/>
                <a:cs typeface="DM Sans"/>
                <a:sym typeface="DM Sans"/>
              </a:rPr>
              <a:t>    		</a:t>
            </a:r>
            <a:r>
              <a:rPr lang="es" sz="1350">
                <a:solidFill>
                  <a:srgbClr val="E74C3C"/>
                </a:solidFill>
                <a:highlight>
                  <a:srgbClr val="EAFF6A"/>
                </a:highlight>
                <a:latin typeface="DM Sans"/>
                <a:ea typeface="DM Sans"/>
                <a:cs typeface="DM Sans"/>
                <a:sym typeface="DM Sans"/>
              </a:rPr>
              <a:t>5</a:t>
            </a:r>
            <a:r>
              <a:rPr lang="es" sz="1350">
                <a:solidFill>
                  <a:srgbClr val="37474F"/>
                </a:solidFill>
                <a:highlight>
                  <a:srgbClr val="EAFF6A"/>
                </a:highlight>
                <a:latin typeface="DM Sans"/>
                <a:ea typeface="DM Sans"/>
                <a:cs typeface="DM Sans"/>
                <a:sym typeface="DM Sans"/>
              </a:rPr>
              <a:t>/n</a:t>
            </a:r>
            <a:endParaRPr sz="1350">
              <a:solidFill>
                <a:srgbClr val="37474F"/>
              </a:solidFill>
              <a:highlight>
                <a:srgbClr val="EAFF6A"/>
              </a:highlight>
              <a:latin typeface="DM Sans"/>
              <a:ea typeface="DM Sans"/>
              <a:cs typeface="DM Sans"/>
              <a:sym typeface="DM Sans"/>
            </a:endParaRPr>
          </a:p>
          <a:p>
            <a:pPr marL="457200" lvl="0" indent="0" algn="l" rtl="0">
              <a:lnSpc>
                <a:spcPct val="115000"/>
              </a:lnSpc>
              <a:spcBef>
                <a:spcPts val="0"/>
              </a:spcBef>
              <a:spcAft>
                <a:spcPts val="0"/>
              </a:spcAft>
              <a:buClr>
                <a:srgbClr val="000000"/>
              </a:buClr>
              <a:buSzPts val="1100"/>
              <a:buFont typeface="Arial"/>
              <a:buNone/>
            </a:pPr>
            <a:r>
              <a:rPr lang="es" sz="1350">
                <a:solidFill>
                  <a:srgbClr val="3B78E7"/>
                </a:solidFill>
                <a:highlight>
                  <a:srgbClr val="EAFF6A"/>
                </a:highlight>
                <a:latin typeface="DM Sans"/>
                <a:ea typeface="DM Sans"/>
                <a:cs typeface="DM Sans"/>
                <a:sym typeface="DM Sans"/>
              </a:rPr>
              <a:t>except</a:t>
            </a:r>
            <a:r>
              <a:rPr lang="es" sz="1350">
                <a:solidFill>
                  <a:srgbClr val="37474F"/>
                </a:solidFill>
                <a:highlight>
                  <a:srgbClr val="EAFF6A"/>
                </a:highlight>
                <a:latin typeface="DM Sans"/>
                <a:ea typeface="DM Sans"/>
                <a:cs typeface="DM Sans"/>
                <a:sym typeface="DM Sans"/>
              </a:rPr>
              <a:t> </a:t>
            </a:r>
            <a:r>
              <a:rPr lang="es" sz="1350">
                <a:solidFill>
                  <a:srgbClr val="C2185B"/>
                </a:solidFill>
                <a:highlight>
                  <a:srgbClr val="EAFF6A"/>
                </a:highlight>
                <a:latin typeface="DM Sans"/>
                <a:ea typeface="DM Sans"/>
                <a:cs typeface="DM Sans"/>
                <a:sym typeface="DM Sans"/>
              </a:rPr>
              <a:t>TypeError</a:t>
            </a:r>
            <a:r>
              <a:rPr lang="es" sz="1350">
                <a:solidFill>
                  <a:srgbClr val="37474F"/>
                </a:solidFill>
                <a:highlight>
                  <a:srgbClr val="EAFF6A"/>
                </a:highlight>
                <a:latin typeface="DM Sans"/>
                <a:ea typeface="DM Sans"/>
                <a:cs typeface="DM Sans"/>
                <a:sym typeface="DM Sans"/>
              </a:rPr>
              <a:t>:</a:t>
            </a:r>
            <a:endParaRPr sz="1350">
              <a:solidFill>
                <a:srgbClr val="37474F"/>
              </a:solidFill>
              <a:highlight>
                <a:srgbClr val="EAFF6A"/>
              </a:highlight>
              <a:latin typeface="DM Sans"/>
              <a:ea typeface="DM Sans"/>
              <a:cs typeface="DM Sans"/>
              <a:sym typeface="DM Sans"/>
            </a:endParaRPr>
          </a:p>
          <a:p>
            <a:pPr marL="0" lvl="0" indent="0" algn="l" rtl="0">
              <a:lnSpc>
                <a:spcPct val="115000"/>
              </a:lnSpc>
              <a:spcBef>
                <a:spcPts val="0"/>
              </a:spcBef>
              <a:spcAft>
                <a:spcPts val="0"/>
              </a:spcAft>
              <a:buClr>
                <a:srgbClr val="000000"/>
              </a:buClr>
              <a:buSzPts val="1100"/>
              <a:buFont typeface="Arial"/>
              <a:buNone/>
            </a:pPr>
            <a:r>
              <a:rPr lang="es" sz="1350">
                <a:solidFill>
                  <a:srgbClr val="37474F"/>
                </a:solidFill>
                <a:highlight>
                  <a:srgbClr val="EAFF6A"/>
                </a:highlight>
                <a:latin typeface="DM Sans"/>
                <a:ea typeface="DM Sans"/>
                <a:cs typeface="DM Sans"/>
                <a:sym typeface="DM Sans"/>
              </a:rPr>
              <a:t>    		</a:t>
            </a:r>
            <a:r>
              <a:rPr lang="es" sz="1350">
                <a:solidFill>
                  <a:srgbClr val="C2185B"/>
                </a:solidFill>
                <a:highlight>
                  <a:srgbClr val="EAFF6A"/>
                </a:highlight>
                <a:latin typeface="DM Sans"/>
                <a:ea typeface="DM Sans"/>
                <a:cs typeface="DM Sans"/>
                <a:sym typeface="DM Sans"/>
              </a:rPr>
              <a:t>print</a:t>
            </a:r>
            <a:r>
              <a:rPr lang="es" sz="1350">
                <a:solidFill>
                  <a:srgbClr val="37474F"/>
                </a:solidFill>
                <a:highlight>
                  <a:srgbClr val="EAFF6A"/>
                </a:highlight>
                <a:latin typeface="DM Sans"/>
                <a:ea typeface="DM Sans"/>
                <a:cs typeface="DM Sans"/>
                <a:sym typeface="DM Sans"/>
              </a:rPr>
              <a:t>(</a:t>
            </a:r>
            <a:r>
              <a:rPr lang="es" sz="1350">
                <a:solidFill>
                  <a:srgbClr val="0D904F"/>
                </a:solidFill>
                <a:highlight>
                  <a:srgbClr val="EAFF6A"/>
                </a:highlight>
                <a:latin typeface="DM Sans"/>
                <a:ea typeface="DM Sans"/>
                <a:cs typeface="DM Sans"/>
                <a:sym typeface="DM Sans"/>
              </a:rPr>
              <a:t>"No se puede dividir el número entre una cadena"</a:t>
            </a:r>
            <a:r>
              <a:rPr lang="es" sz="1350">
                <a:solidFill>
                  <a:srgbClr val="37474F"/>
                </a:solidFill>
                <a:highlight>
                  <a:srgbClr val="EAFF6A"/>
                </a:highlight>
                <a:latin typeface="DM Sans"/>
                <a:ea typeface="DM Sans"/>
                <a:cs typeface="DM Sans"/>
                <a:sym typeface="DM Sans"/>
              </a:rPr>
              <a:t>)</a:t>
            </a:r>
            <a:endParaRPr sz="1350">
              <a:solidFill>
                <a:srgbClr val="37474F"/>
              </a:solidFill>
              <a:highlight>
                <a:srgbClr val="EAFF6A"/>
              </a:highlight>
              <a:latin typeface="DM Sans"/>
              <a:ea typeface="DM Sans"/>
              <a:cs typeface="DM Sans"/>
              <a:sym typeface="DM Sans"/>
            </a:endParaRPr>
          </a:p>
          <a:p>
            <a:pPr marL="0" lvl="0" indent="457200" algn="l" rtl="0">
              <a:lnSpc>
                <a:spcPct val="115000"/>
              </a:lnSpc>
              <a:spcBef>
                <a:spcPts val="0"/>
              </a:spcBef>
              <a:spcAft>
                <a:spcPts val="0"/>
              </a:spcAft>
              <a:buClr>
                <a:srgbClr val="000000"/>
              </a:buClr>
              <a:buSzPts val="1100"/>
              <a:buFont typeface="Arial"/>
              <a:buNone/>
            </a:pPr>
            <a:r>
              <a:rPr lang="es" sz="1350">
                <a:solidFill>
                  <a:srgbClr val="3B78E7"/>
                </a:solidFill>
                <a:highlight>
                  <a:srgbClr val="EAFF6A"/>
                </a:highlight>
                <a:latin typeface="DM Sans"/>
                <a:ea typeface="DM Sans"/>
                <a:cs typeface="DM Sans"/>
                <a:sym typeface="DM Sans"/>
              </a:rPr>
              <a:t>except</a:t>
            </a:r>
            <a:r>
              <a:rPr lang="es" sz="1350">
                <a:solidFill>
                  <a:srgbClr val="37474F"/>
                </a:solidFill>
                <a:highlight>
                  <a:srgbClr val="EAFF6A"/>
                </a:highlight>
                <a:latin typeface="DM Sans"/>
                <a:ea typeface="DM Sans"/>
                <a:cs typeface="DM Sans"/>
                <a:sym typeface="DM Sans"/>
              </a:rPr>
              <a:t> </a:t>
            </a:r>
            <a:r>
              <a:rPr lang="es" sz="1350">
                <a:solidFill>
                  <a:srgbClr val="C2185B"/>
                </a:solidFill>
                <a:highlight>
                  <a:srgbClr val="EAFF6A"/>
                </a:highlight>
                <a:latin typeface="DM Sans"/>
                <a:ea typeface="DM Sans"/>
                <a:cs typeface="DM Sans"/>
                <a:sym typeface="DM Sans"/>
              </a:rPr>
              <a:t>ValueError</a:t>
            </a:r>
            <a:r>
              <a:rPr lang="es" sz="1350">
                <a:solidFill>
                  <a:srgbClr val="37474F"/>
                </a:solidFill>
                <a:highlight>
                  <a:srgbClr val="EAFF6A"/>
                </a:highlight>
                <a:latin typeface="DM Sans"/>
                <a:ea typeface="DM Sans"/>
                <a:cs typeface="DM Sans"/>
                <a:sym typeface="DM Sans"/>
              </a:rPr>
              <a:t>:</a:t>
            </a:r>
            <a:endParaRPr sz="1350">
              <a:solidFill>
                <a:srgbClr val="37474F"/>
              </a:solidFill>
              <a:highlight>
                <a:srgbClr val="EAFF6A"/>
              </a:highlight>
              <a:latin typeface="DM Sans"/>
              <a:ea typeface="DM Sans"/>
              <a:cs typeface="DM Sans"/>
              <a:sym typeface="DM Sans"/>
            </a:endParaRPr>
          </a:p>
          <a:p>
            <a:pPr marL="0" lvl="0" indent="0" algn="l" rtl="0">
              <a:lnSpc>
                <a:spcPct val="115000"/>
              </a:lnSpc>
              <a:spcBef>
                <a:spcPts val="0"/>
              </a:spcBef>
              <a:spcAft>
                <a:spcPts val="0"/>
              </a:spcAft>
              <a:buClr>
                <a:srgbClr val="000000"/>
              </a:buClr>
              <a:buSzPts val="1100"/>
              <a:buFont typeface="Arial"/>
              <a:buNone/>
            </a:pPr>
            <a:r>
              <a:rPr lang="es" sz="1350">
                <a:solidFill>
                  <a:srgbClr val="37474F"/>
                </a:solidFill>
                <a:highlight>
                  <a:srgbClr val="EAFF6A"/>
                </a:highlight>
                <a:latin typeface="DM Sans"/>
                <a:ea typeface="DM Sans"/>
                <a:cs typeface="DM Sans"/>
                <a:sym typeface="DM Sans"/>
              </a:rPr>
              <a:t>    		</a:t>
            </a:r>
            <a:r>
              <a:rPr lang="es" sz="1350">
                <a:solidFill>
                  <a:srgbClr val="C2185B"/>
                </a:solidFill>
                <a:highlight>
                  <a:srgbClr val="EAFF6A"/>
                </a:highlight>
                <a:latin typeface="DM Sans"/>
                <a:ea typeface="DM Sans"/>
                <a:cs typeface="DM Sans"/>
                <a:sym typeface="DM Sans"/>
              </a:rPr>
              <a:t>print</a:t>
            </a:r>
            <a:r>
              <a:rPr lang="es" sz="1350">
                <a:solidFill>
                  <a:srgbClr val="37474F"/>
                </a:solidFill>
                <a:highlight>
                  <a:srgbClr val="EAFF6A"/>
                </a:highlight>
                <a:latin typeface="DM Sans"/>
                <a:ea typeface="DM Sans"/>
                <a:cs typeface="DM Sans"/>
                <a:sym typeface="DM Sans"/>
              </a:rPr>
              <a:t>(</a:t>
            </a:r>
            <a:r>
              <a:rPr lang="es" sz="1350">
                <a:solidFill>
                  <a:srgbClr val="0D904F"/>
                </a:solidFill>
                <a:highlight>
                  <a:srgbClr val="EAFF6A"/>
                </a:highlight>
                <a:latin typeface="DM Sans"/>
                <a:ea typeface="DM Sans"/>
                <a:cs typeface="DM Sans"/>
                <a:sym typeface="DM Sans"/>
              </a:rPr>
              <a:t>"Debes introducir una cadena que sea un número"</a:t>
            </a:r>
            <a:r>
              <a:rPr lang="es" sz="1350">
                <a:solidFill>
                  <a:srgbClr val="37474F"/>
                </a:solidFill>
                <a:highlight>
                  <a:srgbClr val="EAFF6A"/>
                </a:highlight>
                <a:latin typeface="DM Sans"/>
                <a:ea typeface="DM Sans"/>
                <a:cs typeface="DM Sans"/>
                <a:sym typeface="DM Sans"/>
              </a:rPr>
              <a:t>)</a:t>
            </a:r>
            <a:endParaRPr sz="1350">
              <a:solidFill>
                <a:srgbClr val="37474F"/>
              </a:solidFill>
              <a:highlight>
                <a:srgbClr val="EAFF6A"/>
              </a:highlight>
              <a:latin typeface="DM Sans"/>
              <a:ea typeface="DM Sans"/>
              <a:cs typeface="DM Sans"/>
              <a:sym typeface="DM Sans"/>
            </a:endParaRPr>
          </a:p>
          <a:p>
            <a:pPr marL="0" lvl="0" indent="457200" algn="l" rtl="0">
              <a:lnSpc>
                <a:spcPct val="115000"/>
              </a:lnSpc>
              <a:spcBef>
                <a:spcPts val="0"/>
              </a:spcBef>
              <a:spcAft>
                <a:spcPts val="0"/>
              </a:spcAft>
              <a:buClr>
                <a:srgbClr val="000000"/>
              </a:buClr>
              <a:buSzPts val="1100"/>
              <a:buFont typeface="Arial"/>
              <a:buNone/>
            </a:pPr>
            <a:r>
              <a:rPr lang="es" sz="1350">
                <a:solidFill>
                  <a:srgbClr val="3B78E7"/>
                </a:solidFill>
                <a:highlight>
                  <a:srgbClr val="EAFF6A"/>
                </a:highlight>
                <a:latin typeface="DM Sans"/>
                <a:ea typeface="DM Sans"/>
                <a:cs typeface="DM Sans"/>
                <a:sym typeface="DM Sans"/>
              </a:rPr>
              <a:t>except</a:t>
            </a:r>
            <a:r>
              <a:rPr lang="es" sz="1350">
                <a:solidFill>
                  <a:srgbClr val="37474F"/>
                </a:solidFill>
                <a:highlight>
                  <a:srgbClr val="EAFF6A"/>
                </a:highlight>
                <a:latin typeface="DM Sans"/>
                <a:ea typeface="DM Sans"/>
                <a:cs typeface="DM Sans"/>
                <a:sym typeface="DM Sans"/>
              </a:rPr>
              <a:t> </a:t>
            </a:r>
            <a:r>
              <a:rPr lang="es" sz="1350">
                <a:solidFill>
                  <a:srgbClr val="C2185B"/>
                </a:solidFill>
                <a:highlight>
                  <a:srgbClr val="EAFF6A"/>
                </a:highlight>
                <a:latin typeface="DM Sans"/>
                <a:ea typeface="DM Sans"/>
                <a:cs typeface="DM Sans"/>
                <a:sym typeface="DM Sans"/>
              </a:rPr>
              <a:t>ZeroDivisionError</a:t>
            </a:r>
            <a:r>
              <a:rPr lang="es" sz="1350">
                <a:solidFill>
                  <a:srgbClr val="37474F"/>
                </a:solidFill>
                <a:highlight>
                  <a:srgbClr val="EAFF6A"/>
                </a:highlight>
                <a:latin typeface="DM Sans"/>
                <a:ea typeface="DM Sans"/>
                <a:cs typeface="DM Sans"/>
                <a:sym typeface="DM Sans"/>
              </a:rPr>
              <a:t>:</a:t>
            </a:r>
            <a:endParaRPr sz="1350">
              <a:solidFill>
                <a:srgbClr val="37474F"/>
              </a:solidFill>
              <a:highlight>
                <a:srgbClr val="EAFF6A"/>
              </a:highlight>
              <a:latin typeface="DM Sans"/>
              <a:ea typeface="DM Sans"/>
              <a:cs typeface="DM Sans"/>
              <a:sym typeface="DM Sans"/>
            </a:endParaRPr>
          </a:p>
          <a:p>
            <a:pPr marL="0" lvl="0" indent="0" algn="l" rtl="0">
              <a:lnSpc>
                <a:spcPct val="115000"/>
              </a:lnSpc>
              <a:spcBef>
                <a:spcPts val="0"/>
              </a:spcBef>
              <a:spcAft>
                <a:spcPts val="0"/>
              </a:spcAft>
              <a:buClr>
                <a:srgbClr val="000000"/>
              </a:buClr>
              <a:buSzPts val="1100"/>
              <a:buFont typeface="Arial"/>
              <a:buNone/>
            </a:pPr>
            <a:r>
              <a:rPr lang="es" sz="1350">
                <a:solidFill>
                  <a:srgbClr val="37474F"/>
                </a:solidFill>
                <a:highlight>
                  <a:srgbClr val="EAFF6A"/>
                </a:highlight>
                <a:latin typeface="DM Sans"/>
                <a:ea typeface="DM Sans"/>
                <a:cs typeface="DM Sans"/>
                <a:sym typeface="DM Sans"/>
              </a:rPr>
              <a:t>    		</a:t>
            </a:r>
            <a:r>
              <a:rPr lang="es" sz="1350">
                <a:solidFill>
                  <a:srgbClr val="C2185B"/>
                </a:solidFill>
                <a:highlight>
                  <a:srgbClr val="EAFF6A"/>
                </a:highlight>
                <a:latin typeface="DM Sans"/>
                <a:ea typeface="DM Sans"/>
                <a:cs typeface="DM Sans"/>
                <a:sym typeface="DM Sans"/>
              </a:rPr>
              <a:t>print</a:t>
            </a:r>
            <a:r>
              <a:rPr lang="es" sz="1350">
                <a:solidFill>
                  <a:srgbClr val="37474F"/>
                </a:solidFill>
                <a:highlight>
                  <a:srgbClr val="EAFF6A"/>
                </a:highlight>
                <a:latin typeface="DM Sans"/>
                <a:ea typeface="DM Sans"/>
                <a:cs typeface="DM Sans"/>
                <a:sym typeface="DM Sans"/>
              </a:rPr>
              <a:t>(</a:t>
            </a:r>
            <a:r>
              <a:rPr lang="es" sz="1350">
                <a:solidFill>
                  <a:srgbClr val="0D904F"/>
                </a:solidFill>
                <a:highlight>
                  <a:srgbClr val="EAFF6A"/>
                </a:highlight>
                <a:latin typeface="DM Sans"/>
                <a:ea typeface="DM Sans"/>
                <a:cs typeface="DM Sans"/>
                <a:sym typeface="DM Sans"/>
              </a:rPr>
              <a:t>"No se puede dividir por cero, prueba otro número"</a:t>
            </a:r>
            <a:r>
              <a:rPr lang="es" sz="1350">
                <a:solidFill>
                  <a:srgbClr val="37474F"/>
                </a:solidFill>
                <a:highlight>
                  <a:srgbClr val="EAFF6A"/>
                </a:highlight>
                <a:latin typeface="DM Sans"/>
                <a:ea typeface="DM Sans"/>
                <a:cs typeface="DM Sans"/>
                <a:sym typeface="DM Sans"/>
              </a:rPr>
              <a:t>)</a:t>
            </a:r>
            <a:endParaRPr sz="1350">
              <a:solidFill>
                <a:srgbClr val="37474F"/>
              </a:solidFill>
              <a:highlight>
                <a:srgbClr val="EAFF6A"/>
              </a:highlight>
              <a:latin typeface="DM Sans"/>
              <a:ea typeface="DM Sans"/>
              <a:cs typeface="DM Sans"/>
              <a:sym typeface="DM Sans"/>
            </a:endParaRPr>
          </a:p>
          <a:p>
            <a:pPr marL="0" lvl="0" indent="457200" algn="l" rtl="0">
              <a:lnSpc>
                <a:spcPct val="115000"/>
              </a:lnSpc>
              <a:spcBef>
                <a:spcPts val="0"/>
              </a:spcBef>
              <a:spcAft>
                <a:spcPts val="0"/>
              </a:spcAft>
              <a:buClr>
                <a:srgbClr val="000000"/>
              </a:buClr>
              <a:buSzPts val="1100"/>
              <a:buFont typeface="Arial"/>
              <a:buNone/>
            </a:pPr>
            <a:r>
              <a:rPr lang="es" sz="1350">
                <a:solidFill>
                  <a:srgbClr val="3B78E7"/>
                </a:solidFill>
                <a:highlight>
                  <a:srgbClr val="EAFF6A"/>
                </a:highlight>
                <a:latin typeface="DM Sans"/>
                <a:ea typeface="DM Sans"/>
                <a:cs typeface="DM Sans"/>
                <a:sym typeface="DM Sans"/>
              </a:rPr>
              <a:t>except</a:t>
            </a:r>
            <a:r>
              <a:rPr lang="es" sz="1350">
                <a:solidFill>
                  <a:srgbClr val="37474F"/>
                </a:solidFill>
                <a:highlight>
                  <a:srgbClr val="EAFF6A"/>
                </a:highlight>
                <a:latin typeface="DM Sans"/>
                <a:ea typeface="DM Sans"/>
                <a:cs typeface="DM Sans"/>
                <a:sym typeface="DM Sans"/>
              </a:rPr>
              <a:t> </a:t>
            </a:r>
            <a:r>
              <a:rPr lang="es" sz="1350">
                <a:solidFill>
                  <a:srgbClr val="C2185B"/>
                </a:solidFill>
                <a:highlight>
                  <a:srgbClr val="EAFF6A"/>
                </a:highlight>
                <a:latin typeface="DM Sans"/>
                <a:ea typeface="DM Sans"/>
                <a:cs typeface="DM Sans"/>
                <a:sym typeface="DM Sans"/>
              </a:rPr>
              <a:t>Exception</a:t>
            </a:r>
            <a:r>
              <a:rPr lang="es" sz="1350">
                <a:solidFill>
                  <a:srgbClr val="37474F"/>
                </a:solidFill>
                <a:highlight>
                  <a:srgbClr val="EAFF6A"/>
                </a:highlight>
                <a:latin typeface="DM Sans"/>
                <a:ea typeface="DM Sans"/>
                <a:cs typeface="DM Sans"/>
                <a:sym typeface="DM Sans"/>
              </a:rPr>
              <a:t> </a:t>
            </a:r>
            <a:r>
              <a:rPr lang="es" sz="1350">
                <a:solidFill>
                  <a:srgbClr val="3B78E7"/>
                </a:solidFill>
                <a:highlight>
                  <a:srgbClr val="EAFF6A"/>
                </a:highlight>
                <a:latin typeface="DM Sans"/>
                <a:ea typeface="DM Sans"/>
                <a:cs typeface="DM Sans"/>
                <a:sym typeface="DM Sans"/>
              </a:rPr>
              <a:t>as</a:t>
            </a:r>
            <a:r>
              <a:rPr lang="es" sz="1350">
                <a:solidFill>
                  <a:srgbClr val="37474F"/>
                </a:solidFill>
                <a:highlight>
                  <a:srgbClr val="EAFF6A"/>
                </a:highlight>
                <a:latin typeface="DM Sans"/>
                <a:ea typeface="DM Sans"/>
                <a:cs typeface="DM Sans"/>
                <a:sym typeface="DM Sans"/>
              </a:rPr>
              <a:t> e:</a:t>
            </a:r>
            <a:endParaRPr sz="1350">
              <a:solidFill>
                <a:srgbClr val="37474F"/>
              </a:solidFill>
              <a:highlight>
                <a:srgbClr val="EAFF6A"/>
              </a:highlight>
              <a:latin typeface="DM Sans"/>
              <a:ea typeface="DM Sans"/>
              <a:cs typeface="DM Sans"/>
              <a:sym typeface="DM Sans"/>
            </a:endParaRPr>
          </a:p>
          <a:p>
            <a:pPr marL="0" lvl="0" indent="0" algn="l" rtl="0">
              <a:lnSpc>
                <a:spcPct val="115000"/>
              </a:lnSpc>
              <a:spcBef>
                <a:spcPts val="0"/>
              </a:spcBef>
              <a:spcAft>
                <a:spcPts val="0"/>
              </a:spcAft>
              <a:buClr>
                <a:srgbClr val="000000"/>
              </a:buClr>
              <a:buSzPts val="1100"/>
              <a:buFont typeface="Arial"/>
              <a:buNone/>
            </a:pPr>
            <a:r>
              <a:rPr lang="es" sz="1350">
                <a:solidFill>
                  <a:srgbClr val="37474F"/>
                </a:solidFill>
                <a:highlight>
                  <a:srgbClr val="EAFF6A"/>
                </a:highlight>
                <a:latin typeface="DM Sans"/>
                <a:ea typeface="DM Sans"/>
                <a:cs typeface="DM Sans"/>
                <a:sym typeface="DM Sans"/>
              </a:rPr>
              <a:t>    		</a:t>
            </a:r>
            <a:r>
              <a:rPr lang="es" sz="1350">
                <a:solidFill>
                  <a:srgbClr val="C2185B"/>
                </a:solidFill>
                <a:highlight>
                  <a:srgbClr val="EAFF6A"/>
                </a:highlight>
                <a:latin typeface="DM Sans"/>
                <a:ea typeface="DM Sans"/>
                <a:cs typeface="DM Sans"/>
                <a:sym typeface="DM Sans"/>
              </a:rPr>
              <a:t>print</a:t>
            </a:r>
            <a:r>
              <a:rPr lang="es" sz="1350">
                <a:solidFill>
                  <a:srgbClr val="37474F"/>
                </a:solidFill>
                <a:highlight>
                  <a:srgbClr val="EAFF6A"/>
                </a:highlight>
                <a:latin typeface="DM Sans"/>
                <a:ea typeface="DM Sans"/>
                <a:cs typeface="DM Sans"/>
                <a:sym typeface="DM Sans"/>
              </a:rPr>
              <a:t>(</a:t>
            </a:r>
            <a:r>
              <a:rPr lang="es" sz="1350">
                <a:solidFill>
                  <a:srgbClr val="0D904F"/>
                </a:solidFill>
                <a:highlight>
                  <a:srgbClr val="EAFF6A"/>
                </a:highlight>
                <a:latin typeface="DM Sans"/>
                <a:ea typeface="DM Sans"/>
                <a:cs typeface="DM Sans"/>
                <a:sym typeface="DM Sans"/>
              </a:rPr>
              <a:t>"Ha ocurrido un error no previsto"</a:t>
            </a:r>
            <a:r>
              <a:rPr lang="es" sz="1350">
                <a:solidFill>
                  <a:srgbClr val="37474F"/>
                </a:solidFill>
                <a:highlight>
                  <a:srgbClr val="EAFF6A"/>
                </a:highlight>
                <a:latin typeface="DM Sans"/>
                <a:ea typeface="DM Sans"/>
                <a:cs typeface="DM Sans"/>
                <a:sym typeface="DM Sans"/>
              </a:rPr>
              <a:t>, </a:t>
            </a:r>
            <a:r>
              <a:rPr lang="es" sz="1350">
                <a:solidFill>
                  <a:srgbClr val="C2185B"/>
                </a:solidFill>
                <a:highlight>
                  <a:srgbClr val="EAFF6A"/>
                </a:highlight>
                <a:latin typeface="DM Sans"/>
                <a:ea typeface="DM Sans"/>
                <a:cs typeface="DM Sans"/>
                <a:sym typeface="DM Sans"/>
              </a:rPr>
              <a:t>type</a:t>
            </a:r>
            <a:r>
              <a:rPr lang="es" sz="1350">
                <a:solidFill>
                  <a:srgbClr val="37474F"/>
                </a:solidFill>
                <a:highlight>
                  <a:srgbClr val="EAFF6A"/>
                </a:highlight>
                <a:latin typeface="DM Sans"/>
                <a:ea typeface="DM Sans"/>
                <a:cs typeface="DM Sans"/>
                <a:sym typeface="DM Sans"/>
              </a:rPr>
              <a:t>(e).__name__ )</a:t>
            </a:r>
            <a:endParaRPr sz="1350">
              <a:solidFill>
                <a:srgbClr val="37474F"/>
              </a:solidFill>
              <a:highlight>
                <a:srgbClr val="EAFF6A"/>
              </a:highlight>
              <a:latin typeface="DM Sans"/>
              <a:ea typeface="DM Sans"/>
              <a:cs typeface="DM Sans"/>
              <a:sym typeface="DM Sans"/>
            </a:endParaRPr>
          </a:p>
        </p:txBody>
      </p:sp>
      <p:sp>
        <p:nvSpPr>
          <p:cNvPr id="2" name="Rectángulo 1">
            <a:extLst>
              <a:ext uri="{FF2B5EF4-FFF2-40B4-BE49-F238E27FC236}">
                <a16:creationId xmlns:a16="http://schemas.microsoft.com/office/drawing/2014/main" id="{994EBFE3-AF78-A846-23C5-F027845C6C1B}"/>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grpSp>
        <p:nvGrpSpPr>
          <p:cNvPr id="458" name="Google Shape;458;p60"/>
          <p:cNvGrpSpPr/>
          <p:nvPr/>
        </p:nvGrpSpPr>
        <p:grpSpPr>
          <a:xfrm>
            <a:off x="4202556" y="994173"/>
            <a:ext cx="738900" cy="738900"/>
            <a:chOff x="974706" y="2467173"/>
            <a:chExt cx="738900" cy="738900"/>
          </a:xfrm>
        </p:grpSpPr>
        <p:sp>
          <p:nvSpPr>
            <p:cNvPr id="459" name="Google Shape;459;p60"/>
            <p:cNvSpPr/>
            <p:nvPr/>
          </p:nvSpPr>
          <p:spPr>
            <a:xfrm>
              <a:off x="974706" y="2467173"/>
              <a:ext cx="738900" cy="738900"/>
            </a:xfrm>
            <a:prstGeom prst="ellipse">
              <a:avLst/>
            </a:prstGeom>
            <a:solidFill>
              <a:srgbClr val="EA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60" name="Google Shape;460;p60" title="ícono de actividad en clase"/>
            <p:cNvPicPr preferRelativeResize="0"/>
            <p:nvPr/>
          </p:nvPicPr>
          <p:blipFill rotWithShape="1">
            <a:blip r:embed="rId3">
              <a:alphaModFix/>
            </a:blip>
            <a:srcRect/>
            <a:stretch/>
          </p:blipFill>
          <p:spPr>
            <a:xfrm>
              <a:off x="1109750" y="2610275"/>
              <a:ext cx="452650" cy="452650"/>
            </a:xfrm>
            <a:prstGeom prst="rect">
              <a:avLst/>
            </a:prstGeom>
            <a:noFill/>
            <a:ln>
              <a:noFill/>
            </a:ln>
          </p:spPr>
        </p:pic>
      </p:grpSp>
      <p:sp>
        <p:nvSpPr>
          <p:cNvPr id="461" name="Google Shape;461;p60"/>
          <p:cNvSpPr txBox="1"/>
          <p:nvPr/>
        </p:nvSpPr>
        <p:spPr>
          <a:xfrm>
            <a:off x="1461300" y="2208625"/>
            <a:ext cx="62214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a:solidFill>
                  <a:schemeClr val="dk1"/>
                </a:solidFill>
                <a:latin typeface="DM Sans"/>
                <a:ea typeface="DM Sans"/>
                <a:cs typeface="DM Sans"/>
                <a:sym typeface="DM Sans"/>
              </a:rPr>
              <a:t>Desafío de excepciones</a:t>
            </a:r>
            <a:endParaRPr sz="4000" b="1" i="0" u="none" strike="noStrike" cap="none">
              <a:solidFill>
                <a:schemeClr val="dk1"/>
              </a:solidFill>
              <a:highlight>
                <a:srgbClr val="EAFF6A"/>
              </a:highlight>
              <a:latin typeface="DM Sans"/>
              <a:ea typeface="DM Sans"/>
              <a:cs typeface="DM Sans"/>
              <a:sym typeface="DM Sans"/>
            </a:endParaRPr>
          </a:p>
        </p:txBody>
      </p:sp>
      <p:sp>
        <p:nvSpPr>
          <p:cNvPr id="462" name="Google Shape;462;p60"/>
          <p:cNvSpPr txBox="1"/>
          <p:nvPr/>
        </p:nvSpPr>
        <p:spPr>
          <a:xfrm>
            <a:off x="987300" y="3849138"/>
            <a:ext cx="71694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 sz="2000" b="0" i="0" u="none" strike="noStrike" cap="none">
                <a:solidFill>
                  <a:srgbClr val="83AEFB"/>
                </a:solidFill>
                <a:latin typeface="DM Sans"/>
                <a:ea typeface="DM Sans"/>
                <a:cs typeface="DM Sans"/>
                <a:sym typeface="DM Sans"/>
              </a:rPr>
              <a:t>Duración: </a:t>
            </a:r>
            <a:r>
              <a:rPr lang="es" sz="2000" b="1">
                <a:solidFill>
                  <a:srgbClr val="83AEFB"/>
                </a:solidFill>
                <a:latin typeface="DM Sans"/>
                <a:ea typeface="DM Sans"/>
                <a:cs typeface="DM Sans"/>
                <a:sym typeface="DM Sans"/>
              </a:rPr>
              <a:t>5 minutos</a:t>
            </a:r>
            <a:endParaRPr sz="2000" b="1" i="0" u="none" strike="noStrike" cap="none">
              <a:solidFill>
                <a:srgbClr val="83AEFB"/>
              </a:solidFill>
              <a:latin typeface="DM Sans"/>
              <a:ea typeface="DM Sans"/>
              <a:cs typeface="DM Sans"/>
              <a:sym typeface="DM Sans"/>
            </a:endParaRPr>
          </a:p>
        </p:txBody>
      </p:sp>
      <p:sp>
        <p:nvSpPr>
          <p:cNvPr id="463" name="Google Shape;463;p60"/>
          <p:cNvSpPr txBox="1"/>
          <p:nvPr/>
        </p:nvSpPr>
        <p:spPr>
          <a:xfrm>
            <a:off x="987300" y="2947538"/>
            <a:ext cx="71694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 sz="2000">
                <a:solidFill>
                  <a:srgbClr val="999999"/>
                </a:solidFill>
                <a:latin typeface="DM Sans"/>
                <a:ea typeface="DM Sans"/>
                <a:cs typeface="DM Sans"/>
                <a:sym typeface="DM Sans"/>
              </a:rPr>
              <a:t>Captura la excepción</a:t>
            </a:r>
            <a:endParaRPr sz="2000" b="0" i="0" u="none" strike="noStrike" cap="none">
              <a:solidFill>
                <a:srgbClr val="999999"/>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75BC7419-4FA0-2775-42BE-543660C86234}"/>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grpSp>
        <p:nvGrpSpPr>
          <p:cNvPr id="468" name="Google Shape;468;p61"/>
          <p:cNvGrpSpPr/>
          <p:nvPr/>
        </p:nvGrpSpPr>
        <p:grpSpPr>
          <a:xfrm>
            <a:off x="457347" y="468298"/>
            <a:ext cx="431074" cy="431074"/>
            <a:chOff x="974706" y="2467173"/>
            <a:chExt cx="738900" cy="738900"/>
          </a:xfrm>
        </p:grpSpPr>
        <p:sp>
          <p:nvSpPr>
            <p:cNvPr id="469" name="Google Shape;469;p61"/>
            <p:cNvSpPr/>
            <p:nvPr/>
          </p:nvSpPr>
          <p:spPr>
            <a:xfrm>
              <a:off x="974706" y="2467173"/>
              <a:ext cx="738900" cy="738900"/>
            </a:xfrm>
            <a:prstGeom prst="ellipse">
              <a:avLst/>
            </a:prstGeom>
            <a:solidFill>
              <a:srgbClr val="EA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70" name="Google Shape;470;p61" title="ícono de actividad en clase"/>
            <p:cNvPicPr preferRelativeResize="0"/>
            <p:nvPr/>
          </p:nvPicPr>
          <p:blipFill rotWithShape="1">
            <a:blip r:embed="rId3">
              <a:alphaModFix/>
            </a:blip>
            <a:srcRect/>
            <a:stretch/>
          </p:blipFill>
          <p:spPr>
            <a:xfrm>
              <a:off x="1109750" y="2610275"/>
              <a:ext cx="452650" cy="452650"/>
            </a:xfrm>
            <a:prstGeom prst="rect">
              <a:avLst/>
            </a:prstGeom>
            <a:noFill/>
            <a:ln>
              <a:noFill/>
            </a:ln>
          </p:spPr>
        </p:pic>
      </p:grpSp>
      <p:pic>
        <p:nvPicPr>
          <p:cNvPr id="471" name="Google Shape;471;p61"/>
          <p:cNvPicPr preferRelativeResize="0"/>
          <p:nvPr/>
        </p:nvPicPr>
        <p:blipFill rotWithShape="1">
          <a:blip r:embed="rId4">
            <a:alphaModFix/>
          </a:blip>
          <a:srcRect/>
          <a:stretch/>
        </p:blipFill>
        <p:spPr>
          <a:xfrm>
            <a:off x="7811413" y="4692275"/>
            <a:ext cx="1150750" cy="267575"/>
          </a:xfrm>
          <a:prstGeom prst="rect">
            <a:avLst/>
          </a:prstGeom>
          <a:noFill/>
          <a:ln>
            <a:noFill/>
          </a:ln>
        </p:spPr>
      </p:pic>
      <p:sp>
        <p:nvSpPr>
          <p:cNvPr id="472" name="Google Shape;472;p61"/>
          <p:cNvSpPr txBox="1"/>
          <p:nvPr/>
        </p:nvSpPr>
        <p:spPr>
          <a:xfrm>
            <a:off x="549525" y="1322125"/>
            <a:ext cx="7910400" cy="3010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b="1" i="0" u="none" strike="noStrike" cap="none">
                <a:solidFill>
                  <a:srgbClr val="000000"/>
                </a:solidFill>
                <a:latin typeface="DM Sans"/>
                <a:ea typeface="DM Sans"/>
                <a:cs typeface="DM Sans"/>
                <a:sym typeface="DM Sans"/>
              </a:rPr>
              <a:t>Descripción de la actividad. </a:t>
            </a:r>
            <a:endParaRPr sz="1350" b="1"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r>
              <a:rPr lang="es" sz="1350">
                <a:latin typeface="DM Sans"/>
                <a:ea typeface="DM Sans"/>
                <a:cs typeface="DM Sans"/>
                <a:sym typeface="DM Sans"/>
              </a:rPr>
              <a:t>Tiempo estimado: 5 minutos </a:t>
            </a:r>
            <a:endParaRPr sz="1350">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r>
              <a:rPr lang="es" sz="1350">
                <a:latin typeface="DM Sans"/>
                <a:ea typeface="DM Sans"/>
                <a:cs typeface="DM Sans"/>
                <a:sym typeface="DM Sans"/>
              </a:rPr>
              <a:t>Tomando la solución del ejercicio anterior, en lugar de devolver None al dividir entre cero, tienes que capturar una excepción que muestre por pantalla EXACTAMENTE el mensaje: “No se puede dividir entre cero”; si falla el código</a:t>
            </a:r>
            <a:endParaRPr sz="1350">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350">
                <a:solidFill>
                  <a:srgbClr val="770000"/>
                </a:solidFill>
                <a:highlight>
                  <a:schemeClr val="lt1"/>
                </a:highlight>
                <a:latin typeface="DM Sans"/>
                <a:ea typeface="DM Sans"/>
                <a:cs typeface="DM Sans"/>
                <a:sym typeface="DM Sans"/>
              </a:rPr>
              <a:t>&gt;&gt;&gt;</a:t>
            </a:r>
            <a:r>
              <a:rPr lang="es" sz="1350">
                <a:solidFill>
                  <a:schemeClr val="dk1"/>
                </a:solidFill>
                <a:highlight>
                  <a:schemeClr val="lt1"/>
                </a:highlight>
                <a:latin typeface="DM Sans"/>
                <a:ea typeface="DM Sans"/>
                <a:cs typeface="DM Sans"/>
                <a:sym typeface="DM Sans"/>
              </a:rPr>
              <a:t> </a:t>
            </a:r>
            <a:r>
              <a:rPr lang="es" sz="1350">
                <a:solidFill>
                  <a:srgbClr val="3B78E7"/>
                </a:solidFill>
                <a:latin typeface="DM Sans"/>
                <a:ea typeface="DM Sans"/>
                <a:cs typeface="DM Sans"/>
                <a:sym typeface="DM Sans"/>
              </a:rPr>
              <a:t>def </a:t>
            </a:r>
            <a:r>
              <a:rPr lang="es" sz="1350">
                <a:solidFill>
                  <a:srgbClr val="C2185B"/>
                </a:solidFill>
                <a:latin typeface="DM Sans"/>
                <a:ea typeface="DM Sans"/>
                <a:cs typeface="DM Sans"/>
                <a:sym typeface="DM Sans"/>
              </a:rPr>
              <a:t>dividir</a:t>
            </a:r>
            <a:r>
              <a:rPr lang="es" sz="1350">
                <a:solidFill>
                  <a:schemeClr val="dk1"/>
                </a:solidFill>
                <a:latin typeface="DM Sans"/>
                <a:ea typeface="DM Sans"/>
                <a:cs typeface="DM Sans"/>
                <a:sym typeface="DM Sans"/>
              </a:rPr>
              <a:t>(a, b):</a:t>
            </a:r>
            <a:endParaRPr sz="1350">
              <a:solidFill>
                <a:schemeClr val="dk1"/>
              </a:solidFill>
              <a:latin typeface="DM Sans"/>
              <a:ea typeface="DM Sans"/>
              <a:cs typeface="DM Sans"/>
              <a:sym typeface="DM Sans"/>
            </a:endParaRPr>
          </a:p>
          <a:p>
            <a:pPr marL="457200" lvl="0" indent="457200" algn="l" rtl="0">
              <a:lnSpc>
                <a:spcPct val="115000"/>
              </a:lnSpc>
              <a:spcBef>
                <a:spcPts val="0"/>
              </a:spcBef>
              <a:spcAft>
                <a:spcPts val="0"/>
              </a:spcAft>
              <a:buClr>
                <a:schemeClr val="dk1"/>
              </a:buClr>
              <a:buSzPts val="1100"/>
              <a:buFont typeface="Arial"/>
              <a:buNone/>
            </a:pPr>
            <a:r>
              <a:rPr lang="es" sz="1350">
                <a:solidFill>
                  <a:srgbClr val="3B78E7"/>
                </a:solidFill>
                <a:latin typeface="DM Sans"/>
                <a:ea typeface="DM Sans"/>
                <a:cs typeface="DM Sans"/>
                <a:sym typeface="DM Sans"/>
              </a:rPr>
              <a:t>if </a:t>
            </a:r>
            <a:r>
              <a:rPr lang="es" sz="1350">
                <a:solidFill>
                  <a:schemeClr val="dk1"/>
                </a:solidFill>
                <a:latin typeface="DM Sans"/>
                <a:ea typeface="DM Sans"/>
                <a:cs typeface="DM Sans"/>
                <a:sym typeface="DM Sans"/>
              </a:rPr>
              <a:t>b == 0:</a:t>
            </a:r>
            <a:endParaRPr sz="13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350">
                <a:solidFill>
                  <a:schemeClr val="dk1"/>
                </a:solidFill>
                <a:latin typeface="DM Sans"/>
                <a:ea typeface="DM Sans"/>
                <a:cs typeface="DM Sans"/>
                <a:sym typeface="DM Sans"/>
              </a:rPr>
              <a:t>        		</a:t>
            </a:r>
            <a:r>
              <a:rPr lang="es" sz="1350">
                <a:solidFill>
                  <a:srgbClr val="C2185B"/>
                </a:solidFill>
                <a:latin typeface="DM Sans"/>
                <a:ea typeface="DM Sans"/>
                <a:cs typeface="DM Sans"/>
                <a:sym typeface="DM Sans"/>
              </a:rPr>
              <a:t>return </a:t>
            </a:r>
            <a:r>
              <a:rPr lang="es" sz="1350">
                <a:solidFill>
                  <a:schemeClr val="dk1"/>
                </a:solidFill>
                <a:latin typeface="DM Sans"/>
                <a:ea typeface="DM Sans"/>
                <a:cs typeface="DM Sans"/>
                <a:sym typeface="DM Sans"/>
              </a:rPr>
              <a:t>None</a:t>
            </a:r>
            <a:endParaRPr sz="1350">
              <a:solidFill>
                <a:schemeClr val="dk1"/>
              </a:solidFill>
              <a:latin typeface="DM Sans"/>
              <a:ea typeface="DM Sans"/>
              <a:cs typeface="DM Sans"/>
              <a:sym typeface="DM Sans"/>
            </a:endParaRPr>
          </a:p>
          <a:p>
            <a:pPr marL="457200" lvl="0" indent="457200" algn="l" rtl="0">
              <a:lnSpc>
                <a:spcPct val="115000"/>
              </a:lnSpc>
              <a:spcBef>
                <a:spcPts val="0"/>
              </a:spcBef>
              <a:spcAft>
                <a:spcPts val="0"/>
              </a:spcAft>
              <a:buClr>
                <a:schemeClr val="dk1"/>
              </a:buClr>
              <a:buSzPts val="1100"/>
              <a:buFont typeface="Arial"/>
              <a:buNone/>
            </a:pPr>
            <a:r>
              <a:rPr lang="es" sz="1350">
                <a:solidFill>
                  <a:srgbClr val="C2185B"/>
                </a:solidFill>
                <a:latin typeface="DM Sans"/>
                <a:ea typeface="DM Sans"/>
                <a:cs typeface="DM Sans"/>
                <a:sym typeface="DM Sans"/>
              </a:rPr>
              <a:t>return </a:t>
            </a:r>
            <a:r>
              <a:rPr lang="es" sz="1350">
                <a:solidFill>
                  <a:schemeClr val="dk1"/>
                </a:solidFill>
                <a:latin typeface="DM Sans"/>
                <a:ea typeface="DM Sans"/>
                <a:cs typeface="DM Sans"/>
                <a:sym typeface="DM Sans"/>
              </a:rPr>
              <a:t>a/b</a:t>
            </a:r>
            <a:endParaRPr sz="1350">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endParaRPr sz="1350">
              <a:latin typeface="DM Sans"/>
              <a:ea typeface="DM Sans"/>
              <a:cs typeface="DM Sans"/>
              <a:sym typeface="DM Sans"/>
            </a:endParaRPr>
          </a:p>
        </p:txBody>
      </p:sp>
      <p:sp>
        <p:nvSpPr>
          <p:cNvPr id="473" name="Google Shape;473;p61"/>
          <p:cNvSpPr txBox="1"/>
          <p:nvPr/>
        </p:nvSpPr>
        <p:spPr>
          <a:xfrm>
            <a:off x="930550" y="468275"/>
            <a:ext cx="24612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 sz="1600" b="0" i="0" u="none" strike="noStrike" cap="none">
                <a:solidFill>
                  <a:schemeClr val="dk1"/>
                </a:solidFill>
                <a:latin typeface="DM Sans"/>
                <a:ea typeface="DM Sans"/>
                <a:cs typeface="DM Sans"/>
                <a:sym typeface="DM Sans"/>
              </a:rPr>
              <a:t>ACTIVIDAD EN CLASE</a:t>
            </a:r>
            <a:endParaRPr sz="1400" b="0" i="0" u="none" strike="noStrike" cap="none">
              <a:solidFill>
                <a:srgbClr val="000000"/>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AAC66718-F168-0AED-A456-05344D9E11A6}"/>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Shape 477"/>
        <p:cNvGrpSpPr/>
        <p:nvPr/>
      </p:nvGrpSpPr>
      <p:grpSpPr>
        <a:xfrm>
          <a:off x="0" y="0"/>
          <a:ext cx="0" cy="0"/>
          <a:chOff x="0" y="0"/>
          <a:chExt cx="0" cy="0"/>
        </a:xfrm>
      </p:grpSpPr>
      <p:grpSp>
        <p:nvGrpSpPr>
          <p:cNvPr id="478" name="Google Shape;478;p62"/>
          <p:cNvGrpSpPr/>
          <p:nvPr/>
        </p:nvGrpSpPr>
        <p:grpSpPr>
          <a:xfrm>
            <a:off x="4202550" y="994173"/>
            <a:ext cx="738900" cy="738900"/>
            <a:chOff x="5323100" y="2467173"/>
            <a:chExt cx="738900" cy="738900"/>
          </a:xfrm>
        </p:grpSpPr>
        <p:sp>
          <p:nvSpPr>
            <p:cNvPr id="479" name="Google Shape;479;p62"/>
            <p:cNvSpPr/>
            <p:nvPr/>
          </p:nvSpPr>
          <p:spPr>
            <a:xfrm>
              <a:off x="5323100" y="2467173"/>
              <a:ext cx="738900" cy="738900"/>
            </a:xfrm>
            <a:prstGeom prst="ellipse">
              <a:avLst/>
            </a:prstGeom>
            <a:solidFill>
              <a:srgbClr val="393B4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480" name="Google Shape;480;p62" title="ícono de desafío complementario"/>
            <p:cNvPicPr preferRelativeResize="0"/>
            <p:nvPr/>
          </p:nvPicPr>
          <p:blipFill rotWithShape="1">
            <a:blip r:embed="rId3">
              <a:alphaModFix/>
            </a:blip>
            <a:srcRect/>
            <a:stretch/>
          </p:blipFill>
          <p:spPr>
            <a:xfrm>
              <a:off x="5470107" y="2622261"/>
              <a:ext cx="428721" cy="428726"/>
            </a:xfrm>
            <a:prstGeom prst="rect">
              <a:avLst/>
            </a:prstGeom>
            <a:noFill/>
            <a:ln>
              <a:noFill/>
            </a:ln>
          </p:spPr>
        </p:pic>
      </p:grpSp>
      <p:sp>
        <p:nvSpPr>
          <p:cNvPr id="481" name="Google Shape;481;p62"/>
          <p:cNvSpPr txBox="1"/>
          <p:nvPr/>
        </p:nvSpPr>
        <p:spPr>
          <a:xfrm>
            <a:off x="1193550" y="2208625"/>
            <a:ext cx="67569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a:solidFill>
                  <a:schemeClr val="dk1"/>
                </a:solidFill>
                <a:latin typeface="DM Sans"/>
                <a:ea typeface="DM Sans"/>
                <a:cs typeface="DM Sans"/>
                <a:sym typeface="DM Sans"/>
              </a:rPr>
              <a:t>Actividad complementaria </a:t>
            </a:r>
            <a:endParaRPr sz="4000" b="1" i="0" u="none" strike="noStrike" cap="none">
              <a:solidFill>
                <a:schemeClr val="dk1"/>
              </a:solidFill>
              <a:highlight>
                <a:srgbClr val="EAFF6A"/>
              </a:highlight>
              <a:latin typeface="DM Sans"/>
              <a:ea typeface="DM Sans"/>
              <a:cs typeface="DM Sans"/>
              <a:sym typeface="DM Sans"/>
            </a:endParaRPr>
          </a:p>
        </p:txBody>
      </p:sp>
      <p:sp>
        <p:nvSpPr>
          <p:cNvPr id="482" name="Google Shape;482;p62"/>
          <p:cNvSpPr txBox="1"/>
          <p:nvPr/>
        </p:nvSpPr>
        <p:spPr>
          <a:xfrm>
            <a:off x="987300" y="3175038"/>
            <a:ext cx="7169400" cy="14160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 sz="2000">
                <a:solidFill>
                  <a:srgbClr val="999999"/>
                </a:solidFill>
                <a:latin typeface="DM Sans"/>
                <a:ea typeface="DM Sans"/>
                <a:cs typeface="DM Sans"/>
                <a:sym typeface="DM Sans"/>
              </a:rPr>
              <a:t>Ejercicios prácticos a realizar de forma individual por el estudiante o en vivo por el docente si se dispone de tiempo en la clase.</a:t>
            </a:r>
            <a:endParaRPr sz="2000">
              <a:solidFill>
                <a:srgbClr val="999999"/>
              </a:solidFill>
              <a:latin typeface="DM Sans"/>
              <a:ea typeface="DM Sans"/>
              <a:cs typeface="DM Sans"/>
              <a:sym typeface="DM Sans"/>
            </a:endParaRPr>
          </a:p>
          <a:p>
            <a:pPr marL="0" marR="0" lvl="0" indent="0" algn="ctr" rtl="0">
              <a:lnSpc>
                <a:spcPct val="100000"/>
              </a:lnSpc>
              <a:spcBef>
                <a:spcPts val="0"/>
              </a:spcBef>
              <a:spcAft>
                <a:spcPts val="0"/>
              </a:spcAft>
              <a:buClr>
                <a:srgbClr val="000000"/>
              </a:buClr>
              <a:buSzPts val="2000"/>
              <a:buFont typeface="Arial"/>
              <a:buNone/>
            </a:pPr>
            <a:endParaRPr sz="2000">
              <a:solidFill>
                <a:srgbClr val="999999"/>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7691AE1F-ECC4-32CE-507A-709C122C3502}"/>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Shape 486"/>
        <p:cNvGrpSpPr/>
        <p:nvPr/>
      </p:nvGrpSpPr>
      <p:grpSpPr>
        <a:xfrm>
          <a:off x="0" y="0"/>
          <a:ext cx="0" cy="0"/>
          <a:chOff x="0" y="0"/>
          <a:chExt cx="0" cy="0"/>
        </a:xfrm>
      </p:grpSpPr>
      <p:sp>
        <p:nvSpPr>
          <p:cNvPr id="487" name="Google Shape;487;p63"/>
          <p:cNvSpPr txBox="1"/>
          <p:nvPr/>
        </p:nvSpPr>
        <p:spPr>
          <a:xfrm>
            <a:off x="501450" y="1081750"/>
            <a:ext cx="73101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dk1"/>
                </a:solidFill>
                <a:latin typeface="DM Sans"/>
                <a:ea typeface="DM Sans"/>
                <a:cs typeface="DM Sans"/>
                <a:sym typeface="DM Sans"/>
              </a:rPr>
              <a:t>Tutorial Excepciones</a:t>
            </a:r>
            <a:endParaRPr sz="4000" b="1">
              <a:solidFill>
                <a:schemeClr val="dk1"/>
              </a:solidFill>
              <a:latin typeface="DM Sans"/>
              <a:ea typeface="DM Sans"/>
              <a:cs typeface="DM Sans"/>
              <a:sym typeface="DM Sans"/>
            </a:endParaRPr>
          </a:p>
        </p:txBody>
      </p:sp>
      <p:pic>
        <p:nvPicPr>
          <p:cNvPr id="488" name="Google Shape;488;p63"/>
          <p:cNvPicPr preferRelativeResize="0"/>
          <p:nvPr/>
        </p:nvPicPr>
        <p:blipFill>
          <a:blip r:embed="rId3">
            <a:alphaModFix/>
          </a:blip>
          <a:stretch>
            <a:fillRect/>
          </a:stretch>
        </p:blipFill>
        <p:spPr>
          <a:xfrm>
            <a:off x="7811413" y="4692275"/>
            <a:ext cx="1150750" cy="267575"/>
          </a:xfrm>
          <a:prstGeom prst="rect">
            <a:avLst/>
          </a:prstGeom>
          <a:noFill/>
          <a:ln>
            <a:noFill/>
          </a:ln>
        </p:spPr>
      </p:pic>
      <p:grpSp>
        <p:nvGrpSpPr>
          <p:cNvPr id="489" name="Google Shape;489;p63"/>
          <p:cNvGrpSpPr/>
          <p:nvPr/>
        </p:nvGrpSpPr>
        <p:grpSpPr>
          <a:xfrm>
            <a:off x="457357" y="468284"/>
            <a:ext cx="431074" cy="431074"/>
            <a:chOff x="5323100" y="2467173"/>
            <a:chExt cx="738900" cy="738900"/>
          </a:xfrm>
        </p:grpSpPr>
        <p:sp>
          <p:nvSpPr>
            <p:cNvPr id="490" name="Google Shape;490;p63"/>
            <p:cNvSpPr/>
            <p:nvPr/>
          </p:nvSpPr>
          <p:spPr>
            <a:xfrm>
              <a:off x="5323100" y="2467173"/>
              <a:ext cx="738900" cy="738900"/>
            </a:xfrm>
            <a:prstGeom prst="ellipse">
              <a:avLst/>
            </a:prstGeom>
            <a:solidFill>
              <a:srgbClr val="393B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pic>
          <p:nvPicPr>
            <p:cNvPr id="491" name="Google Shape;491;p63" title="ícono de desafío complementario"/>
            <p:cNvPicPr preferRelativeResize="0"/>
            <p:nvPr/>
          </p:nvPicPr>
          <p:blipFill>
            <a:blip r:embed="rId4">
              <a:alphaModFix/>
            </a:blip>
            <a:stretch>
              <a:fillRect/>
            </a:stretch>
          </p:blipFill>
          <p:spPr>
            <a:xfrm>
              <a:off x="5470107" y="2622261"/>
              <a:ext cx="428721" cy="428726"/>
            </a:xfrm>
            <a:prstGeom prst="rect">
              <a:avLst/>
            </a:prstGeom>
            <a:noFill/>
            <a:ln>
              <a:noFill/>
            </a:ln>
          </p:spPr>
        </p:pic>
      </p:grpSp>
      <p:sp>
        <p:nvSpPr>
          <p:cNvPr id="492" name="Google Shape;492;p63"/>
          <p:cNvSpPr txBox="1"/>
          <p:nvPr/>
        </p:nvSpPr>
        <p:spPr>
          <a:xfrm>
            <a:off x="930550" y="468275"/>
            <a:ext cx="38346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600">
                <a:solidFill>
                  <a:schemeClr val="dk1"/>
                </a:solidFill>
                <a:latin typeface="DM Sans"/>
                <a:ea typeface="DM Sans"/>
                <a:cs typeface="DM Sans"/>
                <a:sym typeface="DM Sans"/>
              </a:rPr>
              <a:t>ACTIVIDAD COMPLEMENTARIA</a:t>
            </a:r>
            <a:endParaRPr>
              <a:latin typeface="DM Sans"/>
              <a:ea typeface="DM Sans"/>
              <a:cs typeface="DM Sans"/>
              <a:sym typeface="DM Sans"/>
            </a:endParaRPr>
          </a:p>
        </p:txBody>
      </p:sp>
      <p:sp>
        <p:nvSpPr>
          <p:cNvPr id="493" name="Google Shape;493;p63"/>
          <p:cNvSpPr txBox="1"/>
          <p:nvPr/>
        </p:nvSpPr>
        <p:spPr>
          <a:xfrm>
            <a:off x="457350" y="2329900"/>
            <a:ext cx="8097600" cy="11808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s" sz="1350" b="1">
                <a:latin typeface="DM Sans"/>
                <a:ea typeface="DM Sans"/>
                <a:cs typeface="DM Sans"/>
                <a:sym typeface="DM Sans"/>
              </a:rPr>
              <a:t>Consigna</a:t>
            </a:r>
            <a:endParaRPr sz="1350" b="1">
              <a:latin typeface="DM Sans"/>
              <a:ea typeface="DM Sans"/>
              <a:cs typeface="DM Sans"/>
              <a:sym typeface="DM Sans"/>
            </a:endParaRPr>
          </a:p>
          <a:p>
            <a:pPr marL="0" lvl="0" indent="0" algn="l" rtl="0">
              <a:lnSpc>
                <a:spcPct val="30000"/>
              </a:lnSpc>
              <a:spcBef>
                <a:spcPts val="0"/>
              </a:spcBef>
              <a:spcAft>
                <a:spcPts val="0"/>
              </a:spcAft>
              <a:buNone/>
            </a:pPr>
            <a:endParaRPr sz="1350" b="1">
              <a:latin typeface="DM Sans"/>
              <a:ea typeface="DM Sans"/>
              <a:cs typeface="DM Sans"/>
              <a:sym typeface="DM Sans"/>
            </a:endParaRPr>
          </a:p>
          <a:p>
            <a:pPr marL="457200" lvl="0" indent="-314325" algn="l" rtl="0">
              <a:lnSpc>
                <a:spcPct val="100000"/>
              </a:lnSpc>
              <a:spcBef>
                <a:spcPts val="0"/>
              </a:spcBef>
              <a:spcAft>
                <a:spcPts val="0"/>
              </a:spcAft>
              <a:buClr>
                <a:srgbClr val="EA90FF"/>
              </a:buClr>
              <a:buSzPts val="1350"/>
              <a:buFont typeface="DM Sans"/>
              <a:buChar char="✓"/>
            </a:pPr>
            <a:r>
              <a:rPr lang="es" sz="1350">
                <a:solidFill>
                  <a:srgbClr val="999999"/>
                </a:solidFill>
                <a:latin typeface="DM Sans"/>
                <a:ea typeface="DM Sans"/>
                <a:cs typeface="DM Sans"/>
                <a:sym typeface="DM Sans"/>
              </a:rPr>
              <a:t>Replicar el archivo titulado: </a:t>
            </a:r>
            <a:r>
              <a:rPr lang="es" sz="1350" u="sng">
                <a:solidFill>
                  <a:schemeClr val="hlink"/>
                </a:solidFill>
                <a:latin typeface="DM Sans"/>
                <a:ea typeface="DM Sans"/>
                <a:cs typeface="DM Sans"/>
                <a:sym typeface="DM Sans"/>
                <a:hlinkClick r:id="rId5"/>
              </a:rPr>
              <a:t>Tutorial de Excepciones.docx.</a:t>
            </a:r>
            <a:r>
              <a:rPr lang="es" sz="1350">
                <a:solidFill>
                  <a:srgbClr val="999999"/>
                </a:solidFill>
                <a:latin typeface="DM Sans"/>
                <a:ea typeface="DM Sans"/>
                <a:cs typeface="DM Sans"/>
                <a:sym typeface="DM Sans"/>
              </a:rPr>
              <a:t> Posteriormente comentar y debatir grupalmente</a:t>
            </a:r>
            <a:endParaRPr sz="1350">
              <a:solidFill>
                <a:srgbClr val="999999"/>
              </a:solidFill>
              <a:latin typeface="DM Sans"/>
              <a:ea typeface="DM Sans"/>
              <a:cs typeface="DM Sans"/>
              <a:sym typeface="DM Sans"/>
            </a:endParaRPr>
          </a:p>
          <a:p>
            <a:pPr marL="0" lvl="0" indent="0" algn="l" rtl="0">
              <a:lnSpc>
                <a:spcPct val="100000"/>
              </a:lnSpc>
              <a:spcBef>
                <a:spcPts val="800"/>
              </a:spcBef>
              <a:spcAft>
                <a:spcPts val="800"/>
              </a:spcAft>
              <a:buNone/>
            </a:pPr>
            <a:endParaRPr sz="1350" u="sng">
              <a:solidFill>
                <a:srgbClr val="83AEFB"/>
              </a:solidFill>
              <a:latin typeface="DM Sans"/>
              <a:ea typeface="DM Sans"/>
              <a:cs typeface="DM Sans"/>
              <a:sym typeface="DM Sans"/>
            </a:endParaRPr>
          </a:p>
        </p:txBody>
      </p:sp>
      <p:sp>
        <p:nvSpPr>
          <p:cNvPr id="494" name="Google Shape;494;p63"/>
          <p:cNvSpPr/>
          <p:nvPr/>
        </p:nvSpPr>
        <p:spPr>
          <a:xfrm>
            <a:off x="636450" y="838675"/>
            <a:ext cx="8036700" cy="60600"/>
          </a:xfrm>
          <a:prstGeom prst="rect">
            <a:avLst/>
          </a:prstGeom>
          <a:solidFill>
            <a:srgbClr val="393B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ángulo 1">
            <a:extLst>
              <a:ext uri="{FF2B5EF4-FFF2-40B4-BE49-F238E27FC236}">
                <a16:creationId xmlns:a16="http://schemas.microsoft.com/office/drawing/2014/main" id="{08934111-9DF7-891F-A2FC-B3930FC7F687}"/>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64"/>
          <p:cNvSpPr txBox="1"/>
          <p:nvPr/>
        </p:nvSpPr>
        <p:spPr>
          <a:xfrm>
            <a:off x="1461300" y="2208625"/>
            <a:ext cx="6221400" cy="16392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3500"/>
              <a:buFont typeface="Arial"/>
              <a:buNone/>
            </a:pPr>
            <a:r>
              <a:rPr lang="es" sz="3500" b="1" i="0" u="none" strike="noStrike" cap="none">
                <a:solidFill>
                  <a:schemeClr val="dk1"/>
                </a:solidFill>
                <a:highlight>
                  <a:srgbClr val="EAFF6A"/>
                </a:highlight>
                <a:latin typeface="DM Sans"/>
                <a:ea typeface="DM Sans"/>
                <a:cs typeface="DM Sans"/>
                <a:sym typeface="DM Sans"/>
              </a:rPr>
              <a:t>¿Quieres saber más?</a:t>
            </a:r>
            <a:endParaRPr sz="3500" b="1" i="0" u="none" strike="noStrike" cap="none">
              <a:solidFill>
                <a:schemeClr val="dk1"/>
              </a:solidFill>
              <a:highlight>
                <a:srgbClr val="EAFF6A"/>
              </a:highlight>
              <a:latin typeface="DM Sans"/>
              <a:ea typeface="DM Sans"/>
              <a:cs typeface="DM Sans"/>
              <a:sym typeface="DM Sans"/>
            </a:endParaRPr>
          </a:p>
          <a:p>
            <a:pPr marL="0" marR="0" lvl="0" indent="0" algn="ctr" rtl="0">
              <a:lnSpc>
                <a:spcPct val="90000"/>
              </a:lnSpc>
              <a:spcBef>
                <a:spcPts val="0"/>
              </a:spcBef>
              <a:spcAft>
                <a:spcPts val="0"/>
              </a:spcAft>
              <a:buClr>
                <a:srgbClr val="000000"/>
              </a:buClr>
              <a:buSzPts val="3500"/>
              <a:buFont typeface="Arial"/>
              <a:buNone/>
            </a:pPr>
            <a:r>
              <a:rPr lang="es" sz="3500" b="1" i="0" u="none" strike="noStrike" cap="none">
                <a:solidFill>
                  <a:schemeClr val="dk1"/>
                </a:solidFill>
                <a:latin typeface="DM Sans"/>
                <a:ea typeface="DM Sans"/>
                <a:cs typeface="DM Sans"/>
                <a:sym typeface="DM Sans"/>
              </a:rPr>
              <a:t>Te dejamos material ampliado de la clase</a:t>
            </a:r>
            <a:endParaRPr sz="3500" b="1" i="0" u="none" strike="noStrike" cap="none">
              <a:solidFill>
                <a:schemeClr val="dk1"/>
              </a:solidFill>
              <a:latin typeface="DM Sans"/>
              <a:ea typeface="DM Sans"/>
              <a:cs typeface="DM Sans"/>
              <a:sym typeface="DM Sans"/>
            </a:endParaRPr>
          </a:p>
        </p:txBody>
      </p:sp>
      <p:grpSp>
        <p:nvGrpSpPr>
          <p:cNvPr id="500" name="Google Shape;500;p64"/>
          <p:cNvGrpSpPr/>
          <p:nvPr/>
        </p:nvGrpSpPr>
        <p:grpSpPr>
          <a:xfrm>
            <a:off x="4202550" y="994173"/>
            <a:ext cx="738900" cy="738900"/>
            <a:chOff x="4202550" y="994173"/>
            <a:chExt cx="738900" cy="738900"/>
          </a:xfrm>
        </p:grpSpPr>
        <p:sp>
          <p:nvSpPr>
            <p:cNvPr id="501" name="Google Shape;501;p64"/>
            <p:cNvSpPr/>
            <p:nvPr/>
          </p:nvSpPr>
          <p:spPr>
            <a:xfrm>
              <a:off x="4202550" y="99417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502" name="Google Shape;502;p64" title="ícono de material ampliado"/>
            <p:cNvPicPr preferRelativeResize="0"/>
            <p:nvPr/>
          </p:nvPicPr>
          <p:blipFill rotWithShape="1">
            <a:blip r:embed="rId3">
              <a:alphaModFix/>
            </a:blip>
            <a:srcRect/>
            <a:stretch/>
          </p:blipFill>
          <p:spPr>
            <a:xfrm>
              <a:off x="4346688" y="1138325"/>
              <a:ext cx="450600" cy="450600"/>
            </a:xfrm>
            <a:prstGeom prst="rect">
              <a:avLst/>
            </a:prstGeom>
            <a:noFill/>
            <a:ln>
              <a:noFill/>
            </a:ln>
          </p:spPr>
        </p:pic>
      </p:grpSp>
      <p:sp>
        <p:nvSpPr>
          <p:cNvPr id="2" name="Rectángulo 1">
            <a:extLst>
              <a:ext uri="{FF2B5EF4-FFF2-40B4-BE49-F238E27FC236}">
                <a16:creationId xmlns:a16="http://schemas.microsoft.com/office/drawing/2014/main" id="{7E8031BD-E3BA-9CC1-2769-37EC8EBDC177}"/>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p65"/>
          <p:cNvSpPr txBox="1"/>
          <p:nvPr/>
        </p:nvSpPr>
        <p:spPr>
          <a:xfrm>
            <a:off x="501450" y="899375"/>
            <a:ext cx="7310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Recursos multimedia</a:t>
            </a:r>
            <a:endParaRPr sz="4000" b="1" i="0" u="none" strike="noStrike" cap="none">
              <a:solidFill>
                <a:schemeClr val="dk1"/>
              </a:solidFill>
              <a:latin typeface="DM Sans"/>
              <a:ea typeface="DM Sans"/>
              <a:cs typeface="DM Sans"/>
              <a:sym typeface="DM Sans"/>
            </a:endParaRPr>
          </a:p>
        </p:txBody>
      </p:sp>
      <p:grpSp>
        <p:nvGrpSpPr>
          <p:cNvPr id="508" name="Google Shape;508;p65"/>
          <p:cNvGrpSpPr/>
          <p:nvPr/>
        </p:nvGrpSpPr>
        <p:grpSpPr>
          <a:xfrm>
            <a:off x="457358" y="468285"/>
            <a:ext cx="431074" cy="431074"/>
            <a:chOff x="4202550" y="994173"/>
            <a:chExt cx="738900" cy="738900"/>
          </a:xfrm>
        </p:grpSpPr>
        <p:sp>
          <p:nvSpPr>
            <p:cNvPr id="509" name="Google Shape;509;p65"/>
            <p:cNvSpPr/>
            <p:nvPr/>
          </p:nvSpPr>
          <p:spPr>
            <a:xfrm>
              <a:off x="4202550" y="99417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510" name="Google Shape;510;p65" title="ícono de material ampliado"/>
            <p:cNvPicPr preferRelativeResize="0"/>
            <p:nvPr/>
          </p:nvPicPr>
          <p:blipFill rotWithShape="1">
            <a:blip r:embed="rId3">
              <a:alphaModFix/>
            </a:blip>
            <a:srcRect/>
            <a:stretch/>
          </p:blipFill>
          <p:spPr>
            <a:xfrm>
              <a:off x="4346688" y="1138325"/>
              <a:ext cx="450600" cy="450600"/>
            </a:xfrm>
            <a:prstGeom prst="rect">
              <a:avLst/>
            </a:prstGeom>
            <a:noFill/>
            <a:ln>
              <a:noFill/>
            </a:ln>
          </p:spPr>
        </p:pic>
      </p:grpSp>
      <p:sp>
        <p:nvSpPr>
          <p:cNvPr id="511" name="Google Shape;511;p65"/>
          <p:cNvSpPr txBox="1"/>
          <p:nvPr/>
        </p:nvSpPr>
        <p:spPr>
          <a:xfrm>
            <a:off x="930550" y="468275"/>
            <a:ext cx="31992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 sz="1600" b="0" i="0" u="none" strike="noStrike" cap="none">
                <a:solidFill>
                  <a:schemeClr val="dk1"/>
                </a:solidFill>
                <a:latin typeface="DM Sans"/>
                <a:ea typeface="DM Sans"/>
                <a:cs typeface="DM Sans"/>
                <a:sym typeface="DM Sans"/>
              </a:rPr>
              <a:t>MATERIAL AMPLIADO</a:t>
            </a:r>
            <a:endParaRPr sz="1400" b="0" i="0" u="none" strike="noStrike" cap="none">
              <a:solidFill>
                <a:srgbClr val="000000"/>
              </a:solidFill>
              <a:latin typeface="DM Sans"/>
              <a:ea typeface="DM Sans"/>
              <a:cs typeface="DM Sans"/>
              <a:sym typeface="DM Sans"/>
            </a:endParaRPr>
          </a:p>
        </p:txBody>
      </p:sp>
      <p:sp>
        <p:nvSpPr>
          <p:cNvPr id="512" name="Google Shape;512;p65"/>
          <p:cNvSpPr txBox="1"/>
          <p:nvPr/>
        </p:nvSpPr>
        <p:spPr>
          <a:xfrm>
            <a:off x="559000" y="4675925"/>
            <a:ext cx="70563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100" b="0" i="0" u="none" strike="noStrike" cap="none">
                <a:solidFill>
                  <a:srgbClr val="999999"/>
                </a:solidFill>
                <a:latin typeface="DM Sans"/>
                <a:ea typeface="DM Sans"/>
                <a:cs typeface="DM Sans"/>
                <a:sym typeface="DM Sans"/>
              </a:rPr>
              <a:t>Disponible en nuestro repositorio.</a:t>
            </a:r>
            <a:endParaRPr sz="1100" b="0" i="1" u="sng" strike="noStrike" cap="none">
              <a:solidFill>
                <a:srgbClr val="83AEFB"/>
              </a:solidFill>
              <a:latin typeface="DM Sans"/>
              <a:ea typeface="DM Sans"/>
              <a:cs typeface="DM Sans"/>
              <a:sym typeface="DM Sans"/>
            </a:endParaRPr>
          </a:p>
        </p:txBody>
      </p:sp>
      <p:sp>
        <p:nvSpPr>
          <p:cNvPr id="513" name="Google Shape;513;p65"/>
          <p:cNvSpPr txBox="1"/>
          <p:nvPr/>
        </p:nvSpPr>
        <p:spPr>
          <a:xfrm>
            <a:off x="457350" y="1725800"/>
            <a:ext cx="3834600" cy="249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b="1" i="0" u="none" strike="noStrike" cap="none">
                <a:solidFill>
                  <a:srgbClr val="000000"/>
                </a:solidFill>
                <a:latin typeface="DM Sans"/>
                <a:ea typeface="DM Sans"/>
                <a:cs typeface="DM Sans"/>
                <a:sym typeface="DM Sans"/>
              </a:rPr>
              <a:t>Título</a:t>
            </a:r>
            <a:endParaRPr sz="1350" b="1" i="0" u="none" strike="noStrike" cap="none">
              <a:solidFill>
                <a:srgbClr val="000000"/>
              </a:solidFill>
              <a:latin typeface="DM Sans"/>
              <a:ea typeface="DM Sans"/>
              <a:cs typeface="DM Sans"/>
              <a:sym typeface="DM Sans"/>
            </a:endParaRPr>
          </a:p>
          <a:p>
            <a:pPr marL="0" marR="0" lvl="0" indent="0" algn="l" rtl="0">
              <a:lnSpc>
                <a:spcPct val="30000"/>
              </a:lnSpc>
              <a:spcBef>
                <a:spcPts val="0"/>
              </a:spcBef>
              <a:spcAft>
                <a:spcPts val="0"/>
              </a:spcAft>
              <a:buClr>
                <a:srgbClr val="000000"/>
              </a:buClr>
              <a:buSzPts val="1350"/>
              <a:buFont typeface="Arial"/>
              <a:buNone/>
            </a:pPr>
            <a:endParaRPr sz="1350" b="1" i="0" u="none" strike="noStrike" cap="none">
              <a:solidFill>
                <a:srgbClr val="000000"/>
              </a:solidFill>
              <a:latin typeface="DM Sans"/>
              <a:ea typeface="DM Sans"/>
              <a:cs typeface="DM Sans"/>
              <a:sym typeface="DM Sans"/>
            </a:endParaRPr>
          </a:p>
          <a:p>
            <a:pPr marL="457200" lvl="0" indent="-314325" algn="l" rtl="0">
              <a:lnSpc>
                <a:spcPct val="115000"/>
              </a:lnSpc>
              <a:spcBef>
                <a:spcPts val="0"/>
              </a:spcBef>
              <a:spcAft>
                <a:spcPts val="0"/>
              </a:spcAft>
              <a:buClr>
                <a:schemeClr val="accent4"/>
              </a:buClr>
              <a:buSzPts val="1350"/>
              <a:buFont typeface="DM Sans"/>
              <a:buChar char="✓"/>
            </a:pPr>
            <a:r>
              <a:rPr lang="es" sz="1350">
                <a:solidFill>
                  <a:schemeClr val="dk1"/>
                </a:solidFill>
                <a:latin typeface="DM Sans"/>
                <a:ea typeface="DM Sans"/>
                <a:cs typeface="DM Sans"/>
                <a:sym typeface="DM Sans"/>
              </a:rPr>
              <a:t>Artículo: </a:t>
            </a:r>
            <a:r>
              <a:rPr lang="es" sz="1350" u="sng">
                <a:solidFill>
                  <a:srgbClr val="0563C1"/>
                </a:solidFill>
                <a:latin typeface="DM Sans"/>
                <a:ea typeface="DM Sans"/>
                <a:cs typeface="DM Sans"/>
                <a:sym typeface="DM Sans"/>
                <a:hlinkClick r:id="rId4">
                  <a:extLst>
                    <a:ext uri="{A12FA001-AC4F-418D-AE19-62706E023703}">
                      <ahyp:hlinkClr xmlns:ahyp="http://schemas.microsoft.com/office/drawing/2018/hyperlinkcolor" val="tx"/>
                    </a:ext>
                  </a:extLst>
                </a:hlinkClick>
              </a:rPr>
              <a:t>Errores</a:t>
            </a:r>
            <a:r>
              <a:rPr lang="es" sz="1350">
                <a:solidFill>
                  <a:schemeClr val="dk1"/>
                </a:solidFill>
                <a:latin typeface="DM Sans"/>
                <a:ea typeface="DM Sans"/>
                <a:cs typeface="DM Sans"/>
                <a:sym typeface="DM Sans"/>
              </a:rPr>
              <a:t> </a:t>
            </a:r>
            <a:endParaRPr sz="1350">
              <a:solidFill>
                <a:schemeClr val="dk1"/>
              </a:solidFill>
              <a:latin typeface="DM Sans"/>
              <a:ea typeface="DM Sans"/>
              <a:cs typeface="DM Sans"/>
              <a:sym typeface="DM Sans"/>
            </a:endParaRPr>
          </a:p>
          <a:p>
            <a:pPr marL="457200" lvl="0" indent="-314325" algn="l" rtl="0">
              <a:lnSpc>
                <a:spcPct val="115000"/>
              </a:lnSpc>
              <a:spcBef>
                <a:spcPts val="1000"/>
              </a:spcBef>
              <a:spcAft>
                <a:spcPts val="0"/>
              </a:spcAft>
              <a:buClr>
                <a:schemeClr val="accent4"/>
              </a:buClr>
              <a:buSzPts val="1350"/>
              <a:buFont typeface="DM Sans"/>
              <a:buChar char="✓"/>
            </a:pPr>
            <a:r>
              <a:rPr lang="es" sz="1350">
                <a:solidFill>
                  <a:schemeClr val="dk1"/>
                </a:solidFill>
                <a:latin typeface="DM Sans"/>
                <a:ea typeface="DM Sans"/>
                <a:cs typeface="DM Sans"/>
                <a:sym typeface="DM Sans"/>
              </a:rPr>
              <a:t>Artículo: </a:t>
            </a:r>
            <a:r>
              <a:rPr lang="es" sz="1350" u="sng">
                <a:solidFill>
                  <a:srgbClr val="0563C1"/>
                </a:solidFill>
                <a:latin typeface="DM Sans"/>
                <a:ea typeface="DM Sans"/>
                <a:cs typeface="DM Sans"/>
                <a:sym typeface="DM Sans"/>
                <a:hlinkClick r:id="rId4">
                  <a:extLst>
                    <a:ext uri="{A12FA001-AC4F-418D-AE19-62706E023703}">
                      <ahyp:hlinkClr xmlns:ahyp="http://schemas.microsoft.com/office/drawing/2018/hyperlinkcolor" val="tx"/>
                    </a:ext>
                  </a:extLst>
                </a:hlinkClick>
              </a:rPr>
              <a:t>Excepciones</a:t>
            </a:r>
            <a:r>
              <a:rPr lang="es" sz="1350">
                <a:solidFill>
                  <a:schemeClr val="dk1"/>
                </a:solidFill>
                <a:latin typeface="DM Sans"/>
                <a:ea typeface="DM Sans"/>
                <a:cs typeface="DM Sans"/>
                <a:sym typeface="DM Sans"/>
              </a:rPr>
              <a:t> </a:t>
            </a:r>
            <a:endParaRPr sz="1350">
              <a:solidFill>
                <a:schemeClr val="dk1"/>
              </a:solidFill>
              <a:latin typeface="DM Sans"/>
              <a:ea typeface="DM Sans"/>
              <a:cs typeface="DM Sans"/>
              <a:sym typeface="DM Sans"/>
            </a:endParaRPr>
          </a:p>
          <a:p>
            <a:pPr marL="457200" lvl="0" indent="-314325" algn="l" rtl="0">
              <a:lnSpc>
                <a:spcPct val="115000"/>
              </a:lnSpc>
              <a:spcBef>
                <a:spcPts val="1000"/>
              </a:spcBef>
              <a:spcAft>
                <a:spcPts val="0"/>
              </a:spcAft>
              <a:buClr>
                <a:schemeClr val="accent4"/>
              </a:buClr>
              <a:buSzPts val="1350"/>
              <a:buFont typeface="DM Sans"/>
              <a:buChar char="✓"/>
            </a:pPr>
            <a:r>
              <a:rPr lang="es" sz="1350">
                <a:solidFill>
                  <a:schemeClr val="dk1"/>
                </a:solidFill>
                <a:latin typeface="DM Sans"/>
                <a:ea typeface="DM Sans"/>
                <a:cs typeface="DM Sans"/>
                <a:sym typeface="DM Sans"/>
              </a:rPr>
              <a:t>Artículo: </a:t>
            </a:r>
            <a:r>
              <a:rPr lang="es" sz="1350" u="sng">
                <a:solidFill>
                  <a:srgbClr val="0563C1"/>
                </a:solidFill>
                <a:latin typeface="DM Sans"/>
                <a:ea typeface="DM Sans"/>
                <a:cs typeface="DM Sans"/>
                <a:sym typeface="DM Sans"/>
                <a:hlinkClick r:id="rId5">
                  <a:extLst>
                    <a:ext uri="{A12FA001-AC4F-418D-AE19-62706E023703}">
                      <ahyp:hlinkClr xmlns:ahyp="http://schemas.microsoft.com/office/drawing/2018/hyperlinkcolor" val="tx"/>
                    </a:ext>
                  </a:extLst>
                </a:hlinkClick>
              </a:rPr>
              <a:t>Else</a:t>
            </a:r>
            <a:r>
              <a:rPr lang="es" sz="1350">
                <a:solidFill>
                  <a:schemeClr val="dk1"/>
                </a:solidFill>
                <a:latin typeface="DM Sans"/>
                <a:ea typeface="DM Sans"/>
                <a:cs typeface="DM Sans"/>
                <a:sym typeface="DM Sans"/>
              </a:rPr>
              <a:t>  </a:t>
            </a:r>
            <a:endParaRPr sz="1350">
              <a:solidFill>
                <a:schemeClr val="dk1"/>
              </a:solidFill>
              <a:latin typeface="DM Sans"/>
              <a:ea typeface="DM Sans"/>
              <a:cs typeface="DM Sans"/>
              <a:sym typeface="DM Sans"/>
            </a:endParaRPr>
          </a:p>
          <a:p>
            <a:pPr marL="457200" lvl="0" indent="-314325" algn="l" rtl="0">
              <a:lnSpc>
                <a:spcPct val="115000"/>
              </a:lnSpc>
              <a:spcBef>
                <a:spcPts val="1000"/>
              </a:spcBef>
              <a:spcAft>
                <a:spcPts val="0"/>
              </a:spcAft>
              <a:buClr>
                <a:schemeClr val="accent4"/>
              </a:buClr>
              <a:buSzPts val="1350"/>
              <a:buFont typeface="DM Sans"/>
              <a:buChar char="✓"/>
            </a:pPr>
            <a:r>
              <a:rPr lang="es" sz="1350">
                <a:solidFill>
                  <a:schemeClr val="dk1"/>
                </a:solidFill>
                <a:latin typeface="DM Sans"/>
                <a:ea typeface="DM Sans"/>
                <a:cs typeface="DM Sans"/>
                <a:sym typeface="DM Sans"/>
              </a:rPr>
              <a:t>Artículo: </a:t>
            </a:r>
            <a:r>
              <a:rPr lang="es" sz="1350" u="sng">
                <a:solidFill>
                  <a:srgbClr val="0563C1"/>
                </a:solidFill>
                <a:latin typeface="DM Sans"/>
                <a:ea typeface="DM Sans"/>
                <a:cs typeface="DM Sans"/>
                <a:sym typeface="DM Sans"/>
                <a:hlinkClick r:id="rId6">
                  <a:extLst>
                    <a:ext uri="{A12FA001-AC4F-418D-AE19-62706E023703}">
                      <ahyp:hlinkClr xmlns:ahyp="http://schemas.microsoft.com/office/drawing/2018/hyperlinkcolor" val="tx"/>
                    </a:ext>
                  </a:extLst>
                </a:hlinkClick>
              </a:rPr>
              <a:t>Finally</a:t>
            </a:r>
            <a:r>
              <a:rPr lang="es" sz="1350">
                <a:solidFill>
                  <a:schemeClr val="dk1"/>
                </a:solidFill>
                <a:latin typeface="DM Sans"/>
                <a:ea typeface="DM Sans"/>
                <a:cs typeface="DM Sans"/>
                <a:sym typeface="DM Sans"/>
              </a:rPr>
              <a:t> </a:t>
            </a:r>
            <a:endParaRPr sz="1350">
              <a:solidFill>
                <a:schemeClr val="dk1"/>
              </a:solidFill>
              <a:latin typeface="DM Sans"/>
              <a:ea typeface="DM Sans"/>
              <a:cs typeface="DM Sans"/>
              <a:sym typeface="DM Sans"/>
            </a:endParaRPr>
          </a:p>
          <a:p>
            <a:pPr marL="457200" lvl="0" indent="-314325" algn="l" rtl="0">
              <a:lnSpc>
                <a:spcPct val="115000"/>
              </a:lnSpc>
              <a:spcBef>
                <a:spcPts val="1000"/>
              </a:spcBef>
              <a:spcAft>
                <a:spcPts val="0"/>
              </a:spcAft>
              <a:buClr>
                <a:schemeClr val="accent4"/>
              </a:buClr>
              <a:buSzPts val="1350"/>
              <a:buFont typeface="DM Sans"/>
              <a:buChar char="✓"/>
            </a:pPr>
            <a:r>
              <a:rPr lang="es" sz="1350">
                <a:solidFill>
                  <a:schemeClr val="dk1"/>
                </a:solidFill>
                <a:latin typeface="DM Sans"/>
                <a:ea typeface="DM Sans"/>
                <a:cs typeface="DM Sans"/>
                <a:sym typeface="DM Sans"/>
              </a:rPr>
              <a:t>Artículo: </a:t>
            </a:r>
            <a:r>
              <a:rPr lang="es" sz="1350" u="sng">
                <a:solidFill>
                  <a:srgbClr val="0563C1"/>
                </a:solidFill>
                <a:latin typeface="DM Sans"/>
                <a:ea typeface="DM Sans"/>
                <a:cs typeface="DM Sans"/>
                <a:sym typeface="DM Sans"/>
                <a:hlinkClick r:id="rId7">
                  <a:extLst>
                    <a:ext uri="{A12FA001-AC4F-418D-AE19-62706E023703}">
                      <ahyp:hlinkClr xmlns:ahyp="http://schemas.microsoft.com/office/drawing/2018/hyperlinkcolor" val="tx"/>
                    </a:ext>
                  </a:extLst>
                </a:hlinkClick>
              </a:rPr>
              <a:t>Excepciones integradas</a:t>
            </a:r>
            <a:endParaRPr sz="1350">
              <a:solidFill>
                <a:schemeClr val="dk1"/>
              </a:solidFill>
              <a:latin typeface="DM Sans"/>
              <a:ea typeface="DM Sans"/>
              <a:cs typeface="DM Sans"/>
              <a:sym typeface="DM Sans"/>
            </a:endParaRPr>
          </a:p>
          <a:p>
            <a:pPr marL="457200" lvl="0" indent="-314325" algn="l" rtl="0">
              <a:lnSpc>
                <a:spcPct val="115000"/>
              </a:lnSpc>
              <a:spcBef>
                <a:spcPts val="1000"/>
              </a:spcBef>
              <a:spcAft>
                <a:spcPts val="1000"/>
              </a:spcAft>
              <a:buClr>
                <a:schemeClr val="accent4"/>
              </a:buClr>
              <a:buSzPts val="1350"/>
              <a:buFont typeface="DM Sans"/>
              <a:buChar char="✓"/>
            </a:pPr>
            <a:r>
              <a:rPr lang="es" sz="1350" u="sng">
                <a:solidFill>
                  <a:srgbClr val="0563C1"/>
                </a:solidFill>
                <a:latin typeface="DM Sans"/>
                <a:ea typeface="DM Sans"/>
                <a:cs typeface="DM Sans"/>
                <a:sym typeface="DM Sans"/>
                <a:hlinkClick r:id="rId8">
                  <a:extLst>
                    <a:ext uri="{A12FA001-AC4F-418D-AE19-62706E023703}">
                      <ahyp:hlinkClr xmlns:ahyp="http://schemas.microsoft.com/office/drawing/2018/hyperlinkcolor" val="tx"/>
                    </a:ext>
                  </a:extLst>
                </a:hlinkClick>
              </a:rPr>
              <a:t>Repaso Ejercicios</a:t>
            </a:r>
            <a:r>
              <a:rPr lang="es" sz="1350">
                <a:solidFill>
                  <a:schemeClr val="dk1"/>
                </a:solidFill>
                <a:latin typeface="DM Sans"/>
                <a:ea typeface="DM Sans"/>
                <a:cs typeface="DM Sans"/>
                <a:sym typeface="DM Sans"/>
              </a:rPr>
              <a:t> </a:t>
            </a:r>
            <a:endParaRPr sz="1350" u="sng">
              <a:solidFill>
                <a:srgbClr val="83AEFB"/>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977F75FC-EEC4-BEED-50B3-1804A5FC1305}"/>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66"/>
          <p:cNvSpPr txBox="1"/>
          <p:nvPr/>
        </p:nvSpPr>
        <p:spPr>
          <a:xfrm>
            <a:off x="1461300" y="2202300"/>
            <a:ext cx="62214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rgbClr val="EAFF6A"/>
                </a:solidFill>
                <a:latin typeface="DM Sans"/>
                <a:ea typeface="DM Sans"/>
                <a:cs typeface="DM Sans"/>
                <a:sym typeface="DM Sans"/>
              </a:rPr>
              <a:t>¿Preguntas?</a:t>
            </a:r>
            <a:endParaRPr sz="4000" b="1" i="0" u="none" strike="noStrike" cap="none">
              <a:solidFill>
                <a:srgbClr val="EAFF6A"/>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642869E9-9897-0D56-7B3E-232D15AEA16E}"/>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67"/>
          <p:cNvSpPr txBox="1"/>
          <p:nvPr/>
        </p:nvSpPr>
        <p:spPr>
          <a:xfrm>
            <a:off x="1339500" y="693075"/>
            <a:ext cx="6465000" cy="1088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4000"/>
              <a:buFont typeface="Arial"/>
              <a:buNone/>
            </a:pPr>
            <a:r>
              <a:rPr lang="es" sz="4000" b="1" i="0" u="none" strike="noStrike" cap="none">
                <a:solidFill>
                  <a:srgbClr val="EAFF6A"/>
                </a:solidFill>
                <a:latin typeface="Helvetica Neue"/>
                <a:ea typeface="Helvetica Neue"/>
                <a:cs typeface="Helvetica Neue"/>
                <a:sym typeface="Helvetica Neue"/>
              </a:rPr>
              <a:t>Resumen</a:t>
            </a:r>
            <a:r>
              <a:rPr lang="es" sz="4000" b="1" i="0" u="none" strike="noStrike" cap="none">
                <a:solidFill>
                  <a:srgbClr val="DEFC52"/>
                </a:solidFill>
                <a:latin typeface="Helvetica Neue"/>
                <a:ea typeface="Helvetica Neue"/>
                <a:cs typeface="Helvetica Neue"/>
                <a:sym typeface="Helvetica Neue"/>
              </a:rPr>
              <a:t> </a:t>
            </a:r>
            <a:endParaRPr sz="4000" b="1" i="0" u="none" strike="noStrike" cap="none">
              <a:solidFill>
                <a:srgbClr val="DEFC52"/>
              </a:solidFill>
              <a:latin typeface="Helvetica Neue"/>
              <a:ea typeface="Helvetica Neue"/>
              <a:cs typeface="Helvetica Neue"/>
              <a:sym typeface="Helvetica Neue"/>
            </a:endParaRPr>
          </a:p>
          <a:p>
            <a:pPr marL="0" marR="0" lvl="0" indent="0" algn="ctr" rtl="0">
              <a:lnSpc>
                <a:spcPct val="100000"/>
              </a:lnSpc>
              <a:spcBef>
                <a:spcPts val="0"/>
              </a:spcBef>
              <a:spcAft>
                <a:spcPts val="0"/>
              </a:spcAft>
              <a:buClr>
                <a:srgbClr val="000000"/>
              </a:buClr>
              <a:buSzPts val="4000"/>
              <a:buFont typeface="Arial"/>
              <a:buNone/>
            </a:pPr>
            <a:r>
              <a:rPr lang="es" sz="4000" b="1" i="0" u="none" strike="noStrike" cap="none">
                <a:solidFill>
                  <a:schemeClr val="lt1"/>
                </a:solidFill>
                <a:latin typeface="Helvetica Neue"/>
                <a:ea typeface="Helvetica Neue"/>
                <a:cs typeface="Helvetica Neue"/>
                <a:sym typeface="Helvetica Neue"/>
              </a:rPr>
              <a:t>de la clase hoy</a:t>
            </a:r>
            <a:endParaRPr sz="4000" b="0" i="0" u="none" strike="noStrike" cap="none">
              <a:solidFill>
                <a:schemeClr val="lt1"/>
              </a:solidFill>
              <a:latin typeface="Helvetica Neue Light"/>
              <a:ea typeface="Helvetica Neue Light"/>
              <a:cs typeface="Helvetica Neue Light"/>
              <a:sym typeface="Helvetica Neue Light"/>
            </a:endParaRPr>
          </a:p>
        </p:txBody>
      </p:sp>
      <p:sp>
        <p:nvSpPr>
          <p:cNvPr id="524" name="Google Shape;524;p67"/>
          <p:cNvSpPr txBox="1"/>
          <p:nvPr/>
        </p:nvSpPr>
        <p:spPr>
          <a:xfrm>
            <a:off x="2109143" y="2502363"/>
            <a:ext cx="4925700" cy="1064700"/>
          </a:xfrm>
          <a:prstGeom prst="rect">
            <a:avLst/>
          </a:prstGeom>
          <a:noFill/>
          <a:ln>
            <a:noFill/>
          </a:ln>
        </p:spPr>
        <p:txBody>
          <a:bodyPr spcFirstLastPara="1" wrap="square" lIns="91425" tIns="91425" rIns="91425" bIns="91425" anchor="t" anchorCtr="0">
            <a:spAutoFit/>
          </a:bodyPr>
          <a:lstStyle/>
          <a:p>
            <a:pPr marL="457200" marR="0" lvl="0" indent="-314325" algn="l" rtl="0">
              <a:lnSpc>
                <a:spcPct val="100000"/>
              </a:lnSpc>
              <a:spcBef>
                <a:spcPts val="1000"/>
              </a:spcBef>
              <a:spcAft>
                <a:spcPts val="0"/>
              </a:spcAft>
              <a:buClr>
                <a:srgbClr val="EAFF6A"/>
              </a:buClr>
              <a:buSzPts val="1350"/>
              <a:buFont typeface="DM Sans"/>
              <a:buChar char="✓"/>
            </a:pPr>
            <a:r>
              <a:rPr lang="es" sz="1350">
                <a:solidFill>
                  <a:schemeClr val="lt1"/>
                </a:solidFill>
                <a:latin typeface="DM Sans"/>
                <a:ea typeface="DM Sans"/>
                <a:cs typeface="DM Sans"/>
                <a:sym typeface="DM Sans"/>
              </a:rPr>
              <a:t>Errores</a:t>
            </a:r>
            <a:endParaRPr sz="1350">
              <a:solidFill>
                <a:schemeClr val="lt1"/>
              </a:solidFill>
              <a:latin typeface="DM Sans"/>
              <a:ea typeface="DM Sans"/>
              <a:cs typeface="DM Sans"/>
              <a:sym typeface="DM Sans"/>
            </a:endParaRPr>
          </a:p>
          <a:p>
            <a:pPr marL="457200" marR="0" lvl="0" indent="-314325" algn="l" rtl="0">
              <a:lnSpc>
                <a:spcPct val="100000"/>
              </a:lnSpc>
              <a:spcBef>
                <a:spcPts val="1000"/>
              </a:spcBef>
              <a:spcAft>
                <a:spcPts val="0"/>
              </a:spcAft>
              <a:buClr>
                <a:srgbClr val="EAFF6A"/>
              </a:buClr>
              <a:buSzPts val="1350"/>
              <a:buFont typeface="DM Sans"/>
              <a:buChar char="✓"/>
            </a:pPr>
            <a:r>
              <a:rPr lang="es" sz="1350">
                <a:solidFill>
                  <a:schemeClr val="lt1"/>
                </a:solidFill>
                <a:latin typeface="DM Sans"/>
                <a:ea typeface="DM Sans"/>
                <a:cs typeface="DM Sans"/>
                <a:sym typeface="DM Sans"/>
              </a:rPr>
              <a:t>Excepciones</a:t>
            </a:r>
            <a:endParaRPr sz="1350">
              <a:solidFill>
                <a:schemeClr val="lt1"/>
              </a:solidFill>
              <a:latin typeface="DM Sans"/>
              <a:ea typeface="DM Sans"/>
              <a:cs typeface="DM Sans"/>
              <a:sym typeface="DM Sans"/>
            </a:endParaRPr>
          </a:p>
          <a:p>
            <a:pPr marL="457200" marR="0" lvl="0" indent="-314325" algn="l" rtl="0">
              <a:lnSpc>
                <a:spcPct val="100000"/>
              </a:lnSpc>
              <a:spcBef>
                <a:spcPts val="1000"/>
              </a:spcBef>
              <a:spcAft>
                <a:spcPts val="1000"/>
              </a:spcAft>
              <a:buClr>
                <a:srgbClr val="EAFF6A"/>
              </a:buClr>
              <a:buSzPts val="1350"/>
              <a:buFont typeface="DM Sans"/>
              <a:buChar char="✓"/>
            </a:pPr>
            <a:r>
              <a:rPr lang="es" sz="1350">
                <a:solidFill>
                  <a:schemeClr val="lt1"/>
                </a:solidFill>
                <a:latin typeface="DM Sans"/>
                <a:ea typeface="DM Sans"/>
                <a:cs typeface="DM Sans"/>
                <a:sym typeface="DM Sans"/>
              </a:rPr>
              <a:t>Excepciones Múltiples</a:t>
            </a:r>
            <a:endParaRPr sz="1350">
              <a:solidFill>
                <a:schemeClr val="lt1"/>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4011637C-127B-A813-3297-5100EAC9D719}"/>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p68"/>
          <p:cNvSpPr txBox="1"/>
          <p:nvPr/>
        </p:nvSpPr>
        <p:spPr>
          <a:xfrm>
            <a:off x="1461300" y="1925250"/>
            <a:ext cx="6221400" cy="12930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rgbClr val="EAFF6A"/>
                </a:solidFill>
                <a:latin typeface="DM Sans"/>
                <a:ea typeface="DM Sans"/>
                <a:cs typeface="DM Sans"/>
                <a:sym typeface="DM Sans"/>
              </a:rPr>
              <a:t>Opina y valora</a:t>
            </a:r>
            <a:r>
              <a:rPr lang="es" sz="4000" b="1" i="0" u="none" strike="noStrike" cap="none">
                <a:solidFill>
                  <a:srgbClr val="DEFC52"/>
                </a:solidFill>
                <a:latin typeface="DM Sans"/>
                <a:ea typeface="DM Sans"/>
                <a:cs typeface="DM Sans"/>
                <a:sym typeface="DM Sans"/>
              </a:rPr>
              <a:t> </a:t>
            </a:r>
            <a:endParaRPr sz="4000" b="1" i="0" u="none" strike="noStrike" cap="none">
              <a:solidFill>
                <a:srgbClr val="DEFC52"/>
              </a:solidFill>
              <a:latin typeface="DM Sans"/>
              <a:ea typeface="DM Sans"/>
              <a:cs typeface="DM Sans"/>
              <a:sym typeface="DM Sans"/>
            </a:endParaRPr>
          </a:p>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chemeClr val="lt1"/>
                </a:solidFill>
                <a:latin typeface="DM Sans"/>
                <a:ea typeface="DM Sans"/>
                <a:cs typeface="DM Sans"/>
                <a:sym typeface="DM Sans"/>
              </a:rPr>
              <a:t>esta clase</a:t>
            </a:r>
            <a:endParaRPr sz="4000" b="1" i="0" u="none" strike="noStrike" cap="none">
              <a:solidFill>
                <a:schemeClr val="lt1"/>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37C96611-E838-4724-8A6F-3E1380C1E6C2}"/>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69"/>
          <p:cNvSpPr txBox="1"/>
          <p:nvPr/>
        </p:nvSpPr>
        <p:spPr>
          <a:xfrm>
            <a:off x="2382900" y="2171550"/>
            <a:ext cx="4378200" cy="800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s" sz="4000" b="1" i="0" u="none" strike="noStrike" cap="none">
                <a:solidFill>
                  <a:srgbClr val="FFFFFF"/>
                </a:solidFill>
                <a:latin typeface="DM Sans"/>
                <a:ea typeface="DM Sans"/>
                <a:cs typeface="DM Sans"/>
                <a:sym typeface="DM Sans"/>
              </a:rPr>
              <a:t>Muchas gracias</a:t>
            </a:r>
            <a:r>
              <a:rPr lang="es" sz="4000" b="1" i="0" u="none" strike="noStrike" cap="none">
                <a:solidFill>
                  <a:srgbClr val="EAFF6A"/>
                </a:solidFill>
                <a:latin typeface="DM Sans"/>
                <a:ea typeface="DM Sans"/>
                <a:cs typeface="DM Sans"/>
                <a:sym typeface="DM Sans"/>
              </a:rPr>
              <a:t>.</a:t>
            </a:r>
            <a:endParaRPr sz="4000" b="0" i="0" u="none" strike="noStrike" cap="none">
              <a:solidFill>
                <a:srgbClr val="EAFF6A"/>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EAD82404-7E67-7625-305D-00F3B8BE8F69}"/>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
        <p:nvSpPr>
          <p:cNvPr id="3" name="Rectángulo 2">
            <a:extLst>
              <a:ext uri="{FF2B5EF4-FFF2-40B4-BE49-F238E27FC236}">
                <a16:creationId xmlns:a16="http://schemas.microsoft.com/office/drawing/2014/main" id="{24513947-B413-22BD-40D0-FCA1AE7CCD77}"/>
              </a:ext>
            </a:extLst>
          </p:cNvPr>
          <p:cNvSpPr/>
          <p:nvPr/>
        </p:nvSpPr>
        <p:spPr>
          <a:xfrm>
            <a:off x="0" y="155683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
        <p:nvSpPr>
          <p:cNvPr id="4" name="Rectángulo 3">
            <a:extLst>
              <a:ext uri="{FF2B5EF4-FFF2-40B4-BE49-F238E27FC236}">
                <a16:creationId xmlns:a16="http://schemas.microsoft.com/office/drawing/2014/main" id="{526B8342-0B66-7F98-9CC1-C6FF5475BF94}"/>
              </a:ext>
            </a:extLst>
          </p:cNvPr>
          <p:cNvSpPr/>
          <p:nvPr/>
        </p:nvSpPr>
        <p:spPr>
          <a:xfrm>
            <a:off x="0" y="2971950"/>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AR"/>
          </a:p>
        </p:txBody>
      </p:sp>
    </p:spTree>
  </p:cSld>
  <p:clrMapOvr>
    <a:masterClrMapping/>
  </p:clrMapOvr>
</p:sld>
</file>

<file path=ppt/theme/theme1.xml><?xml version="1.0" encoding="utf-8"?>
<a:theme xmlns:a="http://schemas.openxmlformats.org/drawingml/2006/main" name="Coder">
  <a:themeElements>
    <a:clrScheme name="Simple Light">
      <a:dk1>
        <a:srgbClr val="000000"/>
      </a:dk1>
      <a:lt1>
        <a:srgbClr val="FFFFFF"/>
      </a:lt1>
      <a:dk2>
        <a:srgbClr val="595959"/>
      </a:dk2>
      <a:lt2>
        <a:srgbClr val="EEEEEE"/>
      </a:lt2>
      <a:accent1>
        <a:srgbClr val="9DF4E2"/>
      </a:accent1>
      <a:accent2>
        <a:srgbClr val="212121"/>
      </a:accent2>
      <a:accent3>
        <a:srgbClr val="78909C"/>
      </a:accent3>
      <a:accent4>
        <a:srgbClr val="EA90FF"/>
      </a:accent4>
      <a:accent5>
        <a:srgbClr val="83AEFB"/>
      </a:accent5>
      <a:accent6>
        <a:srgbClr val="EAFF6A"/>
      </a:accent6>
      <a:hlink>
        <a:srgbClr val="83AEF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2731</Words>
  <Application>Microsoft Office PowerPoint</Application>
  <PresentationFormat>Presentación en pantalla (16:9)</PresentationFormat>
  <Paragraphs>299</Paragraphs>
  <Slides>53</Slides>
  <Notes>53</Notes>
  <HiddenSlides>2</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53</vt:i4>
      </vt:variant>
    </vt:vector>
  </HeadingPairs>
  <TitlesOfParts>
    <vt:vector size="59" baseType="lpstr">
      <vt:lpstr>DM Sans</vt:lpstr>
      <vt:lpstr>Arial</vt:lpstr>
      <vt:lpstr>Helvetica Neue</vt:lpstr>
      <vt:lpstr>Helvetica Neue Light</vt:lpstr>
      <vt:lpstr>Roboto Mono</vt:lpstr>
      <vt:lpstr>Coder</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Emanuel Tevez</cp:lastModifiedBy>
  <cp:revision>1</cp:revision>
  <dcterms:modified xsi:type="dcterms:W3CDTF">2025-10-02T18:56:36Z</dcterms:modified>
</cp:coreProperties>
</file>