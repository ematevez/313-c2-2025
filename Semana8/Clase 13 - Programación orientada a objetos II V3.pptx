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 id="2147483673" r:id="rId2"/>
  </p:sldMasterIdLst>
  <p:notesMasterIdLst>
    <p:notesMasterId r:id="rId61"/>
  </p:notesMasterIdLst>
  <p:sldIdLst>
    <p:sldId id="257" r:id="rId3"/>
    <p:sldId id="259"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Lst>
  <p:sldSz cx="9144000" cy="5143500" type="screen16x9"/>
  <p:notesSz cx="6858000" cy="9144000"/>
  <p:embeddedFontLst>
    <p:embeddedFont>
      <p:font typeface="DM Sans" pitchFamily="2" charset="0"/>
      <p:regular r:id="rId62"/>
      <p:bold r:id="rId63"/>
      <p:italic r:id="rId64"/>
      <p:boldItalic r:id="rId65"/>
    </p:embeddedFont>
    <p:embeddedFont>
      <p:font typeface="Helvetica Neue" panose="020B0604020202020204" charset="0"/>
      <p:regular r:id="rId66"/>
      <p:bold r:id="rId67"/>
      <p:italic r:id="rId68"/>
      <p:boldItalic r:id="rId69"/>
    </p:embeddedFont>
    <p:embeddedFont>
      <p:font typeface="Helvetica Neue Light" panose="020B0604020202020204" charset="0"/>
      <p:regular r:id="rId70"/>
      <p:bold r:id="rId71"/>
      <p:italic r:id="rId72"/>
      <p:boldItalic r:id="rId73"/>
    </p:embeddedFont>
    <p:embeddedFont>
      <p:font typeface="Roboto Mono" panose="00000009000000000000" pitchFamily="49" charset="0"/>
      <p:regular r:id="rId74"/>
      <p:bold r:id="rId75"/>
      <p:italic r:id="rId76"/>
      <p:boldItalic r:id="rId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95">
          <p15:clr>
            <a:srgbClr val="A4A3A4"/>
          </p15:clr>
        </p15:guide>
        <p15:guide id="2" pos="5460">
          <p15:clr>
            <a:srgbClr val="A4A3A4"/>
          </p15:clr>
        </p15:guide>
        <p15:guide id="3" pos="300">
          <p15:clr>
            <a:srgbClr val="9AA0A6"/>
          </p15:clr>
        </p15:guide>
        <p15:guide id="4" orient="horz" pos="289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726" y="90"/>
      </p:cViewPr>
      <p:guideLst>
        <p:guide orient="horz" pos="295"/>
        <p:guide pos="5460"/>
        <p:guide pos="300"/>
        <p:guide orient="horz" pos="289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2.fntdata"/><Relationship Id="rId68" Type="http://schemas.openxmlformats.org/officeDocument/2006/relationships/font" Target="fonts/font7.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13.fntdata"/><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3.fntdata"/><Relationship Id="rId69" Type="http://schemas.openxmlformats.org/officeDocument/2006/relationships/font" Target="fonts/font8.fntdata"/><Relationship Id="rId77" Type="http://schemas.openxmlformats.org/officeDocument/2006/relationships/font" Target="fonts/font16.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1.fntdata"/><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15.fntdata"/><Relationship Id="rId7" Type="http://schemas.openxmlformats.org/officeDocument/2006/relationships/slide" Target="slides/slide5.xml"/><Relationship Id="rId71" Type="http://schemas.openxmlformats.org/officeDocument/2006/relationships/font" Target="fonts/font10.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drive.google.com/file/d/1xeJ3vjTLUjQJia1NVjWnCfNZZWcnbnS2/view?usp=sharing"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drive.google.com/file/d/1xeJ3vjTLUjQJia1NVjWnCfNZZWcnbnS2/view?usp=sharing"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drive.google.com/file/d/1xeJ3vjTLUjQJia1NVjWnCfNZZWcnbnS2/view?usp=sharing"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b="1">
              <a:solidFill>
                <a:schemeClr val="dk1"/>
              </a:solidFill>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455cb74911_1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1455cb74911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 name="Google Shape;27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8" name="Google Shape;298;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8" name="Google Shape;308;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7" name="Google Shape;327;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3" name="Google Shape;333;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8" name="Google Shape;338;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Profesor/a: compartir pantalla mostrando el ejemplo</a:t>
            </a:r>
            <a:endParaRPr>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Profesor/a: compartir pantalla mostrando el ejemplo</a:t>
            </a:r>
            <a:endParaRPr>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5" name="Google Shape;355;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Profesor/a: compartir pantalla mostrando el ejemplo</a:t>
            </a:r>
            <a:endParaRPr>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Profesor/a: compartir pantalla mostrando el ejemplo</a:t>
            </a:r>
            <a:endParaRPr>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3" name="Google Shape;373;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Profesor/a: compartir pantalla mostrando el ejemplo</a:t>
            </a:r>
            <a:endParaRPr>
              <a:latin typeface="DM Sans"/>
              <a:ea typeface="DM Sans"/>
              <a:cs typeface="DM Sans"/>
              <a:sym typeface="DM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2" name="Google Shape;38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Profesor/a: compartir pantalla mostrando el ejemplo</a:t>
            </a:r>
            <a:endParaRPr>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1" name="Google Shape;39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Profesor/a: compartir pantalla mostrando el ejemplo</a:t>
            </a:r>
            <a:endParaRPr>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0" name="Google Shape;400;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Profesor/a: compartir pantalla mostrando el ejemplo</a:t>
            </a:r>
            <a:endParaRPr>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9" name="Google Shape;409;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8" name="Google Shape;418;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Profesor/a: compartir pantalla mostrando el ejemplo</a:t>
            </a:r>
            <a:endParaRPr>
              <a:latin typeface="DM Sans"/>
              <a:ea typeface="DM Sans"/>
              <a:cs typeface="DM Sans"/>
              <a:sym typeface="DM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8" name="Google Shape;428;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9" name="Google Shape;439;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Profesor/a: compartir pantalla mostrando el ejemplo</a:t>
            </a:r>
            <a:endParaRPr>
              <a:latin typeface="DM Sans"/>
              <a:ea typeface="DM Sans"/>
              <a:cs typeface="DM Sans"/>
              <a:sym typeface="DM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Profesor/a: compartir pantalla mostrando el ejemplo</a:t>
            </a:r>
            <a:endParaRPr>
              <a:latin typeface="DM Sans"/>
              <a:ea typeface="DM Sans"/>
              <a:cs typeface="DM Sans"/>
              <a:sym typeface="DM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1" name="Google Shape;461;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“Para pensar”</a:t>
            </a:r>
            <a:endParaRPr b="1">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¿Cómo crear encuestas de zoom? Disponible en </a:t>
            </a:r>
            <a:r>
              <a:rPr lang="es" u="sng">
                <a:solidFill>
                  <a:schemeClr val="hlink"/>
                </a:solidFill>
                <a:latin typeface="DM Sans"/>
                <a:ea typeface="DM Sans"/>
                <a:cs typeface="DM Sans"/>
                <a:sym typeface="DM Sans"/>
                <a:hlinkClick r:id="rId3"/>
              </a:rPr>
              <a:t>este video.</a:t>
            </a:r>
            <a:endParaRPr b="1">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El docente generará </a:t>
            </a:r>
            <a:r>
              <a:rPr lang="es" u="sng">
                <a:solidFill>
                  <a:schemeClr val="dk1"/>
                </a:solidFill>
                <a:latin typeface="DM Sans"/>
                <a:ea typeface="DM Sans"/>
                <a:cs typeface="DM Sans"/>
                <a:sym typeface="DM Sans"/>
              </a:rPr>
              <a:t>una encuesta de zoom</a:t>
            </a:r>
            <a:r>
              <a:rPr lang="es">
                <a:solidFill>
                  <a:schemeClr val="dk1"/>
                </a:solidFill>
                <a:latin typeface="DM Sans"/>
                <a:ea typeface="DM Sans"/>
                <a:cs typeface="DM Sans"/>
                <a:sym typeface="DM Sans"/>
              </a:rPr>
              <a:t> para que los estudiantes respondan. Esto es una actividad de comprobación.</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Sugerimos:</a:t>
            </a:r>
            <a:endParaRPr>
              <a:solidFill>
                <a:schemeClr val="dk1"/>
              </a:solidFill>
              <a:latin typeface="DM Sans"/>
              <a:ea typeface="DM Sans"/>
              <a:cs typeface="DM Sans"/>
              <a:sym typeface="DM Sans"/>
            </a:endParaRPr>
          </a:p>
          <a:p>
            <a:pPr marL="457200" lvl="0" indent="-298450" algn="l" rtl="0">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Utilizarlo antes del break para que los estudiantes puedan votar en la encuesta antes de ir al mismo.</a:t>
            </a:r>
            <a:endParaRPr>
              <a:solidFill>
                <a:schemeClr val="dk1"/>
              </a:solidFill>
              <a:latin typeface="DM Sans"/>
              <a:ea typeface="DM Sans"/>
              <a:cs typeface="DM Sans"/>
              <a:sym typeface="DM Sans"/>
            </a:endParaRPr>
          </a:p>
          <a:p>
            <a:pPr marL="457200" lvl="0" indent="-298450" algn="l" rtl="0">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Al regresar, mostrar los resultados a los estudiantes.</a:t>
            </a:r>
            <a:endParaRPr>
              <a:solidFill>
                <a:schemeClr val="dk1"/>
              </a:solidFill>
              <a:latin typeface="DM Sans"/>
              <a:ea typeface="DM Sans"/>
              <a:cs typeface="DM Sans"/>
              <a:sym typeface="DM Sans"/>
            </a:endParaRPr>
          </a:p>
          <a:p>
            <a:pPr marL="457200" lvl="0" indent="-298450" algn="l" rtl="0">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Si hay buena respuesta de este recurso, se recomienda utilizarlo de forma orgánica en más instancias de la clase.</a:t>
            </a:r>
            <a:endParaRPr>
              <a:latin typeface="DM Sans"/>
              <a:ea typeface="DM Sans"/>
              <a:cs typeface="DM Sans"/>
              <a:sym typeface="DM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1" name="Google Shape;471;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3" name="Google Shape;483;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0" name="Google Shape;490;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7" name="Google Shape;497;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6" name="Google Shape;506;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“Para pensar”</a:t>
            </a:r>
            <a:endParaRPr b="1">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¿Cómo crear encuestas de zoom? Disponible en </a:t>
            </a:r>
            <a:r>
              <a:rPr lang="es" u="sng">
                <a:solidFill>
                  <a:schemeClr val="hlink"/>
                </a:solidFill>
                <a:latin typeface="DM Sans"/>
                <a:ea typeface="DM Sans"/>
                <a:cs typeface="DM Sans"/>
                <a:sym typeface="DM Sans"/>
                <a:hlinkClick r:id="rId3"/>
              </a:rPr>
              <a:t>este video.</a:t>
            </a:r>
            <a:endParaRPr b="1">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El docente generará </a:t>
            </a:r>
            <a:r>
              <a:rPr lang="es" u="sng">
                <a:solidFill>
                  <a:schemeClr val="dk1"/>
                </a:solidFill>
                <a:latin typeface="DM Sans"/>
                <a:ea typeface="DM Sans"/>
                <a:cs typeface="DM Sans"/>
                <a:sym typeface="DM Sans"/>
              </a:rPr>
              <a:t>una encuesta de zoom</a:t>
            </a:r>
            <a:r>
              <a:rPr lang="es">
                <a:solidFill>
                  <a:schemeClr val="dk1"/>
                </a:solidFill>
                <a:latin typeface="DM Sans"/>
                <a:ea typeface="DM Sans"/>
                <a:cs typeface="DM Sans"/>
                <a:sym typeface="DM Sans"/>
              </a:rPr>
              <a:t> para que los estudiantes respondan. Esto es una actividad de comprobación.</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Sugerimos:</a:t>
            </a:r>
            <a:endParaRPr>
              <a:solidFill>
                <a:schemeClr val="dk1"/>
              </a:solidFill>
              <a:latin typeface="DM Sans"/>
              <a:ea typeface="DM Sans"/>
              <a:cs typeface="DM Sans"/>
              <a:sym typeface="DM Sans"/>
            </a:endParaRPr>
          </a:p>
          <a:p>
            <a:pPr marL="457200" lvl="0" indent="-298450" algn="l" rtl="0">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Utilizarlo antes del break para que los estudiantes puedan votar en la encuesta antes de ir al mismo.</a:t>
            </a:r>
            <a:endParaRPr>
              <a:solidFill>
                <a:schemeClr val="dk1"/>
              </a:solidFill>
              <a:latin typeface="DM Sans"/>
              <a:ea typeface="DM Sans"/>
              <a:cs typeface="DM Sans"/>
              <a:sym typeface="DM Sans"/>
            </a:endParaRPr>
          </a:p>
          <a:p>
            <a:pPr marL="457200" lvl="0" indent="-298450" algn="l" rtl="0">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Al regresar, mostrar los resultados a los estudiantes.</a:t>
            </a:r>
            <a:endParaRPr>
              <a:solidFill>
                <a:schemeClr val="dk1"/>
              </a:solidFill>
              <a:latin typeface="DM Sans"/>
              <a:ea typeface="DM Sans"/>
              <a:cs typeface="DM Sans"/>
              <a:sym typeface="DM Sans"/>
            </a:endParaRPr>
          </a:p>
          <a:p>
            <a:pPr marL="457200" lvl="0" indent="-298450" algn="l" rtl="0">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Si hay buena respuesta de este recurso, se recomienda utilizarlo de forma orgánica en más instancias de la clase.</a:t>
            </a:r>
            <a:endParaRPr>
              <a:latin typeface="DM Sans"/>
              <a:ea typeface="DM Sans"/>
              <a:cs typeface="DM Sans"/>
              <a:sym typeface="DM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7" name="Google Shape;517;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“Para pensar”</a:t>
            </a:r>
            <a:endParaRPr b="1">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¿Cómo crear encuestas de zoom? Disponible en </a:t>
            </a:r>
            <a:r>
              <a:rPr lang="es" u="sng">
                <a:solidFill>
                  <a:schemeClr val="hlink"/>
                </a:solidFill>
                <a:latin typeface="DM Sans"/>
                <a:ea typeface="DM Sans"/>
                <a:cs typeface="DM Sans"/>
                <a:sym typeface="DM Sans"/>
                <a:hlinkClick r:id="rId3"/>
              </a:rPr>
              <a:t>este video.</a:t>
            </a:r>
            <a:endParaRPr b="1">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El docente generará </a:t>
            </a:r>
            <a:r>
              <a:rPr lang="es" u="sng">
                <a:solidFill>
                  <a:schemeClr val="dk1"/>
                </a:solidFill>
                <a:latin typeface="DM Sans"/>
                <a:ea typeface="DM Sans"/>
                <a:cs typeface="DM Sans"/>
                <a:sym typeface="DM Sans"/>
              </a:rPr>
              <a:t>una encuesta de zoom</a:t>
            </a:r>
            <a:r>
              <a:rPr lang="es">
                <a:solidFill>
                  <a:schemeClr val="dk1"/>
                </a:solidFill>
                <a:latin typeface="DM Sans"/>
                <a:ea typeface="DM Sans"/>
                <a:cs typeface="DM Sans"/>
                <a:sym typeface="DM Sans"/>
              </a:rPr>
              <a:t> para que los estudiantes respondan. Esto es una actividad de comprobación.</a:t>
            </a:r>
            <a:endParaRPr>
              <a:solidFill>
                <a:schemeClr val="dk1"/>
              </a:solidFill>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Sugerimos:</a:t>
            </a:r>
            <a:endParaRPr>
              <a:solidFill>
                <a:schemeClr val="dk1"/>
              </a:solidFill>
              <a:latin typeface="DM Sans"/>
              <a:ea typeface="DM Sans"/>
              <a:cs typeface="DM Sans"/>
              <a:sym typeface="DM Sans"/>
            </a:endParaRPr>
          </a:p>
          <a:p>
            <a:pPr marL="457200" lvl="0" indent="-298450" algn="l" rtl="0">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Utilizarlo antes del break para que los estudiantes puedan votar en la encuesta antes de ir al mismo.</a:t>
            </a:r>
            <a:endParaRPr>
              <a:solidFill>
                <a:schemeClr val="dk1"/>
              </a:solidFill>
              <a:latin typeface="DM Sans"/>
              <a:ea typeface="DM Sans"/>
              <a:cs typeface="DM Sans"/>
              <a:sym typeface="DM Sans"/>
            </a:endParaRPr>
          </a:p>
          <a:p>
            <a:pPr marL="457200" lvl="0" indent="-298450" algn="l" rtl="0">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Al regresar, mostrar los resultados a los estudiantes.</a:t>
            </a:r>
            <a:endParaRPr>
              <a:solidFill>
                <a:schemeClr val="dk1"/>
              </a:solidFill>
              <a:latin typeface="DM Sans"/>
              <a:ea typeface="DM Sans"/>
              <a:cs typeface="DM Sans"/>
              <a:sym typeface="DM Sans"/>
            </a:endParaRPr>
          </a:p>
          <a:p>
            <a:pPr marL="457200" lvl="0" indent="-298450" algn="l" rtl="0">
              <a:lnSpc>
                <a:spcPct val="100000"/>
              </a:lnSpc>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Si hay buena respuesta de este recurso, se recomienda utilizarlo de forma orgánica en más instancias de la clase.</a:t>
            </a:r>
            <a:endParaRPr>
              <a:latin typeface="DM Sans"/>
              <a:ea typeface="DM Sans"/>
              <a:cs typeface="DM Sans"/>
              <a:sym typeface="DM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8" name="Google Shape;528;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5" name="Google Shape;535;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latin typeface="DM Sans"/>
                <a:ea typeface="DM Sans"/>
                <a:cs typeface="DM Sans"/>
                <a:sym typeface="DM Sans"/>
              </a:rPr>
              <a:t>Profesor/a: compartir pantalla mostrando el ejemplo</a:t>
            </a:r>
            <a:endParaRPr>
              <a:latin typeface="DM Sans"/>
              <a:ea typeface="DM Sans"/>
              <a:cs typeface="DM Sans"/>
              <a:sym typeface="DM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6" name="Google Shape;546;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Profesor/a: compartir pantalla mostrando el ejemplo</a:t>
            </a:r>
            <a:endParaRPr>
              <a:latin typeface="DM Sans"/>
              <a:ea typeface="DM Sans"/>
              <a:cs typeface="DM Sans"/>
              <a:sym typeface="DM Sa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7" name="Google Shape;557;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7" name="Google Shape;567;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9" name="Google Shape;579;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7" name="Google Shape;587;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solidFill>
                <a:schemeClr val="accent1"/>
              </a:solidFill>
              <a:latin typeface="DM Sans"/>
              <a:ea typeface="DM Sans"/>
              <a:cs typeface="DM Sans"/>
              <a:sym typeface="DM San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8" name="Google Shape;598;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2-B">
  <p:cSld name="SECTION_HEADER_1">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title="logo coderhouse"/>
          <p:cNvPicPr preferRelativeResize="0"/>
          <p:nvPr/>
        </p:nvPicPr>
        <p:blipFill rotWithShape="1">
          <a:blip r:embed="rId3">
            <a:alphaModFix/>
          </a:blip>
          <a:srcRect/>
          <a:stretch/>
        </p:blipFill>
        <p:spPr>
          <a:xfrm>
            <a:off x="7874775" y="4720250"/>
            <a:ext cx="1024025" cy="2116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2-A">
  <p:cSld name="SECTION_HEADER_1_1_1_1_1_1_1_1_1_1">
    <p:bg>
      <p:bgPr>
        <a:blipFill>
          <a:blip r:embed="rId2">
            <a:alphaModFix/>
          </a:blip>
          <a:stretch>
            <a:fillRect/>
          </a:stretch>
        </a:blipFill>
        <a:effectLst/>
      </p:bgPr>
    </p:bg>
    <p:spTree>
      <p:nvGrpSpPr>
        <p:cNvPr id="1" name="Shape 11"/>
        <p:cNvGrpSpPr/>
        <p:nvPr/>
      </p:nvGrpSpPr>
      <p:grpSpPr>
        <a:xfrm>
          <a:off x="0" y="0"/>
          <a:ext cx="0" cy="0"/>
          <a:chOff x="0" y="0"/>
          <a:chExt cx="0" cy="0"/>
        </a:xfrm>
      </p:grpSpPr>
      <p:pic>
        <p:nvPicPr>
          <p:cNvPr id="12" name="Google Shape;12;p3"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3-B">
  <p:cSld name="SECTION_HEADER_1_1_1_1_1_1_1_1_1">
    <p:bg>
      <p:bgPr>
        <a:blipFill>
          <a:blip r:embed="rId2">
            <a:alphaModFix/>
          </a:blip>
          <a:stretch>
            <a:fillRect/>
          </a:stretch>
        </a:blipFill>
        <a:effectLst/>
      </p:bgPr>
    </p:bg>
    <p:spTree>
      <p:nvGrpSpPr>
        <p:cNvPr id="1" name="Shape 13"/>
        <p:cNvGrpSpPr/>
        <p:nvPr/>
      </p:nvGrpSpPr>
      <p:grpSpPr>
        <a:xfrm>
          <a:off x="0" y="0"/>
          <a:ext cx="0" cy="0"/>
          <a:chOff x="0" y="0"/>
          <a:chExt cx="0" cy="0"/>
        </a:xfrm>
      </p:grpSpPr>
      <p:pic>
        <p:nvPicPr>
          <p:cNvPr id="14" name="Google Shape;14;p4"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rátula 1">
  <p:cSld name="SECTION_HEADER_1_1_1">
    <p:bg>
      <p:bgPr>
        <a:blipFill>
          <a:blip r:embed="rId2">
            <a:alphaModFix/>
          </a:blip>
          <a:stretch>
            <a:fillRect/>
          </a:stretch>
        </a:blipFill>
        <a:effectLst/>
      </p:bgPr>
    </p:bg>
    <p:spTree>
      <p:nvGrpSpPr>
        <p:cNvPr id="1" name="Shape 15"/>
        <p:cNvGrpSpPr/>
        <p:nvPr/>
      </p:nvGrpSpPr>
      <p:grpSpPr>
        <a:xfrm>
          <a:off x="0" y="0"/>
          <a:ext cx="0" cy="0"/>
          <a:chOff x="0" y="0"/>
          <a:chExt cx="0" cy="0"/>
        </a:xfrm>
      </p:grpSpPr>
      <p:pic>
        <p:nvPicPr>
          <p:cNvPr id="16" name="Google Shape;16;p5"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17"/>
        <p:cNvGrpSpPr/>
        <p:nvPr/>
      </p:nvGrpSpPr>
      <p:grpSpPr>
        <a:xfrm>
          <a:off x="0" y="0"/>
          <a:ext cx="0" cy="0"/>
          <a:chOff x="0" y="0"/>
          <a:chExt cx="0" cy="0"/>
        </a:xfrm>
      </p:grpSpPr>
      <p:pic>
        <p:nvPicPr>
          <p:cNvPr id="18" name="Google Shape;18;p6"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 imagen">
  <p:cSld name="SECTION_HEADER_1_1_1_1_1_1_1">
    <p:bg>
      <p:bgPr>
        <a:blipFill>
          <a:blip r:embed="rId2">
            <a:alphaModFix/>
          </a:blip>
          <a:stretch>
            <a:fillRect/>
          </a:stretch>
        </a:blipFill>
        <a:effectLst/>
      </p:bgPr>
    </p:bg>
    <p:spTree>
      <p:nvGrpSpPr>
        <p:cNvPr id="1" name="Shape 19"/>
        <p:cNvGrpSpPr/>
        <p:nvPr/>
      </p:nvGrpSpPr>
      <p:grpSpPr>
        <a:xfrm>
          <a:off x="0" y="0"/>
          <a:ext cx="0" cy="0"/>
          <a:chOff x="0" y="0"/>
          <a:chExt cx="0" cy="0"/>
        </a:xfrm>
      </p:grpSpPr>
      <p:sp>
        <p:nvSpPr>
          <p:cNvPr id="20" name="Google Shape;20;p7"/>
          <p:cNvSpPr/>
          <p:nvPr/>
        </p:nvSpPr>
        <p:spPr>
          <a:xfrm>
            <a:off x="6592475" y="0"/>
            <a:ext cx="2551500" cy="51435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 name="Google Shape;21;p7"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rátula 2">
  <p:cSld name="SECTION_HEADER_1_1_1_1">
    <p:bg>
      <p:bgPr>
        <a:blipFill>
          <a:blip r:embed="rId2">
            <a:alphaModFix/>
          </a:blip>
          <a:stretch>
            <a:fillRect/>
          </a:stretch>
        </a:blipFill>
        <a:effectLst/>
      </p:bgPr>
    </p:bg>
    <p:spTree>
      <p:nvGrpSpPr>
        <p:cNvPr id="1" name="Shape 22"/>
        <p:cNvGrpSpPr/>
        <p:nvPr/>
      </p:nvGrpSpPr>
      <p:grpSpPr>
        <a:xfrm>
          <a:off x="0" y="0"/>
          <a:ext cx="0" cy="0"/>
          <a:chOff x="0" y="0"/>
          <a:chExt cx="0" cy="0"/>
        </a:xfrm>
      </p:grpSpPr>
      <p:pic>
        <p:nvPicPr>
          <p:cNvPr id="23" name="Google Shape;23;p8"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rátula 3">
  <p:cSld name="SECTION_HEADER_1_1_1_1_1">
    <p:bg>
      <p:bgPr>
        <a:blipFill>
          <a:blip r:embed="rId2">
            <a:alphaModFix/>
          </a:blip>
          <a:stretch>
            <a:fillRect/>
          </a:stretch>
        </a:blipFill>
        <a:effectLst/>
      </p:bgPr>
    </p:bg>
    <p:spTree>
      <p:nvGrpSpPr>
        <p:cNvPr id="1" name="Shape 24"/>
        <p:cNvGrpSpPr/>
        <p:nvPr/>
      </p:nvGrpSpPr>
      <p:grpSpPr>
        <a:xfrm>
          <a:off x="0" y="0"/>
          <a:ext cx="0" cy="0"/>
          <a:chOff x="0" y="0"/>
          <a:chExt cx="0" cy="0"/>
        </a:xfrm>
      </p:grpSpPr>
      <p:pic>
        <p:nvPicPr>
          <p:cNvPr id="25" name="Google Shape;25;p9"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co 1" type="title">
  <p:cSld name="TITLE">
    <p:spTree>
      <p:nvGrpSpPr>
        <p:cNvPr id="1" name="Shape 26"/>
        <p:cNvGrpSpPr/>
        <p:nvPr/>
      </p:nvGrpSpPr>
      <p:grpSpPr>
        <a:xfrm>
          <a:off x="0" y="0"/>
          <a:ext cx="0" cy="0"/>
          <a:chOff x="0" y="0"/>
          <a:chExt cx="0" cy="0"/>
        </a:xfrm>
      </p:grpSpPr>
      <p:sp>
        <p:nvSpPr>
          <p:cNvPr id="27" name="Google Shape;27;p1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000"/>
              <a:buFont typeface="DM Sans"/>
              <a:buNone/>
              <a:defRPr sz="4000" b="1">
                <a:latin typeface="DM Sans"/>
                <a:ea typeface="DM Sans"/>
                <a:cs typeface="DM Sans"/>
                <a:sym typeface="DM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8" name="Google Shape;28;p1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29" name="Google Shape;29;p10"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03-A">
  <p:cSld name="SECTION_HEADER_1_1">
    <p:bg>
      <p:bgPr>
        <a:blipFill>
          <a:blip r:embed="rId2">
            <a:alphaModFix/>
          </a:blip>
          <a:stretch>
            <a:fillRect/>
          </a:stretch>
        </a:blipFill>
        <a:effectLst/>
      </p:bgPr>
    </p:bg>
    <p:spTree>
      <p:nvGrpSpPr>
        <p:cNvPr id="1" name="Shape 30"/>
        <p:cNvGrpSpPr/>
        <p:nvPr/>
      </p:nvGrpSpPr>
      <p:grpSpPr>
        <a:xfrm>
          <a:off x="0" y="0"/>
          <a:ext cx="0" cy="0"/>
          <a:chOff x="0" y="0"/>
          <a:chExt cx="0" cy="0"/>
        </a:xfrm>
      </p:grpSpPr>
      <p:pic>
        <p:nvPicPr>
          <p:cNvPr id="31" name="Google Shape;31;p11"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adro">
  <p:cSld name="SECTION_HEADER_1_1_1_1_1_1">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12"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co 1" type="title">
  <p:cSld name="TITLE">
    <p:spTree>
      <p:nvGrpSpPr>
        <p:cNvPr id="1" name="Shape 38"/>
        <p:cNvGrpSpPr/>
        <p:nvPr/>
      </p:nvGrpSpPr>
      <p:grpSpPr>
        <a:xfrm>
          <a:off x="0" y="0"/>
          <a:ext cx="0" cy="0"/>
          <a:chOff x="0" y="0"/>
          <a:chExt cx="0" cy="0"/>
        </a:xfrm>
      </p:grpSpPr>
      <p:sp>
        <p:nvSpPr>
          <p:cNvPr id="39" name="Google Shape;39;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000"/>
              <a:buFont typeface="DM Sans"/>
              <a:buNone/>
              <a:defRPr sz="4000" b="1">
                <a:latin typeface="DM Sans"/>
                <a:ea typeface="DM Sans"/>
                <a:cs typeface="DM Sans"/>
                <a:sym typeface="DM Sans"/>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40" name="Google Shape;40;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pic>
        <p:nvPicPr>
          <p:cNvPr id="41" name="Google Shape;41;p14"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02-B">
  <p:cSld name="SECTION_HEADER_1">
    <p:bg>
      <p:bgPr>
        <a:blipFill>
          <a:blip r:embed="rId2">
            <a:alphaModFix/>
          </a:blip>
          <a:stretch>
            <a:fillRect/>
          </a:stretch>
        </a:blipFill>
        <a:effectLst/>
      </p:bgPr>
    </p:bg>
    <p:spTree>
      <p:nvGrpSpPr>
        <p:cNvPr id="1" name="Shape 42"/>
        <p:cNvGrpSpPr/>
        <p:nvPr/>
      </p:nvGrpSpPr>
      <p:grpSpPr>
        <a:xfrm>
          <a:off x="0" y="0"/>
          <a:ext cx="0" cy="0"/>
          <a:chOff x="0" y="0"/>
          <a:chExt cx="0" cy="0"/>
        </a:xfrm>
      </p:grpSpPr>
      <p:pic>
        <p:nvPicPr>
          <p:cNvPr id="43" name="Google Shape;43;p15" title="logo coderhouse"/>
          <p:cNvPicPr preferRelativeResize="0"/>
          <p:nvPr/>
        </p:nvPicPr>
        <p:blipFill>
          <a:blip r:embed="rId3">
            <a:alphaModFix/>
          </a:blip>
          <a:stretch>
            <a:fillRect/>
          </a:stretch>
        </p:blipFill>
        <p:spPr>
          <a:xfrm>
            <a:off x="7874775" y="4720250"/>
            <a:ext cx="1024025" cy="2116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03-A">
  <p:cSld name="SECTION_HEADER_1_1">
    <p:bg>
      <p:bgPr>
        <a:blipFill>
          <a:blip r:embed="rId2">
            <a:alphaModFix/>
          </a:blip>
          <a:stretch>
            <a:fillRect/>
          </a:stretch>
        </a:blipFill>
        <a:effectLst/>
      </p:bgPr>
    </p:bg>
    <p:spTree>
      <p:nvGrpSpPr>
        <p:cNvPr id="1" name="Shape 44"/>
        <p:cNvGrpSpPr/>
        <p:nvPr/>
      </p:nvGrpSpPr>
      <p:grpSpPr>
        <a:xfrm>
          <a:off x="0" y="0"/>
          <a:ext cx="0" cy="0"/>
          <a:chOff x="0" y="0"/>
          <a:chExt cx="0" cy="0"/>
        </a:xfrm>
      </p:grpSpPr>
      <p:pic>
        <p:nvPicPr>
          <p:cNvPr id="45" name="Google Shape;45;p16"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rátula 1">
  <p:cSld name="SECTION_HEADER_1_1_1">
    <p:bg>
      <p:bgPr>
        <a:blipFill>
          <a:blip r:embed="rId2">
            <a:alphaModFix/>
          </a:blip>
          <a:stretch>
            <a:fillRect/>
          </a:stretch>
        </a:blipFill>
        <a:effectLst/>
      </p:bgPr>
    </p:bg>
    <p:spTree>
      <p:nvGrpSpPr>
        <p:cNvPr id="1" name="Shape 46"/>
        <p:cNvGrpSpPr/>
        <p:nvPr/>
      </p:nvGrpSpPr>
      <p:grpSpPr>
        <a:xfrm>
          <a:off x="0" y="0"/>
          <a:ext cx="0" cy="0"/>
          <a:chOff x="0" y="0"/>
          <a:chExt cx="0" cy="0"/>
        </a:xfrm>
      </p:grpSpPr>
      <p:pic>
        <p:nvPicPr>
          <p:cNvPr id="47" name="Google Shape;47;p17"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arátula 2">
  <p:cSld name="SECTION_HEADER_1_1_1_1">
    <p:bg>
      <p:bgPr>
        <a:blipFill>
          <a:blip r:embed="rId2">
            <a:alphaModFix/>
          </a:blip>
          <a:stretch>
            <a:fillRect/>
          </a:stretch>
        </a:blipFill>
        <a:effectLst/>
      </p:bgPr>
    </p:bg>
    <p:spTree>
      <p:nvGrpSpPr>
        <p:cNvPr id="1" name="Shape 48"/>
        <p:cNvGrpSpPr/>
        <p:nvPr/>
      </p:nvGrpSpPr>
      <p:grpSpPr>
        <a:xfrm>
          <a:off x="0" y="0"/>
          <a:ext cx="0" cy="0"/>
          <a:chOff x="0" y="0"/>
          <a:chExt cx="0" cy="0"/>
        </a:xfrm>
      </p:grpSpPr>
      <p:pic>
        <p:nvPicPr>
          <p:cNvPr id="49" name="Google Shape;49;p18"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rátula 3">
  <p:cSld name="SECTION_HEADER_1_1_1_1_1">
    <p:bg>
      <p:bgPr>
        <a:blipFill>
          <a:blip r:embed="rId2">
            <a:alphaModFix/>
          </a:blip>
          <a:stretch>
            <a:fillRect/>
          </a:stretch>
        </a:blipFill>
        <a:effectLst/>
      </p:bgPr>
    </p:bg>
    <p:spTree>
      <p:nvGrpSpPr>
        <p:cNvPr id="1" name="Shape 50"/>
        <p:cNvGrpSpPr/>
        <p:nvPr/>
      </p:nvGrpSpPr>
      <p:grpSpPr>
        <a:xfrm>
          <a:off x="0" y="0"/>
          <a:ext cx="0" cy="0"/>
          <a:chOff x="0" y="0"/>
          <a:chExt cx="0" cy="0"/>
        </a:xfrm>
      </p:grpSpPr>
      <p:pic>
        <p:nvPicPr>
          <p:cNvPr id="51" name="Google Shape;51;p19"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adro">
  <p:cSld name="SECTION_HEADER_1_1_1_1_1_1">
    <p:bg>
      <p:bgPr>
        <a:blipFill>
          <a:blip r:embed="rId2">
            <a:alphaModFix/>
          </a:blip>
          <a:stretch>
            <a:fillRect/>
          </a:stretch>
        </a:blipFill>
        <a:effectLst/>
      </p:bgPr>
    </p:bg>
    <p:spTree>
      <p:nvGrpSpPr>
        <p:cNvPr id="1" name="Shape 52"/>
        <p:cNvGrpSpPr/>
        <p:nvPr/>
      </p:nvGrpSpPr>
      <p:grpSpPr>
        <a:xfrm>
          <a:off x="0" y="0"/>
          <a:ext cx="0" cy="0"/>
          <a:chOff x="0" y="0"/>
          <a:chExt cx="0" cy="0"/>
        </a:xfrm>
      </p:grpSpPr>
      <p:pic>
        <p:nvPicPr>
          <p:cNvPr id="53" name="Google Shape;53;p20"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 imagen">
  <p:cSld name="SECTION_HEADER_1_1_1_1_1_1_1">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5" name="Google Shape;55;p21"/>
          <p:cNvSpPr/>
          <p:nvPr/>
        </p:nvSpPr>
        <p:spPr>
          <a:xfrm>
            <a:off x="6592475" y="0"/>
            <a:ext cx="2551500" cy="5143500"/>
          </a:xfrm>
          <a:prstGeom prst="rect">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6" name="Google Shape;56;p21"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57"/>
        <p:cNvGrpSpPr/>
        <p:nvPr/>
      </p:nvGrpSpPr>
      <p:grpSpPr>
        <a:xfrm>
          <a:off x="0" y="0"/>
          <a:ext cx="0" cy="0"/>
          <a:chOff x="0" y="0"/>
          <a:chExt cx="0" cy="0"/>
        </a:xfrm>
      </p:grpSpPr>
      <p:pic>
        <p:nvPicPr>
          <p:cNvPr id="58" name="Google Shape;58;p22"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03-B">
  <p:cSld name="SECTION_HEADER_1_1_1_1_1_1_1_1_1">
    <p:bg>
      <p:bgPr>
        <a:blipFill>
          <a:blip r:embed="rId2">
            <a:alphaModFix/>
          </a:blip>
          <a:stretch>
            <a:fillRect/>
          </a:stretch>
        </a:blipFill>
        <a:effectLst/>
      </p:bgPr>
    </p:bg>
    <p:spTree>
      <p:nvGrpSpPr>
        <p:cNvPr id="1" name="Shape 59"/>
        <p:cNvGrpSpPr/>
        <p:nvPr/>
      </p:nvGrpSpPr>
      <p:grpSpPr>
        <a:xfrm>
          <a:off x="0" y="0"/>
          <a:ext cx="0" cy="0"/>
          <a:chOff x="0" y="0"/>
          <a:chExt cx="0" cy="0"/>
        </a:xfrm>
      </p:grpSpPr>
      <p:pic>
        <p:nvPicPr>
          <p:cNvPr id="60" name="Google Shape;60;p23"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02-A">
  <p:cSld name="SECTION_HEADER_1_1_1_1_1_1_1_1_1_1">
    <p:bg>
      <p:bgPr>
        <a:blipFill>
          <a:blip r:embed="rId2">
            <a:alphaModFix/>
          </a:blip>
          <a:stretch>
            <a:fillRect/>
          </a:stretch>
        </a:blipFill>
        <a:effectLst/>
      </p:bgPr>
    </p:bg>
    <p:spTree>
      <p:nvGrpSpPr>
        <p:cNvPr id="1" name="Shape 61"/>
        <p:cNvGrpSpPr/>
        <p:nvPr/>
      </p:nvGrpSpPr>
      <p:grpSpPr>
        <a:xfrm>
          <a:off x="0" y="0"/>
          <a:ext cx="0" cy="0"/>
          <a:chOff x="0" y="0"/>
          <a:chExt cx="0" cy="0"/>
        </a:xfrm>
      </p:grpSpPr>
      <p:pic>
        <p:nvPicPr>
          <p:cNvPr id="62" name="Google Shape;62;p24"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3"/>
        <p:cNvGrpSpPr/>
        <p:nvPr/>
      </p:nvGrpSpPr>
      <p:grpSpPr>
        <a:xfrm>
          <a:off x="0" y="0"/>
          <a:ext cx="0" cy="0"/>
          <a:chOff x="0" y="0"/>
          <a:chExt cx="0" cy="0"/>
        </a:xfrm>
      </p:grpSpPr>
      <p:sp>
        <p:nvSpPr>
          <p:cNvPr id="64" name="Google Shape;64;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66" name="Google Shape;66;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03-B 5">
  <p:cSld name="SECTION_HEADER_1_1_1_1_1_1_1_1_1_8">
    <p:bg>
      <p:bgPr>
        <a:blipFill>
          <a:blip r:embed="rId2">
            <a:alphaModFix/>
          </a:blip>
          <a:stretch>
            <a:fillRect/>
          </a:stretch>
        </a:blipFill>
        <a:effectLst/>
      </p:bgPr>
    </p:bg>
    <p:spTree>
      <p:nvGrpSpPr>
        <p:cNvPr id="1" name="Shape 67"/>
        <p:cNvGrpSpPr/>
        <p:nvPr/>
      </p:nvGrpSpPr>
      <p:grpSpPr>
        <a:xfrm>
          <a:off x="0" y="0"/>
          <a:ext cx="0" cy="0"/>
          <a:chOff x="0" y="0"/>
          <a:chExt cx="0" cy="0"/>
        </a:xfrm>
      </p:grpSpPr>
      <p:pic>
        <p:nvPicPr>
          <p:cNvPr id="68" name="Google Shape;68;p26"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34"/>
        <p:cNvGrpSpPr/>
        <p:nvPr/>
      </p:nvGrpSpPr>
      <p:grpSpPr>
        <a:xfrm>
          <a:off x="0" y="0"/>
          <a:ext cx="0" cy="0"/>
          <a:chOff x="0" y="0"/>
          <a:chExt cx="0" cy="0"/>
        </a:xfrm>
      </p:grpSpPr>
      <p:sp>
        <p:nvSpPr>
          <p:cNvPr id="35" name="Google Shape;35;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36" name="Google Shape;36;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37" name="Google Shape;37;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hyperlink" Target="https://ellibrodepython.com/programacion-orientada-a-objetos-python"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hyperlink" Target="https://ellibrodepython.com/programacion-orientada-a-objetos-python"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ellibrodepython.com/programacion-orientada-a-objetos-python"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www.analyticslane.com/2020/09/14/metodos-magicos-de-las-clases-python/" TargetMode="External"/><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hyperlink" Target="https://www.analyticslane.com/2020/09/14/metodos-magicos-de-las-clases-python/"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www.analyticslane.com/2020/09/14/metodos-magicos-de-las-clases-python/" TargetMode="External"/><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hyperlink" Target="https://www.analyticslane.com/2020/09/14/metodos-magicos-de-las-clases-python/" TargetMode="External"/><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hyperlink" Target="https://www.analyticslane.com/2020/09/14/metodos-magicos-de-las-clases-python/" TargetMode="External"/><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hyperlink" Target="https://www.analyticslane.com/2020/09/14/metodos-magicos-de-las-clases-python/" TargetMode="External"/><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hyperlink" Target="https://www.analyticslane.com/2020/09/14/metodos-magicos-de-las-clases-python/" TargetMode="External"/><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www.analyticslane.com/2020/09/14/metodos-magicos-de-las-clases-python/" TargetMode="External"/><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hyperlink" Target="https://ellibrodepython.com/encapsulamiento-poo" TargetMode="External"/><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hyperlink" Target="https://ellibrodepython.com/encapsulamiento-poo" TargetMode="External"/><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2.xml"/><Relationship Id="rId1" Type="http://schemas.openxmlformats.org/officeDocument/2006/relationships/slideLayout" Target="../slideLayouts/slideLayout5.xml"/><Relationship Id="rId5" Type="http://schemas.openxmlformats.org/officeDocument/2006/relationships/hyperlink" Target="https://www.cosmiclearn.com/lang-es/python-encapsulation.php" TargetMode="External"/><Relationship Id="rId4" Type="http://schemas.openxmlformats.org/officeDocument/2006/relationships/image" Target="../media/image40.png"/></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3.xml"/><Relationship Id="rId1" Type="http://schemas.openxmlformats.org/officeDocument/2006/relationships/slideLayout" Target="../slideLayouts/slideLayout5.xml"/><Relationship Id="rId5" Type="http://schemas.openxmlformats.org/officeDocument/2006/relationships/image" Target="../media/image41.png"/><Relationship Id="rId4" Type="http://schemas.openxmlformats.org/officeDocument/2006/relationships/hyperlink" Target="https://www.cosmiclearn.com/lang-es/python-encapsulation.php"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7.xml"/><Relationship Id="rId1" Type="http://schemas.openxmlformats.org/officeDocument/2006/relationships/slideLayout" Target="../slideLayouts/slideLayout5.xml"/><Relationship Id="rId4" Type="http://schemas.openxmlformats.org/officeDocument/2006/relationships/hyperlink" Target="https://colab.research.google.com/drive/1_bG_tKvR76Xbe5A18HlL4TwEaeMJaZxx?usp=sharing" TargetMode="Externa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28"/>
          <p:cNvSpPr txBox="1"/>
          <p:nvPr/>
        </p:nvSpPr>
        <p:spPr>
          <a:xfrm>
            <a:off x="1461300" y="2252975"/>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Programación orientada a Objetos II</a:t>
            </a:r>
            <a:endParaRPr sz="4000" b="1" i="0" u="none" strike="noStrike" cap="none">
              <a:solidFill>
                <a:srgbClr val="EAFF6A"/>
              </a:solidFill>
              <a:latin typeface="DM Sans"/>
              <a:ea typeface="DM Sans"/>
              <a:cs typeface="DM Sans"/>
              <a:sym typeface="DM Sans"/>
            </a:endParaRPr>
          </a:p>
        </p:txBody>
      </p:sp>
      <p:sp>
        <p:nvSpPr>
          <p:cNvPr id="82" name="Google Shape;82;p28"/>
          <p:cNvSpPr txBox="1"/>
          <p:nvPr/>
        </p:nvSpPr>
        <p:spPr>
          <a:xfrm>
            <a:off x="1461300" y="1665250"/>
            <a:ext cx="6221400" cy="461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 sz="1800" b="1" i="0" u="none" strike="noStrike" cap="none">
                <a:solidFill>
                  <a:schemeClr val="lt1"/>
                </a:solidFill>
                <a:latin typeface="DM Sans"/>
                <a:ea typeface="DM Sans"/>
                <a:cs typeface="DM Sans"/>
                <a:sym typeface="DM Sans"/>
              </a:rPr>
              <a:t>Clase 13.</a:t>
            </a:r>
            <a:r>
              <a:rPr lang="es" sz="1800" b="0" i="0" u="none" strike="noStrike" cap="none">
                <a:solidFill>
                  <a:schemeClr val="lt1"/>
                </a:solidFill>
                <a:latin typeface="DM Sans"/>
                <a:ea typeface="DM Sans"/>
                <a:cs typeface="DM Sans"/>
                <a:sym typeface="DM Sans"/>
              </a:rPr>
              <a:t> PYTHON</a:t>
            </a:r>
            <a:endParaRPr sz="1600" b="0"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0821C83-5D1F-DDFC-8D32-F03DCA1797B5}"/>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0"/>
          <p:cNvSpPr txBox="1"/>
          <p:nvPr/>
        </p:nvSpPr>
        <p:spPr>
          <a:xfrm>
            <a:off x="501450" y="468275"/>
            <a:ext cx="8141100" cy="6003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000"/>
              <a:buFont typeface="Arial"/>
              <a:buNone/>
            </a:pPr>
            <a:r>
              <a:rPr lang="es" sz="3000" b="1" i="0" u="none" strike="noStrike" cap="none">
                <a:solidFill>
                  <a:srgbClr val="EAFF6A"/>
                </a:solidFill>
                <a:latin typeface="DM Sans"/>
                <a:ea typeface="DM Sans"/>
                <a:cs typeface="DM Sans"/>
                <a:sym typeface="DM Sans"/>
              </a:rPr>
              <a:t>Objetivos de la clase</a:t>
            </a:r>
            <a:endParaRPr sz="3000" b="1" i="0" u="none" strike="noStrike" cap="none">
              <a:solidFill>
                <a:srgbClr val="EAFF6A"/>
              </a:solidFill>
              <a:latin typeface="DM Sans"/>
              <a:ea typeface="DM Sans"/>
              <a:cs typeface="DM Sans"/>
              <a:sym typeface="DM Sans"/>
            </a:endParaRPr>
          </a:p>
        </p:txBody>
      </p:sp>
      <p:pic>
        <p:nvPicPr>
          <p:cNvPr id="112" name="Google Shape;112;p30"/>
          <p:cNvPicPr preferRelativeResize="0"/>
          <p:nvPr/>
        </p:nvPicPr>
        <p:blipFill rotWithShape="1">
          <a:blip r:embed="rId3">
            <a:alphaModFix/>
          </a:blip>
          <a:srcRect/>
          <a:stretch/>
        </p:blipFill>
        <p:spPr>
          <a:xfrm>
            <a:off x="2172438" y="1738950"/>
            <a:ext cx="196975" cy="196975"/>
          </a:xfrm>
          <a:prstGeom prst="rect">
            <a:avLst/>
          </a:prstGeom>
          <a:noFill/>
          <a:ln>
            <a:noFill/>
          </a:ln>
        </p:spPr>
      </p:pic>
      <p:sp>
        <p:nvSpPr>
          <p:cNvPr id="113" name="Google Shape;113;p30"/>
          <p:cNvSpPr txBox="1"/>
          <p:nvPr/>
        </p:nvSpPr>
        <p:spPr>
          <a:xfrm>
            <a:off x="2690561" y="1645250"/>
            <a:ext cx="42813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1" i="0" u="none" strike="noStrike" cap="none">
                <a:solidFill>
                  <a:schemeClr val="lt1"/>
                </a:solidFill>
                <a:latin typeface="DM Sans"/>
                <a:ea typeface="DM Sans"/>
                <a:cs typeface="DM Sans"/>
                <a:sym typeface="DM Sans"/>
              </a:rPr>
              <a:t>Conocer </a:t>
            </a:r>
            <a:r>
              <a:rPr lang="es" sz="1350" b="0" i="0" u="none" strike="noStrike" cap="none">
                <a:solidFill>
                  <a:schemeClr val="lt1"/>
                </a:solidFill>
                <a:latin typeface="DM Sans"/>
                <a:ea typeface="DM Sans"/>
                <a:cs typeface="DM Sans"/>
                <a:sym typeface="DM Sans"/>
              </a:rPr>
              <a:t>los métodos y atributos. </a:t>
            </a:r>
            <a:endParaRPr sz="1350" b="0" i="0" u="none" strike="noStrike" cap="none">
              <a:solidFill>
                <a:schemeClr val="lt1"/>
              </a:solidFill>
              <a:latin typeface="DM Sans"/>
              <a:ea typeface="DM Sans"/>
              <a:cs typeface="DM Sans"/>
              <a:sym typeface="DM Sans"/>
            </a:endParaRPr>
          </a:p>
        </p:txBody>
      </p:sp>
      <p:pic>
        <p:nvPicPr>
          <p:cNvPr id="114" name="Google Shape;114;p30"/>
          <p:cNvPicPr preferRelativeResize="0"/>
          <p:nvPr/>
        </p:nvPicPr>
        <p:blipFill rotWithShape="1">
          <a:blip r:embed="rId3">
            <a:alphaModFix/>
          </a:blip>
          <a:srcRect/>
          <a:stretch/>
        </p:blipFill>
        <p:spPr>
          <a:xfrm>
            <a:off x="2172138" y="2448550"/>
            <a:ext cx="196975" cy="196975"/>
          </a:xfrm>
          <a:prstGeom prst="rect">
            <a:avLst/>
          </a:prstGeom>
          <a:noFill/>
          <a:ln>
            <a:noFill/>
          </a:ln>
        </p:spPr>
      </p:pic>
      <p:sp>
        <p:nvSpPr>
          <p:cNvPr id="115" name="Google Shape;115;p30"/>
          <p:cNvSpPr txBox="1"/>
          <p:nvPr/>
        </p:nvSpPr>
        <p:spPr>
          <a:xfrm>
            <a:off x="2690561" y="2324575"/>
            <a:ext cx="42813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1" i="0" u="none" strike="noStrike" cap="none">
                <a:solidFill>
                  <a:schemeClr val="lt1"/>
                </a:solidFill>
                <a:latin typeface="DM Sans"/>
                <a:ea typeface="DM Sans"/>
                <a:cs typeface="DM Sans"/>
                <a:sym typeface="DM Sans"/>
              </a:rPr>
              <a:t>Crear</a:t>
            </a:r>
            <a:r>
              <a:rPr lang="es" sz="1350" b="0" i="0" u="none" strike="noStrike" cap="none">
                <a:solidFill>
                  <a:schemeClr val="lt1"/>
                </a:solidFill>
                <a:latin typeface="DM Sans"/>
                <a:ea typeface="DM Sans"/>
                <a:cs typeface="DM Sans"/>
                <a:sym typeface="DM Sans"/>
              </a:rPr>
              <a:t> los primeros objetos y anidarlos.</a:t>
            </a:r>
            <a:endParaRPr sz="1350" b="1" i="0" u="none" strike="noStrike" cap="none">
              <a:solidFill>
                <a:schemeClr val="lt1"/>
              </a:solidFill>
              <a:latin typeface="DM Sans"/>
              <a:ea typeface="DM Sans"/>
              <a:cs typeface="DM Sans"/>
              <a:sym typeface="DM Sans"/>
            </a:endParaRPr>
          </a:p>
        </p:txBody>
      </p:sp>
      <p:pic>
        <p:nvPicPr>
          <p:cNvPr id="116" name="Google Shape;116;p30"/>
          <p:cNvPicPr preferRelativeResize="0"/>
          <p:nvPr/>
        </p:nvPicPr>
        <p:blipFill rotWithShape="1">
          <a:blip r:embed="rId3">
            <a:alphaModFix/>
          </a:blip>
          <a:srcRect/>
          <a:stretch/>
        </p:blipFill>
        <p:spPr>
          <a:xfrm>
            <a:off x="2172138" y="3203575"/>
            <a:ext cx="196975" cy="196975"/>
          </a:xfrm>
          <a:prstGeom prst="rect">
            <a:avLst/>
          </a:prstGeom>
          <a:noFill/>
          <a:ln>
            <a:noFill/>
          </a:ln>
        </p:spPr>
      </p:pic>
      <p:sp>
        <p:nvSpPr>
          <p:cNvPr id="117" name="Google Shape;117;p30"/>
          <p:cNvSpPr txBox="1"/>
          <p:nvPr/>
        </p:nvSpPr>
        <p:spPr>
          <a:xfrm>
            <a:off x="2690561" y="3105850"/>
            <a:ext cx="42813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1" i="0" u="none" strike="noStrike" cap="none">
                <a:solidFill>
                  <a:schemeClr val="lt1"/>
                </a:solidFill>
                <a:latin typeface="DM Sans"/>
                <a:ea typeface="DM Sans"/>
                <a:cs typeface="DM Sans"/>
                <a:sym typeface="DM Sans"/>
              </a:rPr>
              <a:t>Identificar</a:t>
            </a:r>
            <a:r>
              <a:rPr lang="es" sz="1350" b="0" i="0" u="none" strike="noStrike" cap="none">
                <a:solidFill>
                  <a:schemeClr val="lt1"/>
                </a:solidFill>
                <a:latin typeface="DM Sans"/>
                <a:ea typeface="DM Sans"/>
                <a:cs typeface="DM Sans"/>
                <a:sym typeface="DM Sans"/>
              </a:rPr>
              <a:t> los principios del encapsulamiento.</a:t>
            </a:r>
            <a:endParaRPr sz="1350" b="0" i="0" u="none" strike="noStrike" cap="none">
              <a:solidFill>
                <a:schemeClr val="lt1"/>
              </a:solidFill>
              <a:latin typeface="DM Sans"/>
              <a:ea typeface="DM Sans"/>
              <a:cs typeface="DM Sans"/>
              <a:sym typeface="DM Sans"/>
            </a:endParaRPr>
          </a:p>
        </p:txBody>
      </p:sp>
      <p:cxnSp>
        <p:nvCxnSpPr>
          <p:cNvPr id="118" name="Google Shape;118;p30"/>
          <p:cNvCxnSpPr>
            <a:stCxn id="112" idx="2"/>
            <a:endCxn id="114" idx="0"/>
          </p:cNvCxnSpPr>
          <p:nvPr/>
        </p:nvCxnSpPr>
        <p:spPr>
          <a:xfrm rot="-5400000" flipH="1">
            <a:off x="2014876" y="2191975"/>
            <a:ext cx="512700" cy="600"/>
          </a:xfrm>
          <a:prstGeom prst="bentConnector3">
            <a:avLst>
              <a:gd name="adj1" fmla="val 49993"/>
            </a:avLst>
          </a:prstGeom>
          <a:noFill/>
          <a:ln w="9525" cap="flat" cmpd="sng">
            <a:solidFill>
              <a:srgbClr val="EAFF6A"/>
            </a:solidFill>
            <a:prstDash val="solid"/>
            <a:round/>
            <a:headEnd type="none" w="sm" len="sm"/>
            <a:tailEnd type="none" w="sm" len="sm"/>
          </a:ln>
        </p:spPr>
      </p:cxnSp>
      <p:cxnSp>
        <p:nvCxnSpPr>
          <p:cNvPr id="119" name="Google Shape;119;p30"/>
          <p:cNvCxnSpPr>
            <a:stCxn id="114" idx="2"/>
            <a:endCxn id="116" idx="0"/>
          </p:cNvCxnSpPr>
          <p:nvPr/>
        </p:nvCxnSpPr>
        <p:spPr>
          <a:xfrm rot="-5400000" flipH="1">
            <a:off x="1991926" y="2924225"/>
            <a:ext cx="558000" cy="600"/>
          </a:xfrm>
          <a:prstGeom prst="bentConnector3">
            <a:avLst>
              <a:gd name="adj1" fmla="val 50004"/>
            </a:avLst>
          </a:prstGeom>
          <a:noFill/>
          <a:ln w="9525" cap="flat" cmpd="sng">
            <a:solidFill>
              <a:srgbClr val="EAFF6A"/>
            </a:solidFill>
            <a:prstDash val="solid"/>
            <a:round/>
            <a:headEnd type="none" w="sm" len="sm"/>
            <a:tailEnd type="none" w="sm" len="sm"/>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2"/>
          <p:cNvSpPr txBox="1"/>
          <p:nvPr/>
        </p:nvSpPr>
        <p:spPr>
          <a:xfrm>
            <a:off x="1461288" y="2202300"/>
            <a:ext cx="62214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rgbClr val="EAFF6A"/>
                </a:solidFill>
                <a:latin typeface="DM Sans"/>
                <a:ea typeface="DM Sans"/>
                <a:cs typeface="DM Sans"/>
                <a:sym typeface="DM Sans"/>
              </a:rPr>
              <a:t>¿Qué era la POO?</a:t>
            </a:r>
            <a:endParaRPr sz="4000" b="1">
              <a:solidFill>
                <a:srgbClr val="EAFF6A"/>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3"/>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¿Qué era la POO?</a:t>
            </a:r>
            <a:endParaRPr sz="4000" b="1" i="0" u="none" strike="noStrike" cap="none">
              <a:solidFill>
                <a:schemeClr val="dk1"/>
              </a:solidFill>
              <a:latin typeface="DM Sans"/>
              <a:ea typeface="DM Sans"/>
              <a:cs typeface="DM Sans"/>
              <a:sym typeface="DM Sans"/>
            </a:endParaRPr>
          </a:p>
        </p:txBody>
      </p:sp>
      <p:sp>
        <p:nvSpPr>
          <p:cNvPr id="136" name="Google Shape;136;p33"/>
          <p:cNvSpPr txBox="1"/>
          <p:nvPr/>
        </p:nvSpPr>
        <p:spPr>
          <a:xfrm>
            <a:off x="473350" y="2140050"/>
            <a:ext cx="3834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Es un modo o </a:t>
            </a:r>
            <a:r>
              <a:rPr lang="es" sz="1350" b="1" i="0" u="none" strike="noStrike" cap="none">
                <a:solidFill>
                  <a:srgbClr val="000000"/>
                </a:solidFill>
                <a:latin typeface="DM Sans"/>
                <a:ea typeface="DM Sans"/>
                <a:cs typeface="DM Sans"/>
                <a:sym typeface="DM Sans"/>
              </a:rPr>
              <a:t>paradigma de programación</a:t>
            </a:r>
            <a:r>
              <a:rPr lang="es" sz="1350" b="0" i="0" u="none" strike="noStrike" cap="none">
                <a:solidFill>
                  <a:srgbClr val="000000"/>
                </a:solidFill>
                <a:latin typeface="DM Sans"/>
                <a:ea typeface="DM Sans"/>
                <a:cs typeface="DM Sans"/>
                <a:sym typeface="DM Sans"/>
              </a:rPr>
              <a:t>, que nos permite </a:t>
            </a:r>
            <a:r>
              <a:rPr lang="es" sz="1350" b="1" i="0" u="none" strike="noStrike" cap="none">
                <a:solidFill>
                  <a:srgbClr val="000000"/>
                </a:solidFill>
                <a:highlight>
                  <a:schemeClr val="accent6"/>
                </a:highlight>
                <a:latin typeface="DM Sans"/>
                <a:ea typeface="DM Sans"/>
                <a:cs typeface="DM Sans"/>
                <a:sym typeface="DM Sans"/>
              </a:rPr>
              <a:t>organizar el código pensando el problema como una relación entre “cosas”</a:t>
            </a:r>
            <a:r>
              <a:rPr lang="es" sz="1350" b="0" i="0" u="none" strike="noStrike" cap="none">
                <a:solidFill>
                  <a:srgbClr val="000000"/>
                </a:solidFill>
                <a:latin typeface="DM Sans"/>
                <a:ea typeface="DM Sans"/>
                <a:cs typeface="DM Sans"/>
                <a:sym typeface="DM Sans"/>
              </a:rPr>
              <a:t>, denominadas </a:t>
            </a:r>
            <a:r>
              <a:rPr lang="es" sz="1350" b="0" i="0" u="none" strike="noStrike" cap="none">
                <a:solidFill>
                  <a:srgbClr val="000000"/>
                </a:solidFill>
                <a:highlight>
                  <a:schemeClr val="accent6"/>
                </a:highlight>
                <a:latin typeface="DM Sans"/>
                <a:ea typeface="DM Sans"/>
                <a:cs typeface="DM Sans"/>
                <a:sym typeface="DM Sans"/>
              </a:rPr>
              <a:t>objetos</a:t>
            </a:r>
            <a:r>
              <a:rPr lang="es" sz="1350" b="0" i="0" u="none" strike="noStrike" cap="none">
                <a:solidFill>
                  <a:srgbClr val="000000"/>
                </a:solidFill>
                <a:latin typeface="DM Sans"/>
                <a:ea typeface="DM Sans"/>
                <a:cs typeface="DM Sans"/>
                <a:sym typeface="DM Sans"/>
              </a:rPr>
              <a:t>. </a:t>
            </a:r>
            <a:endParaRPr sz="1350" b="0" i="0" u="none" strike="noStrike" cap="none">
              <a:solidFill>
                <a:srgbClr val="000000"/>
              </a:solidFill>
              <a:latin typeface="DM Sans"/>
              <a:ea typeface="DM Sans"/>
              <a:cs typeface="DM Sans"/>
              <a:sym typeface="DM Sans"/>
            </a:endParaRPr>
          </a:p>
        </p:txBody>
      </p:sp>
      <p:sp>
        <p:nvSpPr>
          <p:cNvPr id="137" name="Google Shape;137;p33"/>
          <p:cNvSpPr txBox="1"/>
          <p:nvPr/>
        </p:nvSpPr>
        <p:spPr>
          <a:xfrm>
            <a:off x="4527575" y="2140050"/>
            <a:ext cx="3834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Los objetos </a:t>
            </a:r>
            <a:r>
              <a:rPr lang="es" sz="1350" b="1" i="0" u="none" strike="noStrike" cap="none">
                <a:solidFill>
                  <a:srgbClr val="000000"/>
                </a:solidFill>
                <a:latin typeface="DM Sans"/>
                <a:ea typeface="DM Sans"/>
                <a:cs typeface="DM Sans"/>
                <a:sym typeface="DM Sans"/>
              </a:rPr>
              <a:t>se trabajan utilizando las clases. </a:t>
            </a:r>
            <a:r>
              <a:rPr lang="es" sz="1350" b="0" i="0" u="none" strike="noStrike" cap="none">
                <a:solidFill>
                  <a:srgbClr val="000000"/>
                </a:solidFill>
                <a:latin typeface="DM Sans"/>
                <a:ea typeface="DM Sans"/>
                <a:cs typeface="DM Sans"/>
                <a:sym typeface="DM Sans"/>
              </a:rPr>
              <a:t>Estas nos permiten </a:t>
            </a:r>
            <a:r>
              <a:rPr lang="es" sz="1350" b="1" i="0" u="none" strike="noStrike" cap="none">
                <a:solidFill>
                  <a:srgbClr val="000000"/>
                </a:solidFill>
                <a:latin typeface="DM Sans"/>
                <a:ea typeface="DM Sans"/>
                <a:cs typeface="DM Sans"/>
                <a:sym typeface="DM Sans"/>
              </a:rPr>
              <a:t>agrupar un conjunto de variables y funciones</a:t>
            </a:r>
            <a:r>
              <a:rPr lang="es" sz="1350" b="0" i="0" u="none" strike="noStrike" cap="none">
                <a:solidFill>
                  <a:srgbClr val="000000"/>
                </a:solidFill>
                <a:latin typeface="DM Sans"/>
                <a:ea typeface="DM Sans"/>
                <a:cs typeface="DM Sans"/>
                <a:sym typeface="DM Sans"/>
              </a:rPr>
              <a:t> que veremos a continuación. 👉</a:t>
            </a:r>
            <a:endParaRPr sz="1350" b="0" i="0" u="none" strike="noStrike" cap="none">
              <a:solidFill>
                <a:srgbClr val="000000"/>
              </a:solidFill>
              <a:latin typeface="DM Sans"/>
              <a:ea typeface="DM Sans"/>
              <a:cs typeface="DM Sans"/>
              <a:sym typeface="DM Sans"/>
            </a:endParaRPr>
          </a:p>
        </p:txBody>
      </p:sp>
      <p:grpSp>
        <p:nvGrpSpPr>
          <p:cNvPr id="138" name="Google Shape;138;p33"/>
          <p:cNvGrpSpPr/>
          <p:nvPr/>
        </p:nvGrpSpPr>
        <p:grpSpPr>
          <a:xfrm>
            <a:off x="8183338" y="544536"/>
            <a:ext cx="431100" cy="431100"/>
            <a:chOff x="4616400" y="1950761"/>
            <a:chExt cx="431100" cy="431100"/>
          </a:xfrm>
        </p:grpSpPr>
        <p:sp>
          <p:nvSpPr>
            <p:cNvPr id="139" name="Google Shape;139;p33"/>
            <p:cNvSpPr/>
            <p:nvPr/>
          </p:nvSpPr>
          <p:spPr>
            <a:xfrm>
              <a:off x="4616400" y="1950761"/>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40" name="Google Shape;140;p33" title="ícono para recordar"/>
            <p:cNvPicPr preferRelativeResize="0"/>
            <p:nvPr/>
          </p:nvPicPr>
          <p:blipFill rotWithShape="1">
            <a:blip r:embed="rId3">
              <a:alphaModFix/>
            </a:blip>
            <a:srcRect/>
            <a:stretch/>
          </p:blipFill>
          <p:spPr>
            <a:xfrm>
              <a:off x="4699911" y="2034249"/>
              <a:ext cx="264076" cy="264076"/>
            </a:xfrm>
            <a:prstGeom prst="rect">
              <a:avLst/>
            </a:prstGeom>
            <a:noFill/>
            <a:ln>
              <a:noFill/>
            </a:ln>
          </p:spPr>
        </p:pic>
      </p:grpSp>
      <p:sp>
        <p:nvSpPr>
          <p:cNvPr id="2" name="Rectángulo 1">
            <a:extLst>
              <a:ext uri="{FF2B5EF4-FFF2-40B4-BE49-F238E27FC236}">
                <a16:creationId xmlns:a16="http://schemas.microsoft.com/office/drawing/2014/main" id="{C6C05C3B-F87B-DC81-412C-BA4F93B5A89F}"/>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4"/>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Atributos</a:t>
            </a:r>
            <a:endParaRPr sz="4000" b="1" i="0" u="none" strike="noStrike" cap="none">
              <a:solidFill>
                <a:schemeClr val="dk1"/>
              </a:solidFill>
              <a:latin typeface="DM Sans"/>
              <a:ea typeface="DM Sans"/>
              <a:cs typeface="DM Sans"/>
              <a:sym typeface="DM Sans"/>
            </a:endParaRPr>
          </a:p>
        </p:txBody>
      </p:sp>
      <p:sp>
        <p:nvSpPr>
          <p:cNvPr id="146" name="Google Shape;146;p34"/>
          <p:cNvSpPr txBox="1"/>
          <p:nvPr/>
        </p:nvSpPr>
        <p:spPr>
          <a:xfrm>
            <a:off x="473350" y="1894975"/>
            <a:ext cx="38346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Cosas de lo más cotidianas como una computadora o un coche pueden ser representadas con </a:t>
            </a:r>
            <a:r>
              <a:rPr lang="es" sz="1350" b="1" i="0" u="none" strike="noStrike" cap="none">
                <a:solidFill>
                  <a:srgbClr val="000000"/>
                </a:solidFill>
                <a:highlight>
                  <a:schemeClr val="accent6"/>
                </a:highlight>
                <a:latin typeface="DM Sans"/>
                <a:ea typeface="DM Sans"/>
                <a:cs typeface="DM Sans"/>
                <a:sym typeface="DM Sans"/>
              </a:rPr>
              <a:t>clases. Estas clases tienen diferentes características</a:t>
            </a:r>
            <a:r>
              <a:rPr lang="es" sz="1350" b="0" i="0" u="none" strike="noStrike" cap="none">
                <a:solidFill>
                  <a:srgbClr val="000000"/>
                </a:solidFill>
                <a:latin typeface="DM Sans"/>
                <a:ea typeface="DM Sans"/>
                <a:cs typeface="DM Sans"/>
                <a:sym typeface="DM Sans"/>
              </a:rPr>
              <a:t>, que en el caso de la computadora podrían ser la marca o modelo. Llamaremos a estas características, </a:t>
            </a:r>
            <a:r>
              <a:rPr lang="es" sz="1350" b="1" i="0" u="none" strike="noStrike" cap="none">
                <a:solidFill>
                  <a:srgbClr val="000000"/>
                </a:solidFill>
                <a:highlight>
                  <a:schemeClr val="accent6"/>
                </a:highlight>
                <a:latin typeface="DM Sans"/>
                <a:ea typeface="DM Sans"/>
                <a:cs typeface="DM Sans"/>
                <a:sym typeface="DM Sans"/>
              </a:rPr>
              <a:t>atributos</a:t>
            </a:r>
            <a:r>
              <a:rPr lang="es" sz="1350" b="0" i="0" u="none" strike="noStrike" cap="none">
                <a:solidFill>
                  <a:srgbClr val="000000"/>
                </a:solidFill>
                <a:latin typeface="DM Sans"/>
                <a:ea typeface="DM Sans"/>
                <a:cs typeface="DM Sans"/>
                <a:sym typeface="DM Sans"/>
              </a:rPr>
              <a:t>.</a:t>
            </a:r>
            <a:endParaRPr sz="1350" b="0" i="0" u="none" strike="noStrike" cap="none">
              <a:solidFill>
                <a:srgbClr val="000000"/>
              </a:solidFill>
              <a:latin typeface="DM Sans"/>
              <a:ea typeface="DM Sans"/>
              <a:cs typeface="DM Sans"/>
              <a:sym typeface="DM Sans"/>
            </a:endParaRPr>
          </a:p>
        </p:txBody>
      </p:sp>
      <p:pic>
        <p:nvPicPr>
          <p:cNvPr id="147" name="Google Shape;147;p34"/>
          <p:cNvPicPr preferRelativeResize="0"/>
          <p:nvPr/>
        </p:nvPicPr>
        <p:blipFill rotWithShape="1">
          <a:blip r:embed="rId3">
            <a:alphaModFix/>
          </a:blip>
          <a:srcRect/>
          <a:stretch/>
        </p:blipFill>
        <p:spPr>
          <a:xfrm>
            <a:off x="4307947" y="1510292"/>
            <a:ext cx="4366378" cy="2637300"/>
          </a:xfrm>
          <a:prstGeom prst="rect">
            <a:avLst/>
          </a:prstGeom>
          <a:noFill/>
          <a:ln>
            <a:noFill/>
          </a:ln>
        </p:spPr>
      </p:pic>
      <p:sp>
        <p:nvSpPr>
          <p:cNvPr id="2" name="Rectángulo 1">
            <a:extLst>
              <a:ext uri="{FF2B5EF4-FFF2-40B4-BE49-F238E27FC236}">
                <a16:creationId xmlns:a16="http://schemas.microsoft.com/office/drawing/2014/main" id="{4E3A824F-41C0-1919-C6F2-59C165C11BB5}"/>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35"/>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Métodos</a:t>
            </a:r>
            <a:endParaRPr sz="4000" b="1" i="0" u="none" strike="noStrike" cap="none">
              <a:solidFill>
                <a:schemeClr val="dk1"/>
              </a:solidFill>
              <a:latin typeface="DM Sans"/>
              <a:ea typeface="DM Sans"/>
              <a:cs typeface="DM Sans"/>
              <a:sym typeface="DM Sans"/>
            </a:endParaRPr>
          </a:p>
        </p:txBody>
      </p:sp>
      <p:sp>
        <p:nvSpPr>
          <p:cNvPr id="153" name="Google Shape;153;p35"/>
          <p:cNvSpPr txBox="1"/>
          <p:nvPr/>
        </p:nvSpPr>
        <p:spPr>
          <a:xfrm>
            <a:off x="473350" y="1564100"/>
            <a:ext cx="81411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Por otro lado, las </a:t>
            </a:r>
            <a:r>
              <a:rPr lang="es" sz="1350" b="1" i="0" u="none" strike="noStrike" cap="none">
                <a:solidFill>
                  <a:srgbClr val="000000"/>
                </a:solidFill>
                <a:highlight>
                  <a:schemeClr val="accent6"/>
                </a:highlight>
                <a:latin typeface="DM Sans"/>
                <a:ea typeface="DM Sans"/>
                <a:cs typeface="DM Sans"/>
                <a:sym typeface="DM Sans"/>
              </a:rPr>
              <a:t>clases</a:t>
            </a:r>
            <a:r>
              <a:rPr lang="es" sz="1350" b="0" i="0" u="none" strike="noStrike" cap="none">
                <a:solidFill>
                  <a:srgbClr val="000000"/>
                </a:solidFill>
                <a:highlight>
                  <a:schemeClr val="accent6"/>
                </a:highlight>
                <a:latin typeface="DM Sans"/>
                <a:ea typeface="DM Sans"/>
                <a:cs typeface="DM Sans"/>
                <a:sym typeface="DM Sans"/>
              </a:rPr>
              <a:t> tienen un conjunto de funcionalidades.</a:t>
            </a:r>
            <a:r>
              <a:rPr lang="es" sz="1350" b="0" i="0" u="none" strike="noStrike" cap="none">
                <a:solidFill>
                  <a:srgbClr val="000000"/>
                </a:solidFill>
                <a:latin typeface="DM Sans"/>
                <a:ea typeface="DM Sans"/>
                <a:cs typeface="DM Sans"/>
                <a:sym typeface="DM Sans"/>
              </a:rPr>
              <a:t> En el caso de la computadora  podría ser imprimir o reproducir. Llamaremos a estas funcionalidades</a:t>
            </a:r>
            <a:r>
              <a:rPr lang="es" sz="1350" b="1" i="0" u="none" strike="noStrike" cap="none">
                <a:solidFill>
                  <a:srgbClr val="000000"/>
                </a:solidFill>
                <a:highlight>
                  <a:schemeClr val="accent6"/>
                </a:highlight>
                <a:latin typeface="DM Sans"/>
                <a:ea typeface="DM Sans"/>
                <a:cs typeface="DM Sans"/>
                <a:sym typeface="DM Sans"/>
              </a:rPr>
              <a:t> métodos.</a:t>
            </a:r>
            <a:endParaRPr sz="1350" b="1" i="0" u="none" strike="noStrike" cap="none">
              <a:solidFill>
                <a:srgbClr val="000000"/>
              </a:solidFill>
              <a:highlight>
                <a:schemeClr val="accent6"/>
              </a:highlight>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p:txBody>
      </p:sp>
      <p:pic>
        <p:nvPicPr>
          <p:cNvPr id="154" name="Google Shape;154;p35" descr="Concepto o definición de herencia en Java (programación orientada a objetos).  ¿Qué es? Ejemplos (CU00684B)"/>
          <p:cNvPicPr preferRelativeResize="0"/>
          <p:nvPr/>
        </p:nvPicPr>
        <p:blipFill rotWithShape="1">
          <a:blip r:embed="rId3">
            <a:alphaModFix/>
          </a:blip>
          <a:srcRect/>
          <a:stretch/>
        </p:blipFill>
        <p:spPr>
          <a:xfrm>
            <a:off x="2133200" y="2341625"/>
            <a:ext cx="4821400" cy="2249425"/>
          </a:xfrm>
          <a:prstGeom prst="rect">
            <a:avLst/>
          </a:prstGeom>
          <a:noFill/>
          <a:ln>
            <a:noFill/>
          </a:ln>
        </p:spPr>
      </p:pic>
      <p:sp>
        <p:nvSpPr>
          <p:cNvPr id="2" name="Rectángulo 1">
            <a:extLst>
              <a:ext uri="{FF2B5EF4-FFF2-40B4-BE49-F238E27FC236}">
                <a16:creationId xmlns:a16="http://schemas.microsoft.com/office/drawing/2014/main" id="{8B599D56-0752-E1D5-D916-04D00F1B8A98}"/>
              </a:ext>
            </a:extLst>
          </p:cNvPr>
          <p:cNvSpPr/>
          <p:nvPr/>
        </p:nvSpPr>
        <p:spPr>
          <a:xfrm>
            <a:off x="0" y="4591050"/>
            <a:ext cx="9144000" cy="5524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6"/>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Objetos</a:t>
            </a:r>
            <a:endParaRPr sz="4000" b="1" i="0" u="none" strike="noStrike" cap="none">
              <a:solidFill>
                <a:schemeClr val="dk1"/>
              </a:solidFill>
              <a:latin typeface="DM Sans"/>
              <a:ea typeface="DM Sans"/>
              <a:cs typeface="DM Sans"/>
              <a:sym typeface="DM Sans"/>
            </a:endParaRPr>
          </a:p>
        </p:txBody>
      </p:sp>
      <p:sp>
        <p:nvSpPr>
          <p:cNvPr id="160" name="Google Shape;160;p36"/>
          <p:cNvSpPr txBox="1"/>
          <p:nvPr/>
        </p:nvSpPr>
        <p:spPr>
          <a:xfrm>
            <a:off x="476250" y="2167650"/>
            <a:ext cx="38880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Por último, pueden existir diferentes tipos de computadoras. Llamaremos a estos diferentes tipos de computadoras objetos. </a:t>
            </a:r>
            <a:endParaRPr sz="1350" b="1" i="0" u="none" strike="noStrike" cap="none">
              <a:solidFill>
                <a:srgbClr val="000000"/>
              </a:solidFill>
              <a:highlight>
                <a:schemeClr val="accent6"/>
              </a:highlight>
              <a:latin typeface="DM Sans"/>
              <a:ea typeface="DM Sans"/>
              <a:cs typeface="DM Sans"/>
              <a:sym typeface="DM Sans"/>
            </a:endParaRPr>
          </a:p>
        </p:txBody>
      </p:sp>
      <p:sp>
        <p:nvSpPr>
          <p:cNvPr id="161" name="Google Shape;161;p36"/>
          <p:cNvSpPr txBox="1"/>
          <p:nvPr/>
        </p:nvSpPr>
        <p:spPr>
          <a:xfrm>
            <a:off x="4692325" y="2212275"/>
            <a:ext cx="38121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chemeClr val="dk1"/>
                </a:solidFill>
                <a:latin typeface="DM Sans"/>
                <a:ea typeface="DM Sans"/>
                <a:cs typeface="DM Sans"/>
                <a:sym typeface="DM Sans"/>
              </a:rPr>
              <a:t>Es decir, </a:t>
            </a:r>
            <a:r>
              <a:rPr lang="es" sz="1350" b="1" i="0" u="none" strike="noStrike" cap="none">
                <a:solidFill>
                  <a:schemeClr val="dk1"/>
                </a:solidFill>
                <a:highlight>
                  <a:schemeClr val="accent6"/>
                </a:highlight>
                <a:latin typeface="DM Sans"/>
                <a:ea typeface="DM Sans"/>
                <a:cs typeface="DM Sans"/>
                <a:sym typeface="DM Sans"/>
              </a:rPr>
              <a:t>el concepto abstracto de computadora es la clase, pero cualquier tipo de computadora particular será el objeto.</a:t>
            </a:r>
            <a:endParaRPr sz="1400" b="0" i="0" u="none" strike="noStrike" cap="none">
              <a:solidFill>
                <a:srgbClr val="000000"/>
              </a:solidFill>
              <a:latin typeface="Arial"/>
              <a:ea typeface="Arial"/>
              <a:cs typeface="Arial"/>
              <a:sym typeface="Arial"/>
            </a:endParaRPr>
          </a:p>
        </p:txBody>
      </p:sp>
      <p:sp>
        <p:nvSpPr>
          <p:cNvPr id="2" name="Rectángulo 1">
            <a:extLst>
              <a:ext uri="{FF2B5EF4-FFF2-40B4-BE49-F238E27FC236}">
                <a16:creationId xmlns:a16="http://schemas.microsoft.com/office/drawing/2014/main" id="{2C2237A8-1B96-BBCC-E1AF-BD6A19D80CED}"/>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7"/>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¿Para qué usar la POO?</a:t>
            </a:r>
            <a:endParaRPr sz="4000" b="1" i="0" u="none" strike="noStrike" cap="none">
              <a:solidFill>
                <a:schemeClr val="dk1"/>
              </a:solidFill>
              <a:latin typeface="DM Sans"/>
              <a:ea typeface="DM Sans"/>
              <a:cs typeface="DM Sans"/>
              <a:sym typeface="DM Sans"/>
            </a:endParaRPr>
          </a:p>
        </p:txBody>
      </p:sp>
      <p:sp>
        <p:nvSpPr>
          <p:cNvPr id="167" name="Google Shape;167;p37"/>
          <p:cNvSpPr txBox="1"/>
          <p:nvPr/>
        </p:nvSpPr>
        <p:spPr>
          <a:xfrm>
            <a:off x="476250" y="2223125"/>
            <a:ext cx="38346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En el mundo de la programación hay gran cantidad de aplicaciones que realizan tareas muy similares y es importante identificar los patrones que nos permiten no reinventar la rueda. La programación orientada a objetos intentaba resolver esto.</a:t>
            </a:r>
            <a:endParaRPr sz="1350" b="0" i="0" u="none" strike="noStrike" cap="none">
              <a:solidFill>
                <a:srgbClr val="000000"/>
              </a:solidFill>
              <a:latin typeface="DM Sans"/>
              <a:ea typeface="DM Sans"/>
              <a:cs typeface="DM Sans"/>
              <a:sym typeface="DM Sans"/>
            </a:endParaRPr>
          </a:p>
        </p:txBody>
      </p:sp>
      <p:pic>
        <p:nvPicPr>
          <p:cNvPr id="168" name="Google Shape;168;p37"/>
          <p:cNvPicPr preferRelativeResize="0"/>
          <p:nvPr/>
        </p:nvPicPr>
        <p:blipFill rotWithShape="1">
          <a:blip r:embed="rId3">
            <a:alphaModFix/>
          </a:blip>
          <a:srcRect/>
          <a:stretch/>
        </p:blipFill>
        <p:spPr>
          <a:xfrm>
            <a:off x="5076976" y="1358424"/>
            <a:ext cx="3406000" cy="3161000"/>
          </a:xfrm>
          <a:prstGeom prst="rect">
            <a:avLst/>
          </a:prstGeom>
          <a:noFill/>
          <a:ln>
            <a:noFill/>
          </a:ln>
        </p:spPr>
      </p:pic>
      <p:sp>
        <p:nvSpPr>
          <p:cNvPr id="169" name="Google Shape;169;p37"/>
          <p:cNvSpPr txBox="1"/>
          <p:nvPr/>
        </p:nvSpPr>
        <p:spPr>
          <a:xfrm>
            <a:off x="476250" y="4591050"/>
            <a:ext cx="40419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4"/>
              </a:rPr>
              <a:t>ellibrodepython.com </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28ECCAA7-E344-58E7-CADC-B10FE356D89E}"/>
              </a:ext>
            </a:extLst>
          </p:cNvPr>
          <p:cNvSpPr/>
          <p:nvPr/>
        </p:nvSpPr>
        <p:spPr>
          <a:xfrm>
            <a:off x="0" y="4591050"/>
            <a:ext cx="9144000" cy="5524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grpSp>
        <p:nvGrpSpPr>
          <p:cNvPr id="174" name="Google Shape;174;p38"/>
          <p:cNvGrpSpPr/>
          <p:nvPr/>
        </p:nvGrpSpPr>
        <p:grpSpPr>
          <a:xfrm>
            <a:off x="457338" y="468286"/>
            <a:ext cx="431100" cy="431100"/>
            <a:chOff x="4616400" y="1950761"/>
            <a:chExt cx="431100" cy="431100"/>
          </a:xfrm>
        </p:grpSpPr>
        <p:sp>
          <p:nvSpPr>
            <p:cNvPr id="175" name="Google Shape;175;p38"/>
            <p:cNvSpPr/>
            <p:nvPr/>
          </p:nvSpPr>
          <p:spPr>
            <a:xfrm>
              <a:off x="4616400" y="1950761"/>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76" name="Google Shape;176;p38" title="ícono para recordar"/>
            <p:cNvPicPr preferRelativeResize="0"/>
            <p:nvPr/>
          </p:nvPicPr>
          <p:blipFill rotWithShape="1">
            <a:blip r:embed="rId3">
              <a:alphaModFix/>
            </a:blip>
            <a:srcRect/>
            <a:stretch/>
          </p:blipFill>
          <p:spPr>
            <a:xfrm>
              <a:off x="4699911" y="2034249"/>
              <a:ext cx="264076" cy="264076"/>
            </a:xfrm>
            <a:prstGeom prst="rect">
              <a:avLst/>
            </a:prstGeom>
            <a:noFill/>
            <a:ln>
              <a:noFill/>
            </a:ln>
          </p:spPr>
        </p:pic>
      </p:grpSp>
      <p:sp>
        <p:nvSpPr>
          <p:cNvPr id="177" name="Google Shape;177;p38"/>
          <p:cNvSpPr txBox="1"/>
          <p:nvPr/>
        </p:nvSpPr>
        <p:spPr>
          <a:xfrm>
            <a:off x="466800" y="1489700"/>
            <a:ext cx="8210400" cy="287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a:solidFill>
                  <a:schemeClr val="lt1"/>
                </a:solidFill>
                <a:latin typeface="DM Sans"/>
                <a:ea typeface="DM Sans"/>
                <a:cs typeface="DM Sans"/>
                <a:sym typeface="DM Sans"/>
              </a:rPr>
              <a:t>Python está diseñado para soportar el paradigma de </a:t>
            </a:r>
            <a:r>
              <a:rPr lang="es" sz="2500" b="0" i="0" u="none" strike="noStrike" cap="none">
                <a:solidFill>
                  <a:schemeClr val="accent6"/>
                </a:solidFill>
                <a:latin typeface="DM Sans"/>
                <a:ea typeface="DM Sans"/>
                <a:cs typeface="DM Sans"/>
                <a:sym typeface="DM Sans"/>
              </a:rPr>
              <a:t>la programación orientado a objetos (POO)</a:t>
            </a:r>
            <a:r>
              <a:rPr lang="es" sz="2500" b="0" i="0" u="none" strike="noStrike" cap="none">
                <a:solidFill>
                  <a:schemeClr val="lt1"/>
                </a:solidFill>
                <a:latin typeface="DM Sans"/>
                <a:ea typeface="DM Sans"/>
                <a:cs typeface="DM Sans"/>
                <a:sym typeface="DM Sans"/>
              </a:rPr>
              <a:t>, donde </a:t>
            </a:r>
            <a:r>
              <a:rPr lang="es" sz="2500" b="0" i="0" u="none" strike="noStrike" cap="none">
                <a:solidFill>
                  <a:schemeClr val="accent6"/>
                </a:solidFill>
                <a:latin typeface="DM Sans"/>
                <a:ea typeface="DM Sans"/>
                <a:cs typeface="DM Sans"/>
                <a:sym typeface="DM Sans"/>
              </a:rPr>
              <a:t>todos los módulos se tratan como entidades que tienen atributos, y comportamiento.</a:t>
            </a:r>
            <a:r>
              <a:rPr lang="es" sz="2500" b="0" i="0" u="none" strike="noStrike" cap="none">
                <a:solidFill>
                  <a:schemeClr val="lt1"/>
                </a:solidFill>
                <a:latin typeface="DM Sans"/>
                <a:ea typeface="DM Sans"/>
                <a:cs typeface="DM Sans"/>
                <a:sym typeface="DM Sans"/>
              </a:rPr>
              <a:t> Lo cual, en muchos casos, ayuda a crear programas de una manera sencilla, además de que los componentes son reutilizables.</a:t>
            </a:r>
            <a:endParaRPr sz="2500" b="0" i="0" u="none" strike="noStrike" cap="none">
              <a:solidFill>
                <a:schemeClr val="lt1"/>
              </a:solidFill>
              <a:latin typeface="DM Sans"/>
              <a:ea typeface="DM Sans"/>
              <a:cs typeface="DM Sans"/>
              <a:sym typeface="DM Sans"/>
            </a:endParaRPr>
          </a:p>
        </p:txBody>
      </p:sp>
      <p:sp>
        <p:nvSpPr>
          <p:cNvPr id="178" name="Google Shape;178;p38"/>
          <p:cNvSpPr txBox="1"/>
          <p:nvPr/>
        </p:nvSpPr>
        <p:spPr>
          <a:xfrm>
            <a:off x="930550" y="468275"/>
            <a:ext cx="29175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lt1"/>
                </a:solidFill>
                <a:latin typeface="DM Sans"/>
                <a:ea typeface="DM Sans"/>
                <a:cs typeface="DM Sans"/>
                <a:sym typeface="DM Sans"/>
              </a:rPr>
              <a:t>PARA RECORDAR</a:t>
            </a:r>
            <a:endParaRPr sz="1400" b="0"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5B1155D8-9D6E-F1A3-B072-65BD9F3C68EE}"/>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9"/>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accent5"/>
                </a:solidFill>
                <a:latin typeface="DM Sans"/>
                <a:ea typeface="DM Sans"/>
                <a:cs typeface="DM Sans"/>
                <a:sym typeface="DM Sans"/>
              </a:rPr>
              <a:t>Clases</a:t>
            </a:r>
            <a:endParaRPr sz="4000" b="1"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7ED08B57-8191-9ACB-ABCF-FD66FD8DB920}"/>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0"/>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Uso de POO: clases</a:t>
            </a:r>
            <a:endParaRPr sz="4000" b="1" i="0" u="none" strike="noStrike" cap="none">
              <a:solidFill>
                <a:schemeClr val="dk1"/>
              </a:solidFill>
              <a:latin typeface="DM Sans"/>
              <a:ea typeface="DM Sans"/>
              <a:cs typeface="DM Sans"/>
              <a:sym typeface="DM Sans"/>
            </a:endParaRPr>
          </a:p>
        </p:txBody>
      </p:sp>
      <p:sp>
        <p:nvSpPr>
          <p:cNvPr id="189" name="Google Shape;189;p40"/>
          <p:cNvSpPr txBox="1"/>
          <p:nvPr/>
        </p:nvSpPr>
        <p:spPr>
          <a:xfrm>
            <a:off x="476250" y="2167650"/>
            <a:ext cx="81915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Lo primero es crear una clase, a la cual llamaremos “perro”. Se trata de una clase vacía y sin mucha utilidad práctica, pero es la mínima clase que podemos crear. El uso del PASS realmente no tiene utilidad, pero daría un error si después de los : no tenemos contenido.</a:t>
            </a:r>
            <a:endParaRPr sz="1350" b="0" i="0" u="none" strike="noStrike" cap="none">
              <a:solidFill>
                <a:srgbClr val="000000"/>
              </a:solidFill>
              <a:latin typeface="DM Sans"/>
              <a:ea typeface="DM Sans"/>
              <a:cs typeface="DM Sans"/>
              <a:sym typeface="DM Sans"/>
            </a:endParaRPr>
          </a:p>
        </p:txBody>
      </p:sp>
      <p:pic>
        <p:nvPicPr>
          <p:cNvPr id="190" name="Google Shape;190;p40" descr="Interfaz de usuario gráfica, Texto, Aplicación, Chat o mensaje de texto&#10;&#10;Descripción generada automáticamente"/>
          <p:cNvPicPr preferRelativeResize="0"/>
          <p:nvPr/>
        </p:nvPicPr>
        <p:blipFill rotWithShape="1">
          <a:blip r:embed="rId3">
            <a:alphaModFix/>
          </a:blip>
          <a:srcRect l="30599" t="31641" r="8709" b="33808"/>
          <a:stretch/>
        </p:blipFill>
        <p:spPr>
          <a:xfrm>
            <a:off x="3301152" y="3390516"/>
            <a:ext cx="2407445" cy="764382"/>
          </a:xfrm>
          <a:prstGeom prst="rect">
            <a:avLst/>
          </a:prstGeom>
          <a:noFill/>
          <a:ln>
            <a:noFill/>
          </a:ln>
        </p:spPr>
      </p:pic>
      <p:sp>
        <p:nvSpPr>
          <p:cNvPr id="191" name="Google Shape;191;p40"/>
          <p:cNvSpPr txBox="1"/>
          <p:nvPr/>
        </p:nvSpPr>
        <p:spPr>
          <a:xfrm>
            <a:off x="4733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4"/>
              </a:rPr>
              <a:t>ElLibroDePython</a:t>
            </a:r>
            <a:endParaRPr sz="1100" b="0" i="0" u="none" strike="noStrike" cap="none">
              <a:solidFill>
                <a:schemeClr val="accent5"/>
              </a:solidFill>
              <a:latin typeface="DM Sans"/>
              <a:ea typeface="DM Sans"/>
              <a:cs typeface="DM Sans"/>
              <a:sym typeface="DM Sans"/>
            </a:endParaRPr>
          </a:p>
        </p:txBody>
      </p:sp>
      <p:grpSp>
        <p:nvGrpSpPr>
          <p:cNvPr id="192" name="Google Shape;192;p40"/>
          <p:cNvGrpSpPr/>
          <p:nvPr/>
        </p:nvGrpSpPr>
        <p:grpSpPr>
          <a:xfrm>
            <a:off x="7928851" y="468323"/>
            <a:ext cx="738900" cy="738900"/>
            <a:chOff x="473351" y="619523"/>
            <a:chExt cx="738900" cy="738900"/>
          </a:xfrm>
        </p:grpSpPr>
        <p:sp>
          <p:nvSpPr>
            <p:cNvPr id="193" name="Google Shape;193;p40"/>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4" name="Google Shape;194;p40" title="ícono de ejemplo en vivo"/>
            <p:cNvPicPr preferRelativeResize="0"/>
            <p:nvPr/>
          </p:nvPicPr>
          <p:blipFill rotWithShape="1">
            <a:blip r:embed="rId5">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2D0F9982-9F1D-6075-3DD8-1C668A556006}"/>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41"/>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Instanciar una clase</a:t>
            </a:r>
            <a:endParaRPr sz="4000" b="1" i="0" u="none" strike="noStrike" cap="none">
              <a:solidFill>
                <a:schemeClr val="dk1"/>
              </a:solidFill>
              <a:latin typeface="DM Sans"/>
              <a:ea typeface="DM Sans"/>
              <a:cs typeface="DM Sans"/>
              <a:sym typeface="DM Sans"/>
            </a:endParaRPr>
          </a:p>
        </p:txBody>
      </p:sp>
      <p:sp>
        <p:nvSpPr>
          <p:cNvPr id="200" name="Google Shape;200;p41"/>
          <p:cNvSpPr txBox="1"/>
          <p:nvPr/>
        </p:nvSpPr>
        <p:spPr>
          <a:xfrm>
            <a:off x="476250" y="1576500"/>
            <a:ext cx="81915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Ahora que tenemos la clase, podemos crear uno o más objetos de la misma, como si de una variable normal se tratase. </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Nombre de la variable igual a la clase con ( ). Dentro de los paréntesis irían los parámetros de entrada si los hubiera.</a:t>
            </a:r>
            <a:endParaRPr sz="1350" b="0" i="0" u="none" strike="noStrike" cap="none">
              <a:solidFill>
                <a:srgbClr val="000000"/>
              </a:solidFill>
              <a:latin typeface="DM Sans"/>
              <a:ea typeface="DM Sans"/>
              <a:cs typeface="DM Sans"/>
              <a:sym typeface="DM Sans"/>
            </a:endParaRPr>
          </a:p>
        </p:txBody>
      </p:sp>
      <p:sp>
        <p:nvSpPr>
          <p:cNvPr id="201" name="Google Shape;201;p41"/>
          <p:cNvSpPr txBox="1"/>
          <p:nvPr/>
        </p:nvSpPr>
        <p:spPr>
          <a:xfrm>
            <a:off x="473350" y="4591050"/>
            <a:ext cx="300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3"/>
              </a:rPr>
              <a:t>ElLibroDePython</a:t>
            </a:r>
            <a:endParaRPr sz="1100" b="0" i="0" u="none" strike="noStrike" cap="none">
              <a:solidFill>
                <a:schemeClr val="accent5"/>
              </a:solidFill>
              <a:latin typeface="DM Sans"/>
              <a:ea typeface="DM Sans"/>
              <a:cs typeface="DM Sans"/>
              <a:sym typeface="DM Sans"/>
            </a:endParaRPr>
          </a:p>
        </p:txBody>
      </p:sp>
      <p:grpSp>
        <p:nvGrpSpPr>
          <p:cNvPr id="202" name="Google Shape;202;p41"/>
          <p:cNvGrpSpPr/>
          <p:nvPr/>
        </p:nvGrpSpPr>
        <p:grpSpPr>
          <a:xfrm>
            <a:off x="7928851" y="468323"/>
            <a:ext cx="738900" cy="738900"/>
            <a:chOff x="473351" y="619523"/>
            <a:chExt cx="738900" cy="738900"/>
          </a:xfrm>
        </p:grpSpPr>
        <p:sp>
          <p:nvSpPr>
            <p:cNvPr id="203" name="Google Shape;203;p41"/>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4" name="Google Shape;204;p41" title="ícono de ejemplo en vivo"/>
            <p:cNvPicPr preferRelativeResize="0"/>
            <p:nvPr/>
          </p:nvPicPr>
          <p:blipFill rotWithShape="1">
            <a:blip r:embed="rId4">
              <a:alphaModFix/>
            </a:blip>
            <a:srcRect/>
            <a:stretch/>
          </p:blipFill>
          <p:spPr>
            <a:xfrm>
              <a:off x="616475" y="762650"/>
              <a:ext cx="452650" cy="452650"/>
            </a:xfrm>
            <a:prstGeom prst="rect">
              <a:avLst/>
            </a:prstGeom>
            <a:noFill/>
            <a:ln>
              <a:noFill/>
            </a:ln>
          </p:spPr>
        </p:pic>
      </p:grpSp>
      <p:pic>
        <p:nvPicPr>
          <p:cNvPr id="205" name="Google Shape;205;p41" descr="Interfaz de usuario gráfica, Texto&#10;&#10;Descripción generada automáticamente"/>
          <p:cNvPicPr preferRelativeResize="0"/>
          <p:nvPr/>
        </p:nvPicPr>
        <p:blipFill rotWithShape="1">
          <a:blip r:embed="rId5">
            <a:alphaModFix/>
          </a:blip>
          <a:srcRect l="13741" t="8926" r="6321" b="10218"/>
          <a:stretch/>
        </p:blipFill>
        <p:spPr>
          <a:xfrm>
            <a:off x="3257350" y="2810375"/>
            <a:ext cx="2427575" cy="1780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42"/>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accent6"/>
                </a:solidFill>
                <a:latin typeface="DM Sans"/>
                <a:ea typeface="DM Sans"/>
                <a:cs typeface="DM Sans"/>
                <a:sym typeface="DM Sans"/>
              </a:rPr>
              <a:t>Atributos</a:t>
            </a:r>
            <a:endParaRPr sz="4000" b="1" i="0" u="none" strike="noStrike" cap="none">
              <a:solidFill>
                <a:schemeClr val="accent6"/>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8074A46E-CA07-1D94-E43C-ABC44B2A1344}"/>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43"/>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Asignando atributos</a:t>
            </a:r>
            <a:endParaRPr sz="4000" b="1" i="0" u="none" strike="noStrike" cap="none">
              <a:solidFill>
                <a:schemeClr val="dk1"/>
              </a:solidFill>
              <a:latin typeface="DM Sans"/>
              <a:ea typeface="DM Sans"/>
              <a:cs typeface="DM Sans"/>
              <a:sym typeface="DM Sans"/>
            </a:endParaRPr>
          </a:p>
        </p:txBody>
      </p:sp>
      <p:sp>
        <p:nvSpPr>
          <p:cNvPr id="216" name="Google Shape;216;p43"/>
          <p:cNvSpPr txBox="1"/>
          <p:nvPr/>
        </p:nvSpPr>
        <p:spPr>
          <a:xfrm>
            <a:off x="473350" y="1908175"/>
            <a:ext cx="8194500" cy="184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 la hora de añadir atributos a la clase, es importante distinguir dos tipos:</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rgbClr val="EA90FF"/>
              </a:buClr>
              <a:buSzPts val="1350"/>
              <a:buFont typeface="DM Sans"/>
              <a:buChar char="✓"/>
            </a:pPr>
            <a:r>
              <a:rPr lang="es" sz="1350" b="1" i="0" u="none" strike="noStrike" cap="none">
                <a:solidFill>
                  <a:srgbClr val="000000"/>
                </a:solidFill>
                <a:highlight>
                  <a:schemeClr val="accent4"/>
                </a:highlight>
                <a:latin typeface="DM Sans"/>
                <a:ea typeface="DM Sans"/>
                <a:cs typeface="DM Sans"/>
                <a:sym typeface="DM Sans"/>
              </a:rPr>
              <a:t>Atributos de instancia:</a:t>
            </a:r>
            <a:r>
              <a:rPr lang="es" sz="1350" b="0" i="0" u="none" strike="noStrike" cap="none">
                <a:solidFill>
                  <a:srgbClr val="000000"/>
                </a:solidFill>
                <a:latin typeface="DM Sans"/>
                <a:ea typeface="DM Sans"/>
                <a:cs typeface="DM Sans"/>
                <a:sym typeface="DM Sans"/>
              </a:rPr>
              <a:t> Pertenecen a la instancia de la clase o al objeto. Son atributos particulares de cada instancia, en nuestro caso de cada perro.</a:t>
            </a:r>
            <a:endParaRPr sz="1350" b="0" i="0" u="none" strike="noStrike" cap="none">
              <a:solidFill>
                <a:srgbClr val="000000"/>
              </a:solidFill>
              <a:latin typeface="DM Sans"/>
              <a:ea typeface="DM Sans"/>
              <a:cs typeface="DM Sans"/>
              <a:sym typeface="DM Sans"/>
            </a:endParaRPr>
          </a:p>
          <a:p>
            <a:pPr marL="45720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rgbClr val="EA90FF"/>
              </a:buClr>
              <a:buSzPts val="1350"/>
              <a:buFont typeface="DM Sans"/>
              <a:buChar char="✓"/>
            </a:pPr>
            <a:r>
              <a:rPr lang="es" sz="1350" b="1" i="0" u="none" strike="noStrike" cap="none">
                <a:solidFill>
                  <a:srgbClr val="000000"/>
                </a:solidFill>
                <a:highlight>
                  <a:schemeClr val="accent4"/>
                </a:highlight>
                <a:latin typeface="DM Sans"/>
                <a:ea typeface="DM Sans"/>
                <a:cs typeface="DM Sans"/>
                <a:sym typeface="DM Sans"/>
              </a:rPr>
              <a:t>Atributos de clase:</a:t>
            </a:r>
            <a:r>
              <a:rPr lang="es" sz="1350" b="0" i="0" u="none" strike="noStrike" cap="none">
                <a:solidFill>
                  <a:srgbClr val="000000"/>
                </a:solidFill>
                <a:latin typeface="DM Sans"/>
                <a:ea typeface="DM Sans"/>
                <a:cs typeface="DM Sans"/>
                <a:sym typeface="DM Sans"/>
              </a:rPr>
              <a:t> Se trata de atributos que pertenecen a la clase, por lo tanto serán comunes para todos los objetos.</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2EA26FCB-5AA3-6C22-3B45-E1369333E17B}"/>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4"/>
          <p:cNvSpPr txBox="1"/>
          <p:nvPr/>
        </p:nvSpPr>
        <p:spPr>
          <a:xfrm>
            <a:off x="473350" y="619525"/>
            <a:ext cx="81411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Asignando atributos de instancia</a:t>
            </a:r>
            <a:endParaRPr sz="4000" b="1" i="0" u="none" strike="noStrike" cap="none">
              <a:solidFill>
                <a:schemeClr val="dk1"/>
              </a:solidFill>
              <a:latin typeface="DM Sans"/>
              <a:ea typeface="DM Sans"/>
              <a:cs typeface="DM Sans"/>
              <a:sym typeface="DM Sans"/>
            </a:endParaRPr>
          </a:p>
        </p:txBody>
      </p:sp>
      <p:sp>
        <p:nvSpPr>
          <p:cNvPr id="222" name="Google Shape;222;p44"/>
          <p:cNvSpPr txBox="1"/>
          <p:nvPr/>
        </p:nvSpPr>
        <p:spPr>
          <a:xfrm>
            <a:off x="473350" y="1831975"/>
            <a:ext cx="81945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0" i="0" u="none" strike="noStrike" cap="none">
                <a:solidFill>
                  <a:srgbClr val="000000"/>
                </a:solidFill>
                <a:latin typeface="DM Sans"/>
                <a:ea typeface="DM Sans"/>
                <a:cs typeface="DM Sans"/>
                <a:sym typeface="DM Sans"/>
              </a:rPr>
              <a:t>Empecemos creando el nombre y la raza del perro. Esto se suele hacer por medio de un método </a:t>
            </a:r>
            <a:r>
              <a:rPr lang="es" sz="1350" b="1" i="0" u="none" strike="noStrike" cap="none">
                <a:solidFill>
                  <a:srgbClr val="000000"/>
                </a:solidFill>
                <a:highlight>
                  <a:schemeClr val="accent6"/>
                </a:highlight>
                <a:latin typeface="DM Sans"/>
                <a:ea typeface="DM Sans"/>
                <a:cs typeface="DM Sans"/>
                <a:sym typeface="DM Sans"/>
              </a:rPr>
              <a:t>__init__</a:t>
            </a:r>
            <a:r>
              <a:rPr lang="es" sz="1350" b="0" i="0" u="none" strike="noStrike" cap="none">
                <a:solidFill>
                  <a:srgbClr val="000000"/>
                </a:solidFill>
                <a:latin typeface="DM Sans"/>
                <a:ea typeface="DM Sans"/>
                <a:cs typeface="DM Sans"/>
                <a:sym typeface="DM Sans"/>
              </a:rPr>
              <a:t> que será llamado automáticamente cuando se cree un objeto. No se le puede cambiar el nombre y tiene su definición propia, “</a:t>
            </a:r>
            <a:r>
              <a:rPr lang="es" sz="1350" b="1" i="0" u="none" strike="noStrike" cap="none">
                <a:solidFill>
                  <a:srgbClr val="000000"/>
                </a:solidFill>
                <a:highlight>
                  <a:schemeClr val="accent6"/>
                </a:highlight>
                <a:latin typeface="DM Sans"/>
                <a:ea typeface="DM Sans"/>
                <a:cs typeface="DM Sans"/>
                <a:sym typeface="DM Sans"/>
              </a:rPr>
              <a:t>Constructor</a:t>
            </a:r>
            <a:r>
              <a:rPr lang="es" sz="1350" b="0" i="0" u="none" strike="noStrike" cap="none">
                <a:solidFill>
                  <a:srgbClr val="000000"/>
                </a:solidFill>
                <a:latin typeface="DM Sans"/>
                <a:ea typeface="DM Sans"/>
                <a:cs typeface="DM Sans"/>
                <a:sym typeface="DM Sans"/>
              </a:rPr>
              <a:t>”. </a:t>
            </a:r>
            <a:endParaRPr sz="1350" b="0" i="0" u="none" strike="noStrike" cap="none">
              <a:solidFill>
                <a:srgbClr val="000000"/>
              </a:solidFill>
              <a:latin typeface="DM Sans"/>
              <a:ea typeface="DM Sans"/>
              <a:cs typeface="DM Sans"/>
              <a:sym typeface="DM Sans"/>
            </a:endParaRPr>
          </a:p>
        </p:txBody>
      </p:sp>
      <p:grpSp>
        <p:nvGrpSpPr>
          <p:cNvPr id="223" name="Google Shape;223;p44"/>
          <p:cNvGrpSpPr/>
          <p:nvPr/>
        </p:nvGrpSpPr>
        <p:grpSpPr>
          <a:xfrm>
            <a:off x="7928851" y="468323"/>
            <a:ext cx="738900" cy="738900"/>
            <a:chOff x="473351" y="619523"/>
            <a:chExt cx="738900" cy="738900"/>
          </a:xfrm>
        </p:grpSpPr>
        <p:sp>
          <p:nvSpPr>
            <p:cNvPr id="224" name="Google Shape;224;p44"/>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5" name="Google Shape;225;p44"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pic>
        <p:nvPicPr>
          <p:cNvPr id="226" name="Google Shape;226;p44" descr="Texto&#10;&#10;Descripción generada automáticamente"/>
          <p:cNvPicPr preferRelativeResize="0"/>
          <p:nvPr/>
        </p:nvPicPr>
        <p:blipFill rotWithShape="1">
          <a:blip r:embed="rId4">
            <a:alphaModFix/>
          </a:blip>
          <a:srcRect/>
          <a:stretch/>
        </p:blipFill>
        <p:spPr>
          <a:xfrm>
            <a:off x="2556725" y="2813475"/>
            <a:ext cx="4331350" cy="1777575"/>
          </a:xfrm>
          <a:prstGeom prst="rect">
            <a:avLst/>
          </a:prstGeom>
          <a:noFill/>
          <a:ln>
            <a:noFill/>
          </a:ln>
        </p:spPr>
      </p:pic>
      <p:sp>
        <p:nvSpPr>
          <p:cNvPr id="2" name="Rectángulo 1">
            <a:extLst>
              <a:ext uri="{FF2B5EF4-FFF2-40B4-BE49-F238E27FC236}">
                <a16:creationId xmlns:a16="http://schemas.microsoft.com/office/drawing/2014/main" id="{9F8589D9-38BA-5350-1107-20EDAE40C2A8}"/>
              </a:ext>
            </a:extLst>
          </p:cNvPr>
          <p:cNvSpPr/>
          <p:nvPr/>
        </p:nvSpPr>
        <p:spPr>
          <a:xfrm>
            <a:off x="0" y="4675177"/>
            <a:ext cx="9144000" cy="46832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grpSp>
        <p:nvGrpSpPr>
          <p:cNvPr id="231" name="Google Shape;231;p45"/>
          <p:cNvGrpSpPr/>
          <p:nvPr/>
        </p:nvGrpSpPr>
        <p:grpSpPr>
          <a:xfrm>
            <a:off x="473371" y="619433"/>
            <a:ext cx="738905" cy="738905"/>
            <a:chOff x="575612" y="1950748"/>
            <a:chExt cx="431100" cy="431100"/>
          </a:xfrm>
        </p:grpSpPr>
        <p:sp>
          <p:nvSpPr>
            <p:cNvPr id="232" name="Google Shape;232;p45"/>
            <p:cNvSpPr/>
            <p:nvPr/>
          </p:nvSpPr>
          <p:spPr>
            <a:xfrm>
              <a:off x="575612" y="1950748"/>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3" name="Google Shape;233;p45" title="ícono para pensar"/>
            <p:cNvPicPr preferRelativeResize="0"/>
            <p:nvPr/>
          </p:nvPicPr>
          <p:blipFill rotWithShape="1">
            <a:blip r:embed="rId3">
              <a:alphaModFix/>
            </a:blip>
            <a:srcRect/>
            <a:stretch/>
          </p:blipFill>
          <p:spPr>
            <a:xfrm>
              <a:off x="655125" y="2030288"/>
              <a:ext cx="272000" cy="272000"/>
            </a:xfrm>
            <a:prstGeom prst="rect">
              <a:avLst/>
            </a:prstGeom>
            <a:noFill/>
            <a:ln>
              <a:noFill/>
            </a:ln>
          </p:spPr>
        </p:pic>
      </p:grpSp>
      <p:sp>
        <p:nvSpPr>
          <p:cNvPr id="234" name="Google Shape;234;p45"/>
          <p:cNvSpPr txBox="1"/>
          <p:nvPr/>
        </p:nvSpPr>
        <p:spPr>
          <a:xfrm>
            <a:off x="1445150" y="688825"/>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 sz="3500" b="1" i="0" u="none" strike="noStrike" cap="none">
                <a:solidFill>
                  <a:srgbClr val="EAFF6A"/>
                </a:solidFill>
                <a:latin typeface="DM Sans"/>
                <a:ea typeface="DM Sans"/>
                <a:cs typeface="DM Sans"/>
                <a:sym typeface="DM Sans"/>
              </a:rPr>
              <a:t>Para pensar</a:t>
            </a:r>
            <a:endParaRPr sz="3500" b="1" i="0" u="none" strike="noStrike" cap="none">
              <a:solidFill>
                <a:srgbClr val="EAFF6A"/>
              </a:solidFill>
              <a:latin typeface="DM Sans"/>
              <a:ea typeface="DM Sans"/>
              <a:cs typeface="DM Sans"/>
              <a:sym typeface="DM Sans"/>
            </a:endParaRPr>
          </a:p>
        </p:txBody>
      </p:sp>
      <p:sp>
        <p:nvSpPr>
          <p:cNvPr id="235" name="Google Shape;235;p45"/>
          <p:cNvSpPr txBox="1"/>
          <p:nvPr/>
        </p:nvSpPr>
        <p:spPr>
          <a:xfrm>
            <a:off x="473350" y="2287050"/>
            <a:ext cx="71694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a:solidFill>
                  <a:srgbClr val="B7B7B7"/>
                </a:solidFill>
                <a:latin typeface="DM Sans"/>
                <a:ea typeface="DM Sans"/>
                <a:cs typeface="DM Sans"/>
                <a:sym typeface="DM Sans"/>
              </a:rPr>
              <a:t>¿Para qué crees que se utiliza la variable SELF?</a:t>
            </a:r>
            <a:endParaRPr sz="2500" b="1" i="0" u="none" strike="noStrike" cap="none">
              <a:solidFill>
                <a:srgbClr val="B7B7B7"/>
              </a:solidFill>
              <a:latin typeface="Helvetica Neue"/>
              <a:ea typeface="Helvetica Neue"/>
              <a:cs typeface="Helvetica Neue"/>
              <a:sym typeface="Helvetica Neue"/>
            </a:endParaRPr>
          </a:p>
        </p:txBody>
      </p:sp>
      <p:sp>
        <p:nvSpPr>
          <p:cNvPr id="236" name="Google Shape;236;p45"/>
          <p:cNvSpPr txBox="1"/>
          <p:nvPr/>
        </p:nvSpPr>
        <p:spPr>
          <a:xfrm>
            <a:off x="473350" y="3640125"/>
            <a:ext cx="71694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1" i="0" u="none" strike="noStrike" cap="none">
                <a:solidFill>
                  <a:schemeClr val="lt1"/>
                </a:solidFill>
                <a:latin typeface="DM Sans"/>
                <a:ea typeface="DM Sans"/>
                <a:cs typeface="DM Sans"/>
                <a:sym typeface="DM Sans"/>
              </a:rPr>
              <a:t>¿Verdadero o falso?</a:t>
            </a:r>
            <a:endParaRPr sz="2000" b="0" i="0" u="none" strike="noStrike" cap="none">
              <a:solidFill>
                <a:srgbClr val="83AEFB"/>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6289E7FF-98AF-578D-DBDC-2812D895CB73}"/>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6"/>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¿Qué es el self?</a:t>
            </a:r>
            <a:endParaRPr sz="4000" b="1" i="0" u="none" strike="noStrike" cap="none">
              <a:solidFill>
                <a:schemeClr val="dk1"/>
              </a:solidFill>
              <a:latin typeface="DM Sans"/>
              <a:ea typeface="DM Sans"/>
              <a:cs typeface="DM Sans"/>
              <a:sym typeface="DM Sans"/>
            </a:endParaRPr>
          </a:p>
        </p:txBody>
      </p:sp>
      <p:sp>
        <p:nvSpPr>
          <p:cNvPr id="242" name="Google Shape;242;p46"/>
          <p:cNvSpPr txBox="1"/>
          <p:nvPr/>
        </p:nvSpPr>
        <p:spPr>
          <a:xfrm>
            <a:off x="473350" y="2148825"/>
            <a:ext cx="81411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Es una variable que representa la instancia de la clase, y deberá estar siempre ahí.</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El uso de </a:t>
            </a:r>
            <a:r>
              <a:rPr lang="es" sz="1350" b="1" i="0" u="none" strike="noStrike" cap="none">
                <a:solidFill>
                  <a:srgbClr val="000000"/>
                </a:solidFill>
                <a:highlight>
                  <a:schemeClr val="accent6"/>
                </a:highlight>
                <a:latin typeface="DM Sans"/>
                <a:ea typeface="DM Sans"/>
                <a:cs typeface="DM Sans"/>
                <a:sym typeface="DM Sans"/>
              </a:rPr>
              <a:t>__init__ </a:t>
            </a:r>
            <a:r>
              <a:rPr lang="es" sz="1350" b="0" i="0" u="none" strike="noStrike" cap="none">
                <a:solidFill>
                  <a:srgbClr val="000000"/>
                </a:solidFill>
                <a:latin typeface="DM Sans"/>
                <a:ea typeface="DM Sans"/>
                <a:cs typeface="DM Sans"/>
                <a:sym typeface="DM Sans"/>
              </a:rPr>
              <a:t>y el doble __ no es una coincidencia. Cuando veas un método con esa forma, significa que está reservado para un uso especial del lenguaje. En este caso sería lo que se conoce como </a:t>
            </a:r>
            <a:r>
              <a:rPr lang="es" sz="1350" b="1" i="0" u="none" strike="noStrike" cap="none">
                <a:solidFill>
                  <a:srgbClr val="000000"/>
                </a:solidFill>
                <a:latin typeface="DM Sans"/>
                <a:ea typeface="DM Sans"/>
                <a:cs typeface="DM Sans"/>
                <a:sym typeface="DM Sans"/>
              </a:rPr>
              <a:t>constructor. </a:t>
            </a:r>
            <a:endParaRPr sz="1350" b="1"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2B79C923-FC8C-4C87-7093-2D9B1A50D41E}"/>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47"/>
          <p:cNvSpPr txBox="1"/>
          <p:nvPr/>
        </p:nvSpPr>
        <p:spPr>
          <a:xfrm>
            <a:off x="473350" y="619525"/>
            <a:ext cx="59937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Asignando atributos de clase</a:t>
            </a:r>
            <a:endParaRPr sz="4000" b="1" i="0" u="none" strike="noStrike" cap="none">
              <a:solidFill>
                <a:schemeClr val="dk1"/>
              </a:solidFill>
              <a:latin typeface="DM Sans"/>
              <a:ea typeface="DM Sans"/>
              <a:cs typeface="DM Sans"/>
              <a:sym typeface="DM Sans"/>
            </a:endParaRPr>
          </a:p>
        </p:txBody>
      </p:sp>
      <p:sp>
        <p:nvSpPr>
          <p:cNvPr id="248" name="Google Shape;248;p47"/>
          <p:cNvSpPr txBox="1"/>
          <p:nvPr/>
        </p:nvSpPr>
        <p:spPr>
          <a:xfrm>
            <a:off x="476250" y="2118750"/>
            <a:ext cx="41109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Hasta ahora hemos definido atributos de instancia, ya que pertenecen a cada perro concreto. Ahora vamos a definir un atributo de clase, que será común para todos los perros. </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Por ejemplo, la especie de los perros es algo común para todos los objetos Perro.</a:t>
            </a:r>
            <a:endParaRPr sz="1350" b="1" i="0" u="none" strike="noStrike" cap="none">
              <a:solidFill>
                <a:srgbClr val="000000"/>
              </a:solidFill>
              <a:latin typeface="DM Sans"/>
              <a:ea typeface="DM Sans"/>
              <a:cs typeface="DM Sans"/>
              <a:sym typeface="DM Sans"/>
            </a:endParaRPr>
          </a:p>
        </p:txBody>
      </p:sp>
      <p:grpSp>
        <p:nvGrpSpPr>
          <p:cNvPr id="249" name="Google Shape;249;p47"/>
          <p:cNvGrpSpPr/>
          <p:nvPr/>
        </p:nvGrpSpPr>
        <p:grpSpPr>
          <a:xfrm>
            <a:off x="7928851" y="468323"/>
            <a:ext cx="738900" cy="738900"/>
            <a:chOff x="473351" y="619523"/>
            <a:chExt cx="738900" cy="738900"/>
          </a:xfrm>
        </p:grpSpPr>
        <p:sp>
          <p:nvSpPr>
            <p:cNvPr id="250" name="Google Shape;250;p47"/>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51" name="Google Shape;251;p47"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pic>
        <p:nvPicPr>
          <p:cNvPr id="252" name="Google Shape;252;p47" descr="Texto&#10;&#10;Descripción generada automáticamente"/>
          <p:cNvPicPr preferRelativeResize="0"/>
          <p:nvPr/>
        </p:nvPicPr>
        <p:blipFill rotWithShape="1">
          <a:blip r:embed="rId4">
            <a:alphaModFix/>
          </a:blip>
          <a:srcRect/>
          <a:stretch/>
        </p:blipFill>
        <p:spPr>
          <a:xfrm>
            <a:off x="5005000" y="1624274"/>
            <a:ext cx="3662750" cy="2751750"/>
          </a:xfrm>
          <a:prstGeom prst="rect">
            <a:avLst/>
          </a:prstGeom>
          <a:noFill/>
          <a:ln>
            <a:noFill/>
          </a:ln>
        </p:spPr>
      </p:pic>
      <p:sp>
        <p:nvSpPr>
          <p:cNvPr id="2" name="Rectángulo 1">
            <a:extLst>
              <a:ext uri="{FF2B5EF4-FFF2-40B4-BE49-F238E27FC236}">
                <a16:creationId xmlns:a16="http://schemas.microsoft.com/office/drawing/2014/main" id="{F3BD23FC-0489-9CAA-7ADD-7ECD77B0C10C}"/>
              </a:ext>
            </a:extLst>
          </p:cNvPr>
          <p:cNvSpPr/>
          <p:nvPr/>
        </p:nvSpPr>
        <p:spPr>
          <a:xfrm>
            <a:off x="0" y="4582249"/>
            <a:ext cx="9144000" cy="56125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8"/>
          <p:cNvSpPr txBox="1"/>
          <p:nvPr/>
        </p:nvSpPr>
        <p:spPr>
          <a:xfrm>
            <a:off x="473350" y="619525"/>
            <a:ext cx="59937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Asignando atributos de clase</a:t>
            </a:r>
            <a:endParaRPr sz="4000" b="1" i="0" u="none" strike="noStrike" cap="none">
              <a:solidFill>
                <a:schemeClr val="dk1"/>
              </a:solidFill>
              <a:latin typeface="DM Sans"/>
              <a:ea typeface="DM Sans"/>
              <a:cs typeface="DM Sans"/>
              <a:sym typeface="DM Sans"/>
            </a:endParaRPr>
          </a:p>
        </p:txBody>
      </p:sp>
      <p:sp>
        <p:nvSpPr>
          <p:cNvPr id="258" name="Google Shape;258;p48"/>
          <p:cNvSpPr txBox="1"/>
          <p:nvPr/>
        </p:nvSpPr>
        <p:spPr>
          <a:xfrm>
            <a:off x="476250" y="2118750"/>
            <a:ext cx="4110900" cy="226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Dado que es un atributo de clase, no es necesario crear un objeto para acceder al atributo. </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Se puede acceder también al atributo de clase desde el objeto.</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t>
            </a:r>
            <a:r>
              <a:rPr lang="es" sz="1350" b="0" i="1" u="none" strike="noStrike" cap="none">
                <a:solidFill>
                  <a:srgbClr val="000000"/>
                </a:solidFill>
                <a:latin typeface="DM Sans"/>
                <a:ea typeface="DM Sans"/>
                <a:cs typeface="DM Sans"/>
                <a:sym typeface="DM Sans"/>
              </a:rPr>
              <a:t>De esta manera, todos los objetos que se creen de la clase </a:t>
            </a:r>
            <a:r>
              <a:rPr lang="es" sz="1350" b="1" i="1" u="none" strike="noStrike" cap="none">
                <a:solidFill>
                  <a:srgbClr val="000000"/>
                </a:solidFill>
                <a:latin typeface="DM Sans"/>
                <a:ea typeface="DM Sans"/>
                <a:cs typeface="DM Sans"/>
                <a:sym typeface="DM Sans"/>
              </a:rPr>
              <a:t>perro</a:t>
            </a:r>
            <a:r>
              <a:rPr lang="es" sz="1350" b="0" i="1" u="none" strike="noStrike" cap="none">
                <a:solidFill>
                  <a:srgbClr val="000000"/>
                </a:solidFill>
                <a:latin typeface="DM Sans"/>
                <a:ea typeface="DM Sans"/>
                <a:cs typeface="DM Sans"/>
                <a:sym typeface="DM Sans"/>
              </a:rPr>
              <a:t> compartirán ese atributo de clase.</a:t>
            </a:r>
            <a:endParaRPr sz="1350" b="0" i="1" u="none" strike="noStrike" cap="none">
              <a:solidFill>
                <a:srgbClr val="000000"/>
              </a:solidFill>
              <a:latin typeface="DM Sans"/>
              <a:ea typeface="DM Sans"/>
              <a:cs typeface="DM Sans"/>
              <a:sym typeface="DM Sans"/>
            </a:endParaRPr>
          </a:p>
        </p:txBody>
      </p:sp>
      <p:grpSp>
        <p:nvGrpSpPr>
          <p:cNvPr id="259" name="Google Shape;259;p48"/>
          <p:cNvGrpSpPr/>
          <p:nvPr/>
        </p:nvGrpSpPr>
        <p:grpSpPr>
          <a:xfrm>
            <a:off x="7928851" y="468323"/>
            <a:ext cx="738900" cy="738900"/>
            <a:chOff x="473351" y="619523"/>
            <a:chExt cx="738900" cy="738900"/>
          </a:xfrm>
        </p:grpSpPr>
        <p:sp>
          <p:nvSpPr>
            <p:cNvPr id="260" name="Google Shape;260;p48"/>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1" name="Google Shape;261;p48"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pic>
        <p:nvPicPr>
          <p:cNvPr id="262" name="Google Shape;262;p48"/>
          <p:cNvPicPr preferRelativeResize="0"/>
          <p:nvPr/>
        </p:nvPicPr>
        <p:blipFill rotWithShape="1">
          <a:blip r:embed="rId4">
            <a:alphaModFix/>
          </a:blip>
          <a:srcRect r="67317"/>
          <a:stretch/>
        </p:blipFill>
        <p:spPr>
          <a:xfrm>
            <a:off x="6023200" y="1882425"/>
            <a:ext cx="2024400" cy="922100"/>
          </a:xfrm>
          <a:prstGeom prst="rect">
            <a:avLst/>
          </a:prstGeom>
          <a:noFill/>
          <a:ln>
            <a:noFill/>
          </a:ln>
        </p:spPr>
      </p:pic>
      <p:pic>
        <p:nvPicPr>
          <p:cNvPr id="263" name="Google Shape;263;p48"/>
          <p:cNvPicPr preferRelativeResize="0"/>
          <p:nvPr/>
        </p:nvPicPr>
        <p:blipFill rotWithShape="1">
          <a:blip r:embed="rId5">
            <a:alphaModFix/>
          </a:blip>
          <a:srcRect r="51214" b="9041"/>
          <a:stretch/>
        </p:blipFill>
        <p:spPr>
          <a:xfrm>
            <a:off x="4753675" y="3181350"/>
            <a:ext cx="3293924" cy="902525"/>
          </a:xfrm>
          <a:prstGeom prst="rect">
            <a:avLst/>
          </a:prstGeom>
          <a:noFill/>
          <a:ln>
            <a:noFill/>
          </a:ln>
        </p:spPr>
      </p:pic>
      <p:sp>
        <p:nvSpPr>
          <p:cNvPr id="2" name="Rectángulo 1">
            <a:extLst>
              <a:ext uri="{FF2B5EF4-FFF2-40B4-BE49-F238E27FC236}">
                <a16:creationId xmlns:a16="http://schemas.microsoft.com/office/drawing/2014/main" id="{AF202651-3FC1-19F4-DD7E-22AFA08158D7}"/>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9"/>
          <p:cNvSpPr txBox="1"/>
          <p:nvPr/>
        </p:nvSpPr>
        <p:spPr>
          <a:xfrm>
            <a:off x="476250" y="1648200"/>
            <a:ext cx="4858200" cy="18471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Estructura final de una clase con atributos</a:t>
            </a:r>
            <a:endParaRPr sz="4000" b="1" i="0" u="none" strike="noStrike" cap="none">
              <a:solidFill>
                <a:schemeClr val="dk1"/>
              </a:solidFill>
              <a:latin typeface="DM Sans"/>
              <a:ea typeface="DM Sans"/>
              <a:cs typeface="DM Sans"/>
              <a:sym typeface="DM Sans"/>
            </a:endParaRPr>
          </a:p>
        </p:txBody>
      </p:sp>
      <p:grpSp>
        <p:nvGrpSpPr>
          <p:cNvPr id="269" name="Google Shape;269;p49"/>
          <p:cNvGrpSpPr/>
          <p:nvPr/>
        </p:nvGrpSpPr>
        <p:grpSpPr>
          <a:xfrm>
            <a:off x="7928851" y="468323"/>
            <a:ext cx="738900" cy="738900"/>
            <a:chOff x="473351" y="619523"/>
            <a:chExt cx="738900" cy="738900"/>
          </a:xfrm>
        </p:grpSpPr>
        <p:sp>
          <p:nvSpPr>
            <p:cNvPr id="270" name="Google Shape;270;p49"/>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1" name="Google Shape;271;p49"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pic>
        <p:nvPicPr>
          <p:cNvPr id="272" name="Google Shape;272;p49" descr="Texto&#10;&#10;Descripción generada automáticamente"/>
          <p:cNvPicPr preferRelativeResize="0"/>
          <p:nvPr/>
        </p:nvPicPr>
        <p:blipFill rotWithShape="1">
          <a:blip r:embed="rId4">
            <a:alphaModFix/>
          </a:blip>
          <a:srcRect/>
          <a:stretch/>
        </p:blipFill>
        <p:spPr>
          <a:xfrm>
            <a:off x="5334505" y="1207224"/>
            <a:ext cx="3042475" cy="3340358"/>
          </a:xfrm>
          <a:prstGeom prst="rect">
            <a:avLst/>
          </a:prstGeom>
          <a:noFill/>
          <a:ln>
            <a:noFill/>
          </a:ln>
        </p:spPr>
      </p:pic>
      <p:sp>
        <p:nvSpPr>
          <p:cNvPr id="273" name="Google Shape;273;p49"/>
          <p:cNvSpPr/>
          <p:nvPr/>
        </p:nvSpPr>
        <p:spPr>
          <a:xfrm>
            <a:off x="5334509" y="4090162"/>
            <a:ext cx="1665000" cy="501000"/>
          </a:xfrm>
          <a:prstGeom prst="ellipse">
            <a:avLst/>
          </a:prstGeom>
          <a:noFill/>
          <a:ln w="9525" cap="flat" cmpd="sng">
            <a:solidFill>
              <a:srgbClr val="EEFF4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EFF41"/>
              </a:solidFill>
              <a:latin typeface="Arial"/>
              <a:ea typeface="Arial"/>
              <a:cs typeface="Arial"/>
              <a:sym typeface="Arial"/>
            </a:endParaRPr>
          </a:p>
        </p:txBody>
      </p:sp>
      <p:sp>
        <p:nvSpPr>
          <p:cNvPr id="2" name="Rectángulo 1">
            <a:extLst>
              <a:ext uri="{FF2B5EF4-FFF2-40B4-BE49-F238E27FC236}">
                <a16:creationId xmlns:a16="http://schemas.microsoft.com/office/drawing/2014/main" id="{E1E4F509-15F5-A020-F2F3-04C0B9ED2DE7}"/>
              </a:ext>
            </a:extLst>
          </p:cNvPr>
          <p:cNvSpPr/>
          <p:nvPr/>
        </p:nvSpPr>
        <p:spPr>
          <a:xfrm>
            <a:off x="0" y="4675177"/>
            <a:ext cx="9144000" cy="46832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50"/>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accent4"/>
                </a:solidFill>
                <a:latin typeface="DM Sans"/>
                <a:ea typeface="DM Sans"/>
                <a:cs typeface="DM Sans"/>
                <a:sym typeface="DM Sans"/>
              </a:rPr>
              <a:t>Métodos</a:t>
            </a:r>
            <a:endParaRPr sz="4000" b="1" i="0" u="none" strike="noStrike" cap="none">
              <a:solidFill>
                <a:schemeClr val="accent4"/>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F17438D3-41BC-13D5-2440-CCF98FA91055}"/>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51"/>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Definiendo métodos</a:t>
            </a:r>
            <a:endParaRPr sz="4000" b="1" i="0" u="none" strike="noStrike" cap="none">
              <a:solidFill>
                <a:schemeClr val="dk1"/>
              </a:solidFill>
              <a:latin typeface="DM Sans"/>
              <a:ea typeface="DM Sans"/>
              <a:cs typeface="DM Sans"/>
              <a:sym typeface="DM Sans"/>
            </a:endParaRPr>
          </a:p>
        </p:txBody>
      </p:sp>
      <p:sp>
        <p:nvSpPr>
          <p:cNvPr id="284" name="Google Shape;284;p51"/>
          <p:cNvSpPr txBox="1"/>
          <p:nvPr/>
        </p:nvSpPr>
        <p:spPr>
          <a:xfrm>
            <a:off x="473350" y="1562275"/>
            <a:ext cx="8141100" cy="3093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En realidad cuando usamos </a:t>
            </a:r>
            <a:r>
              <a:rPr lang="es" sz="1350" b="1" i="0" u="none" strike="noStrike" cap="none">
                <a:solidFill>
                  <a:srgbClr val="000000"/>
                </a:solidFill>
                <a:highlight>
                  <a:schemeClr val="accent6"/>
                </a:highlight>
                <a:latin typeface="DM Sans"/>
                <a:ea typeface="DM Sans"/>
                <a:cs typeface="DM Sans"/>
                <a:sym typeface="DM Sans"/>
              </a:rPr>
              <a:t>__init__</a:t>
            </a:r>
            <a:r>
              <a:rPr lang="es" sz="1350" b="0" i="0" u="none" strike="noStrike" cap="none">
                <a:solidFill>
                  <a:srgbClr val="000000"/>
                </a:solidFill>
                <a:latin typeface="DM Sans"/>
                <a:ea typeface="DM Sans"/>
                <a:cs typeface="DM Sans"/>
                <a:sym typeface="DM Sans"/>
              </a:rPr>
              <a:t> ya estábamos definiendo un método especial.</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 continuación, vamos a ver cómo definir métodos que le den alguna funcionalidad interesante a nuestra clase, siguiendo con el ejemplo de perro. 👉</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p:txBody>
      </p:sp>
      <p:pic>
        <p:nvPicPr>
          <p:cNvPr id="285" name="Google Shape;285;p51"/>
          <p:cNvPicPr preferRelativeResize="0"/>
          <p:nvPr/>
        </p:nvPicPr>
        <p:blipFill rotWithShape="1">
          <a:blip r:embed="rId3">
            <a:alphaModFix/>
          </a:blip>
          <a:srcRect/>
          <a:stretch/>
        </p:blipFill>
        <p:spPr>
          <a:xfrm>
            <a:off x="3291363" y="2095400"/>
            <a:ext cx="2505075" cy="1638300"/>
          </a:xfrm>
          <a:prstGeom prst="rect">
            <a:avLst/>
          </a:prstGeom>
          <a:noFill/>
          <a:ln>
            <a:noFill/>
          </a:ln>
        </p:spPr>
      </p:pic>
      <p:sp>
        <p:nvSpPr>
          <p:cNvPr id="2" name="Rectángulo 1">
            <a:extLst>
              <a:ext uri="{FF2B5EF4-FFF2-40B4-BE49-F238E27FC236}">
                <a16:creationId xmlns:a16="http://schemas.microsoft.com/office/drawing/2014/main" id="{A3CC9628-2F86-F200-4773-700AE012739A}"/>
              </a:ext>
            </a:extLst>
          </p:cNvPr>
          <p:cNvSpPr/>
          <p:nvPr/>
        </p:nvSpPr>
        <p:spPr>
          <a:xfrm>
            <a:off x="0" y="4656175"/>
            <a:ext cx="9144000" cy="4873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52"/>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Definiendo métodos</a:t>
            </a:r>
            <a:endParaRPr sz="4000" b="1" i="0" u="none" strike="noStrike" cap="none">
              <a:solidFill>
                <a:schemeClr val="dk1"/>
              </a:solidFill>
              <a:latin typeface="DM Sans"/>
              <a:ea typeface="DM Sans"/>
              <a:cs typeface="DM Sans"/>
              <a:sym typeface="DM Sans"/>
            </a:endParaRPr>
          </a:p>
        </p:txBody>
      </p:sp>
      <p:sp>
        <p:nvSpPr>
          <p:cNvPr id="291" name="Google Shape;291;p52"/>
          <p:cNvSpPr txBox="1"/>
          <p:nvPr/>
        </p:nvSpPr>
        <p:spPr>
          <a:xfrm>
            <a:off x="476250" y="2299200"/>
            <a:ext cx="48507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Vamos a codificar dos métodos: </a:t>
            </a:r>
            <a:r>
              <a:rPr lang="es" sz="1350" b="1" i="0" u="none" strike="noStrike" cap="none">
                <a:solidFill>
                  <a:srgbClr val="000000"/>
                </a:solidFill>
                <a:latin typeface="DM Sans"/>
                <a:ea typeface="DM Sans"/>
                <a:cs typeface="DM Sans"/>
                <a:sym typeface="DM Sans"/>
              </a:rPr>
              <a:t>Ladrar</a:t>
            </a:r>
            <a:r>
              <a:rPr lang="es" sz="1350" b="0" i="0" u="none" strike="noStrike" cap="none">
                <a:solidFill>
                  <a:srgbClr val="000000"/>
                </a:solidFill>
                <a:latin typeface="DM Sans"/>
                <a:ea typeface="DM Sans"/>
                <a:cs typeface="DM Sans"/>
                <a:sym typeface="DM Sans"/>
              </a:rPr>
              <a:t> y </a:t>
            </a:r>
            <a:r>
              <a:rPr lang="es" sz="1350" b="1" i="0" u="none" strike="noStrike" cap="none">
                <a:solidFill>
                  <a:srgbClr val="000000"/>
                </a:solidFill>
                <a:latin typeface="DM Sans"/>
                <a:ea typeface="DM Sans"/>
                <a:cs typeface="DM Sans"/>
                <a:sym typeface="DM Sans"/>
              </a:rPr>
              <a:t>caminar</a:t>
            </a:r>
            <a:r>
              <a:rPr lang="es" sz="1350" b="0" i="0" u="none" strike="noStrike" cap="none">
                <a:solidFill>
                  <a:srgbClr val="000000"/>
                </a:solidFill>
                <a:latin typeface="DM Sans"/>
                <a:ea typeface="DM Sans"/>
                <a:cs typeface="DM Sans"/>
                <a:sym typeface="DM Sans"/>
              </a:rPr>
              <a:t>. </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El primero no recibirá ningún parámetro y el segundo recibirá el número de pasos que queremos andar. Como hemos indicado anteriormente, </a:t>
            </a:r>
            <a:r>
              <a:rPr lang="es" sz="1350" b="1" i="0" u="none" strike="noStrike" cap="none">
                <a:solidFill>
                  <a:srgbClr val="000000"/>
                </a:solidFill>
                <a:latin typeface="DM Sans"/>
                <a:ea typeface="DM Sans"/>
                <a:cs typeface="DM Sans"/>
                <a:sym typeface="DM Sans"/>
              </a:rPr>
              <a:t>self</a:t>
            </a:r>
            <a:r>
              <a:rPr lang="es" sz="1350" b="0" i="0" u="none" strike="noStrike" cap="none">
                <a:solidFill>
                  <a:srgbClr val="000000"/>
                </a:solidFill>
                <a:latin typeface="DM Sans"/>
                <a:ea typeface="DM Sans"/>
                <a:cs typeface="DM Sans"/>
                <a:sym typeface="DM Sans"/>
              </a:rPr>
              <a:t> hace referencia a la instancia de la clase. </a:t>
            </a:r>
            <a:endParaRPr sz="1350" b="0" i="0" u="none" strike="noStrike" cap="none">
              <a:solidFill>
                <a:srgbClr val="000000"/>
              </a:solidFill>
              <a:latin typeface="DM Sans"/>
              <a:ea typeface="DM Sans"/>
              <a:cs typeface="DM Sans"/>
              <a:sym typeface="DM Sans"/>
            </a:endParaRPr>
          </a:p>
        </p:txBody>
      </p:sp>
      <p:grpSp>
        <p:nvGrpSpPr>
          <p:cNvPr id="292" name="Google Shape;292;p52"/>
          <p:cNvGrpSpPr/>
          <p:nvPr/>
        </p:nvGrpSpPr>
        <p:grpSpPr>
          <a:xfrm>
            <a:off x="7928851" y="468323"/>
            <a:ext cx="738900" cy="738900"/>
            <a:chOff x="473351" y="619523"/>
            <a:chExt cx="738900" cy="738900"/>
          </a:xfrm>
        </p:grpSpPr>
        <p:sp>
          <p:nvSpPr>
            <p:cNvPr id="293" name="Google Shape;293;p52"/>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94" name="Google Shape;294;p52"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pic>
        <p:nvPicPr>
          <p:cNvPr id="295" name="Google Shape;295;p52"/>
          <p:cNvPicPr preferRelativeResize="0"/>
          <p:nvPr/>
        </p:nvPicPr>
        <p:blipFill rotWithShape="1">
          <a:blip r:embed="rId4">
            <a:alphaModFix/>
          </a:blip>
          <a:srcRect r="16894"/>
          <a:stretch/>
        </p:blipFill>
        <p:spPr>
          <a:xfrm>
            <a:off x="5326950" y="1428750"/>
            <a:ext cx="2959774" cy="2820150"/>
          </a:xfrm>
          <a:prstGeom prst="rect">
            <a:avLst/>
          </a:prstGeom>
          <a:noFill/>
          <a:ln>
            <a:noFill/>
          </a:ln>
        </p:spPr>
      </p:pic>
      <p:sp>
        <p:nvSpPr>
          <p:cNvPr id="2" name="Rectángulo 1">
            <a:extLst>
              <a:ext uri="{FF2B5EF4-FFF2-40B4-BE49-F238E27FC236}">
                <a16:creationId xmlns:a16="http://schemas.microsoft.com/office/drawing/2014/main" id="{A51B5760-C3CE-FD88-274F-E613F421B8AF}"/>
              </a:ext>
            </a:extLst>
          </p:cNvPr>
          <p:cNvSpPr/>
          <p:nvPr/>
        </p:nvSpPr>
        <p:spPr>
          <a:xfrm>
            <a:off x="0" y="4601250"/>
            <a:ext cx="9144000" cy="5422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53"/>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Definiendo métodos</a:t>
            </a:r>
            <a:endParaRPr sz="4000" b="1" i="0" u="none" strike="noStrike" cap="none">
              <a:solidFill>
                <a:schemeClr val="dk1"/>
              </a:solidFill>
              <a:latin typeface="DM Sans"/>
              <a:ea typeface="DM Sans"/>
              <a:cs typeface="DM Sans"/>
              <a:sym typeface="DM Sans"/>
            </a:endParaRPr>
          </a:p>
        </p:txBody>
      </p:sp>
      <p:sp>
        <p:nvSpPr>
          <p:cNvPr id="301" name="Google Shape;301;p53"/>
          <p:cNvSpPr txBox="1"/>
          <p:nvPr/>
        </p:nvSpPr>
        <p:spPr>
          <a:xfrm>
            <a:off x="476250" y="2299200"/>
            <a:ext cx="4065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Se puede definir un método con</a:t>
            </a:r>
            <a:r>
              <a:rPr lang="es" sz="1350" b="1" i="0" u="none" strike="noStrike" cap="none">
                <a:solidFill>
                  <a:srgbClr val="000000"/>
                </a:solidFill>
                <a:highlight>
                  <a:schemeClr val="accent6"/>
                </a:highlight>
                <a:latin typeface="DM Sans"/>
                <a:ea typeface="DM Sans"/>
                <a:cs typeface="DM Sans"/>
                <a:sym typeface="DM Sans"/>
              </a:rPr>
              <a:t> def y el nombre, y entre ( ) los parámetros de entrada que recibe</a:t>
            </a:r>
            <a:r>
              <a:rPr lang="es" sz="1350" b="0" i="0" u="none" strike="noStrike" cap="none">
                <a:solidFill>
                  <a:srgbClr val="000000"/>
                </a:solidFill>
                <a:latin typeface="DM Sans"/>
                <a:ea typeface="DM Sans"/>
                <a:cs typeface="DM Sans"/>
                <a:sym typeface="DM Sans"/>
              </a:rPr>
              <a:t>, donde siempre tendrá que estar self el primero.</a:t>
            </a:r>
            <a:endParaRPr sz="1350" b="0" i="0" u="none" strike="noStrike" cap="none">
              <a:solidFill>
                <a:srgbClr val="000000"/>
              </a:solidFill>
              <a:latin typeface="DM Sans"/>
              <a:ea typeface="DM Sans"/>
              <a:cs typeface="DM Sans"/>
              <a:sym typeface="DM Sans"/>
            </a:endParaRPr>
          </a:p>
        </p:txBody>
      </p:sp>
      <p:grpSp>
        <p:nvGrpSpPr>
          <p:cNvPr id="302" name="Google Shape;302;p53"/>
          <p:cNvGrpSpPr/>
          <p:nvPr/>
        </p:nvGrpSpPr>
        <p:grpSpPr>
          <a:xfrm>
            <a:off x="7928851" y="468323"/>
            <a:ext cx="738900" cy="738900"/>
            <a:chOff x="473351" y="619523"/>
            <a:chExt cx="738900" cy="738900"/>
          </a:xfrm>
        </p:grpSpPr>
        <p:sp>
          <p:nvSpPr>
            <p:cNvPr id="303" name="Google Shape;303;p53"/>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04" name="Google Shape;304;p53"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pic>
        <p:nvPicPr>
          <p:cNvPr id="305" name="Google Shape;305;p53"/>
          <p:cNvPicPr preferRelativeResize="0"/>
          <p:nvPr/>
        </p:nvPicPr>
        <p:blipFill rotWithShape="1">
          <a:blip r:embed="rId4">
            <a:alphaModFix/>
          </a:blip>
          <a:srcRect r="16894"/>
          <a:stretch/>
        </p:blipFill>
        <p:spPr>
          <a:xfrm>
            <a:off x="5149775" y="1268850"/>
            <a:ext cx="3182601" cy="3032450"/>
          </a:xfrm>
          <a:prstGeom prst="rect">
            <a:avLst/>
          </a:prstGeom>
          <a:noFill/>
          <a:ln>
            <a:noFill/>
          </a:ln>
        </p:spPr>
      </p:pic>
      <p:sp>
        <p:nvSpPr>
          <p:cNvPr id="2" name="Rectángulo 1">
            <a:extLst>
              <a:ext uri="{FF2B5EF4-FFF2-40B4-BE49-F238E27FC236}">
                <a16:creationId xmlns:a16="http://schemas.microsoft.com/office/drawing/2014/main" id="{3446893E-ACBD-D94D-01B5-F37B85D18C6A}"/>
              </a:ext>
            </a:extLst>
          </p:cNvPr>
          <p:cNvSpPr/>
          <p:nvPr/>
        </p:nvSpPr>
        <p:spPr>
          <a:xfrm>
            <a:off x="0" y="4532050"/>
            <a:ext cx="9144000" cy="6114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4"/>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Definiendo métodos</a:t>
            </a:r>
            <a:endParaRPr sz="4000" b="1" i="0" u="none" strike="noStrike" cap="none">
              <a:solidFill>
                <a:schemeClr val="dk1"/>
              </a:solidFill>
              <a:latin typeface="DM Sans"/>
              <a:ea typeface="DM Sans"/>
              <a:cs typeface="DM Sans"/>
              <a:sym typeface="DM Sans"/>
            </a:endParaRPr>
          </a:p>
        </p:txBody>
      </p:sp>
      <p:sp>
        <p:nvSpPr>
          <p:cNvPr id="311" name="Google Shape;311;p54"/>
          <p:cNvSpPr txBox="1"/>
          <p:nvPr/>
        </p:nvSpPr>
        <p:spPr>
          <a:xfrm>
            <a:off x="476250" y="2299200"/>
            <a:ext cx="40656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Por lo tanto, si creamos un objeto </a:t>
            </a:r>
            <a:r>
              <a:rPr lang="es" sz="1350" b="1" i="0" u="none" strike="noStrike" cap="none">
                <a:solidFill>
                  <a:srgbClr val="000000"/>
                </a:solidFill>
                <a:highlight>
                  <a:schemeClr val="accent6"/>
                </a:highlight>
                <a:latin typeface="DM Sans"/>
                <a:ea typeface="DM Sans"/>
                <a:cs typeface="DM Sans"/>
                <a:sym typeface="DM Sans"/>
              </a:rPr>
              <a:t>mi_perro</a:t>
            </a:r>
            <a:r>
              <a:rPr lang="es" sz="1350" b="0" i="0" u="none" strike="noStrike" cap="none">
                <a:solidFill>
                  <a:srgbClr val="000000"/>
                </a:solidFill>
                <a:latin typeface="DM Sans"/>
                <a:ea typeface="DM Sans"/>
                <a:cs typeface="DM Sans"/>
                <a:sym typeface="DM Sans"/>
              </a:rPr>
              <a:t>, podremos hacer uso de sus métodos llamándolos con </a:t>
            </a:r>
            <a:r>
              <a:rPr lang="es" sz="1350" b="1" i="0" u="none" strike="noStrike" cap="none">
                <a:solidFill>
                  <a:srgbClr val="000000"/>
                </a:solidFill>
                <a:highlight>
                  <a:schemeClr val="accent6"/>
                </a:highlight>
                <a:latin typeface="DM Sans"/>
                <a:ea typeface="DM Sans"/>
                <a:cs typeface="DM Sans"/>
                <a:sym typeface="DM Sans"/>
              </a:rPr>
              <a:t>.</a:t>
            </a:r>
            <a:r>
              <a:rPr lang="es" sz="1350" b="0" i="0" u="none" strike="noStrike" cap="none">
                <a:solidFill>
                  <a:srgbClr val="000000"/>
                </a:solidFill>
                <a:latin typeface="DM Sans"/>
                <a:ea typeface="DM Sans"/>
                <a:cs typeface="DM Sans"/>
                <a:sym typeface="DM Sans"/>
              </a:rPr>
              <a:t> y el nombre del método. Como si de una función se tratase, pueden recibir y devolver argumentos.</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ctr"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t>
            </a:r>
            <a:endParaRPr sz="1350" b="0" i="0" u="none" strike="noStrike" cap="none">
              <a:solidFill>
                <a:srgbClr val="000000"/>
              </a:solidFill>
              <a:latin typeface="DM Sans"/>
              <a:ea typeface="DM Sans"/>
              <a:cs typeface="DM Sans"/>
              <a:sym typeface="DM Sans"/>
            </a:endParaRPr>
          </a:p>
        </p:txBody>
      </p:sp>
      <p:grpSp>
        <p:nvGrpSpPr>
          <p:cNvPr id="312" name="Google Shape;312;p54"/>
          <p:cNvGrpSpPr/>
          <p:nvPr/>
        </p:nvGrpSpPr>
        <p:grpSpPr>
          <a:xfrm>
            <a:off x="7928851" y="468323"/>
            <a:ext cx="738900" cy="738900"/>
            <a:chOff x="473351" y="619523"/>
            <a:chExt cx="738900" cy="738900"/>
          </a:xfrm>
        </p:grpSpPr>
        <p:sp>
          <p:nvSpPr>
            <p:cNvPr id="313" name="Google Shape;313;p54"/>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14" name="Google Shape;314;p54"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pic>
        <p:nvPicPr>
          <p:cNvPr id="315" name="Google Shape;315;p54"/>
          <p:cNvPicPr preferRelativeResize="0"/>
          <p:nvPr/>
        </p:nvPicPr>
        <p:blipFill rotWithShape="1">
          <a:blip r:embed="rId4">
            <a:alphaModFix/>
          </a:blip>
          <a:srcRect r="51890"/>
          <a:stretch/>
        </p:blipFill>
        <p:spPr>
          <a:xfrm>
            <a:off x="4782575" y="1684425"/>
            <a:ext cx="3731249" cy="2290775"/>
          </a:xfrm>
          <a:prstGeom prst="rect">
            <a:avLst/>
          </a:prstGeom>
          <a:noFill/>
          <a:ln>
            <a:noFill/>
          </a:ln>
        </p:spPr>
      </p:pic>
      <p:sp>
        <p:nvSpPr>
          <p:cNvPr id="2" name="Rectángulo 1">
            <a:extLst>
              <a:ext uri="{FF2B5EF4-FFF2-40B4-BE49-F238E27FC236}">
                <a16:creationId xmlns:a16="http://schemas.microsoft.com/office/drawing/2014/main" id="{F93BBD2F-6F40-2CA7-8BA3-A6243E8E92E8}"/>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55"/>
          <p:cNvSpPr txBox="1"/>
          <p:nvPr/>
        </p:nvSpPr>
        <p:spPr>
          <a:xfrm>
            <a:off x="476250" y="2299200"/>
            <a:ext cx="4065600" cy="392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Nuestro código quedaría de la siguiente manera </a:t>
            </a:r>
            <a:endParaRPr sz="1350" b="0" i="0" u="none" strike="noStrike" cap="none">
              <a:solidFill>
                <a:srgbClr val="000000"/>
              </a:solidFill>
              <a:latin typeface="DM Sans"/>
              <a:ea typeface="DM Sans"/>
              <a:cs typeface="DM Sans"/>
              <a:sym typeface="DM Sans"/>
            </a:endParaRPr>
          </a:p>
        </p:txBody>
      </p:sp>
      <p:pic>
        <p:nvPicPr>
          <p:cNvPr id="321" name="Google Shape;321;p55" descr="Texto&#10;&#10;Descripción generada automáticamente"/>
          <p:cNvPicPr preferRelativeResize="0"/>
          <p:nvPr/>
        </p:nvPicPr>
        <p:blipFill rotWithShape="1">
          <a:blip r:embed="rId3">
            <a:alphaModFix/>
          </a:blip>
          <a:srcRect/>
          <a:stretch/>
        </p:blipFill>
        <p:spPr>
          <a:xfrm>
            <a:off x="5095525" y="451175"/>
            <a:ext cx="3572226" cy="4139874"/>
          </a:xfrm>
          <a:prstGeom prst="rect">
            <a:avLst/>
          </a:prstGeom>
          <a:noFill/>
          <a:ln>
            <a:noFill/>
          </a:ln>
        </p:spPr>
      </p:pic>
      <p:grpSp>
        <p:nvGrpSpPr>
          <p:cNvPr id="322" name="Google Shape;322;p55"/>
          <p:cNvGrpSpPr/>
          <p:nvPr/>
        </p:nvGrpSpPr>
        <p:grpSpPr>
          <a:xfrm>
            <a:off x="7928851" y="468323"/>
            <a:ext cx="738900" cy="738900"/>
            <a:chOff x="473351" y="619523"/>
            <a:chExt cx="738900" cy="738900"/>
          </a:xfrm>
        </p:grpSpPr>
        <p:sp>
          <p:nvSpPr>
            <p:cNvPr id="323" name="Google Shape;323;p55"/>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24" name="Google Shape;324;p55" title="ícono de ejemplo en vivo"/>
            <p:cNvPicPr preferRelativeResize="0"/>
            <p:nvPr/>
          </p:nvPicPr>
          <p:blipFill rotWithShape="1">
            <a:blip r:embed="rId4">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3B94A3F8-E3AB-2DA1-EBE9-A8E24107616F}"/>
              </a:ext>
            </a:extLst>
          </p:cNvPr>
          <p:cNvSpPr/>
          <p:nvPr/>
        </p:nvSpPr>
        <p:spPr>
          <a:xfrm>
            <a:off x="0" y="4675177"/>
            <a:ext cx="9144000" cy="46832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6"/>
          <p:cNvSpPr txBox="1"/>
          <p:nvPr/>
        </p:nvSpPr>
        <p:spPr>
          <a:xfrm>
            <a:off x="1461300" y="1598325"/>
            <a:ext cx="6221400" cy="1431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5000"/>
              <a:buFont typeface="Arial"/>
              <a:buNone/>
            </a:pPr>
            <a:r>
              <a:rPr lang="es" sz="5000" b="0" i="0" u="none" strike="noStrike" cap="none">
                <a:solidFill>
                  <a:srgbClr val="E8E7E3"/>
                </a:solidFill>
                <a:latin typeface="Arial"/>
                <a:ea typeface="Arial"/>
                <a:cs typeface="Arial"/>
                <a:sym typeface="Arial"/>
              </a:rPr>
              <a:t>☕</a:t>
            </a:r>
            <a:endParaRPr sz="5000" b="0" i="0" u="none" strike="noStrike" cap="none">
              <a:solidFill>
                <a:srgbClr val="E8E7E3"/>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Break</a:t>
            </a:r>
            <a:endParaRPr sz="4000" b="1" i="0" u="none" strike="noStrike" cap="none">
              <a:solidFill>
                <a:schemeClr val="lt1"/>
              </a:solidFill>
              <a:latin typeface="DM Sans"/>
              <a:ea typeface="DM Sans"/>
              <a:cs typeface="DM Sans"/>
              <a:sym typeface="DM Sans"/>
            </a:endParaRPr>
          </a:p>
        </p:txBody>
      </p:sp>
      <p:sp>
        <p:nvSpPr>
          <p:cNvPr id="330" name="Google Shape;330;p56"/>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b="0" i="0" u="none" strike="noStrike" cap="none">
                <a:solidFill>
                  <a:schemeClr val="lt1"/>
                </a:solidFill>
                <a:latin typeface="DM Sans"/>
                <a:ea typeface="DM Sans"/>
                <a:cs typeface="DM Sans"/>
                <a:sym typeface="DM Sans"/>
              </a:rPr>
              <a:t>¡</a:t>
            </a:r>
            <a:r>
              <a:rPr lang="es" sz="2000">
                <a:solidFill>
                  <a:schemeClr val="lt1"/>
                </a:solidFill>
                <a:latin typeface="DM Sans"/>
                <a:ea typeface="DM Sans"/>
                <a:cs typeface="DM Sans"/>
                <a:sym typeface="DM Sans"/>
              </a:rPr>
              <a:t>5</a:t>
            </a:r>
            <a:r>
              <a:rPr lang="es" sz="2000" b="0" i="0" u="none" strike="noStrike" cap="none">
                <a:solidFill>
                  <a:schemeClr val="lt1"/>
                </a:solidFill>
                <a:latin typeface="DM Sans"/>
                <a:ea typeface="DM Sans"/>
                <a:cs typeface="DM Sans"/>
                <a:sym typeface="DM Sans"/>
              </a:rPr>
              <a:t> minutos y volvemos!</a:t>
            </a:r>
            <a:endParaRPr sz="2000" b="0"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83DD58DE-DDE0-F706-6853-FA8B08674D9C}"/>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
        <p:nvSpPr>
          <p:cNvPr id="3" name="Rectángulo 2">
            <a:extLst>
              <a:ext uri="{FF2B5EF4-FFF2-40B4-BE49-F238E27FC236}">
                <a16:creationId xmlns:a16="http://schemas.microsoft.com/office/drawing/2014/main" id="{BE5DEA5D-EA1F-5D80-A379-17F0B49AF0F7}"/>
              </a:ext>
            </a:extLst>
          </p:cNvPr>
          <p:cNvSpPr/>
          <p:nvPr/>
        </p:nvSpPr>
        <p:spPr>
          <a:xfrm>
            <a:off x="0" y="1671217"/>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
        <p:nvSpPr>
          <p:cNvPr id="4" name="Rectángulo 3">
            <a:extLst>
              <a:ext uri="{FF2B5EF4-FFF2-40B4-BE49-F238E27FC236}">
                <a16:creationId xmlns:a16="http://schemas.microsoft.com/office/drawing/2014/main" id="{E0D7A9DD-8101-BA68-6970-6B5CF86B3E29}"/>
              </a:ext>
            </a:extLst>
          </p:cNvPr>
          <p:cNvSpPr/>
          <p:nvPr/>
        </p:nvSpPr>
        <p:spPr>
          <a:xfrm>
            <a:off x="0" y="2971950"/>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7"/>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Métodos especiales</a:t>
            </a:r>
            <a:endParaRPr sz="4000" b="1"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3D743AF7-A318-6126-76A0-DD582907DCDB}"/>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8"/>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¿Qué son?</a:t>
            </a:r>
            <a:endParaRPr sz="4000" b="1" i="0" u="none" strike="noStrike" cap="none">
              <a:solidFill>
                <a:schemeClr val="dk1"/>
              </a:solidFill>
              <a:latin typeface="DM Sans"/>
              <a:ea typeface="DM Sans"/>
              <a:cs typeface="DM Sans"/>
              <a:sym typeface="DM Sans"/>
            </a:endParaRPr>
          </a:p>
        </p:txBody>
      </p:sp>
      <p:sp>
        <p:nvSpPr>
          <p:cNvPr id="341" name="Google Shape;341;p58"/>
          <p:cNvSpPr txBox="1"/>
          <p:nvPr/>
        </p:nvSpPr>
        <p:spPr>
          <a:xfrm>
            <a:off x="501450" y="2314250"/>
            <a:ext cx="66810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Los métodos mágicos de las clases Python son aquellos que comienzan y terminan con dos caracteres subrayados. Son de suma importancia ya que muchas de las operaciones que se hacen con clases en Python utilizan estos métodos, como puede ser la creación del objeto</a:t>
            </a:r>
            <a:r>
              <a:rPr lang="es" sz="1350" b="1" i="0" u="none" strike="noStrike" cap="none">
                <a:solidFill>
                  <a:srgbClr val="000000"/>
                </a:solidFill>
                <a:highlight>
                  <a:schemeClr val="accent6"/>
                </a:highlight>
                <a:latin typeface="DM Sans"/>
                <a:ea typeface="DM Sans"/>
                <a:cs typeface="DM Sans"/>
                <a:sym typeface="DM Sans"/>
              </a:rPr>
              <a:t> (__init__)</a:t>
            </a:r>
            <a:r>
              <a:rPr lang="es" sz="1350" b="0" i="0" u="none" strike="noStrike" cap="none">
                <a:solidFill>
                  <a:srgbClr val="000000"/>
                </a:solidFill>
                <a:latin typeface="DM Sans"/>
                <a:ea typeface="DM Sans"/>
                <a:cs typeface="DM Sans"/>
                <a:sym typeface="DM Sans"/>
              </a:rPr>
              <a:t> o generar una cadena que los represente </a:t>
            </a:r>
            <a:r>
              <a:rPr lang="es" sz="1350" b="1" i="0" u="none" strike="noStrike" cap="none">
                <a:solidFill>
                  <a:srgbClr val="000000"/>
                </a:solidFill>
                <a:highlight>
                  <a:schemeClr val="accent6"/>
                </a:highlight>
                <a:latin typeface="DM Sans"/>
                <a:ea typeface="DM Sans"/>
                <a:cs typeface="DM Sans"/>
                <a:sym typeface="DM Sans"/>
              </a:rPr>
              <a:t>(__str__)</a:t>
            </a:r>
            <a:r>
              <a:rPr lang="es" sz="1350" b="0" i="0" u="none" strike="noStrike" cap="none">
                <a:solidFill>
                  <a:srgbClr val="000000"/>
                </a:solidFill>
                <a:latin typeface="DM Sans"/>
                <a:ea typeface="DM Sans"/>
                <a:cs typeface="DM Sans"/>
                <a:sym typeface="DM Sans"/>
              </a:rPr>
              <a:t>. </a:t>
            </a:r>
            <a:endParaRPr sz="1350" b="0" i="0" u="none" strike="noStrike" cap="none">
              <a:solidFill>
                <a:srgbClr val="000000"/>
              </a:solidFill>
              <a:latin typeface="DM Sans"/>
              <a:ea typeface="DM Sans"/>
              <a:cs typeface="DM Sans"/>
              <a:sym typeface="DM Sans"/>
            </a:endParaRPr>
          </a:p>
        </p:txBody>
      </p:sp>
      <p:sp>
        <p:nvSpPr>
          <p:cNvPr id="342" name="Google Shape;342;p58"/>
          <p:cNvSpPr txBox="1"/>
          <p:nvPr/>
        </p:nvSpPr>
        <p:spPr>
          <a:xfrm>
            <a:off x="476250" y="4591050"/>
            <a:ext cx="2970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3"/>
              </a:rPr>
              <a:t>analyticslane.com</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5BC06657-D538-997E-11E4-C96F5758162C}"/>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pic>
        <p:nvPicPr>
          <p:cNvPr id="347" name="Google Shape;347;p59" descr="Texto&#10;&#10;Descripción generada automáticamente"/>
          <p:cNvPicPr preferRelativeResize="0"/>
          <p:nvPr/>
        </p:nvPicPr>
        <p:blipFill rotWithShape="1">
          <a:blip r:embed="rId3">
            <a:alphaModFix/>
          </a:blip>
          <a:srcRect/>
          <a:stretch/>
        </p:blipFill>
        <p:spPr>
          <a:xfrm>
            <a:off x="5683824" y="496300"/>
            <a:ext cx="2983926" cy="4150899"/>
          </a:xfrm>
          <a:prstGeom prst="rect">
            <a:avLst/>
          </a:prstGeom>
          <a:noFill/>
          <a:ln>
            <a:noFill/>
          </a:ln>
        </p:spPr>
      </p:pic>
      <p:grpSp>
        <p:nvGrpSpPr>
          <p:cNvPr id="348" name="Google Shape;348;p59"/>
          <p:cNvGrpSpPr/>
          <p:nvPr/>
        </p:nvGrpSpPr>
        <p:grpSpPr>
          <a:xfrm>
            <a:off x="7928851" y="468323"/>
            <a:ext cx="738900" cy="738900"/>
            <a:chOff x="473351" y="619523"/>
            <a:chExt cx="738900" cy="738900"/>
          </a:xfrm>
        </p:grpSpPr>
        <p:sp>
          <p:nvSpPr>
            <p:cNvPr id="349" name="Google Shape;349;p59"/>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50" name="Google Shape;350;p59" title="ícono de ejemplo en vivo"/>
            <p:cNvPicPr preferRelativeResize="0"/>
            <p:nvPr/>
          </p:nvPicPr>
          <p:blipFill rotWithShape="1">
            <a:blip r:embed="rId4">
              <a:alphaModFix/>
            </a:blip>
            <a:srcRect/>
            <a:stretch/>
          </p:blipFill>
          <p:spPr>
            <a:xfrm>
              <a:off x="616475" y="762650"/>
              <a:ext cx="452650" cy="452650"/>
            </a:xfrm>
            <a:prstGeom prst="rect">
              <a:avLst/>
            </a:prstGeom>
            <a:noFill/>
            <a:ln>
              <a:noFill/>
            </a:ln>
          </p:spPr>
        </p:pic>
      </p:grpSp>
      <p:sp>
        <p:nvSpPr>
          <p:cNvPr id="351" name="Google Shape;351;p59"/>
          <p:cNvSpPr txBox="1"/>
          <p:nvPr/>
        </p:nvSpPr>
        <p:spPr>
          <a:xfrm>
            <a:off x="476250" y="468325"/>
            <a:ext cx="5154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Métodos especiales</a:t>
            </a:r>
            <a:endParaRPr sz="4000" b="1" i="0" u="none" strike="noStrike" cap="none">
              <a:solidFill>
                <a:schemeClr val="dk1"/>
              </a:solidFill>
              <a:latin typeface="DM Sans"/>
              <a:ea typeface="DM Sans"/>
              <a:cs typeface="DM Sans"/>
              <a:sym typeface="DM Sans"/>
            </a:endParaRPr>
          </a:p>
        </p:txBody>
      </p:sp>
      <p:sp>
        <p:nvSpPr>
          <p:cNvPr id="352" name="Google Shape;352;p59"/>
          <p:cNvSpPr txBox="1"/>
          <p:nvPr/>
        </p:nvSpPr>
        <p:spPr>
          <a:xfrm>
            <a:off x="476250" y="1927025"/>
            <a:ext cx="4892700" cy="21588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50"/>
              <a:buFont typeface="Arial"/>
              <a:buNone/>
            </a:pPr>
            <a:r>
              <a:rPr lang="es" sz="1350" b="0" i="0" u="none" strike="noStrike" cap="none">
                <a:solidFill>
                  <a:schemeClr val="dk1"/>
                </a:solidFill>
                <a:highlight>
                  <a:schemeClr val="lt1"/>
                </a:highlight>
                <a:latin typeface="DM Sans"/>
                <a:ea typeface="DM Sans"/>
                <a:cs typeface="DM Sans"/>
                <a:sym typeface="DM Sans"/>
              </a:rPr>
              <a:t>Todos estos métodos tienen un primer parámetro que hace referencia al propio objeto, que por convenio se suele llamar </a:t>
            </a:r>
            <a:r>
              <a:rPr lang="es" sz="1350" b="1" i="0" u="none" strike="noStrike" cap="none">
                <a:solidFill>
                  <a:schemeClr val="dk1"/>
                </a:solidFill>
                <a:highlight>
                  <a:schemeClr val="lt1"/>
                </a:highlight>
                <a:latin typeface="DM Sans"/>
                <a:ea typeface="DM Sans"/>
                <a:cs typeface="DM Sans"/>
                <a:sym typeface="DM Sans"/>
              </a:rPr>
              <a:t>self.</a:t>
            </a:r>
            <a:r>
              <a:rPr lang="es" sz="1350" b="0" i="0" u="none" strike="noStrike" cap="none">
                <a:solidFill>
                  <a:schemeClr val="dk1"/>
                </a:solidFill>
                <a:highlight>
                  <a:schemeClr val="lt1"/>
                </a:highlight>
                <a:latin typeface="DM Sans"/>
                <a:ea typeface="DM Sans"/>
                <a:cs typeface="DM Sans"/>
                <a:sym typeface="DM Sans"/>
              </a:rPr>
              <a:t> Siendo el resto de los parámetros del método variables. </a:t>
            </a:r>
            <a:endParaRPr sz="1350" b="0" i="0" u="none" strike="noStrike" cap="none">
              <a:solidFill>
                <a:schemeClr val="dk1"/>
              </a:solidFill>
              <a:highlight>
                <a:schemeClr val="lt1"/>
              </a:highlight>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highlight>
                <a:schemeClr val="lt1"/>
              </a:highlight>
              <a:latin typeface="DM Sans"/>
              <a:ea typeface="DM Sans"/>
              <a:cs typeface="DM Sans"/>
              <a:sym typeface="DM Sans"/>
            </a:endParaRPr>
          </a:p>
          <a:p>
            <a:pPr marL="0" marR="0" lvl="0" indent="0" algn="l" rtl="0">
              <a:lnSpc>
                <a:spcPct val="150000"/>
              </a:lnSpc>
              <a:spcBef>
                <a:spcPts val="0"/>
              </a:spcBef>
              <a:spcAft>
                <a:spcPts val="0"/>
              </a:spcAft>
              <a:buClr>
                <a:srgbClr val="000000"/>
              </a:buClr>
              <a:buSzPts val="1350"/>
              <a:buFont typeface="Arial"/>
              <a:buNone/>
            </a:pPr>
            <a:r>
              <a:rPr lang="es" sz="1350" b="0" i="0" u="none" strike="noStrike" cap="none">
                <a:solidFill>
                  <a:schemeClr val="dk1"/>
                </a:solidFill>
                <a:highlight>
                  <a:schemeClr val="lt1"/>
                </a:highlight>
                <a:latin typeface="DM Sans"/>
                <a:ea typeface="DM Sans"/>
                <a:cs typeface="DM Sans"/>
                <a:sym typeface="DM Sans"/>
              </a:rPr>
              <a:t>Veamos a continuación algunos de estos métodos y cuál es su finalidad. 👉</a:t>
            </a:r>
            <a:endParaRPr sz="1350" b="0"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1F3B3287-32C2-0B9E-EFAF-A6F5B8FC2498}"/>
              </a:ext>
            </a:extLst>
          </p:cNvPr>
          <p:cNvSpPr/>
          <p:nvPr/>
        </p:nvSpPr>
        <p:spPr>
          <a:xfrm>
            <a:off x="0" y="4675175"/>
            <a:ext cx="9144000" cy="4683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grpSp>
        <p:nvGrpSpPr>
          <p:cNvPr id="357" name="Google Shape;357;p60"/>
          <p:cNvGrpSpPr/>
          <p:nvPr/>
        </p:nvGrpSpPr>
        <p:grpSpPr>
          <a:xfrm>
            <a:off x="7928851" y="468323"/>
            <a:ext cx="738900" cy="738900"/>
            <a:chOff x="473351" y="619523"/>
            <a:chExt cx="738900" cy="738900"/>
          </a:xfrm>
        </p:grpSpPr>
        <p:sp>
          <p:nvSpPr>
            <p:cNvPr id="358" name="Google Shape;358;p60"/>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59" name="Google Shape;359;p60"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360" name="Google Shape;360;p60"/>
          <p:cNvSpPr txBox="1"/>
          <p:nvPr/>
        </p:nvSpPr>
        <p:spPr>
          <a:xfrm>
            <a:off x="476250" y="468325"/>
            <a:ext cx="5154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_init_</a:t>
            </a:r>
            <a:endParaRPr sz="4000" b="1" i="0" u="none" strike="noStrike" cap="none">
              <a:solidFill>
                <a:schemeClr val="dk1"/>
              </a:solidFill>
              <a:latin typeface="DM Sans"/>
              <a:ea typeface="DM Sans"/>
              <a:cs typeface="DM Sans"/>
              <a:sym typeface="DM Sans"/>
            </a:endParaRPr>
          </a:p>
        </p:txBody>
      </p:sp>
      <p:sp>
        <p:nvSpPr>
          <p:cNvPr id="361" name="Google Shape;361;p60"/>
          <p:cNvSpPr txBox="1"/>
          <p:nvPr/>
        </p:nvSpPr>
        <p:spPr>
          <a:xfrm>
            <a:off x="476250" y="1927025"/>
            <a:ext cx="4892700" cy="1950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50"/>
              <a:buFont typeface="Arial"/>
              <a:buNone/>
            </a:pPr>
            <a:r>
              <a:rPr lang="es" sz="1350" b="0" i="0" u="none" strike="noStrike" cap="none">
                <a:solidFill>
                  <a:schemeClr val="dk1"/>
                </a:solidFill>
                <a:highlight>
                  <a:schemeClr val="lt1"/>
                </a:highlight>
                <a:latin typeface="DM Sans"/>
                <a:ea typeface="DM Sans"/>
                <a:cs typeface="DM Sans"/>
                <a:sym typeface="DM Sans"/>
              </a:rPr>
              <a:t>El método mágico más utilizado en las clases de python es el constructor. Empleado para crear cada una de las instancias de las clases. No tiene una cantidad fija de parámetros, ya que estos dependen de las propiedades que tenga el objeto. Por ejemplo, se puede crear un objeto Vector:</a:t>
            </a:r>
            <a:endParaRPr sz="1350" b="0" i="0" u="none" strike="noStrike" cap="none">
              <a:solidFill>
                <a:schemeClr val="dk1"/>
              </a:solidFill>
              <a:highlight>
                <a:schemeClr val="lt1"/>
              </a:highlight>
              <a:latin typeface="DM Sans"/>
              <a:ea typeface="DM Sans"/>
              <a:cs typeface="DM Sans"/>
              <a:sym typeface="DM Sans"/>
            </a:endParaRPr>
          </a:p>
        </p:txBody>
      </p:sp>
      <p:sp>
        <p:nvSpPr>
          <p:cNvPr id="362" name="Google Shape;362;p60"/>
          <p:cNvSpPr txBox="1"/>
          <p:nvPr/>
        </p:nvSpPr>
        <p:spPr>
          <a:xfrm>
            <a:off x="5630550" y="1927025"/>
            <a:ext cx="3000000" cy="1644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class Vector():</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def __init__(self, data):</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self._data = data</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v = Vector([1,2])</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print(v)</a:t>
            </a:r>
            <a:endParaRPr sz="1400" b="0" i="0" u="none" strike="noStrike" cap="none">
              <a:solidFill>
                <a:srgbClr val="FFFFFF"/>
              </a:solidFill>
              <a:highlight>
                <a:srgbClr val="595959"/>
              </a:highlight>
              <a:latin typeface="Roboto Mono"/>
              <a:ea typeface="Roboto Mono"/>
              <a:cs typeface="Roboto Mono"/>
              <a:sym typeface="Roboto Mono"/>
            </a:endParaRPr>
          </a:p>
        </p:txBody>
      </p:sp>
      <p:sp>
        <p:nvSpPr>
          <p:cNvPr id="363" name="Google Shape;363;p60"/>
          <p:cNvSpPr txBox="1"/>
          <p:nvPr/>
        </p:nvSpPr>
        <p:spPr>
          <a:xfrm>
            <a:off x="476250" y="4597725"/>
            <a:ext cx="2970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4"/>
              </a:rPr>
              <a:t>analyticslane.com</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9753471E-2CA2-BEEB-B944-1ADF484E867B}"/>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61"/>
          <p:cNvSpPr txBox="1"/>
          <p:nvPr/>
        </p:nvSpPr>
        <p:spPr>
          <a:xfrm>
            <a:off x="476250" y="468325"/>
            <a:ext cx="5154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_str_</a:t>
            </a:r>
            <a:endParaRPr sz="4000" b="1" i="0" u="none" strike="noStrike" cap="none">
              <a:solidFill>
                <a:schemeClr val="dk1"/>
              </a:solidFill>
              <a:latin typeface="DM Sans"/>
              <a:ea typeface="DM Sans"/>
              <a:cs typeface="DM Sans"/>
              <a:sym typeface="DM Sans"/>
            </a:endParaRPr>
          </a:p>
        </p:txBody>
      </p:sp>
      <p:sp>
        <p:nvSpPr>
          <p:cNvPr id="369" name="Google Shape;369;p61"/>
          <p:cNvSpPr txBox="1"/>
          <p:nvPr/>
        </p:nvSpPr>
        <p:spPr>
          <a:xfrm>
            <a:off x="476250" y="1927025"/>
            <a:ext cx="80361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50"/>
              <a:buFont typeface="Arial"/>
              <a:buNone/>
            </a:pPr>
            <a:r>
              <a:rPr lang="es" sz="1350" b="0" i="0" u="none" strike="noStrike" cap="none">
                <a:solidFill>
                  <a:schemeClr val="dk1"/>
                </a:solidFill>
                <a:highlight>
                  <a:schemeClr val="lt1"/>
                </a:highlight>
                <a:latin typeface="DM Sans"/>
                <a:ea typeface="DM Sans"/>
                <a:cs typeface="DM Sans"/>
                <a:sym typeface="DM Sans"/>
              </a:rPr>
              <a:t>Posiblemente el segundo método más utilizado, con el que se crea una representación del objeto con significado para las personas. </a:t>
            </a:r>
            <a:endParaRPr sz="1350" b="0" i="0" u="none" strike="noStrike" cap="none">
              <a:solidFill>
                <a:schemeClr val="dk1"/>
              </a:solidFill>
              <a:highlight>
                <a:schemeClr val="lt1"/>
              </a:highlight>
              <a:latin typeface="DM Sans"/>
              <a:ea typeface="DM Sans"/>
              <a:cs typeface="DM Sans"/>
              <a:sym typeface="DM Sans"/>
            </a:endParaRPr>
          </a:p>
          <a:p>
            <a:pPr marL="0" marR="0" lvl="0" indent="0" algn="l" rtl="0">
              <a:lnSpc>
                <a:spcPct val="150000"/>
              </a:lnSpc>
              <a:spcBef>
                <a:spcPts val="0"/>
              </a:spcBef>
              <a:spcAft>
                <a:spcPts val="0"/>
              </a:spcAft>
              <a:buClr>
                <a:srgbClr val="000000"/>
              </a:buClr>
              <a:buSzPts val="1350"/>
              <a:buFont typeface="Arial"/>
              <a:buNone/>
            </a:pPr>
            <a:endParaRPr sz="1350" b="0" i="0" u="none" strike="noStrike" cap="none">
              <a:solidFill>
                <a:schemeClr val="dk1"/>
              </a:solidFill>
              <a:highlight>
                <a:schemeClr val="lt1"/>
              </a:highlight>
              <a:latin typeface="DM Sans"/>
              <a:ea typeface="DM Sans"/>
              <a:cs typeface="DM Sans"/>
              <a:sym typeface="DM Sans"/>
            </a:endParaRPr>
          </a:p>
          <a:p>
            <a:pPr marL="0" marR="0" lvl="0" indent="0" algn="l" rtl="0">
              <a:lnSpc>
                <a:spcPct val="150000"/>
              </a:lnSpc>
              <a:spcBef>
                <a:spcPts val="0"/>
              </a:spcBef>
              <a:spcAft>
                <a:spcPts val="0"/>
              </a:spcAft>
              <a:buClr>
                <a:srgbClr val="000000"/>
              </a:buClr>
              <a:buSzPts val="1350"/>
              <a:buFont typeface="Arial"/>
              <a:buNone/>
            </a:pPr>
            <a:r>
              <a:rPr lang="es" sz="1350" b="0" i="0" u="none" strike="noStrike" cap="none">
                <a:solidFill>
                  <a:schemeClr val="dk1"/>
                </a:solidFill>
                <a:highlight>
                  <a:schemeClr val="lt1"/>
                </a:highlight>
                <a:latin typeface="DM Sans"/>
                <a:ea typeface="DM Sans"/>
                <a:cs typeface="DM Sans"/>
                <a:sym typeface="DM Sans"/>
              </a:rPr>
              <a:t>En el ejemplo anterior, </a:t>
            </a:r>
            <a:r>
              <a:rPr lang="es" sz="1350" b="1" i="0" u="none" strike="noStrike" cap="none">
                <a:solidFill>
                  <a:schemeClr val="dk1"/>
                </a:solidFill>
                <a:highlight>
                  <a:schemeClr val="accent6"/>
                </a:highlight>
                <a:latin typeface="DM Sans"/>
                <a:ea typeface="DM Sans"/>
                <a:cs typeface="DM Sans"/>
                <a:sym typeface="DM Sans"/>
              </a:rPr>
              <a:t>al imprimir el objeto, se ha visto una cadena que indica el tipo de objeto y una dirección</a:t>
            </a:r>
            <a:r>
              <a:rPr lang="es" sz="1350" b="0" i="0" u="none" strike="noStrike" cap="none">
                <a:solidFill>
                  <a:schemeClr val="dk1"/>
                </a:solidFill>
                <a:highlight>
                  <a:schemeClr val="lt1"/>
                </a:highlight>
                <a:latin typeface="DM Sans"/>
                <a:ea typeface="DM Sans"/>
                <a:cs typeface="DM Sans"/>
                <a:sym typeface="DM Sans"/>
              </a:rPr>
              <a:t>. Lo que generalmente no tiene sentido para las personas.</a:t>
            </a:r>
            <a:endParaRPr sz="1350" b="0" i="0" u="none" strike="noStrike" cap="none">
              <a:solidFill>
                <a:schemeClr val="dk1"/>
              </a:solidFill>
              <a:highlight>
                <a:schemeClr val="lt1"/>
              </a:highlight>
              <a:latin typeface="DM Sans"/>
              <a:ea typeface="DM Sans"/>
              <a:cs typeface="DM Sans"/>
              <a:sym typeface="DM Sans"/>
            </a:endParaRPr>
          </a:p>
        </p:txBody>
      </p:sp>
      <p:sp>
        <p:nvSpPr>
          <p:cNvPr id="370" name="Google Shape;370;p61"/>
          <p:cNvSpPr txBox="1"/>
          <p:nvPr/>
        </p:nvSpPr>
        <p:spPr>
          <a:xfrm>
            <a:off x="476250" y="4597725"/>
            <a:ext cx="2970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3"/>
              </a:rPr>
              <a:t>analyticslane.com</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F051E072-32E0-4277-6073-32001A357464}"/>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62"/>
          <p:cNvSpPr txBox="1"/>
          <p:nvPr/>
        </p:nvSpPr>
        <p:spPr>
          <a:xfrm>
            <a:off x="476250" y="468325"/>
            <a:ext cx="5154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_str_</a:t>
            </a:r>
            <a:endParaRPr sz="4000" b="1" i="0" u="none" strike="noStrike" cap="none">
              <a:solidFill>
                <a:schemeClr val="dk1"/>
              </a:solidFill>
              <a:latin typeface="DM Sans"/>
              <a:ea typeface="DM Sans"/>
              <a:cs typeface="DM Sans"/>
              <a:sym typeface="DM Sans"/>
            </a:endParaRPr>
          </a:p>
        </p:txBody>
      </p:sp>
      <p:sp>
        <p:nvSpPr>
          <p:cNvPr id="376" name="Google Shape;376;p62"/>
          <p:cNvSpPr txBox="1"/>
          <p:nvPr/>
        </p:nvSpPr>
        <p:spPr>
          <a:xfrm>
            <a:off x="476250" y="2333100"/>
            <a:ext cx="5028300" cy="7041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50"/>
              <a:buFont typeface="Arial"/>
              <a:buNone/>
            </a:pPr>
            <a:r>
              <a:rPr lang="es" sz="1350" b="0" i="0" u="none" strike="noStrike" cap="none">
                <a:solidFill>
                  <a:schemeClr val="dk1"/>
                </a:solidFill>
                <a:highlight>
                  <a:schemeClr val="lt1"/>
                </a:highlight>
                <a:latin typeface="DM Sans"/>
                <a:ea typeface="DM Sans"/>
                <a:cs typeface="DM Sans"/>
                <a:sym typeface="DM Sans"/>
              </a:rPr>
              <a:t>Un problema que se puede solucionar con el método __str__.</a:t>
            </a:r>
            <a:endParaRPr sz="1350" b="0" i="0" u="none" strike="noStrike" cap="none">
              <a:solidFill>
                <a:schemeClr val="dk1"/>
              </a:solidFill>
              <a:highlight>
                <a:schemeClr val="lt1"/>
              </a:highlight>
              <a:latin typeface="DM Sans"/>
              <a:ea typeface="DM Sans"/>
              <a:cs typeface="DM Sans"/>
              <a:sym typeface="DM Sans"/>
            </a:endParaRPr>
          </a:p>
        </p:txBody>
      </p:sp>
      <p:sp>
        <p:nvSpPr>
          <p:cNvPr id="377" name="Google Shape;377;p62"/>
          <p:cNvSpPr txBox="1"/>
          <p:nvPr/>
        </p:nvSpPr>
        <p:spPr>
          <a:xfrm>
            <a:off x="476250" y="4597725"/>
            <a:ext cx="2970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3"/>
              </a:rPr>
              <a:t>analyticslane.com</a:t>
            </a:r>
            <a:endParaRPr sz="1100" b="0" i="0" u="none" strike="noStrike" cap="none">
              <a:solidFill>
                <a:schemeClr val="accent5"/>
              </a:solidFill>
              <a:latin typeface="DM Sans"/>
              <a:ea typeface="DM Sans"/>
              <a:cs typeface="DM Sans"/>
              <a:sym typeface="DM Sans"/>
            </a:endParaRPr>
          </a:p>
        </p:txBody>
      </p:sp>
      <p:pic>
        <p:nvPicPr>
          <p:cNvPr id="378" name="Google Shape;378;p62"/>
          <p:cNvPicPr preferRelativeResize="0"/>
          <p:nvPr/>
        </p:nvPicPr>
        <p:blipFill rotWithShape="1">
          <a:blip r:embed="rId4">
            <a:alphaModFix/>
          </a:blip>
          <a:srcRect/>
          <a:stretch/>
        </p:blipFill>
        <p:spPr>
          <a:xfrm>
            <a:off x="7886925" y="447362"/>
            <a:ext cx="780825" cy="780825"/>
          </a:xfrm>
          <a:prstGeom prst="rect">
            <a:avLst/>
          </a:prstGeom>
          <a:noFill/>
          <a:ln>
            <a:noFill/>
          </a:ln>
        </p:spPr>
      </p:pic>
      <p:sp>
        <p:nvSpPr>
          <p:cNvPr id="379" name="Google Shape;379;p62"/>
          <p:cNvSpPr txBox="1"/>
          <p:nvPr/>
        </p:nvSpPr>
        <p:spPr>
          <a:xfrm>
            <a:off x="5101075" y="1433925"/>
            <a:ext cx="3000000" cy="2706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class Vector():</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def __init__(self, data):</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self._data = data</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def __str__(self):</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return f"The values are: {self._data}"</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v = Vector([1,2])</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print(v)</a:t>
            </a:r>
            <a:endParaRPr sz="1400" b="0" i="0" u="none" strike="noStrike" cap="none">
              <a:solidFill>
                <a:srgbClr val="FFFFFF"/>
              </a:solidFill>
              <a:highlight>
                <a:srgbClr val="595959"/>
              </a:highlight>
              <a:latin typeface="Roboto Mono"/>
              <a:ea typeface="Roboto Mono"/>
              <a:cs typeface="Roboto Mono"/>
              <a:sym typeface="Roboto Mono"/>
            </a:endParaRPr>
          </a:p>
        </p:txBody>
      </p:sp>
      <p:sp>
        <p:nvSpPr>
          <p:cNvPr id="2" name="Rectángulo 1">
            <a:extLst>
              <a:ext uri="{FF2B5EF4-FFF2-40B4-BE49-F238E27FC236}">
                <a16:creationId xmlns:a16="http://schemas.microsoft.com/office/drawing/2014/main" id="{3D50F1CB-3E89-3305-53D2-A1F84893B06D}"/>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63"/>
          <p:cNvSpPr txBox="1"/>
          <p:nvPr/>
        </p:nvSpPr>
        <p:spPr>
          <a:xfrm>
            <a:off x="476250" y="468325"/>
            <a:ext cx="5154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_len_</a:t>
            </a:r>
            <a:endParaRPr sz="4000" b="1" i="0" u="none" strike="noStrike" cap="none">
              <a:solidFill>
                <a:schemeClr val="dk1"/>
              </a:solidFill>
              <a:latin typeface="DM Sans"/>
              <a:ea typeface="DM Sans"/>
              <a:cs typeface="DM Sans"/>
              <a:sym typeface="DM Sans"/>
            </a:endParaRPr>
          </a:p>
        </p:txBody>
      </p:sp>
      <p:sp>
        <p:nvSpPr>
          <p:cNvPr id="385" name="Google Shape;385;p63"/>
          <p:cNvSpPr txBox="1"/>
          <p:nvPr/>
        </p:nvSpPr>
        <p:spPr>
          <a:xfrm>
            <a:off x="476250" y="2082875"/>
            <a:ext cx="44265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50"/>
              <a:buFont typeface="Arial"/>
              <a:buNone/>
            </a:pPr>
            <a:r>
              <a:rPr lang="es" sz="1350" b="0" i="0" u="none" strike="noStrike" cap="none">
                <a:solidFill>
                  <a:schemeClr val="dk1"/>
                </a:solidFill>
                <a:highlight>
                  <a:schemeClr val="lt1"/>
                </a:highlight>
                <a:latin typeface="DM Sans"/>
                <a:ea typeface="DM Sans"/>
                <a:cs typeface="DM Sans"/>
                <a:sym typeface="DM Sans"/>
              </a:rPr>
              <a:t>Podríamos usar la función len para obtener el número de elementos que tenga el objeto. </a:t>
            </a:r>
            <a:endParaRPr sz="1350" b="0" i="0" u="none" strike="noStrike" cap="none">
              <a:solidFill>
                <a:schemeClr val="dk1"/>
              </a:solidFill>
              <a:highlight>
                <a:schemeClr val="lt1"/>
              </a:highlight>
              <a:latin typeface="DM Sans"/>
              <a:ea typeface="DM Sans"/>
              <a:cs typeface="DM Sans"/>
              <a:sym typeface="DM Sans"/>
            </a:endParaRPr>
          </a:p>
          <a:p>
            <a:pPr marL="0" marR="0" lvl="0" indent="0" algn="l" rtl="0">
              <a:lnSpc>
                <a:spcPct val="150000"/>
              </a:lnSpc>
              <a:spcBef>
                <a:spcPts val="0"/>
              </a:spcBef>
              <a:spcAft>
                <a:spcPts val="0"/>
              </a:spcAft>
              <a:buClr>
                <a:srgbClr val="000000"/>
              </a:buClr>
              <a:buSzPts val="1350"/>
              <a:buFont typeface="Arial"/>
              <a:buNone/>
            </a:pPr>
            <a:endParaRPr sz="1350" b="0" i="0" u="none" strike="noStrike" cap="none">
              <a:solidFill>
                <a:schemeClr val="dk1"/>
              </a:solidFill>
              <a:highlight>
                <a:schemeClr val="lt1"/>
              </a:highlight>
              <a:latin typeface="DM Sans"/>
              <a:ea typeface="DM Sans"/>
              <a:cs typeface="DM Sans"/>
              <a:sym typeface="DM Sans"/>
            </a:endParaRPr>
          </a:p>
          <a:p>
            <a:pPr marL="0" marR="0" lvl="0" indent="0" algn="l" rtl="0">
              <a:lnSpc>
                <a:spcPct val="150000"/>
              </a:lnSpc>
              <a:spcBef>
                <a:spcPts val="0"/>
              </a:spcBef>
              <a:spcAft>
                <a:spcPts val="0"/>
              </a:spcAft>
              <a:buClr>
                <a:srgbClr val="000000"/>
              </a:buClr>
              <a:buSzPts val="1350"/>
              <a:buFont typeface="Arial"/>
              <a:buNone/>
            </a:pPr>
            <a:r>
              <a:rPr lang="es" sz="1350" b="0" i="0" u="none" strike="noStrike" cap="none">
                <a:solidFill>
                  <a:schemeClr val="dk1"/>
                </a:solidFill>
                <a:highlight>
                  <a:schemeClr val="lt1"/>
                </a:highlight>
                <a:latin typeface="DM Sans"/>
                <a:ea typeface="DM Sans"/>
                <a:cs typeface="DM Sans"/>
                <a:sym typeface="DM Sans"/>
              </a:rPr>
              <a:t>Pero si probamos con el objeto nos encontraremos con un error.  🤯</a:t>
            </a:r>
            <a:endParaRPr sz="1350" b="0" i="0" u="none" strike="noStrike" cap="none">
              <a:solidFill>
                <a:schemeClr val="dk1"/>
              </a:solidFill>
              <a:highlight>
                <a:schemeClr val="lt1"/>
              </a:highlight>
              <a:latin typeface="DM Sans"/>
              <a:ea typeface="DM Sans"/>
              <a:cs typeface="DM Sans"/>
              <a:sym typeface="DM Sans"/>
            </a:endParaRPr>
          </a:p>
        </p:txBody>
      </p:sp>
      <p:sp>
        <p:nvSpPr>
          <p:cNvPr id="386" name="Google Shape;386;p63"/>
          <p:cNvSpPr txBox="1"/>
          <p:nvPr/>
        </p:nvSpPr>
        <p:spPr>
          <a:xfrm>
            <a:off x="476250" y="4597725"/>
            <a:ext cx="2970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3"/>
              </a:rPr>
              <a:t>analyticslane.com</a:t>
            </a:r>
            <a:endParaRPr sz="1100" b="0" i="0" u="none" strike="noStrike" cap="none">
              <a:solidFill>
                <a:schemeClr val="accent5"/>
              </a:solidFill>
              <a:latin typeface="DM Sans"/>
              <a:ea typeface="DM Sans"/>
              <a:cs typeface="DM Sans"/>
              <a:sym typeface="DM Sans"/>
            </a:endParaRPr>
          </a:p>
        </p:txBody>
      </p:sp>
      <p:sp>
        <p:nvSpPr>
          <p:cNvPr id="387" name="Google Shape;387;p63"/>
          <p:cNvSpPr txBox="1"/>
          <p:nvPr/>
        </p:nvSpPr>
        <p:spPr>
          <a:xfrm>
            <a:off x="5300050" y="1008088"/>
            <a:ext cx="3000000" cy="35313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class Vector():</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200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def __init__(self, data):</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self._data = data</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def __str__(self):</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return f"The values are: {self._data}"</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def __len__(self):</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return len(self._data)</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v = Vector([1,2])</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len(v)</a:t>
            </a:r>
            <a:endParaRPr sz="1100" b="0" i="0" u="none" strike="noStrike" cap="none">
              <a:solidFill>
                <a:srgbClr val="FFFFFF"/>
              </a:solidFill>
              <a:highlight>
                <a:srgbClr val="595959"/>
              </a:highlight>
              <a:latin typeface="Roboto Mono"/>
              <a:ea typeface="Roboto Mono"/>
              <a:cs typeface="Roboto Mono"/>
              <a:sym typeface="Roboto Mono"/>
            </a:endParaRPr>
          </a:p>
        </p:txBody>
      </p:sp>
      <p:pic>
        <p:nvPicPr>
          <p:cNvPr id="388" name="Google Shape;388;p63"/>
          <p:cNvPicPr preferRelativeResize="0"/>
          <p:nvPr/>
        </p:nvPicPr>
        <p:blipFill rotWithShape="1">
          <a:blip r:embed="rId4">
            <a:alphaModFix/>
          </a:blip>
          <a:srcRect/>
          <a:stretch/>
        </p:blipFill>
        <p:spPr>
          <a:xfrm>
            <a:off x="7886925" y="447362"/>
            <a:ext cx="780825" cy="780825"/>
          </a:xfrm>
          <a:prstGeom prst="rect">
            <a:avLst/>
          </a:prstGeom>
          <a:noFill/>
          <a:ln>
            <a:noFill/>
          </a:ln>
        </p:spPr>
      </p:pic>
      <p:sp>
        <p:nvSpPr>
          <p:cNvPr id="2" name="Rectángulo 1">
            <a:extLst>
              <a:ext uri="{FF2B5EF4-FFF2-40B4-BE49-F238E27FC236}">
                <a16:creationId xmlns:a16="http://schemas.microsoft.com/office/drawing/2014/main" id="{614AE188-D855-83FC-F70B-F6B8545D75E2}"/>
              </a:ext>
            </a:extLst>
          </p:cNvPr>
          <p:cNvSpPr/>
          <p:nvPr/>
        </p:nvSpPr>
        <p:spPr>
          <a:xfrm>
            <a:off x="0" y="4597725"/>
            <a:ext cx="9144000" cy="54577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64"/>
          <p:cNvSpPr txBox="1"/>
          <p:nvPr/>
        </p:nvSpPr>
        <p:spPr>
          <a:xfrm>
            <a:off x="476250" y="468325"/>
            <a:ext cx="5154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_len_</a:t>
            </a:r>
            <a:endParaRPr sz="4000" b="1" i="0" u="none" strike="noStrike" cap="none">
              <a:solidFill>
                <a:schemeClr val="dk1"/>
              </a:solidFill>
              <a:latin typeface="DM Sans"/>
              <a:ea typeface="DM Sans"/>
              <a:cs typeface="DM Sans"/>
              <a:sym typeface="DM Sans"/>
            </a:endParaRPr>
          </a:p>
        </p:txBody>
      </p:sp>
      <p:sp>
        <p:nvSpPr>
          <p:cNvPr id="394" name="Google Shape;394;p64"/>
          <p:cNvSpPr txBox="1"/>
          <p:nvPr/>
        </p:nvSpPr>
        <p:spPr>
          <a:xfrm>
            <a:off x="476250" y="2082875"/>
            <a:ext cx="44265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50"/>
              <a:buFont typeface="Arial"/>
              <a:buNone/>
            </a:pPr>
            <a:r>
              <a:rPr lang="es" sz="1350" b="0" i="0" u="none" strike="noStrike" cap="none">
                <a:solidFill>
                  <a:schemeClr val="dk1"/>
                </a:solidFill>
                <a:highlight>
                  <a:schemeClr val="lt1"/>
                </a:highlight>
                <a:latin typeface="DM Sans"/>
                <a:ea typeface="DM Sans"/>
                <a:cs typeface="DM Sans"/>
                <a:sym typeface="DM Sans"/>
              </a:rPr>
              <a:t>Esto es así porque la clase no ha implementado aún el método </a:t>
            </a:r>
            <a:r>
              <a:rPr lang="es" sz="1350" b="1" i="0" u="none" strike="noStrike" cap="none">
                <a:solidFill>
                  <a:schemeClr val="dk1"/>
                </a:solidFill>
                <a:highlight>
                  <a:schemeClr val="accent6"/>
                </a:highlight>
                <a:latin typeface="DM Sans"/>
                <a:ea typeface="DM Sans"/>
                <a:cs typeface="DM Sans"/>
                <a:sym typeface="DM Sans"/>
              </a:rPr>
              <a:t>__len__</a:t>
            </a:r>
            <a:r>
              <a:rPr lang="es" sz="1350" b="0" i="0" u="none" strike="noStrike" cap="none">
                <a:solidFill>
                  <a:schemeClr val="dk1"/>
                </a:solidFill>
                <a:highlight>
                  <a:schemeClr val="lt1"/>
                </a:highlight>
                <a:latin typeface="DM Sans"/>
                <a:ea typeface="DM Sans"/>
                <a:cs typeface="DM Sans"/>
                <a:sym typeface="DM Sans"/>
              </a:rPr>
              <a:t>. Un problema se puede solucionar de tomar fácil al incluir este método.</a:t>
            </a:r>
            <a:endParaRPr sz="1350" b="0" i="0" u="none" strike="noStrike" cap="none">
              <a:solidFill>
                <a:schemeClr val="dk1"/>
              </a:solidFill>
              <a:highlight>
                <a:schemeClr val="lt1"/>
              </a:highlight>
              <a:latin typeface="DM Sans"/>
              <a:ea typeface="DM Sans"/>
              <a:cs typeface="DM Sans"/>
              <a:sym typeface="DM Sans"/>
            </a:endParaRPr>
          </a:p>
        </p:txBody>
      </p:sp>
      <p:sp>
        <p:nvSpPr>
          <p:cNvPr id="395" name="Google Shape;395;p64"/>
          <p:cNvSpPr txBox="1"/>
          <p:nvPr/>
        </p:nvSpPr>
        <p:spPr>
          <a:xfrm>
            <a:off x="476250" y="4597725"/>
            <a:ext cx="2970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3"/>
              </a:rPr>
              <a:t>analyticslane.com</a:t>
            </a:r>
            <a:endParaRPr sz="1100" b="0" i="0" u="none" strike="noStrike" cap="none">
              <a:solidFill>
                <a:schemeClr val="accent5"/>
              </a:solidFill>
              <a:latin typeface="DM Sans"/>
              <a:ea typeface="DM Sans"/>
              <a:cs typeface="DM Sans"/>
              <a:sym typeface="DM Sans"/>
            </a:endParaRPr>
          </a:p>
        </p:txBody>
      </p:sp>
      <p:sp>
        <p:nvSpPr>
          <p:cNvPr id="396" name="Google Shape;396;p64"/>
          <p:cNvSpPr txBox="1"/>
          <p:nvPr/>
        </p:nvSpPr>
        <p:spPr>
          <a:xfrm>
            <a:off x="5300050" y="1008088"/>
            <a:ext cx="3000000" cy="35313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class Vector():</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200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def __init__(self, data):</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self._data = data</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def __str__(self):</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return f"The values are: {self._data}"</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def __len__(self):</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return len(self._data)</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v = Vector([1,2])</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len(v)</a:t>
            </a:r>
            <a:endParaRPr sz="1100" b="0" i="0" u="none" strike="noStrike" cap="none">
              <a:solidFill>
                <a:srgbClr val="FFFFFF"/>
              </a:solidFill>
              <a:highlight>
                <a:srgbClr val="595959"/>
              </a:highlight>
              <a:latin typeface="Roboto Mono"/>
              <a:ea typeface="Roboto Mono"/>
              <a:cs typeface="Roboto Mono"/>
              <a:sym typeface="Roboto Mono"/>
            </a:endParaRPr>
          </a:p>
        </p:txBody>
      </p:sp>
      <p:pic>
        <p:nvPicPr>
          <p:cNvPr id="397" name="Google Shape;397;p64"/>
          <p:cNvPicPr preferRelativeResize="0"/>
          <p:nvPr/>
        </p:nvPicPr>
        <p:blipFill rotWithShape="1">
          <a:blip r:embed="rId4">
            <a:alphaModFix/>
          </a:blip>
          <a:srcRect/>
          <a:stretch/>
        </p:blipFill>
        <p:spPr>
          <a:xfrm>
            <a:off x="7886925" y="447362"/>
            <a:ext cx="780825" cy="780825"/>
          </a:xfrm>
          <a:prstGeom prst="rect">
            <a:avLst/>
          </a:prstGeom>
          <a:noFill/>
          <a:ln>
            <a:noFill/>
          </a:ln>
        </p:spPr>
      </p:pic>
      <p:sp>
        <p:nvSpPr>
          <p:cNvPr id="2" name="Rectángulo 1">
            <a:extLst>
              <a:ext uri="{FF2B5EF4-FFF2-40B4-BE49-F238E27FC236}">
                <a16:creationId xmlns:a16="http://schemas.microsoft.com/office/drawing/2014/main" id="{3D9925FF-BB94-836C-5A38-3FAE9FC380A6}"/>
              </a:ext>
            </a:extLst>
          </p:cNvPr>
          <p:cNvSpPr/>
          <p:nvPr/>
        </p:nvSpPr>
        <p:spPr>
          <a:xfrm>
            <a:off x="0" y="4597725"/>
            <a:ext cx="9144000" cy="54577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65"/>
          <p:cNvSpPr txBox="1"/>
          <p:nvPr/>
        </p:nvSpPr>
        <p:spPr>
          <a:xfrm>
            <a:off x="476250" y="468325"/>
            <a:ext cx="51543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_getitem_</a:t>
            </a:r>
            <a:endParaRPr sz="4000" b="1" i="0" u="none" strike="noStrike" cap="none">
              <a:solidFill>
                <a:schemeClr val="dk1"/>
              </a:solidFill>
              <a:latin typeface="DM Sans"/>
              <a:ea typeface="DM Sans"/>
              <a:cs typeface="DM Sans"/>
              <a:sym typeface="DM Sans"/>
            </a:endParaRPr>
          </a:p>
        </p:txBody>
      </p:sp>
      <p:sp>
        <p:nvSpPr>
          <p:cNvPr id="403" name="Google Shape;403;p65"/>
          <p:cNvSpPr txBox="1"/>
          <p:nvPr/>
        </p:nvSpPr>
        <p:spPr>
          <a:xfrm>
            <a:off x="476250" y="2082875"/>
            <a:ext cx="4426500" cy="1950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50"/>
              <a:buFont typeface="Arial"/>
              <a:buNone/>
            </a:pPr>
            <a:r>
              <a:rPr lang="es" sz="1350" b="0" i="0" u="none" strike="noStrike" cap="none">
                <a:solidFill>
                  <a:schemeClr val="dk1"/>
                </a:solidFill>
                <a:highlight>
                  <a:schemeClr val="lt1"/>
                </a:highlight>
                <a:latin typeface="DM Sans"/>
                <a:ea typeface="DM Sans"/>
                <a:cs typeface="DM Sans"/>
                <a:sym typeface="DM Sans"/>
              </a:rPr>
              <a:t>Si se desea que los usuarios puedan leer los elementos mediante el uso de corchetes es necesario implementar el método</a:t>
            </a:r>
            <a:r>
              <a:rPr lang="es" sz="1350" b="1" i="0" u="none" strike="noStrike" cap="none">
                <a:solidFill>
                  <a:schemeClr val="dk1"/>
                </a:solidFill>
                <a:highlight>
                  <a:schemeClr val="accent6"/>
                </a:highlight>
                <a:latin typeface="DM Sans"/>
                <a:ea typeface="DM Sans"/>
                <a:cs typeface="DM Sans"/>
                <a:sym typeface="DM Sans"/>
              </a:rPr>
              <a:t> __getitem__ </a:t>
            </a:r>
            <a:r>
              <a:rPr lang="es" sz="1350" b="0" i="0" u="none" strike="noStrike" cap="none">
                <a:solidFill>
                  <a:schemeClr val="dk1"/>
                </a:solidFill>
                <a:highlight>
                  <a:schemeClr val="lt1"/>
                </a:highlight>
                <a:latin typeface="DM Sans"/>
                <a:ea typeface="DM Sans"/>
                <a:cs typeface="DM Sans"/>
                <a:sym typeface="DM Sans"/>
              </a:rPr>
              <a:t>en la clase. Este elemento necesita un parámetro adicional, que es la posición del elemento a leer. La función debe retornar el valor leído.</a:t>
            </a:r>
            <a:endParaRPr sz="1350" b="0" i="0" u="none" strike="noStrike" cap="none">
              <a:solidFill>
                <a:schemeClr val="dk1"/>
              </a:solidFill>
              <a:highlight>
                <a:schemeClr val="lt1"/>
              </a:highlight>
              <a:latin typeface="DM Sans"/>
              <a:ea typeface="DM Sans"/>
              <a:cs typeface="DM Sans"/>
              <a:sym typeface="DM Sans"/>
            </a:endParaRPr>
          </a:p>
        </p:txBody>
      </p:sp>
      <p:sp>
        <p:nvSpPr>
          <p:cNvPr id="404" name="Google Shape;404;p65"/>
          <p:cNvSpPr txBox="1"/>
          <p:nvPr/>
        </p:nvSpPr>
        <p:spPr>
          <a:xfrm>
            <a:off x="476250" y="4597725"/>
            <a:ext cx="2970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3"/>
              </a:rPr>
              <a:t>analyticslane.com</a:t>
            </a:r>
            <a:endParaRPr sz="1100" b="0" i="0" u="none" strike="noStrike" cap="none">
              <a:solidFill>
                <a:schemeClr val="accent5"/>
              </a:solidFill>
              <a:latin typeface="DM Sans"/>
              <a:ea typeface="DM Sans"/>
              <a:cs typeface="DM Sans"/>
              <a:sym typeface="DM Sans"/>
            </a:endParaRPr>
          </a:p>
        </p:txBody>
      </p:sp>
      <p:sp>
        <p:nvSpPr>
          <p:cNvPr id="405" name="Google Shape;405;p65"/>
          <p:cNvSpPr txBox="1"/>
          <p:nvPr/>
        </p:nvSpPr>
        <p:spPr>
          <a:xfrm>
            <a:off x="5300050" y="779488"/>
            <a:ext cx="3000000" cy="3768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class Vector():</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def __init__(self, data):</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self._data = data</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def __str__(self):</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return f"The values are: {self._data}"</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def __len__(self):</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return len(self._data)</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def __getitem__(self, pos):</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return self._data[pos]</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    </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v = Vector([1,2])</a:t>
            </a:r>
            <a:endParaRPr sz="12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FFFFFF"/>
                </a:solidFill>
                <a:highlight>
                  <a:srgbClr val="595959"/>
                </a:highlight>
                <a:latin typeface="Roboto Mono"/>
                <a:ea typeface="Roboto Mono"/>
                <a:cs typeface="Roboto Mono"/>
                <a:sym typeface="Roboto Mono"/>
              </a:rPr>
              <a:t>v[1]</a:t>
            </a:r>
            <a:endParaRPr sz="1100" b="0" i="0" u="none" strike="noStrike" cap="none">
              <a:solidFill>
                <a:srgbClr val="FFFFFF"/>
              </a:solidFill>
              <a:highlight>
                <a:srgbClr val="595959"/>
              </a:highlight>
              <a:latin typeface="Roboto Mono"/>
              <a:ea typeface="Roboto Mono"/>
              <a:cs typeface="Roboto Mono"/>
              <a:sym typeface="Roboto Mono"/>
            </a:endParaRPr>
          </a:p>
        </p:txBody>
      </p:sp>
      <p:pic>
        <p:nvPicPr>
          <p:cNvPr id="406" name="Google Shape;406;p65"/>
          <p:cNvPicPr preferRelativeResize="0"/>
          <p:nvPr/>
        </p:nvPicPr>
        <p:blipFill rotWithShape="1">
          <a:blip r:embed="rId4">
            <a:alphaModFix/>
          </a:blip>
          <a:srcRect/>
          <a:stretch/>
        </p:blipFill>
        <p:spPr>
          <a:xfrm>
            <a:off x="7886925" y="447362"/>
            <a:ext cx="780825" cy="780825"/>
          </a:xfrm>
          <a:prstGeom prst="rect">
            <a:avLst/>
          </a:prstGeom>
          <a:noFill/>
          <a:ln>
            <a:noFill/>
          </a:ln>
        </p:spPr>
      </p:pic>
      <p:sp>
        <p:nvSpPr>
          <p:cNvPr id="2" name="Rectángulo 1">
            <a:extLst>
              <a:ext uri="{FF2B5EF4-FFF2-40B4-BE49-F238E27FC236}">
                <a16:creationId xmlns:a16="http://schemas.microsoft.com/office/drawing/2014/main" id="{3088D738-0DBC-8E1A-797C-2D4DBE244317}"/>
              </a:ext>
            </a:extLst>
          </p:cNvPr>
          <p:cNvSpPr/>
          <p:nvPr/>
        </p:nvSpPr>
        <p:spPr>
          <a:xfrm>
            <a:off x="0" y="4675175"/>
            <a:ext cx="9144000" cy="4683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grpSp>
        <p:nvGrpSpPr>
          <p:cNvPr id="411" name="Google Shape;411;p66"/>
          <p:cNvGrpSpPr/>
          <p:nvPr/>
        </p:nvGrpSpPr>
        <p:grpSpPr>
          <a:xfrm>
            <a:off x="457338" y="468286"/>
            <a:ext cx="431100" cy="431100"/>
            <a:chOff x="4616400" y="1950761"/>
            <a:chExt cx="431100" cy="431100"/>
          </a:xfrm>
        </p:grpSpPr>
        <p:sp>
          <p:nvSpPr>
            <p:cNvPr id="412" name="Google Shape;412;p66"/>
            <p:cNvSpPr/>
            <p:nvPr/>
          </p:nvSpPr>
          <p:spPr>
            <a:xfrm>
              <a:off x="4616400" y="1950761"/>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13" name="Google Shape;413;p66" title="ícono para recordar"/>
            <p:cNvPicPr preferRelativeResize="0"/>
            <p:nvPr/>
          </p:nvPicPr>
          <p:blipFill rotWithShape="1">
            <a:blip r:embed="rId3">
              <a:alphaModFix/>
            </a:blip>
            <a:srcRect/>
            <a:stretch/>
          </p:blipFill>
          <p:spPr>
            <a:xfrm>
              <a:off x="4699911" y="2034249"/>
              <a:ext cx="264076" cy="264076"/>
            </a:xfrm>
            <a:prstGeom prst="rect">
              <a:avLst/>
            </a:prstGeom>
            <a:noFill/>
            <a:ln>
              <a:noFill/>
            </a:ln>
          </p:spPr>
        </p:pic>
      </p:grpSp>
      <p:sp>
        <p:nvSpPr>
          <p:cNvPr id="414" name="Google Shape;414;p66"/>
          <p:cNvSpPr txBox="1"/>
          <p:nvPr/>
        </p:nvSpPr>
        <p:spPr>
          <a:xfrm>
            <a:off x="457350" y="1820575"/>
            <a:ext cx="8100000" cy="13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chemeClr val="lt1"/>
                </a:solidFill>
                <a:latin typeface="DM Sans"/>
                <a:ea typeface="DM Sans"/>
                <a:cs typeface="DM Sans"/>
                <a:sym typeface="DM Sans"/>
              </a:rPr>
              <a:t>El método </a:t>
            </a:r>
            <a:r>
              <a:rPr lang="es" sz="2500" b="0" i="0" u="none" strike="noStrike" cap="none">
                <a:solidFill>
                  <a:schemeClr val="accent6"/>
                </a:solidFill>
                <a:latin typeface="DM Sans"/>
                <a:ea typeface="DM Sans"/>
                <a:cs typeface="DM Sans"/>
                <a:sym typeface="DM Sans"/>
              </a:rPr>
              <a:t>__getitem__</a:t>
            </a:r>
            <a:r>
              <a:rPr lang="es" sz="2500" b="0" i="0" u="none" strike="noStrike" cap="none">
                <a:solidFill>
                  <a:schemeClr val="lt1"/>
                </a:solidFill>
                <a:latin typeface="DM Sans"/>
                <a:ea typeface="DM Sans"/>
                <a:cs typeface="DM Sans"/>
                <a:sym typeface="DM Sans"/>
              </a:rPr>
              <a:t> solo nos sirve para leer, ya que para modificar, se tiene que crear también el método </a:t>
            </a:r>
            <a:r>
              <a:rPr lang="es" sz="2500" b="0" i="0" u="none" strike="noStrike" cap="none">
                <a:solidFill>
                  <a:schemeClr val="accent6"/>
                </a:solidFill>
                <a:latin typeface="DM Sans"/>
                <a:ea typeface="DM Sans"/>
                <a:cs typeface="DM Sans"/>
                <a:sym typeface="DM Sans"/>
              </a:rPr>
              <a:t>__setitem__</a:t>
            </a:r>
            <a:r>
              <a:rPr lang="es" sz="2500" b="0" i="0" u="none" strike="noStrike" cap="none">
                <a:solidFill>
                  <a:schemeClr val="lt1"/>
                </a:solidFill>
                <a:latin typeface="DM Sans"/>
                <a:ea typeface="DM Sans"/>
                <a:cs typeface="DM Sans"/>
                <a:sym typeface="DM Sans"/>
              </a:rPr>
              <a:t>, el cual veremos a continuación. </a:t>
            </a:r>
            <a:endParaRPr sz="2500" b="0" i="0" u="none" strike="noStrike" cap="none">
              <a:solidFill>
                <a:schemeClr val="lt1"/>
              </a:solidFill>
              <a:latin typeface="DM Sans"/>
              <a:ea typeface="DM Sans"/>
              <a:cs typeface="DM Sans"/>
              <a:sym typeface="DM Sans"/>
            </a:endParaRPr>
          </a:p>
        </p:txBody>
      </p:sp>
      <p:sp>
        <p:nvSpPr>
          <p:cNvPr id="415" name="Google Shape;415;p66"/>
          <p:cNvSpPr txBox="1"/>
          <p:nvPr/>
        </p:nvSpPr>
        <p:spPr>
          <a:xfrm>
            <a:off x="930550" y="468275"/>
            <a:ext cx="29175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lt1"/>
                </a:solidFill>
                <a:latin typeface="DM Sans"/>
                <a:ea typeface="DM Sans"/>
                <a:cs typeface="DM Sans"/>
                <a:sym typeface="DM Sans"/>
              </a:rPr>
              <a:t>PARA RECORDAR</a:t>
            </a:r>
            <a:endParaRPr sz="1400" b="0" i="0" u="none" strike="noStrike" cap="none">
              <a:solidFill>
                <a:schemeClr val="lt1"/>
              </a:solidFill>
              <a:latin typeface="DM Sans"/>
              <a:ea typeface="DM Sans"/>
              <a:cs typeface="DM Sans"/>
              <a:sym typeface="DM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67"/>
          <p:cNvSpPr/>
          <p:nvPr/>
        </p:nvSpPr>
        <p:spPr>
          <a:xfrm>
            <a:off x="0" y="0"/>
            <a:ext cx="2525100" cy="51435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p67"/>
          <p:cNvSpPr txBox="1"/>
          <p:nvPr/>
        </p:nvSpPr>
        <p:spPr>
          <a:xfrm>
            <a:off x="4795925" y="1104875"/>
            <a:ext cx="3872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_setitem_</a:t>
            </a:r>
            <a:endParaRPr sz="4000" b="1" i="0" u="none" strike="noStrike" cap="none">
              <a:solidFill>
                <a:schemeClr val="dk1"/>
              </a:solidFill>
              <a:latin typeface="DM Sans"/>
              <a:ea typeface="DM Sans"/>
              <a:cs typeface="DM Sans"/>
              <a:sym typeface="DM Sans"/>
            </a:endParaRPr>
          </a:p>
        </p:txBody>
      </p:sp>
      <p:sp>
        <p:nvSpPr>
          <p:cNvPr id="422" name="Google Shape;422;p67"/>
          <p:cNvSpPr txBox="1"/>
          <p:nvPr/>
        </p:nvSpPr>
        <p:spPr>
          <a:xfrm>
            <a:off x="4795925" y="2364025"/>
            <a:ext cx="38721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Este es el complemento del método anterior. En este caso es necesario pasar dos parámetros adicionales, la posición y el valor a reemplazar.</a:t>
            </a:r>
            <a:endParaRPr sz="1350" b="0" i="0" u="none" strike="noStrike" cap="none">
              <a:solidFill>
                <a:srgbClr val="000000"/>
              </a:solidFill>
              <a:latin typeface="DM Sans"/>
              <a:ea typeface="DM Sans"/>
              <a:cs typeface="DM Sans"/>
              <a:sym typeface="DM Sans"/>
            </a:endParaRPr>
          </a:p>
        </p:txBody>
      </p:sp>
      <p:sp>
        <p:nvSpPr>
          <p:cNvPr id="423" name="Google Shape;423;p67"/>
          <p:cNvSpPr txBox="1"/>
          <p:nvPr/>
        </p:nvSpPr>
        <p:spPr>
          <a:xfrm>
            <a:off x="476250" y="611050"/>
            <a:ext cx="4049100" cy="38589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class Vector():</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def __init__(self, data):</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self._data = data</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def __str__(self):</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return f"The values are: {self._data}"</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def __len__(self):</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return len(self._data)</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def __getitem__(self, pos):</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return self._data[pos]</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def __setitem__(self, pos, value):</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self._data[pos] = value</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        </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v = Vector([1,2])</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v[1] = 20</a:t>
            </a:r>
            <a:endParaRPr sz="1100" b="0" i="0" u="none" strike="noStrike" cap="none">
              <a:solidFill>
                <a:srgbClr val="FFFFFF"/>
              </a:solidFill>
              <a:highlight>
                <a:srgbClr val="595959"/>
              </a:highlight>
              <a:latin typeface="Roboto Mono"/>
              <a:ea typeface="Roboto Mono"/>
              <a:cs typeface="Roboto Mono"/>
              <a:sym typeface="Roboto Mono"/>
            </a:endParaRPr>
          </a:p>
          <a:p>
            <a:pPr marL="0" marR="0" lvl="0" indent="0" algn="l" rtl="0">
              <a:lnSpc>
                <a:spcPct val="115000"/>
              </a:lnSpc>
              <a:spcBef>
                <a:spcPts val="0"/>
              </a:spcBef>
              <a:spcAft>
                <a:spcPts val="0"/>
              </a:spcAft>
              <a:buClr>
                <a:srgbClr val="000000"/>
              </a:buClr>
              <a:buSzPts val="1100"/>
              <a:buFont typeface="Arial"/>
              <a:buNone/>
            </a:pPr>
            <a:r>
              <a:rPr lang="es" sz="1100" b="0" i="0" u="none" strike="noStrike" cap="none">
                <a:solidFill>
                  <a:srgbClr val="FFFFFF"/>
                </a:solidFill>
                <a:highlight>
                  <a:srgbClr val="595959"/>
                </a:highlight>
                <a:latin typeface="Roboto Mono"/>
                <a:ea typeface="Roboto Mono"/>
                <a:cs typeface="Roboto Mono"/>
                <a:sym typeface="Roboto Mono"/>
              </a:rPr>
              <a:t>print(v)</a:t>
            </a:r>
            <a:endParaRPr sz="1100" b="0" i="0" u="none" strike="noStrike" cap="none">
              <a:solidFill>
                <a:srgbClr val="FFFFFF"/>
              </a:solidFill>
              <a:highlight>
                <a:srgbClr val="595959"/>
              </a:highlight>
              <a:latin typeface="Roboto Mono"/>
              <a:ea typeface="Roboto Mono"/>
              <a:cs typeface="Roboto Mono"/>
              <a:sym typeface="Roboto Mono"/>
            </a:endParaRPr>
          </a:p>
        </p:txBody>
      </p:sp>
      <p:sp>
        <p:nvSpPr>
          <p:cNvPr id="424" name="Google Shape;424;p67"/>
          <p:cNvSpPr txBox="1"/>
          <p:nvPr/>
        </p:nvSpPr>
        <p:spPr>
          <a:xfrm>
            <a:off x="4795925" y="4591050"/>
            <a:ext cx="2970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 </a:t>
            </a:r>
            <a:r>
              <a:rPr lang="es" sz="1100" b="0" i="0" u="sng" strike="noStrike" cap="none">
                <a:solidFill>
                  <a:schemeClr val="hlink"/>
                </a:solidFill>
                <a:latin typeface="DM Sans"/>
                <a:ea typeface="DM Sans"/>
                <a:cs typeface="DM Sans"/>
                <a:sym typeface="DM Sans"/>
                <a:hlinkClick r:id="rId3"/>
              </a:rPr>
              <a:t>analyticslane.com</a:t>
            </a:r>
            <a:endParaRPr sz="1100" b="0" i="0" u="none" strike="noStrike" cap="none">
              <a:solidFill>
                <a:schemeClr val="accent5"/>
              </a:solidFill>
              <a:latin typeface="DM Sans"/>
              <a:ea typeface="DM Sans"/>
              <a:cs typeface="DM Sans"/>
              <a:sym typeface="DM Sans"/>
            </a:endParaRPr>
          </a:p>
        </p:txBody>
      </p:sp>
      <p:pic>
        <p:nvPicPr>
          <p:cNvPr id="425" name="Google Shape;425;p67"/>
          <p:cNvPicPr preferRelativeResize="0"/>
          <p:nvPr/>
        </p:nvPicPr>
        <p:blipFill rotWithShape="1">
          <a:blip r:embed="rId4">
            <a:alphaModFix/>
          </a:blip>
          <a:srcRect/>
          <a:stretch/>
        </p:blipFill>
        <p:spPr>
          <a:xfrm>
            <a:off x="7886925" y="447362"/>
            <a:ext cx="780825" cy="780825"/>
          </a:xfrm>
          <a:prstGeom prst="rect">
            <a:avLst/>
          </a:prstGeom>
          <a:noFill/>
          <a:ln>
            <a:noFill/>
          </a:ln>
        </p:spPr>
      </p:pic>
      <p:sp>
        <p:nvSpPr>
          <p:cNvPr id="2" name="Rectángulo 1">
            <a:extLst>
              <a:ext uri="{FF2B5EF4-FFF2-40B4-BE49-F238E27FC236}">
                <a16:creationId xmlns:a16="http://schemas.microsoft.com/office/drawing/2014/main" id="{9E8B3687-608B-B5CB-ABFD-D793B33A8F79}"/>
              </a:ext>
            </a:extLst>
          </p:cNvPr>
          <p:cNvSpPr/>
          <p:nvPr/>
        </p:nvSpPr>
        <p:spPr>
          <a:xfrm>
            <a:off x="0" y="4696138"/>
            <a:ext cx="9144000" cy="4473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68"/>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accent4"/>
                </a:solidFill>
                <a:latin typeface="DM Sans"/>
                <a:ea typeface="DM Sans"/>
                <a:cs typeface="DM Sans"/>
                <a:sym typeface="DM Sans"/>
              </a:rPr>
              <a:t>Clases anidadas</a:t>
            </a:r>
            <a:endParaRPr sz="4000" b="1" i="0" u="none" strike="noStrike" cap="none">
              <a:solidFill>
                <a:schemeClr val="accent4"/>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4CD7A415-3B47-CE14-5017-C65D04654790}"/>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69"/>
          <p:cNvSpPr txBox="1"/>
          <p:nvPr/>
        </p:nvSpPr>
        <p:spPr>
          <a:xfrm>
            <a:off x="491700" y="468325"/>
            <a:ext cx="81606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Relación entre clases</a:t>
            </a:r>
            <a:endParaRPr sz="4000" b="1" i="0" u="none" strike="noStrike" cap="none">
              <a:solidFill>
                <a:schemeClr val="dk1"/>
              </a:solidFill>
              <a:latin typeface="DM Sans"/>
              <a:ea typeface="DM Sans"/>
              <a:cs typeface="DM Sans"/>
              <a:sym typeface="DM Sans"/>
            </a:endParaRPr>
          </a:p>
        </p:txBody>
      </p:sp>
      <p:sp>
        <p:nvSpPr>
          <p:cNvPr id="436" name="Google Shape;436;p69"/>
          <p:cNvSpPr txBox="1"/>
          <p:nvPr/>
        </p:nvSpPr>
        <p:spPr>
          <a:xfrm>
            <a:off x="491700" y="2096325"/>
            <a:ext cx="62316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Cuando vimos el por qué trabajar por medio de este paradigma, dijimos que era fundamental para </a:t>
            </a:r>
            <a:r>
              <a:rPr lang="es" sz="1350" b="1" i="0" u="none" strike="noStrike" cap="none">
                <a:solidFill>
                  <a:srgbClr val="000000"/>
                </a:solidFill>
                <a:highlight>
                  <a:schemeClr val="accent6"/>
                </a:highlight>
                <a:latin typeface="DM Sans"/>
                <a:ea typeface="DM Sans"/>
                <a:cs typeface="DM Sans"/>
                <a:sym typeface="DM Sans"/>
              </a:rPr>
              <a:t>separar a nuestro problema en problemas más pequeños (Clases)</a:t>
            </a:r>
            <a:r>
              <a:rPr lang="es" sz="1350" b="0" i="0" u="none" strike="noStrike" cap="none">
                <a:solidFill>
                  <a:srgbClr val="000000"/>
                </a:solidFill>
                <a:latin typeface="DM Sans"/>
                <a:ea typeface="DM Sans"/>
                <a:cs typeface="DM Sans"/>
                <a:sym typeface="DM Sans"/>
              </a:rPr>
              <a:t>, pero estos “problemas” no van a  estar aislados, estarán </a:t>
            </a:r>
            <a:r>
              <a:rPr lang="es" sz="1350" b="1" i="0" u="none" strike="noStrike" cap="none">
                <a:solidFill>
                  <a:srgbClr val="000000"/>
                </a:solidFill>
                <a:highlight>
                  <a:schemeClr val="accent6"/>
                </a:highlight>
                <a:latin typeface="DM Sans"/>
                <a:ea typeface="DM Sans"/>
                <a:cs typeface="DM Sans"/>
                <a:sym typeface="DM Sans"/>
              </a:rPr>
              <a:t>relacionados entre sí</a:t>
            </a:r>
            <a:r>
              <a:rPr lang="es" sz="1350" b="1" i="0" u="none" strike="noStrike" cap="none">
                <a:solidFill>
                  <a:srgbClr val="000000"/>
                </a:solidFill>
                <a:latin typeface="DM Sans"/>
                <a:ea typeface="DM Sans"/>
                <a:cs typeface="DM Sans"/>
                <a:sym typeface="DM Sans"/>
              </a:rPr>
              <a:t>.</a:t>
            </a:r>
            <a:r>
              <a:rPr lang="es" sz="1350" b="0" i="0" u="none" strike="noStrike" cap="none">
                <a:solidFill>
                  <a:srgbClr val="000000"/>
                </a:solidFill>
                <a:latin typeface="DM Sans"/>
                <a:ea typeface="DM Sans"/>
                <a:cs typeface="DM Sans"/>
                <a:sym typeface="DM Sans"/>
              </a:rPr>
              <a:t> Por ejemplo, los</a:t>
            </a:r>
            <a:r>
              <a:rPr lang="es" sz="1350" b="1" i="0" u="none" strike="noStrike" cap="none">
                <a:solidFill>
                  <a:srgbClr val="000000"/>
                </a:solidFill>
                <a:latin typeface="DM Sans"/>
                <a:ea typeface="DM Sans"/>
                <a:cs typeface="DM Sans"/>
                <a:sym typeface="DM Sans"/>
              </a:rPr>
              <a:t> Perros</a:t>
            </a:r>
            <a:r>
              <a:rPr lang="es" sz="1350" b="0" i="0" u="none" strike="noStrike" cap="none">
                <a:solidFill>
                  <a:srgbClr val="000000"/>
                </a:solidFill>
                <a:latin typeface="DM Sans"/>
                <a:ea typeface="DM Sans"/>
                <a:cs typeface="DM Sans"/>
                <a:sym typeface="DM Sans"/>
              </a:rPr>
              <a:t>, suelen ser la mascota de una </a:t>
            </a:r>
            <a:r>
              <a:rPr lang="es" sz="1350" b="1" i="0" u="none" strike="noStrike" cap="none">
                <a:solidFill>
                  <a:srgbClr val="000000"/>
                </a:solidFill>
                <a:latin typeface="DM Sans"/>
                <a:ea typeface="DM Sans"/>
                <a:cs typeface="DM Sans"/>
                <a:sym typeface="DM Sans"/>
              </a:rPr>
              <a:t>Persona.</a:t>
            </a:r>
            <a:endParaRPr sz="1350" b="1" i="0" u="none" strike="noStrike" cap="none">
              <a:solidFill>
                <a:srgbClr val="000000"/>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23C9CC97-B5C3-41D3-6B0F-F7728EF4234E}"/>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70"/>
          <p:cNvSpPr txBox="1"/>
          <p:nvPr/>
        </p:nvSpPr>
        <p:spPr>
          <a:xfrm>
            <a:off x="473350" y="619525"/>
            <a:ext cx="34671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Relación entre clases</a:t>
            </a:r>
            <a:endParaRPr sz="4000" b="1" i="0" u="none" strike="noStrike" cap="none">
              <a:solidFill>
                <a:schemeClr val="dk1"/>
              </a:solidFill>
              <a:latin typeface="DM Sans"/>
              <a:ea typeface="DM Sans"/>
              <a:cs typeface="DM Sans"/>
              <a:sym typeface="DM Sans"/>
            </a:endParaRPr>
          </a:p>
        </p:txBody>
      </p:sp>
      <p:sp>
        <p:nvSpPr>
          <p:cNvPr id="442" name="Google Shape;442;p70"/>
          <p:cNvSpPr txBox="1"/>
          <p:nvPr/>
        </p:nvSpPr>
        <p:spPr>
          <a:xfrm>
            <a:off x="476250" y="2500500"/>
            <a:ext cx="33888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Es muy simple. Pero en </a:t>
            </a:r>
            <a:r>
              <a:rPr lang="es" sz="1350">
                <a:latin typeface="DM Sans"/>
                <a:ea typeface="DM Sans"/>
                <a:cs typeface="DM Sans"/>
                <a:sym typeface="DM Sans"/>
              </a:rPr>
              <a:t>la</a:t>
            </a:r>
            <a:r>
              <a:rPr lang="es" sz="1350" b="0" i="0" u="none" strike="noStrike" cap="none">
                <a:solidFill>
                  <a:srgbClr val="000000"/>
                </a:solidFill>
                <a:latin typeface="DM Sans"/>
                <a:ea typeface="DM Sans"/>
                <a:cs typeface="DM Sans"/>
                <a:sym typeface="DM Sans"/>
              </a:rPr>
              <a:t> próxim</a:t>
            </a:r>
            <a:r>
              <a:rPr lang="es" sz="1350">
                <a:latin typeface="DM Sans"/>
                <a:ea typeface="DM Sans"/>
                <a:cs typeface="DM Sans"/>
                <a:sym typeface="DM Sans"/>
              </a:rPr>
              <a:t>a</a:t>
            </a:r>
            <a:r>
              <a:rPr lang="es" sz="1350" b="0" i="0" u="none" strike="noStrike" cap="none">
                <a:solidFill>
                  <a:srgbClr val="000000"/>
                </a:solidFill>
                <a:latin typeface="DM Sans"/>
                <a:ea typeface="DM Sans"/>
                <a:cs typeface="DM Sans"/>
                <a:sym typeface="DM Sans"/>
              </a:rPr>
              <a:t> slide veremos otra variante de Clases Anidadas.</a:t>
            </a:r>
            <a:endParaRPr sz="1350" b="0" i="0" u="none" strike="noStrike" cap="none">
              <a:solidFill>
                <a:srgbClr val="000000"/>
              </a:solidFill>
              <a:latin typeface="DM Sans"/>
              <a:ea typeface="DM Sans"/>
              <a:cs typeface="DM Sans"/>
              <a:sym typeface="DM Sans"/>
            </a:endParaRPr>
          </a:p>
          <a:p>
            <a:pPr marL="0" marR="0" lvl="0" indent="0" algn="ctr"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t>
            </a:r>
            <a:endParaRPr sz="1350" b="0" i="0" u="none" strike="noStrike" cap="none">
              <a:solidFill>
                <a:srgbClr val="000000"/>
              </a:solidFill>
              <a:latin typeface="DM Sans"/>
              <a:ea typeface="DM Sans"/>
              <a:cs typeface="DM Sans"/>
              <a:sym typeface="DM Sans"/>
            </a:endParaRPr>
          </a:p>
        </p:txBody>
      </p:sp>
      <p:pic>
        <p:nvPicPr>
          <p:cNvPr id="443" name="Google Shape;443;p70" descr="Texto&#10;&#10;Descripción generada automáticamente"/>
          <p:cNvPicPr preferRelativeResize="0"/>
          <p:nvPr/>
        </p:nvPicPr>
        <p:blipFill rotWithShape="1">
          <a:blip r:embed="rId3">
            <a:alphaModFix/>
          </a:blip>
          <a:srcRect/>
          <a:stretch/>
        </p:blipFill>
        <p:spPr>
          <a:xfrm>
            <a:off x="4211050" y="468325"/>
            <a:ext cx="4456700" cy="4122725"/>
          </a:xfrm>
          <a:prstGeom prst="rect">
            <a:avLst/>
          </a:prstGeom>
          <a:noFill/>
          <a:ln>
            <a:noFill/>
          </a:ln>
        </p:spPr>
      </p:pic>
      <p:sp>
        <p:nvSpPr>
          <p:cNvPr id="444" name="Google Shape;444;p70"/>
          <p:cNvSpPr/>
          <p:nvPr/>
        </p:nvSpPr>
        <p:spPr>
          <a:xfrm>
            <a:off x="4516021" y="2099513"/>
            <a:ext cx="1629000" cy="617400"/>
          </a:xfrm>
          <a:prstGeom prst="rect">
            <a:avLst/>
          </a:prstGeom>
          <a:noFill/>
          <a:ln w="9525" cap="flat" cmpd="sng">
            <a:solidFill>
              <a:srgbClr val="E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p70"/>
          <p:cNvSpPr/>
          <p:nvPr/>
        </p:nvSpPr>
        <p:spPr>
          <a:xfrm>
            <a:off x="4516021" y="2831256"/>
            <a:ext cx="2987400" cy="354300"/>
          </a:xfrm>
          <a:prstGeom prst="rect">
            <a:avLst/>
          </a:prstGeom>
          <a:noFill/>
          <a:ln w="9525" cap="flat" cmpd="sng">
            <a:solidFill>
              <a:srgbClr val="E0FF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46" name="Google Shape;446;p70"/>
          <p:cNvGrpSpPr/>
          <p:nvPr/>
        </p:nvGrpSpPr>
        <p:grpSpPr>
          <a:xfrm>
            <a:off x="7928851" y="468323"/>
            <a:ext cx="738900" cy="738900"/>
            <a:chOff x="473351" y="619523"/>
            <a:chExt cx="738900" cy="738900"/>
          </a:xfrm>
        </p:grpSpPr>
        <p:sp>
          <p:nvSpPr>
            <p:cNvPr id="447" name="Google Shape;447;p70"/>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48" name="Google Shape;448;p70" title="ícono de ejemplo en vivo"/>
            <p:cNvPicPr preferRelativeResize="0"/>
            <p:nvPr/>
          </p:nvPicPr>
          <p:blipFill rotWithShape="1">
            <a:blip r:embed="rId4">
              <a:alphaModFix/>
            </a:blip>
            <a:srcRect/>
            <a:stretch/>
          </p:blipFill>
          <p:spPr>
            <a:xfrm>
              <a:off x="616475" y="762650"/>
              <a:ext cx="452650" cy="452650"/>
            </a:xfrm>
            <a:prstGeom prst="rect">
              <a:avLst/>
            </a:prstGeom>
            <a:noFill/>
            <a:ln>
              <a:noFill/>
            </a:ln>
          </p:spPr>
        </p:pic>
      </p:grpSp>
      <p:sp>
        <p:nvSpPr>
          <p:cNvPr id="2" name="Rectángulo 1">
            <a:extLst>
              <a:ext uri="{FF2B5EF4-FFF2-40B4-BE49-F238E27FC236}">
                <a16:creationId xmlns:a16="http://schemas.microsoft.com/office/drawing/2014/main" id="{BFBFC1FD-D417-FD89-7DC5-EA2C6A071407}"/>
              </a:ext>
            </a:extLst>
          </p:cNvPr>
          <p:cNvSpPr/>
          <p:nvPr/>
        </p:nvSpPr>
        <p:spPr>
          <a:xfrm>
            <a:off x="0" y="4675175"/>
            <a:ext cx="9144000" cy="4683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71"/>
          <p:cNvSpPr txBox="1"/>
          <p:nvPr/>
        </p:nvSpPr>
        <p:spPr>
          <a:xfrm>
            <a:off x="473350" y="467125"/>
            <a:ext cx="64899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Relación entre clases</a:t>
            </a:r>
            <a:endParaRPr sz="4000" b="1" i="0" u="none" strike="noStrike" cap="none">
              <a:solidFill>
                <a:schemeClr val="dk1"/>
              </a:solidFill>
              <a:latin typeface="DM Sans"/>
              <a:ea typeface="DM Sans"/>
              <a:cs typeface="DM Sans"/>
              <a:sym typeface="DM Sans"/>
            </a:endParaRPr>
          </a:p>
        </p:txBody>
      </p:sp>
      <p:sp>
        <p:nvSpPr>
          <p:cNvPr id="454" name="Google Shape;454;p71"/>
          <p:cNvSpPr txBox="1"/>
          <p:nvPr/>
        </p:nvSpPr>
        <p:spPr>
          <a:xfrm>
            <a:off x="476250" y="2119500"/>
            <a:ext cx="33888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Esta es otra forma de realizar clases internas a otras clases. No es lo más típico y usado, pero puede ser útil para cuando hay una relación muy estricta entre dos clases. </a:t>
            </a:r>
            <a:endParaRPr sz="1350" b="0" i="0" u="none" strike="noStrike" cap="none">
              <a:solidFill>
                <a:srgbClr val="000000"/>
              </a:solidFill>
              <a:latin typeface="DM Sans"/>
              <a:ea typeface="DM Sans"/>
              <a:cs typeface="DM Sans"/>
              <a:sym typeface="DM Sans"/>
            </a:endParaRPr>
          </a:p>
        </p:txBody>
      </p:sp>
      <p:grpSp>
        <p:nvGrpSpPr>
          <p:cNvPr id="455" name="Google Shape;455;p71"/>
          <p:cNvGrpSpPr/>
          <p:nvPr/>
        </p:nvGrpSpPr>
        <p:grpSpPr>
          <a:xfrm>
            <a:off x="7928851" y="468323"/>
            <a:ext cx="738900" cy="738900"/>
            <a:chOff x="473351" y="619523"/>
            <a:chExt cx="738900" cy="738900"/>
          </a:xfrm>
        </p:grpSpPr>
        <p:sp>
          <p:nvSpPr>
            <p:cNvPr id="456" name="Google Shape;456;p71"/>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57" name="Google Shape;457;p71"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pic>
        <p:nvPicPr>
          <p:cNvPr id="458" name="Google Shape;458;p71" descr="Captura de pantalla de computadora&#10;&#10;Descripción generada automáticamente"/>
          <p:cNvPicPr preferRelativeResize="0"/>
          <p:nvPr/>
        </p:nvPicPr>
        <p:blipFill rotWithShape="1">
          <a:blip r:embed="rId4">
            <a:alphaModFix/>
          </a:blip>
          <a:srcRect/>
          <a:stretch/>
        </p:blipFill>
        <p:spPr>
          <a:xfrm>
            <a:off x="3865050" y="1289830"/>
            <a:ext cx="4802700" cy="3071969"/>
          </a:xfrm>
          <a:prstGeom prst="rect">
            <a:avLst/>
          </a:prstGeom>
          <a:noFill/>
          <a:ln>
            <a:noFill/>
          </a:ln>
        </p:spPr>
      </p:pic>
      <p:sp>
        <p:nvSpPr>
          <p:cNvPr id="2" name="Rectángulo 1">
            <a:extLst>
              <a:ext uri="{FF2B5EF4-FFF2-40B4-BE49-F238E27FC236}">
                <a16:creationId xmlns:a16="http://schemas.microsoft.com/office/drawing/2014/main" id="{29FE1250-288C-9BAE-1A79-5C81A41E512F}"/>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grpSp>
        <p:nvGrpSpPr>
          <p:cNvPr id="463" name="Google Shape;463;p72"/>
          <p:cNvGrpSpPr/>
          <p:nvPr/>
        </p:nvGrpSpPr>
        <p:grpSpPr>
          <a:xfrm>
            <a:off x="473371" y="619433"/>
            <a:ext cx="738905" cy="738905"/>
            <a:chOff x="575612" y="1950748"/>
            <a:chExt cx="431100" cy="431100"/>
          </a:xfrm>
        </p:grpSpPr>
        <p:sp>
          <p:nvSpPr>
            <p:cNvPr id="464" name="Google Shape;464;p72"/>
            <p:cNvSpPr/>
            <p:nvPr/>
          </p:nvSpPr>
          <p:spPr>
            <a:xfrm>
              <a:off x="575612" y="1950748"/>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65" name="Google Shape;465;p72" title="ícono para pensar"/>
            <p:cNvPicPr preferRelativeResize="0"/>
            <p:nvPr/>
          </p:nvPicPr>
          <p:blipFill rotWithShape="1">
            <a:blip r:embed="rId3">
              <a:alphaModFix/>
            </a:blip>
            <a:srcRect/>
            <a:stretch/>
          </p:blipFill>
          <p:spPr>
            <a:xfrm>
              <a:off x="655125" y="2030288"/>
              <a:ext cx="272000" cy="272000"/>
            </a:xfrm>
            <a:prstGeom prst="rect">
              <a:avLst/>
            </a:prstGeom>
            <a:noFill/>
            <a:ln>
              <a:noFill/>
            </a:ln>
          </p:spPr>
        </p:pic>
      </p:grpSp>
      <p:sp>
        <p:nvSpPr>
          <p:cNvPr id="466" name="Google Shape;466;p72"/>
          <p:cNvSpPr txBox="1"/>
          <p:nvPr/>
        </p:nvSpPr>
        <p:spPr>
          <a:xfrm>
            <a:off x="1445150" y="688825"/>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 sz="3500" b="1" i="0" u="none" strike="noStrike" cap="none">
                <a:solidFill>
                  <a:srgbClr val="EAFF6A"/>
                </a:solidFill>
                <a:latin typeface="DM Sans"/>
                <a:ea typeface="DM Sans"/>
                <a:cs typeface="DM Sans"/>
                <a:sym typeface="DM Sans"/>
              </a:rPr>
              <a:t>Para pensar</a:t>
            </a:r>
            <a:endParaRPr sz="3500" b="1" i="0" u="none" strike="noStrike" cap="none">
              <a:solidFill>
                <a:srgbClr val="EAFF6A"/>
              </a:solidFill>
              <a:latin typeface="DM Sans"/>
              <a:ea typeface="DM Sans"/>
              <a:cs typeface="DM Sans"/>
              <a:sym typeface="DM Sans"/>
            </a:endParaRPr>
          </a:p>
        </p:txBody>
      </p:sp>
      <p:sp>
        <p:nvSpPr>
          <p:cNvPr id="467" name="Google Shape;467;p72"/>
          <p:cNvSpPr txBox="1"/>
          <p:nvPr/>
        </p:nvSpPr>
        <p:spPr>
          <a:xfrm>
            <a:off x="473350" y="1626100"/>
            <a:ext cx="7169400" cy="1723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rgbClr val="B7B7B7"/>
                </a:solidFill>
                <a:latin typeface="DM Sans"/>
                <a:ea typeface="DM Sans"/>
                <a:cs typeface="DM Sans"/>
                <a:sym typeface="DM Sans"/>
              </a:rPr>
              <a:t>¿Cómo explicarías los últimos print?</a:t>
            </a:r>
            <a:endParaRPr sz="2500" b="0" i="0" u="none" strike="noStrike" cap="none">
              <a:solidFill>
                <a:srgbClr val="B7B7B7"/>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rgbClr val="B7B7B7"/>
                </a:solidFill>
                <a:latin typeface="DM Sans"/>
                <a:ea typeface="DM Sans"/>
                <a:cs typeface="DM Sans"/>
                <a:sym typeface="DM Sans"/>
              </a:rPr>
              <a:t>¿Qué se representa en el código </a:t>
            </a:r>
            <a:r>
              <a:rPr lang="es" sz="2500">
                <a:solidFill>
                  <a:srgbClr val="B7B7B7"/>
                </a:solidFill>
                <a:latin typeface="DM Sans"/>
                <a:ea typeface="DM Sans"/>
                <a:cs typeface="DM Sans"/>
                <a:sym typeface="DM Sans"/>
              </a:rPr>
              <a:t>de la siguiente slide</a:t>
            </a:r>
            <a:r>
              <a:rPr lang="es" sz="2500" b="0" i="0" u="none" strike="noStrike" cap="none">
                <a:solidFill>
                  <a:srgbClr val="B7B7B7"/>
                </a:solidFill>
                <a:latin typeface="DM Sans"/>
                <a:ea typeface="DM Sans"/>
                <a:cs typeface="DM Sans"/>
                <a:sym typeface="DM Sans"/>
              </a:rPr>
              <a:t>? </a:t>
            </a:r>
            <a:endParaRPr sz="2500" b="0" i="0" u="none" strike="noStrike" cap="none">
              <a:solidFill>
                <a:srgbClr val="B7B7B7"/>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2500"/>
              <a:buFont typeface="Arial"/>
              <a:buNone/>
            </a:pPr>
            <a:endParaRPr sz="2500" b="0" i="0" u="none" strike="noStrike" cap="none">
              <a:solidFill>
                <a:srgbClr val="B7B7B7"/>
              </a:solidFill>
              <a:latin typeface="DM Sans"/>
              <a:ea typeface="DM Sans"/>
              <a:cs typeface="DM Sans"/>
              <a:sym typeface="DM Sans"/>
            </a:endParaRPr>
          </a:p>
        </p:txBody>
      </p:sp>
      <p:sp>
        <p:nvSpPr>
          <p:cNvPr id="468" name="Google Shape;468;p72"/>
          <p:cNvSpPr txBox="1"/>
          <p:nvPr/>
        </p:nvSpPr>
        <p:spPr>
          <a:xfrm>
            <a:off x="473350" y="3715325"/>
            <a:ext cx="7169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2000" b="0" i="0" u="none" strike="noStrike" cap="none" dirty="0">
                <a:solidFill>
                  <a:schemeClr val="accent5"/>
                </a:solidFill>
                <a:latin typeface="DM Sans"/>
                <a:ea typeface="DM Sans"/>
                <a:cs typeface="DM Sans"/>
                <a:sym typeface="DM Sans"/>
              </a:rPr>
              <a:t>Contesta mediante el chat de Zoom </a:t>
            </a:r>
            <a:endParaRPr sz="2000" b="0" i="0" u="none" strike="noStrike" cap="none" dirty="0">
              <a:solidFill>
                <a:srgbClr val="83AEFB"/>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C07262ED-6433-BFAE-91AC-15C0F7FAE15F}"/>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
        <p:nvSpPr>
          <p:cNvPr id="3" name="Rectángulo 2">
            <a:extLst>
              <a:ext uri="{FF2B5EF4-FFF2-40B4-BE49-F238E27FC236}">
                <a16:creationId xmlns:a16="http://schemas.microsoft.com/office/drawing/2014/main" id="{BA112132-6E35-BA4B-3B7B-CD98FB85DD91}"/>
              </a:ext>
            </a:extLst>
          </p:cNvPr>
          <p:cNvSpPr/>
          <p:nvPr/>
        </p:nvSpPr>
        <p:spPr>
          <a:xfrm>
            <a:off x="0" y="3630543"/>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pic>
        <p:nvPicPr>
          <p:cNvPr id="473" name="Google Shape;473;p73"/>
          <p:cNvPicPr preferRelativeResize="0"/>
          <p:nvPr/>
        </p:nvPicPr>
        <p:blipFill rotWithShape="1">
          <a:blip r:embed="rId3">
            <a:alphaModFix/>
          </a:blip>
          <a:srcRect/>
          <a:stretch/>
        </p:blipFill>
        <p:spPr>
          <a:xfrm>
            <a:off x="7811413" y="4692275"/>
            <a:ext cx="1150750" cy="267575"/>
          </a:xfrm>
          <a:prstGeom prst="rect">
            <a:avLst/>
          </a:prstGeom>
          <a:noFill/>
          <a:ln>
            <a:noFill/>
          </a:ln>
        </p:spPr>
      </p:pic>
      <p:pic>
        <p:nvPicPr>
          <p:cNvPr id="474" name="Google Shape;474;p73" descr="Captura de pantalla de computadora&#10;&#10;Descripción generada automáticamente"/>
          <p:cNvPicPr preferRelativeResize="0"/>
          <p:nvPr/>
        </p:nvPicPr>
        <p:blipFill rotWithShape="1">
          <a:blip r:embed="rId4">
            <a:alphaModFix/>
          </a:blip>
          <a:srcRect/>
          <a:stretch/>
        </p:blipFill>
        <p:spPr>
          <a:xfrm>
            <a:off x="476250" y="514550"/>
            <a:ext cx="6669447" cy="4076501"/>
          </a:xfrm>
          <a:prstGeom prst="rect">
            <a:avLst/>
          </a:prstGeom>
          <a:noFill/>
          <a:ln>
            <a:noFill/>
          </a:ln>
        </p:spPr>
      </p:pic>
      <p:pic>
        <p:nvPicPr>
          <p:cNvPr id="475" name="Google Shape;475;p73" descr="Texto&#10;&#10;Descripción generada automáticamente"/>
          <p:cNvPicPr preferRelativeResize="0"/>
          <p:nvPr/>
        </p:nvPicPr>
        <p:blipFill rotWithShape="1">
          <a:blip r:embed="rId5">
            <a:alphaModFix/>
          </a:blip>
          <a:srcRect/>
          <a:stretch/>
        </p:blipFill>
        <p:spPr>
          <a:xfrm>
            <a:off x="5481372" y="1228246"/>
            <a:ext cx="2830103" cy="1095235"/>
          </a:xfrm>
          <a:prstGeom prst="rect">
            <a:avLst/>
          </a:prstGeom>
          <a:noFill/>
          <a:ln w="28575" cap="flat" cmpd="sng">
            <a:solidFill>
              <a:srgbClr val="3CEFAB"/>
            </a:solidFill>
            <a:prstDash val="solid"/>
            <a:round/>
            <a:headEnd type="none" w="sm" len="sm"/>
            <a:tailEnd type="none" w="sm" len="sm"/>
          </a:ln>
        </p:spPr>
      </p:pic>
      <p:sp>
        <p:nvSpPr>
          <p:cNvPr id="2" name="Rectángulo 1">
            <a:extLst>
              <a:ext uri="{FF2B5EF4-FFF2-40B4-BE49-F238E27FC236}">
                <a16:creationId xmlns:a16="http://schemas.microsoft.com/office/drawing/2014/main" id="{416B9F4A-CDC0-5932-8867-FF7087841987}"/>
              </a:ext>
            </a:extLst>
          </p:cNvPr>
          <p:cNvSpPr/>
          <p:nvPr/>
        </p:nvSpPr>
        <p:spPr>
          <a:xfrm>
            <a:off x="0" y="4692275"/>
            <a:ext cx="9144000" cy="4512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4"/>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accent5"/>
                </a:solidFill>
                <a:latin typeface="DM Sans"/>
                <a:ea typeface="DM Sans"/>
                <a:cs typeface="DM Sans"/>
                <a:sym typeface="DM Sans"/>
              </a:rPr>
              <a:t>Encapsulamiento</a:t>
            </a:r>
            <a:endParaRPr sz="4000" b="1"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CC3056AB-DA76-0AD9-8182-F5EFA3CE85B7}"/>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75"/>
          <p:cNvSpPr txBox="1"/>
          <p:nvPr/>
        </p:nvSpPr>
        <p:spPr>
          <a:xfrm>
            <a:off x="491700" y="468325"/>
            <a:ext cx="81606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¿De qué se trata?</a:t>
            </a:r>
            <a:endParaRPr sz="4000" b="1" i="0" u="none" strike="noStrike" cap="none">
              <a:solidFill>
                <a:schemeClr val="dk1"/>
              </a:solidFill>
              <a:latin typeface="DM Sans"/>
              <a:ea typeface="DM Sans"/>
              <a:cs typeface="DM Sans"/>
              <a:sym typeface="DM Sans"/>
            </a:endParaRPr>
          </a:p>
        </p:txBody>
      </p:sp>
      <p:sp>
        <p:nvSpPr>
          <p:cNvPr id="486" name="Google Shape;486;p75"/>
          <p:cNvSpPr txBox="1"/>
          <p:nvPr/>
        </p:nvSpPr>
        <p:spPr>
          <a:xfrm>
            <a:off x="491700" y="2096325"/>
            <a:ext cx="8160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Es un concepto relacionado con la programación, orientada a objetos, y hace referencia al </a:t>
            </a:r>
            <a:r>
              <a:rPr lang="es" sz="1350" b="1" i="0" u="none" strike="noStrike" cap="none">
                <a:solidFill>
                  <a:srgbClr val="000000"/>
                </a:solidFill>
                <a:highlight>
                  <a:schemeClr val="accent6"/>
                </a:highlight>
                <a:latin typeface="DM Sans"/>
                <a:ea typeface="DM Sans"/>
                <a:cs typeface="DM Sans"/>
                <a:sym typeface="DM Sans"/>
              </a:rPr>
              <a:t>ocultamiento de los estados internos de una clase al exterior.</a:t>
            </a:r>
            <a:r>
              <a:rPr lang="es" sz="1350" b="0" i="0" u="none" strike="noStrike" cap="none">
                <a:solidFill>
                  <a:srgbClr val="000000"/>
                </a:solidFill>
                <a:latin typeface="DM Sans"/>
                <a:ea typeface="DM Sans"/>
                <a:cs typeface="DM Sans"/>
                <a:sym typeface="DM Sans"/>
              </a:rPr>
              <a:t> Dicho de otra manera, encapsular consiste en </a:t>
            </a:r>
            <a:r>
              <a:rPr lang="es" sz="1350" b="1" i="0" u="none" strike="noStrike" cap="none">
                <a:solidFill>
                  <a:srgbClr val="000000"/>
                </a:solidFill>
                <a:highlight>
                  <a:schemeClr val="accent6"/>
                </a:highlight>
                <a:latin typeface="DM Sans"/>
                <a:ea typeface="DM Sans"/>
                <a:cs typeface="DM Sans"/>
                <a:sym typeface="DM Sans"/>
              </a:rPr>
              <a:t>hacer que los atributos o métodos internos a una clase no se puedan acceder ni modificar desde fuera,</a:t>
            </a:r>
            <a:r>
              <a:rPr lang="es" sz="1350" b="0" i="0" u="none" strike="noStrike" cap="none">
                <a:solidFill>
                  <a:srgbClr val="000000"/>
                </a:solidFill>
                <a:latin typeface="DM Sans"/>
                <a:ea typeface="DM Sans"/>
                <a:cs typeface="DM Sans"/>
                <a:sym typeface="DM Sans"/>
              </a:rPr>
              <a:t> sino que tan solo el propio objeto pueda acceder a ellos.</a:t>
            </a:r>
            <a:endParaRPr sz="1350" b="0" i="0" u="none" strike="noStrike" cap="none">
              <a:solidFill>
                <a:srgbClr val="000000"/>
              </a:solidFill>
              <a:latin typeface="DM Sans"/>
              <a:ea typeface="DM Sans"/>
              <a:cs typeface="DM Sans"/>
              <a:sym typeface="DM Sans"/>
            </a:endParaRPr>
          </a:p>
        </p:txBody>
      </p:sp>
      <p:sp>
        <p:nvSpPr>
          <p:cNvPr id="487" name="Google Shape;487;p75"/>
          <p:cNvSpPr txBox="1"/>
          <p:nvPr/>
        </p:nvSpPr>
        <p:spPr>
          <a:xfrm>
            <a:off x="476250" y="4591050"/>
            <a:ext cx="294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1" i="0" u="none" strike="noStrike" cap="none">
                <a:solidFill>
                  <a:schemeClr val="dk2"/>
                </a:solidFill>
                <a:latin typeface="DM Sans"/>
                <a:ea typeface="DM Sans"/>
                <a:cs typeface="DM Sans"/>
                <a:sym typeface="DM Sans"/>
              </a:rPr>
              <a:t>Fuente</a:t>
            </a:r>
            <a:r>
              <a:rPr lang="es" sz="1100" b="0" i="0" u="none" strike="noStrike" cap="none">
                <a:solidFill>
                  <a:schemeClr val="dk2"/>
                </a:solidFill>
                <a:latin typeface="DM Sans"/>
                <a:ea typeface="DM Sans"/>
                <a:cs typeface="DM Sans"/>
                <a:sym typeface="DM Sans"/>
              </a:rPr>
              <a:t>: </a:t>
            </a:r>
            <a:r>
              <a:rPr lang="es" sz="1100" b="0" i="0" u="sng" strike="noStrike" cap="none">
                <a:solidFill>
                  <a:schemeClr val="hlink"/>
                </a:solidFill>
                <a:latin typeface="DM Sans"/>
                <a:ea typeface="DM Sans"/>
                <a:cs typeface="DM Sans"/>
                <a:sym typeface="DM Sans"/>
                <a:hlinkClick r:id="rId3"/>
              </a:rPr>
              <a:t>ellibrodepython.com</a:t>
            </a:r>
            <a:endParaRPr sz="1100" b="0" i="0" u="none" strike="noStrike" cap="none">
              <a:solidFill>
                <a:schemeClr val="accent5"/>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BD281E1A-923F-68C4-9937-CF00784FE266}"/>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76"/>
          <p:cNvSpPr txBox="1"/>
          <p:nvPr/>
        </p:nvSpPr>
        <p:spPr>
          <a:xfrm>
            <a:off x="476250" y="2199113"/>
            <a:ext cx="7169400" cy="954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a:solidFill>
                  <a:schemeClr val="lt1"/>
                </a:solidFill>
                <a:latin typeface="DM Sans"/>
                <a:ea typeface="DM Sans"/>
                <a:cs typeface="DM Sans"/>
                <a:sym typeface="DM Sans"/>
              </a:rPr>
              <a:t>Python por defecto no oculta los atributos y métodos de una clase al exterior ☹</a:t>
            </a:r>
            <a:endParaRPr sz="2500" b="0" i="0" u="none" strike="noStrike" cap="none">
              <a:solidFill>
                <a:srgbClr val="EAFF6A"/>
              </a:solidFill>
              <a:latin typeface="DM Sans"/>
              <a:ea typeface="DM Sans"/>
              <a:cs typeface="DM Sans"/>
              <a:sym typeface="DM Sans"/>
            </a:endParaRPr>
          </a:p>
        </p:txBody>
      </p:sp>
      <p:sp>
        <p:nvSpPr>
          <p:cNvPr id="493" name="Google Shape;493;p76"/>
          <p:cNvSpPr txBox="1"/>
          <p:nvPr/>
        </p:nvSpPr>
        <p:spPr>
          <a:xfrm>
            <a:off x="5308925" y="4010550"/>
            <a:ext cx="3336000" cy="4155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500"/>
              <a:buFont typeface="Arial"/>
              <a:buNone/>
            </a:pPr>
            <a:r>
              <a:rPr lang="es" sz="1500" b="0" i="0" u="sng" strike="noStrike" cap="none">
                <a:solidFill>
                  <a:schemeClr val="hlink"/>
                </a:solidFill>
                <a:latin typeface="DM Sans"/>
                <a:ea typeface="DM Sans"/>
                <a:cs typeface="DM Sans"/>
                <a:sym typeface="DM Sans"/>
                <a:hlinkClick r:id="rId3"/>
              </a:rPr>
              <a:t>ellibrodepython.com</a:t>
            </a:r>
            <a:endParaRPr sz="1400" b="0" i="0" u="none" strike="noStrike" cap="none">
              <a:solidFill>
                <a:schemeClr val="lt2"/>
              </a:solidFill>
              <a:latin typeface="DM Sans"/>
              <a:ea typeface="DM Sans"/>
              <a:cs typeface="DM Sans"/>
              <a:sym typeface="DM Sans"/>
            </a:endParaRPr>
          </a:p>
        </p:txBody>
      </p:sp>
      <p:pic>
        <p:nvPicPr>
          <p:cNvPr id="494" name="Google Shape;494;p76" title="imagen decorativa de comillas para cita"/>
          <p:cNvPicPr preferRelativeResize="0"/>
          <p:nvPr/>
        </p:nvPicPr>
        <p:blipFill rotWithShape="1">
          <a:blip r:embed="rId4">
            <a:alphaModFix/>
          </a:blip>
          <a:srcRect/>
          <a:stretch/>
        </p:blipFill>
        <p:spPr>
          <a:xfrm>
            <a:off x="577350" y="826025"/>
            <a:ext cx="744150" cy="515944"/>
          </a:xfrm>
          <a:prstGeom prst="rect">
            <a:avLst/>
          </a:prstGeom>
          <a:noFill/>
          <a:ln>
            <a:noFill/>
          </a:ln>
        </p:spPr>
      </p:pic>
      <p:sp>
        <p:nvSpPr>
          <p:cNvPr id="2" name="Rectángulo 1">
            <a:extLst>
              <a:ext uri="{FF2B5EF4-FFF2-40B4-BE49-F238E27FC236}">
                <a16:creationId xmlns:a16="http://schemas.microsoft.com/office/drawing/2014/main" id="{0E748461-52C4-F6CC-593E-59C2EBCFEAD3}"/>
              </a:ext>
            </a:extLst>
          </p:cNvPr>
          <p:cNvSpPr/>
          <p:nvPr/>
        </p:nvSpPr>
        <p:spPr>
          <a:xfrm>
            <a:off x="0" y="3811713"/>
            <a:ext cx="9144000" cy="133178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grpSp>
        <p:nvGrpSpPr>
          <p:cNvPr id="499" name="Google Shape;499;p77"/>
          <p:cNvGrpSpPr/>
          <p:nvPr/>
        </p:nvGrpSpPr>
        <p:grpSpPr>
          <a:xfrm>
            <a:off x="457338" y="468286"/>
            <a:ext cx="431100" cy="431100"/>
            <a:chOff x="4616400" y="1950761"/>
            <a:chExt cx="431100" cy="431100"/>
          </a:xfrm>
        </p:grpSpPr>
        <p:sp>
          <p:nvSpPr>
            <p:cNvPr id="500" name="Google Shape;500;p77"/>
            <p:cNvSpPr/>
            <p:nvPr/>
          </p:nvSpPr>
          <p:spPr>
            <a:xfrm>
              <a:off x="4616400" y="1950761"/>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1" name="Google Shape;501;p77" title="ícono para recordar"/>
            <p:cNvPicPr preferRelativeResize="0"/>
            <p:nvPr/>
          </p:nvPicPr>
          <p:blipFill rotWithShape="1">
            <a:blip r:embed="rId3">
              <a:alphaModFix/>
            </a:blip>
            <a:srcRect/>
            <a:stretch/>
          </p:blipFill>
          <p:spPr>
            <a:xfrm>
              <a:off x="4699911" y="2034249"/>
              <a:ext cx="264076" cy="264076"/>
            </a:xfrm>
            <a:prstGeom prst="rect">
              <a:avLst/>
            </a:prstGeom>
            <a:noFill/>
            <a:ln>
              <a:noFill/>
            </a:ln>
          </p:spPr>
        </p:pic>
      </p:grpSp>
      <p:sp>
        <p:nvSpPr>
          <p:cNvPr id="502" name="Google Shape;502;p77"/>
          <p:cNvSpPr txBox="1"/>
          <p:nvPr/>
        </p:nvSpPr>
        <p:spPr>
          <a:xfrm>
            <a:off x="457350" y="1820575"/>
            <a:ext cx="8210400" cy="210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chemeClr val="lt1"/>
                </a:solidFill>
                <a:latin typeface="DM Sans"/>
                <a:ea typeface="DM Sans"/>
                <a:cs typeface="DM Sans"/>
                <a:sym typeface="DM Sans"/>
              </a:rPr>
              <a:t>Esto es genial para “aprender”, pero en la práctica no nos gustaría que desde la clase Perro le cambien el nombre a una instancia de la clase Sueldo, por dar un ejemplo. Es por eso que es fundamental “defender” a los datos y tornarlos privados.</a:t>
            </a:r>
            <a:endParaRPr sz="2500" b="0" i="0" u="none" strike="noStrike" cap="none">
              <a:solidFill>
                <a:schemeClr val="lt1"/>
              </a:solidFill>
              <a:latin typeface="DM Sans"/>
              <a:ea typeface="DM Sans"/>
              <a:cs typeface="DM Sans"/>
              <a:sym typeface="DM Sans"/>
            </a:endParaRPr>
          </a:p>
        </p:txBody>
      </p:sp>
      <p:sp>
        <p:nvSpPr>
          <p:cNvPr id="503" name="Google Shape;503;p77"/>
          <p:cNvSpPr txBox="1"/>
          <p:nvPr/>
        </p:nvSpPr>
        <p:spPr>
          <a:xfrm>
            <a:off x="930550" y="468275"/>
            <a:ext cx="29175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lt1"/>
                </a:solidFill>
                <a:latin typeface="DM Sans"/>
                <a:ea typeface="DM Sans"/>
                <a:cs typeface="DM Sans"/>
                <a:sym typeface="DM Sans"/>
              </a:rPr>
              <a:t>PARA RECORDAR</a:t>
            </a:r>
            <a:endParaRPr sz="1400" b="0" i="0" u="none" strike="noStrike" cap="none">
              <a:solidFill>
                <a:schemeClr val="lt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5B5FBA09-AABC-DF3F-A9C1-9171ADBE26B9}"/>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grpSp>
        <p:nvGrpSpPr>
          <p:cNvPr id="508" name="Google Shape;508;p78"/>
          <p:cNvGrpSpPr/>
          <p:nvPr/>
        </p:nvGrpSpPr>
        <p:grpSpPr>
          <a:xfrm>
            <a:off x="473370" y="619431"/>
            <a:ext cx="738905" cy="738905"/>
            <a:chOff x="575612" y="1950748"/>
            <a:chExt cx="431100" cy="431100"/>
          </a:xfrm>
        </p:grpSpPr>
        <p:sp>
          <p:nvSpPr>
            <p:cNvPr id="509" name="Google Shape;509;p78"/>
            <p:cNvSpPr/>
            <p:nvPr/>
          </p:nvSpPr>
          <p:spPr>
            <a:xfrm>
              <a:off x="575612" y="1950748"/>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10" name="Google Shape;510;p78" title="ícono para pensar"/>
            <p:cNvPicPr preferRelativeResize="0"/>
            <p:nvPr/>
          </p:nvPicPr>
          <p:blipFill rotWithShape="1">
            <a:blip r:embed="rId3">
              <a:alphaModFix/>
            </a:blip>
            <a:srcRect/>
            <a:stretch/>
          </p:blipFill>
          <p:spPr>
            <a:xfrm>
              <a:off x="655125" y="2030288"/>
              <a:ext cx="272000" cy="272000"/>
            </a:xfrm>
            <a:prstGeom prst="rect">
              <a:avLst/>
            </a:prstGeom>
            <a:noFill/>
            <a:ln>
              <a:noFill/>
            </a:ln>
          </p:spPr>
        </p:pic>
      </p:grpSp>
      <p:sp>
        <p:nvSpPr>
          <p:cNvPr id="511" name="Google Shape;511;p78"/>
          <p:cNvSpPr txBox="1"/>
          <p:nvPr/>
        </p:nvSpPr>
        <p:spPr>
          <a:xfrm>
            <a:off x="1445150" y="688825"/>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 sz="3500" b="1" i="0" u="none" strike="noStrike" cap="none">
                <a:solidFill>
                  <a:srgbClr val="EAFF6A"/>
                </a:solidFill>
                <a:latin typeface="DM Sans"/>
                <a:ea typeface="DM Sans"/>
                <a:cs typeface="DM Sans"/>
                <a:sym typeface="DM Sans"/>
              </a:rPr>
              <a:t>Para pensar</a:t>
            </a:r>
            <a:endParaRPr sz="3500" b="1" i="0" u="none" strike="noStrike" cap="none">
              <a:solidFill>
                <a:srgbClr val="EAFF6A"/>
              </a:solidFill>
              <a:latin typeface="DM Sans"/>
              <a:ea typeface="DM Sans"/>
              <a:cs typeface="DM Sans"/>
              <a:sym typeface="DM Sans"/>
            </a:endParaRPr>
          </a:p>
        </p:txBody>
      </p:sp>
      <p:sp>
        <p:nvSpPr>
          <p:cNvPr id="512" name="Google Shape;512;p78"/>
          <p:cNvSpPr txBox="1"/>
          <p:nvPr/>
        </p:nvSpPr>
        <p:spPr>
          <a:xfrm>
            <a:off x="476250" y="1866538"/>
            <a:ext cx="3452100" cy="1723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rgbClr val="B7B7B7"/>
                </a:solidFill>
                <a:latin typeface="DM Sans"/>
                <a:ea typeface="DM Sans"/>
                <a:cs typeface="DM Sans"/>
                <a:sym typeface="DM Sans"/>
              </a:rPr>
              <a:t>¿Qué creen que ocurre en este caso? </a:t>
            </a:r>
            <a:endParaRPr sz="2500" b="0" i="0" u="none" strike="noStrike" cap="none">
              <a:solidFill>
                <a:srgbClr val="B7B7B7"/>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chemeClr val="accent6"/>
                </a:solidFill>
                <a:latin typeface="DM Sans"/>
                <a:ea typeface="DM Sans"/>
                <a:cs typeface="DM Sans"/>
                <a:sym typeface="DM Sans"/>
              </a:rPr>
              <a:t>Pista</a:t>
            </a:r>
            <a:endParaRPr sz="2500" b="0" i="0" u="none" strike="noStrike" cap="none">
              <a:solidFill>
                <a:schemeClr val="accent6"/>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rgbClr val="B7B7B7"/>
                </a:solidFill>
                <a:latin typeface="DM Sans"/>
                <a:ea typeface="DM Sans"/>
                <a:cs typeface="DM Sans"/>
                <a:sym typeface="DM Sans"/>
              </a:rPr>
              <a:t>Atención a los </a:t>
            </a:r>
            <a:r>
              <a:rPr lang="es" sz="2500" b="0" i="0" u="none" strike="noStrike" cap="none">
                <a:solidFill>
                  <a:schemeClr val="accent6"/>
                </a:solidFill>
                <a:latin typeface="DM Sans"/>
                <a:ea typeface="DM Sans"/>
                <a:cs typeface="DM Sans"/>
                <a:sym typeface="DM Sans"/>
              </a:rPr>
              <a:t>_  _</a:t>
            </a:r>
            <a:endParaRPr sz="2500" b="0" i="0" u="none" strike="noStrike" cap="none">
              <a:solidFill>
                <a:schemeClr val="accent6"/>
              </a:solidFill>
              <a:latin typeface="DM Sans"/>
              <a:ea typeface="DM Sans"/>
              <a:cs typeface="DM Sans"/>
              <a:sym typeface="DM Sans"/>
            </a:endParaRPr>
          </a:p>
        </p:txBody>
      </p:sp>
      <p:sp>
        <p:nvSpPr>
          <p:cNvPr id="513" name="Google Shape;513;p78"/>
          <p:cNvSpPr txBox="1"/>
          <p:nvPr/>
        </p:nvSpPr>
        <p:spPr>
          <a:xfrm>
            <a:off x="473350" y="4098450"/>
            <a:ext cx="7169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2000" b="0" i="0" u="none" strike="noStrike" cap="none">
                <a:solidFill>
                  <a:schemeClr val="accent5"/>
                </a:solidFill>
                <a:latin typeface="DM Sans"/>
                <a:ea typeface="DM Sans"/>
                <a:cs typeface="DM Sans"/>
                <a:sym typeface="DM Sans"/>
              </a:rPr>
              <a:t>Contesta mediante el chat de Zoom </a:t>
            </a:r>
            <a:endParaRPr sz="2000" b="0" i="0" u="none" strike="noStrike" cap="none">
              <a:solidFill>
                <a:srgbClr val="83AEFB"/>
              </a:solidFill>
              <a:latin typeface="DM Sans"/>
              <a:ea typeface="DM Sans"/>
              <a:cs typeface="DM Sans"/>
              <a:sym typeface="DM Sans"/>
            </a:endParaRPr>
          </a:p>
        </p:txBody>
      </p:sp>
      <p:pic>
        <p:nvPicPr>
          <p:cNvPr id="514" name="Google Shape;514;p78" descr="Texto&#10;&#10;Descripción generada automáticamente"/>
          <p:cNvPicPr preferRelativeResize="0"/>
          <p:nvPr/>
        </p:nvPicPr>
        <p:blipFill rotWithShape="1">
          <a:blip r:embed="rId4">
            <a:alphaModFix/>
          </a:blip>
          <a:srcRect t="4728" b="4509"/>
          <a:stretch/>
        </p:blipFill>
        <p:spPr>
          <a:xfrm>
            <a:off x="4413125" y="1109918"/>
            <a:ext cx="4254625" cy="2923650"/>
          </a:xfrm>
          <a:prstGeom prst="rect">
            <a:avLst/>
          </a:prstGeom>
          <a:noFill/>
          <a:ln>
            <a:noFill/>
          </a:ln>
        </p:spPr>
      </p:pic>
      <p:sp>
        <p:nvSpPr>
          <p:cNvPr id="2" name="Rectángulo 1">
            <a:extLst>
              <a:ext uri="{FF2B5EF4-FFF2-40B4-BE49-F238E27FC236}">
                <a16:creationId xmlns:a16="http://schemas.microsoft.com/office/drawing/2014/main" id="{A55033DE-D368-74FC-11E2-A7B620E2B463}"/>
              </a:ext>
            </a:extLst>
          </p:cNvPr>
          <p:cNvSpPr/>
          <p:nvPr/>
        </p:nvSpPr>
        <p:spPr>
          <a:xfrm>
            <a:off x="0" y="4222679"/>
            <a:ext cx="9144000" cy="92082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grpSp>
        <p:nvGrpSpPr>
          <p:cNvPr id="519" name="Google Shape;519;p79"/>
          <p:cNvGrpSpPr/>
          <p:nvPr/>
        </p:nvGrpSpPr>
        <p:grpSpPr>
          <a:xfrm>
            <a:off x="473371" y="619433"/>
            <a:ext cx="738905" cy="738905"/>
            <a:chOff x="575612" y="1950748"/>
            <a:chExt cx="431100" cy="431100"/>
          </a:xfrm>
        </p:grpSpPr>
        <p:sp>
          <p:nvSpPr>
            <p:cNvPr id="520" name="Google Shape;520;p79"/>
            <p:cNvSpPr/>
            <p:nvPr/>
          </p:nvSpPr>
          <p:spPr>
            <a:xfrm>
              <a:off x="575612" y="1950748"/>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1" name="Google Shape;521;p79" title="ícono para pensar"/>
            <p:cNvPicPr preferRelativeResize="0"/>
            <p:nvPr/>
          </p:nvPicPr>
          <p:blipFill rotWithShape="1">
            <a:blip r:embed="rId3">
              <a:alphaModFix/>
            </a:blip>
            <a:srcRect/>
            <a:stretch/>
          </p:blipFill>
          <p:spPr>
            <a:xfrm>
              <a:off x="655125" y="2030288"/>
              <a:ext cx="272000" cy="272000"/>
            </a:xfrm>
            <a:prstGeom prst="rect">
              <a:avLst/>
            </a:prstGeom>
            <a:noFill/>
            <a:ln>
              <a:noFill/>
            </a:ln>
          </p:spPr>
        </p:pic>
      </p:grpSp>
      <p:sp>
        <p:nvSpPr>
          <p:cNvPr id="522" name="Google Shape;522;p79"/>
          <p:cNvSpPr txBox="1"/>
          <p:nvPr/>
        </p:nvSpPr>
        <p:spPr>
          <a:xfrm>
            <a:off x="1445150" y="688825"/>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 sz="3500" b="1" i="0" u="none" strike="noStrike" cap="none">
                <a:solidFill>
                  <a:srgbClr val="EAFF6A"/>
                </a:solidFill>
                <a:latin typeface="DM Sans"/>
                <a:ea typeface="DM Sans"/>
                <a:cs typeface="DM Sans"/>
                <a:sym typeface="DM Sans"/>
              </a:rPr>
              <a:t>Para pensar</a:t>
            </a:r>
            <a:endParaRPr sz="3500" b="1" i="0" u="none" strike="noStrike" cap="none">
              <a:solidFill>
                <a:srgbClr val="EAFF6A"/>
              </a:solidFill>
              <a:latin typeface="DM Sans"/>
              <a:ea typeface="DM Sans"/>
              <a:cs typeface="DM Sans"/>
              <a:sym typeface="DM Sans"/>
            </a:endParaRPr>
          </a:p>
        </p:txBody>
      </p:sp>
      <p:sp>
        <p:nvSpPr>
          <p:cNvPr id="523" name="Google Shape;523;p79"/>
          <p:cNvSpPr txBox="1"/>
          <p:nvPr/>
        </p:nvSpPr>
        <p:spPr>
          <a:xfrm>
            <a:off x="476250" y="1866538"/>
            <a:ext cx="3452100" cy="13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2500" b="0" i="0" u="none" strike="noStrike" cap="none">
                <a:solidFill>
                  <a:srgbClr val="B7B7B7"/>
                </a:solidFill>
                <a:latin typeface="DM Sans"/>
                <a:ea typeface="DM Sans"/>
                <a:cs typeface="DM Sans"/>
                <a:sym typeface="DM Sans"/>
              </a:rPr>
              <a:t>¿Qué creen que ocurre en este caso entonces?</a:t>
            </a:r>
            <a:endParaRPr sz="2500" b="0" i="0" u="none" strike="noStrike" cap="none">
              <a:solidFill>
                <a:schemeClr val="accent6"/>
              </a:solidFill>
              <a:latin typeface="DM Sans"/>
              <a:ea typeface="DM Sans"/>
              <a:cs typeface="DM Sans"/>
              <a:sym typeface="DM Sans"/>
            </a:endParaRPr>
          </a:p>
        </p:txBody>
      </p:sp>
      <p:sp>
        <p:nvSpPr>
          <p:cNvPr id="524" name="Google Shape;524;p79"/>
          <p:cNvSpPr txBox="1"/>
          <p:nvPr/>
        </p:nvSpPr>
        <p:spPr>
          <a:xfrm>
            <a:off x="473350" y="4098450"/>
            <a:ext cx="7169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2000" b="0" i="0" u="none" strike="noStrike" cap="none">
                <a:solidFill>
                  <a:schemeClr val="accent5"/>
                </a:solidFill>
                <a:latin typeface="DM Sans"/>
                <a:ea typeface="DM Sans"/>
                <a:cs typeface="DM Sans"/>
                <a:sym typeface="DM Sans"/>
              </a:rPr>
              <a:t>Contesta mediante el chat de Zoom </a:t>
            </a:r>
            <a:endParaRPr sz="2000" b="0" i="0" u="none" strike="noStrike" cap="none">
              <a:solidFill>
                <a:srgbClr val="83AEFB"/>
              </a:solidFill>
              <a:latin typeface="DM Sans"/>
              <a:ea typeface="DM Sans"/>
              <a:cs typeface="DM Sans"/>
              <a:sym typeface="DM Sans"/>
            </a:endParaRPr>
          </a:p>
        </p:txBody>
      </p:sp>
      <p:pic>
        <p:nvPicPr>
          <p:cNvPr id="525" name="Google Shape;525;p79" descr="Texto&#10;&#10;Descripción generada automáticamente"/>
          <p:cNvPicPr preferRelativeResize="0"/>
          <p:nvPr/>
        </p:nvPicPr>
        <p:blipFill rotWithShape="1">
          <a:blip r:embed="rId4">
            <a:alphaModFix/>
          </a:blip>
          <a:srcRect t="2338" b="3383"/>
          <a:stretch/>
        </p:blipFill>
        <p:spPr>
          <a:xfrm>
            <a:off x="4562225" y="1147800"/>
            <a:ext cx="4105525" cy="305217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80"/>
          <p:cNvSpPr txBox="1"/>
          <p:nvPr/>
        </p:nvSpPr>
        <p:spPr>
          <a:xfrm>
            <a:off x="491700" y="468325"/>
            <a:ext cx="81606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Visibilidad de los datos</a:t>
            </a:r>
            <a:endParaRPr sz="4000" b="1" i="0" u="none" strike="noStrike" cap="none">
              <a:solidFill>
                <a:schemeClr val="dk1"/>
              </a:solidFill>
              <a:latin typeface="DM Sans"/>
              <a:ea typeface="DM Sans"/>
              <a:cs typeface="DM Sans"/>
              <a:sym typeface="DM Sans"/>
            </a:endParaRPr>
          </a:p>
        </p:txBody>
      </p:sp>
      <p:sp>
        <p:nvSpPr>
          <p:cNvPr id="531" name="Google Shape;531;p80"/>
          <p:cNvSpPr txBox="1"/>
          <p:nvPr/>
        </p:nvSpPr>
        <p:spPr>
          <a:xfrm>
            <a:off x="491700" y="1389450"/>
            <a:ext cx="8160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Efectivamente, todo lo que esté privado </a:t>
            </a:r>
            <a:r>
              <a:rPr lang="es" sz="1350" b="1" i="0" u="none" strike="noStrike" cap="none">
                <a:solidFill>
                  <a:srgbClr val="000000"/>
                </a:solidFill>
                <a:latin typeface="DM Sans"/>
                <a:ea typeface="DM Sans"/>
                <a:cs typeface="DM Sans"/>
                <a:sym typeface="DM Sans"/>
              </a:rPr>
              <a:t>( con doble __ )</a:t>
            </a:r>
            <a:r>
              <a:rPr lang="es" sz="1350" b="0" i="0" u="none" strike="noStrike" cap="none">
                <a:solidFill>
                  <a:srgbClr val="000000"/>
                </a:solidFill>
                <a:latin typeface="DM Sans"/>
                <a:ea typeface="DM Sans"/>
                <a:cs typeface="DM Sans"/>
                <a:sym typeface="DM Sans"/>
              </a:rPr>
              <a:t> será imposible de acceder desde el exterior de la clase</a:t>
            </a: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b="0" i="0" u="none" strike="noStrike" cap="none">
              <a:solidFill>
                <a:srgbClr val="000000"/>
              </a:solidFill>
              <a:latin typeface="DM Sans"/>
              <a:ea typeface="DM Sans"/>
              <a:cs typeface="DM Sans"/>
              <a:sym typeface="DM Sans"/>
            </a:endParaRPr>
          </a:p>
        </p:txBody>
      </p:sp>
      <p:pic>
        <p:nvPicPr>
          <p:cNvPr id="532" name="Google Shape;532;p80"/>
          <p:cNvPicPr preferRelativeResize="0"/>
          <p:nvPr/>
        </p:nvPicPr>
        <p:blipFill rotWithShape="1">
          <a:blip r:embed="rId3">
            <a:alphaModFix/>
          </a:blip>
          <a:srcRect/>
          <a:stretch/>
        </p:blipFill>
        <p:spPr>
          <a:xfrm>
            <a:off x="3060275" y="2179375"/>
            <a:ext cx="3023425" cy="2267575"/>
          </a:xfrm>
          <a:prstGeom prst="rect">
            <a:avLst/>
          </a:prstGeom>
          <a:noFill/>
          <a:ln>
            <a:noFill/>
          </a:ln>
        </p:spPr>
      </p:pic>
      <p:sp>
        <p:nvSpPr>
          <p:cNvPr id="2" name="Rectángulo 1">
            <a:extLst>
              <a:ext uri="{FF2B5EF4-FFF2-40B4-BE49-F238E27FC236}">
                <a16:creationId xmlns:a16="http://schemas.microsoft.com/office/drawing/2014/main" id="{8959FB51-5E18-388D-7C28-E0E67D25381C}"/>
              </a:ext>
            </a:extLst>
          </p:cNvPr>
          <p:cNvSpPr/>
          <p:nvPr/>
        </p:nvSpPr>
        <p:spPr>
          <a:xfrm>
            <a:off x="0" y="4675175"/>
            <a:ext cx="9144000" cy="46832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81"/>
          <p:cNvSpPr txBox="1"/>
          <p:nvPr/>
        </p:nvSpPr>
        <p:spPr>
          <a:xfrm>
            <a:off x="491688" y="964625"/>
            <a:ext cx="81606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¿Cómo encapsular en Python?</a:t>
            </a:r>
            <a:endParaRPr sz="4000" b="1" i="0" u="none" strike="noStrike" cap="none">
              <a:solidFill>
                <a:schemeClr val="dk1"/>
              </a:solidFill>
              <a:latin typeface="DM Sans"/>
              <a:ea typeface="DM Sans"/>
              <a:cs typeface="DM Sans"/>
              <a:sym typeface="DM Sans"/>
            </a:endParaRPr>
          </a:p>
        </p:txBody>
      </p:sp>
      <p:sp>
        <p:nvSpPr>
          <p:cNvPr id="538" name="Google Shape;538;p81"/>
          <p:cNvSpPr txBox="1"/>
          <p:nvPr/>
        </p:nvSpPr>
        <p:spPr>
          <a:xfrm>
            <a:off x="491700" y="1703525"/>
            <a:ext cx="81606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Hasta el momento sabemos que </a:t>
            </a:r>
            <a:r>
              <a:rPr lang="es" sz="1350" b="1" i="0" u="none" strike="noStrike" cap="none">
                <a:solidFill>
                  <a:srgbClr val="000000"/>
                </a:solidFill>
                <a:highlight>
                  <a:schemeClr val="accent6"/>
                </a:highlight>
                <a:latin typeface="DM Sans"/>
                <a:ea typeface="DM Sans"/>
                <a:cs typeface="DM Sans"/>
                <a:sym typeface="DM Sans"/>
              </a:rPr>
              <a:t>la encapsulación es el ocultamiento de datos del estado interno para proteger la integridad del objeto</a:t>
            </a:r>
            <a:r>
              <a:rPr lang="es" sz="1350" b="0" i="0" u="none" strike="noStrike" cap="none">
                <a:solidFill>
                  <a:srgbClr val="000000"/>
                </a:solidFill>
                <a:latin typeface="DM Sans"/>
                <a:ea typeface="DM Sans"/>
                <a:cs typeface="DM Sans"/>
                <a:sym typeface="DM Sans"/>
              </a:rPr>
              <a:t>. En el siguiente ejemplo, CLIENTE es una clase, y hemos encapsulado (al anteponer  __ ) la variable accountNumber. </a:t>
            </a:r>
            <a:endParaRPr sz="1350" b="0" i="0" u="none" strike="noStrike" cap="none">
              <a:solidFill>
                <a:srgbClr val="000000"/>
              </a:solidFill>
              <a:latin typeface="DM Sans"/>
              <a:ea typeface="DM Sans"/>
              <a:cs typeface="DM Sans"/>
              <a:sym typeface="DM Sans"/>
            </a:endParaRPr>
          </a:p>
        </p:txBody>
      </p:sp>
      <p:grpSp>
        <p:nvGrpSpPr>
          <p:cNvPr id="539" name="Google Shape;539;p81"/>
          <p:cNvGrpSpPr/>
          <p:nvPr/>
        </p:nvGrpSpPr>
        <p:grpSpPr>
          <a:xfrm>
            <a:off x="7928851" y="468323"/>
            <a:ext cx="738900" cy="738900"/>
            <a:chOff x="473351" y="619523"/>
            <a:chExt cx="738900" cy="738900"/>
          </a:xfrm>
        </p:grpSpPr>
        <p:sp>
          <p:nvSpPr>
            <p:cNvPr id="540" name="Google Shape;540;p81"/>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41" name="Google Shape;541;p81"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pic>
        <p:nvPicPr>
          <p:cNvPr id="542" name="Google Shape;542;p81"/>
          <p:cNvPicPr preferRelativeResize="0"/>
          <p:nvPr/>
        </p:nvPicPr>
        <p:blipFill rotWithShape="1">
          <a:blip r:embed="rId4">
            <a:alphaModFix/>
          </a:blip>
          <a:srcRect r="51221"/>
          <a:stretch/>
        </p:blipFill>
        <p:spPr>
          <a:xfrm>
            <a:off x="2892425" y="3137325"/>
            <a:ext cx="3359150" cy="1352550"/>
          </a:xfrm>
          <a:prstGeom prst="rect">
            <a:avLst/>
          </a:prstGeom>
          <a:noFill/>
          <a:ln>
            <a:noFill/>
          </a:ln>
        </p:spPr>
      </p:pic>
      <p:sp>
        <p:nvSpPr>
          <p:cNvPr id="543" name="Google Shape;543;p81"/>
          <p:cNvSpPr txBox="1"/>
          <p:nvPr/>
        </p:nvSpPr>
        <p:spPr>
          <a:xfrm>
            <a:off x="491700" y="4591050"/>
            <a:ext cx="294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a:t>
            </a:r>
            <a:r>
              <a:rPr lang="es" sz="1100" b="0" i="0" u="none" strike="noStrike" cap="none">
                <a:solidFill>
                  <a:schemeClr val="accent5"/>
                </a:solidFill>
                <a:latin typeface="DM Sans"/>
                <a:ea typeface="DM Sans"/>
                <a:cs typeface="DM Sans"/>
                <a:sym typeface="DM Sans"/>
              </a:rPr>
              <a:t> </a:t>
            </a:r>
            <a:r>
              <a:rPr lang="es" sz="1100" b="0" i="0" u="sng" strike="noStrike" cap="none">
                <a:solidFill>
                  <a:schemeClr val="hlink"/>
                </a:solidFill>
                <a:latin typeface="DM Sans"/>
                <a:ea typeface="DM Sans"/>
                <a:cs typeface="DM Sans"/>
                <a:sym typeface="DM Sans"/>
                <a:hlinkClick r:id="rId5"/>
              </a:rPr>
              <a:t>cosmiclearn.com</a:t>
            </a:r>
            <a:endParaRPr sz="1100" b="0" i="0" u="none" strike="noStrike" cap="none">
              <a:solidFill>
                <a:schemeClr val="accent5"/>
              </a:solidFill>
              <a:latin typeface="DM Sans"/>
              <a:ea typeface="DM Sans"/>
              <a:cs typeface="DM Sans"/>
              <a:sym typeface="DM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82"/>
          <p:cNvSpPr txBox="1"/>
          <p:nvPr/>
        </p:nvSpPr>
        <p:spPr>
          <a:xfrm>
            <a:off x="491688" y="964625"/>
            <a:ext cx="81606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¿Cómo encapsular en Python?</a:t>
            </a:r>
            <a:endParaRPr sz="4000" b="1" i="0" u="none" strike="noStrike" cap="none">
              <a:solidFill>
                <a:schemeClr val="dk1"/>
              </a:solidFill>
              <a:latin typeface="DM Sans"/>
              <a:ea typeface="DM Sans"/>
              <a:cs typeface="DM Sans"/>
              <a:sym typeface="DM Sans"/>
            </a:endParaRPr>
          </a:p>
        </p:txBody>
      </p:sp>
      <p:sp>
        <p:nvSpPr>
          <p:cNvPr id="549" name="Google Shape;549;p82"/>
          <p:cNvSpPr txBox="1"/>
          <p:nvPr/>
        </p:nvSpPr>
        <p:spPr>
          <a:xfrm>
            <a:off x="491700" y="1703525"/>
            <a:ext cx="8160600" cy="60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Del mismo modo, podemos ocultar el acceso a los métodos. Para eso, necesitamos anteponer el nombre del método con __ (subrayado doble).</a:t>
            </a:r>
            <a:endParaRPr sz="1350" b="0" i="0" u="none" strike="noStrike" cap="none">
              <a:solidFill>
                <a:srgbClr val="000000"/>
              </a:solidFill>
              <a:latin typeface="DM Sans"/>
              <a:ea typeface="DM Sans"/>
              <a:cs typeface="DM Sans"/>
              <a:sym typeface="DM Sans"/>
            </a:endParaRPr>
          </a:p>
        </p:txBody>
      </p:sp>
      <p:grpSp>
        <p:nvGrpSpPr>
          <p:cNvPr id="550" name="Google Shape;550;p82"/>
          <p:cNvGrpSpPr/>
          <p:nvPr/>
        </p:nvGrpSpPr>
        <p:grpSpPr>
          <a:xfrm>
            <a:off x="7928851" y="468323"/>
            <a:ext cx="738900" cy="738900"/>
            <a:chOff x="473351" y="619523"/>
            <a:chExt cx="738900" cy="738900"/>
          </a:xfrm>
        </p:grpSpPr>
        <p:sp>
          <p:nvSpPr>
            <p:cNvPr id="551" name="Google Shape;551;p82"/>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52" name="Google Shape;552;p82"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553" name="Google Shape;553;p82"/>
          <p:cNvSpPr txBox="1"/>
          <p:nvPr/>
        </p:nvSpPr>
        <p:spPr>
          <a:xfrm>
            <a:off x="491700" y="4591050"/>
            <a:ext cx="29400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s" sz="1100" b="0" i="0" u="none" strike="noStrike" cap="none">
                <a:solidFill>
                  <a:schemeClr val="dk2"/>
                </a:solidFill>
                <a:latin typeface="DM Sans"/>
                <a:ea typeface="DM Sans"/>
                <a:cs typeface="DM Sans"/>
                <a:sym typeface="DM Sans"/>
              </a:rPr>
              <a:t>Fuente:</a:t>
            </a:r>
            <a:r>
              <a:rPr lang="es" sz="1100" b="0" i="0" u="none" strike="noStrike" cap="none">
                <a:solidFill>
                  <a:schemeClr val="accent5"/>
                </a:solidFill>
                <a:latin typeface="DM Sans"/>
                <a:ea typeface="DM Sans"/>
                <a:cs typeface="DM Sans"/>
                <a:sym typeface="DM Sans"/>
              </a:rPr>
              <a:t> </a:t>
            </a:r>
            <a:r>
              <a:rPr lang="es" sz="1100" b="0" i="0" u="sng" strike="noStrike" cap="none">
                <a:solidFill>
                  <a:schemeClr val="hlink"/>
                </a:solidFill>
                <a:latin typeface="DM Sans"/>
                <a:ea typeface="DM Sans"/>
                <a:cs typeface="DM Sans"/>
                <a:sym typeface="DM Sans"/>
                <a:hlinkClick r:id="rId4"/>
              </a:rPr>
              <a:t>cosmiclearn.com</a:t>
            </a:r>
            <a:endParaRPr sz="1100" b="0" i="0" u="none" strike="noStrike" cap="none">
              <a:solidFill>
                <a:schemeClr val="accent5"/>
              </a:solidFill>
              <a:latin typeface="DM Sans"/>
              <a:ea typeface="DM Sans"/>
              <a:cs typeface="DM Sans"/>
              <a:sym typeface="DM Sans"/>
            </a:endParaRPr>
          </a:p>
        </p:txBody>
      </p:sp>
      <p:pic>
        <p:nvPicPr>
          <p:cNvPr id="554" name="Google Shape;554;p82"/>
          <p:cNvPicPr preferRelativeResize="0"/>
          <p:nvPr/>
        </p:nvPicPr>
        <p:blipFill rotWithShape="1">
          <a:blip r:embed="rId5">
            <a:alphaModFix/>
          </a:blip>
          <a:srcRect r="51816" b="10232"/>
          <a:stretch/>
        </p:blipFill>
        <p:spPr>
          <a:xfrm>
            <a:off x="2980325" y="2482800"/>
            <a:ext cx="3387049" cy="2103450"/>
          </a:xfrm>
          <a:prstGeom prst="rect">
            <a:avLst/>
          </a:prstGeom>
          <a:noFill/>
          <a:ln>
            <a:noFill/>
          </a:ln>
        </p:spPr>
      </p:pic>
      <p:sp>
        <p:nvSpPr>
          <p:cNvPr id="2" name="Rectángulo 1">
            <a:extLst>
              <a:ext uri="{FF2B5EF4-FFF2-40B4-BE49-F238E27FC236}">
                <a16:creationId xmlns:a16="http://schemas.microsoft.com/office/drawing/2014/main" id="{656ED6BF-8653-A192-0854-2E63B162E859}"/>
              </a:ext>
            </a:extLst>
          </p:cNvPr>
          <p:cNvSpPr/>
          <p:nvPr/>
        </p:nvSpPr>
        <p:spPr>
          <a:xfrm>
            <a:off x="0" y="4675177"/>
            <a:ext cx="9144000" cy="46832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grpSp>
        <p:nvGrpSpPr>
          <p:cNvPr id="559" name="Google Shape;559;p83"/>
          <p:cNvGrpSpPr/>
          <p:nvPr/>
        </p:nvGrpSpPr>
        <p:grpSpPr>
          <a:xfrm>
            <a:off x="4202556" y="994173"/>
            <a:ext cx="738900" cy="738900"/>
            <a:chOff x="974706" y="2467173"/>
            <a:chExt cx="738900" cy="738900"/>
          </a:xfrm>
        </p:grpSpPr>
        <p:sp>
          <p:nvSpPr>
            <p:cNvPr id="560" name="Google Shape;560;p83"/>
            <p:cNvSpPr/>
            <p:nvPr/>
          </p:nvSpPr>
          <p:spPr>
            <a:xfrm>
              <a:off x="974706" y="2467173"/>
              <a:ext cx="738900" cy="738900"/>
            </a:xfrm>
            <a:prstGeom prst="ellipse">
              <a:avLst/>
            </a:prstGeom>
            <a:solidFill>
              <a:srgbClr val="EA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61" name="Google Shape;561;p83" title="ícono de actividad en clase"/>
            <p:cNvPicPr preferRelativeResize="0"/>
            <p:nvPr/>
          </p:nvPicPr>
          <p:blipFill rotWithShape="1">
            <a:blip r:embed="rId3">
              <a:alphaModFix/>
            </a:blip>
            <a:srcRect/>
            <a:stretch/>
          </p:blipFill>
          <p:spPr>
            <a:xfrm>
              <a:off x="1109750" y="2610275"/>
              <a:ext cx="452650" cy="452650"/>
            </a:xfrm>
            <a:prstGeom prst="rect">
              <a:avLst/>
            </a:prstGeom>
            <a:noFill/>
            <a:ln>
              <a:noFill/>
            </a:ln>
          </p:spPr>
        </p:pic>
      </p:grpSp>
      <p:sp>
        <p:nvSpPr>
          <p:cNvPr id="562" name="Google Shape;562;p83"/>
          <p:cNvSpPr txBox="1"/>
          <p:nvPr/>
        </p:nvSpPr>
        <p:spPr>
          <a:xfrm>
            <a:off x="1453225" y="1733027"/>
            <a:ext cx="6221400" cy="1292631"/>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Implementación en Python</a:t>
            </a:r>
            <a:endParaRPr sz="4000" b="1" i="0" u="none" strike="noStrike" cap="none">
              <a:solidFill>
                <a:schemeClr val="dk1"/>
              </a:solidFill>
              <a:highlight>
                <a:srgbClr val="EAFF6A"/>
              </a:highlight>
              <a:latin typeface="DM Sans"/>
              <a:ea typeface="DM Sans"/>
              <a:cs typeface="DM Sans"/>
              <a:sym typeface="DM Sans"/>
            </a:endParaRPr>
          </a:p>
        </p:txBody>
      </p:sp>
      <p:sp>
        <p:nvSpPr>
          <p:cNvPr id="563" name="Google Shape;563;p83"/>
          <p:cNvSpPr txBox="1"/>
          <p:nvPr/>
        </p:nvSpPr>
        <p:spPr>
          <a:xfrm>
            <a:off x="889933" y="4056571"/>
            <a:ext cx="71694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b="0" i="0" u="none" strike="noStrike" cap="none">
                <a:solidFill>
                  <a:srgbClr val="83AEFB"/>
                </a:solidFill>
                <a:latin typeface="DM Sans"/>
                <a:ea typeface="DM Sans"/>
                <a:cs typeface="DM Sans"/>
                <a:sym typeface="DM Sans"/>
              </a:rPr>
              <a:t>Duración: </a:t>
            </a:r>
            <a:r>
              <a:rPr lang="es" sz="2000" b="1" i="0" u="none" strike="noStrike" cap="none">
                <a:solidFill>
                  <a:srgbClr val="83AEFB"/>
                </a:solidFill>
                <a:latin typeface="DM Sans"/>
                <a:ea typeface="DM Sans"/>
                <a:cs typeface="DM Sans"/>
                <a:sym typeface="DM Sans"/>
              </a:rPr>
              <a:t>20 minutos</a:t>
            </a:r>
            <a:endParaRPr sz="2000" b="1" i="0" u="none" strike="noStrike" cap="none">
              <a:solidFill>
                <a:srgbClr val="83AEFB"/>
              </a:solidFill>
              <a:latin typeface="DM Sans"/>
              <a:ea typeface="DM Sans"/>
              <a:cs typeface="DM Sans"/>
              <a:sym typeface="DM Sans"/>
            </a:endParaRPr>
          </a:p>
        </p:txBody>
      </p:sp>
      <p:sp>
        <p:nvSpPr>
          <p:cNvPr id="564" name="Google Shape;564;p83"/>
          <p:cNvSpPr txBox="1"/>
          <p:nvPr/>
        </p:nvSpPr>
        <p:spPr>
          <a:xfrm>
            <a:off x="923800" y="2967381"/>
            <a:ext cx="71694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s" sz="2000">
                <a:solidFill>
                  <a:srgbClr val="999999"/>
                </a:solidFill>
                <a:latin typeface="DM Sans"/>
                <a:ea typeface="DM Sans"/>
                <a:cs typeface="DM Sans"/>
                <a:sym typeface="DM Sans"/>
              </a:rPr>
              <a:t>Clases desde DrawIO a Python</a:t>
            </a:r>
            <a:endParaRPr sz="2000" b="0" i="0" u="none" strike="noStrike" cap="none">
              <a:solidFill>
                <a:srgbClr val="999999"/>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92A3E084-AE94-959B-3820-0AB67C503FAE}"/>
              </a:ext>
            </a:extLst>
          </p:cNvPr>
          <p:cNvSpPr/>
          <p:nvPr/>
        </p:nvSpPr>
        <p:spPr>
          <a:xfrm>
            <a:off x="0" y="4549171"/>
            <a:ext cx="9144000" cy="5943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grpSp>
        <p:nvGrpSpPr>
          <p:cNvPr id="569" name="Google Shape;569;p84"/>
          <p:cNvGrpSpPr/>
          <p:nvPr/>
        </p:nvGrpSpPr>
        <p:grpSpPr>
          <a:xfrm>
            <a:off x="457347" y="468298"/>
            <a:ext cx="431074" cy="431074"/>
            <a:chOff x="974706" y="2467173"/>
            <a:chExt cx="738900" cy="738900"/>
          </a:xfrm>
        </p:grpSpPr>
        <p:sp>
          <p:nvSpPr>
            <p:cNvPr id="570" name="Google Shape;570;p84"/>
            <p:cNvSpPr/>
            <p:nvPr/>
          </p:nvSpPr>
          <p:spPr>
            <a:xfrm>
              <a:off x="974706" y="2467173"/>
              <a:ext cx="738900" cy="738900"/>
            </a:xfrm>
            <a:prstGeom prst="ellipse">
              <a:avLst/>
            </a:prstGeom>
            <a:solidFill>
              <a:srgbClr val="EA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71" name="Google Shape;571;p84" title="ícono de actividad en clase"/>
            <p:cNvPicPr preferRelativeResize="0"/>
            <p:nvPr/>
          </p:nvPicPr>
          <p:blipFill rotWithShape="1">
            <a:blip r:embed="rId3">
              <a:alphaModFix/>
            </a:blip>
            <a:srcRect/>
            <a:stretch/>
          </p:blipFill>
          <p:spPr>
            <a:xfrm>
              <a:off x="1109750" y="2610275"/>
              <a:ext cx="452650" cy="452650"/>
            </a:xfrm>
            <a:prstGeom prst="rect">
              <a:avLst/>
            </a:prstGeom>
            <a:noFill/>
            <a:ln>
              <a:noFill/>
            </a:ln>
          </p:spPr>
        </p:pic>
      </p:grpSp>
      <p:sp>
        <p:nvSpPr>
          <p:cNvPr id="572" name="Google Shape;572;p84"/>
          <p:cNvSpPr txBox="1"/>
          <p:nvPr/>
        </p:nvSpPr>
        <p:spPr>
          <a:xfrm>
            <a:off x="395732" y="899378"/>
            <a:ext cx="78087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Implementación en Python</a:t>
            </a:r>
            <a:endParaRPr sz="4000" b="1" i="0" u="none" strike="noStrike" cap="none">
              <a:solidFill>
                <a:schemeClr val="dk1"/>
              </a:solidFill>
              <a:highlight>
                <a:srgbClr val="EAFF6A"/>
              </a:highlight>
              <a:latin typeface="DM Sans"/>
              <a:ea typeface="DM Sans"/>
              <a:cs typeface="DM Sans"/>
              <a:sym typeface="DM Sans"/>
            </a:endParaRPr>
          </a:p>
        </p:txBody>
      </p:sp>
      <p:pic>
        <p:nvPicPr>
          <p:cNvPr id="573" name="Google Shape;573;p84"/>
          <p:cNvPicPr preferRelativeResize="0"/>
          <p:nvPr/>
        </p:nvPicPr>
        <p:blipFill rotWithShape="1">
          <a:blip r:embed="rId4">
            <a:alphaModFix/>
          </a:blip>
          <a:srcRect/>
          <a:stretch/>
        </p:blipFill>
        <p:spPr>
          <a:xfrm>
            <a:off x="7811413" y="4692275"/>
            <a:ext cx="1150750" cy="267575"/>
          </a:xfrm>
          <a:prstGeom prst="rect">
            <a:avLst/>
          </a:prstGeom>
          <a:noFill/>
          <a:ln>
            <a:noFill/>
          </a:ln>
        </p:spPr>
      </p:pic>
      <p:sp>
        <p:nvSpPr>
          <p:cNvPr id="574" name="Google Shape;574;p84"/>
          <p:cNvSpPr txBox="1"/>
          <p:nvPr/>
        </p:nvSpPr>
        <p:spPr>
          <a:xfrm>
            <a:off x="395717" y="2378019"/>
            <a:ext cx="8166300" cy="1950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100"/>
              <a:buFont typeface="Arial"/>
              <a:buNone/>
            </a:pPr>
            <a:r>
              <a:rPr lang="es" sz="1350" b="0" i="0" u="none" strike="noStrike" cap="none">
                <a:solidFill>
                  <a:srgbClr val="000000"/>
                </a:solidFill>
                <a:latin typeface="DM Sans"/>
                <a:ea typeface="DM Sans"/>
                <a:cs typeface="DM Sans"/>
                <a:sym typeface="DM Sans"/>
              </a:rPr>
              <a:t>Aclaraciones Generales:</a:t>
            </a:r>
            <a:endParaRPr/>
          </a:p>
          <a:p>
            <a:pPr marL="285750" marR="0" lvl="0" indent="-285750" algn="l" rtl="0">
              <a:lnSpc>
                <a:spcPct val="150000"/>
              </a:lnSpc>
              <a:spcBef>
                <a:spcPts val="0"/>
              </a:spcBef>
              <a:spcAft>
                <a:spcPts val="0"/>
              </a:spcAft>
              <a:buClr>
                <a:schemeClr val="accent4"/>
              </a:buClr>
              <a:buSzPts val="1100"/>
              <a:buFont typeface="Arial"/>
              <a:buChar char="✔"/>
            </a:pPr>
            <a:r>
              <a:rPr lang="es" sz="1350" b="0" i="0" u="none" strike="noStrike" cap="none">
                <a:solidFill>
                  <a:srgbClr val="000000"/>
                </a:solidFill>
                <a:latin typeface="DM Sans"/>
                <a:ea typeface="DM Sans"/>
                <a:cs typeface="DM Sans"/>
                <a:sym typeface="DM Sans"/>
              </a:rPr>
              <a:t>El método </a:t>
            </a:r>
            <a:r>
              <a:rPr lang="es" sz="1350" b="0" i="1" u="none" strike="noStrike" cap="none">
                <a:solidFill>
                  <a:srgbClr val="000000"/>
                </a:solidFill>
                <a:latin typeface="DM Sans"/>
                <a:ea typeface="DM Sans"/>
                <a:cs typeface="DM Sans"/>
                <a:sym typeface="DM Sans"/>
              </a:rPr>
              <a:t>imprimir</a:t>
            </a:r>
            <a:r>
              <a:rPr lang="es" sz="1350" b="0" i="0" u="none" strike="noStrike" cap="none">
                <a:solidFill>
                  <a:srgbClr val="000000"/>
                </a:solidFill>
                <a:latin typeface="DM Sans"/>
                <a:ea typeface="DM Sans"/>
                <a:cs typeface="DM Sans"/>
                <a:sym typeface="DM Sans"/>
              </a:rPr>
              <a:t>, deberá mostrar por pantalla el nombre y la nota del estudiante.</a:t>
            </a:r>
            <a:endParaRPr/>
          </a:p>
          <a:p>
            <a:pPr marL="285750" marR="0" lvl="0" indent="-285750" algn="l" rtl="0">
              <a:lnSpc>
                <a:spcPct val="150000"/>
              </a:lnSpc>
              <a:spcBef>
                <a:spcPts val="0"/>
              </a:spcBef>
              <a:spcAft>
                <a:spcPts val="0"/>
              </a:spcAft>
              <a:buClr>
                <a:schemeClr val="accent4"/>
              </a:buClr>
              <a:buSzPts val="1100"/>
              <a:buFont typeface="Arial"/>
              <a:buChar char="✔"/>
            </a:pPr>
            <a:r>
              <a:rPr lang="es" sz="1350" b="0" i="0" u="none" strike="noStrike" cap="none">
                <a:solidFill>
                  <a:srgbClr val="000000"/>
                </a:solidFill>
                <a:latin typeface="DM Sans"/>
                <a:ea typeface="DM Sans"/>
                <a:cs typeface="DM Sans"/>
                <a:sym typeface="DM Sans"/>
              </a:rPr>
              <a:t>El método </a:t>
            </a:r>
            <a:r>
              <a:rPr lang="es" sz="1350" b="0" i="1" u="none" strike="noStrike" cap="none">
                <a:solidFill>
                  <a:srgbClr val="000000"/>
                </a:solidFill>
                <a:latin typeface="DM Sans"/>
                <a:ea typeface="DM Sans"/>
                <a:cs typeface="DM Sans"/>
                <a:sym typeface="DM Sans"/>
              </a:rPr>
              <a:t>resultado</a:t>
            </a:r>
            <a:r>
              <a:rPr lang="es" sz="1350" b="0" i="0" u="none" strike="noStrike" cap="none">
                <a:solidFill>
                  <a:srgbClr val="000000"/>
                </a:solidFill>
                <a:latin typeface="DM Sans"/>
                <a:ea typeface="DM Sans"/>
                <a:cs typeface="DM Sans"/>
                <a:sym typeface="DM Sans"/>
              </a:rPr>
              <a:t>, evalúa la nota correspondiente del estudiante. Si el estudiante saca menos de 5 puntos desaprueba la materia, más de 5 puntos aprueba. </a:t>
            </a:r>
            <a:r>
              <a:rPr lang="es" sz="1350" b="1" i="0" u="none" strike="noStrike" cap="none">
                <a:solidFill>
                  <a:srgbClr val="000000"/>
                </a:solidFill>
                <a:latin typeface="DM Sans"/>
                <a:ea typeface="DM Sans"/>
                <a:cs typeface="DM Sans"/>
                <a:sym typeface="DM Sans"/>
              </a:rPr>
              <a:t>Tip:</a:t>
            </a:r>
            <a:r>
              <a:rPr lang="es" sz="1350" b="0" i="0" u="none" strike="noStrike" cap="none">
                <a:solidFill>
                  <a:srgbClr val="000000"/>
                </a:solidFill>
                <a:latin typeface="DM Sans"/>
                <a:ea typeface="DM Sans"/>
                <a:cs typeface="DM Sans"/>
                <a:sym typeface="DM Sans"/>
              </a:rPr>
              <a:t> Para la realización de este apartado, es necesario trabajar con estructuras condicionales.</a:t>
            </a:r>
            <a:endParaRPr/>
          </a:p>
          <a:p>
            <a:pPr marL="285750" marR="0" lvl="0" indent="-285750" algn="l" rtl="0">
              <a:lnSpc>
                <a:spcPct val="150000"/>
              </a:lnSpc>
              <a:spcBef>
                <a:spcPts val="0"/>
              </a:spcBef>
              <a:spcAft>
                <a:spcPts val="0"/>
              </a:spcAft>
              <a:buClr>
                <a:schemeClr val="accent4"/>
              </a:buClr>
              <a:buSzPts val="1100"/>
              <a:buFont typeface="Arial"/>
              <a:buChar char="✔"/>
            </a:pPr>
            <a:r>
              <a:rPr lang="es" sz="1350" b="0" i="0" u="none" strike="noStrike" cap="none">
                <a:solidFill>
                  <a:srgbClr val="000000"/>
                </a:solidFill>
                <a:latin typeface="DM Sans"/>
                <a:ea typeface="DM Sans"/>
                <a:cs typeface="DM Sans"/>
                <a:sym typeface="DM Sans"/>
              </a:rPr>
              <a:t>Se deberá instanciar, al menos, dos objetos pertenecientes a la clase </a:t>
            </a:r>
            <a:r>
              <a:rPr lang="es" sz="1350" b="1" i="0" u="none" strike="noStrike" cap="none">
                <a:solidFill>
                  <a:srgbClr val="000000"/>
                </a:solidFill>
                <a:latin typeface="DM Sans"/>
                <a:ea typeface="DM Sans"/>
                <a:cs typeface="DM Sans"/>
                <a:sym typeface="DM Sans"/>
              </a:rPr>
              <a:t>Alumno</a:t>
            </a:r>
            <a:r>
              <a:rPr lang="es" sz="1350" b="0" i="0" u="none" strike="noStrike" cap="none">
                <a:solidFill>
                  <a:srgbClr val="000000"/>
                </a:solidFill>
                <a:latin typeface="DM Sans"/>
                <a:ea typeface="DM Sans"/>
                <a:cs typeface="DM Sans"/>
                <a:sym typeface="DM Sans"/>
              </a:rPr>
              <a:t>.</a:t>
            </a:r>
            <a:endParaRPr sz="1350" b="0" i="0" u="none" strike="noStrike" cap="none">
              <a:solidFill>
                <a:srgbClr val="000000"/>
              </a:solidFill>
              <a:latin typeface="DM Sans"/>
              <a:ea typeface="DM Sans"/>
              <a:cs typeface="DM Sans"/>
              <a:sym typeface="DM Sans"/>
            </a:endParaRPr>
          </a:p>
        </p:txBody>
      </p:sp>
      <p:sp>
        <p:nvSpPr>
          <p:cNvPr id="575" name="Google Shape;575;p84"/>
          <p:cNvSpPr txBox="1"/>
          <p:nvPr/>
        </p:nvSpPr>
        <p:spPr>
          <a:xfrm>
            <a:off x="930550" y="468275"/>
            <a:ext cx="24612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dk1"/>
                </a:solidFill>
                <a:latin typeface="DM Sans"/>
                <a:ea typeface="DM Sans"/>
                <a:cs typeface="DM Sans"/>
                <a:sym typeface="DM Sans"/>
              </a:rPr>
              <a:t>ACTIVIDAD EN CLASE</a:t>
            </a:r>
            <a:endParaRPr sz="1400" b="0" i="0" u="none" strike="noStrike" cap="none">
              <a:solidFill>
                <a:srgbClr val="000000"/>
              </a:solidFill>
              <a:latin typeface="DM Sans"/>
              <a:ea typeface="DM Sans"/>
              <a:cs typeface="DM Sans"/>
              <a:sym typeface="DM Sans"/>
            </a:endParaRPr>
          </a:p>
        </p:txBody>
      </p:sp>
      <p:sp>
        <p:nvSpPr>
          <p:cNvPr id="576" name="Google Shape;576;p84"/>
          <p:cNvSpPr txBox="1"/>
          <p:nvPr/>
        </p:nvSpPr>
        <p:spPr>
          <a:xfrm>
            <a:off x="733300" y="1669600"/>
            <a:ext cx="72321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s" sz="1600" b="1">
                <a:solidFill>
                  <a:schemeClr val="dk1"/>
                </a:solidFill>
                <a:latin typeface="DM Sans"/>
                <a:ea typeface="DM Sans"/>
                <a:cs typeface="DM Sans"/>
                <a:sym typeface="DM Sans"/>
              </a:rPr>
              <a:t>Consigna:</a:t>
            </a:r>
            <a:r>
              <a:rPr lang="es" sz="1600">
                <a:solidFill>
                  <a:schemeClr val="dk1"/>
                </a:solidFill>
                <a:latin typeface="DM Sans"/>
                <a:ea typeface="DM Sans"/>
                <a:cs typeface="DM Sans"/>
                <a:sym typeface="DM Sans"/>
              </a:rPr>
              <a:t> </a:t>
            </a:r>
            <a:r>
              <a:rPr lang="es" sz="1600" b="0" i="0" u="none" strike="noStrike" cap="none">
                <a:solidFill>
                  <a:schemeClr val="dk1"/>
                </a:solidFill>
                <a:latin typeface="DM Sans"/>
                <a:ea typeface="DM Sans"/>
                <a:cs typeface="DM Sans"/>
                <a:sym typeface="DM Sans"/>
              </a:rPr>
              <a:t>Implementar la Clase de Alumno, creada en la actividad anterior, directamente en Python. </a:t>
            </a:r>
            <a:endParaRPr sz="1600" b="0" i="0" u="none" strike="noStrike" cap="none">
              <a:solidFill>
                <a:schemeClr val="dk1"/>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7F7DBACE-079C-3854-4879-352ECB87F92C}"/>
              </a:ext>
            </a:extLst>
          </p:cNvPr>
          <p:cNvSpPr/>
          <p:nvPr/>
        </p:nvSpPr>
        <p:spPr>
          <a:xfrm>
            <a:off x="0" y="4591716"/>
            <a:ext cx="9144000" cy="55178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85"/>
          <p:cNvSpPr txBox="1"/>
          <p:nvPr/>
        </p:nvSpPr>
        <p:spPr>
          <a:xfrm>
            <a:off x="1461300" y="2208625"/>
            <a:ext cx="6221400" cy="16392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i="0" u="none" strike="noStrike" cap="none">
                <a:solidFill>
                  <a:schemeClr val="dk1"/>
                </a:solidFill>
                <a:highlight>
                  <a:srgbClr val="EAFF6A"/>
                </a:highlight>
                <a:latin typeface="DM Sans"/>
                <a:ea typeface="DM Sans"/>
                <a:cs typeface="DM Sans"/>
                <a:sym typeface="DM Sans"/>
              </a:rPr>
              <a:t>¿Aún quieres conocer más?</a:t>
            </a:r>
            <a:endParaRPr sz="3500" b="1" i="0" u="none" strike="noStrike" cap="none">
              <a:solidFill>
                <a:schemeClr val="dk1"/>
              </a:solidFill>
              <a:highlight>
                <a:srgbClr val="EAFF6A"/>
              </a:highlight>
              <a:latin typeface="DM Sans"/>
              <a:ea typeface="DM Sans"/>
              <a:cs typeface="DM Sans"/>
              <a:sym typeface="DM Sans"/>
            </a:endParaRPr>
          </a:p>
          <a:p>
            <a:pPr marL="0" marR="0" lvl="0" indent="0" algn="ctr" rtl="0">
              <a:lnSpc>
                <a:spcPct val="90000"/>
              </a:lnSpc>
              <a:spcBef>
                <a:spcPts val="0"/>
              </a:spcBef>
              <a:spcAft>
                <a:spcPts val="0"/>
              </a:spcAft>
              <a:buClr>
                <a:srgbClr val="000000"/>
              </a:buClr>
              <a:buSzPts val="3500"/>
              <a:buFont typeface="Arial"/>
              <a:buNone/>
            </a:pPr>
            <a:r>
              <a:rPr lang="es" sz="3500" b="1" i="0" u="none" strike="noStrike" cap="none">
                <a:solidFill>
                  <a:schemeClr val="dk1"/>
                </a:solidFill>
                <a:latin typeface="DM Sans"/>
                <a:ea typeface="DM Sans"/>
                <a:cs typeface="DM Sans"/>
                <a:sym typeface="DM Sans"/>
              </a:rPr>
              <a:t>Te recomendamos el siguiente material</a:t>
            </a:r>
            <a:endParaRPr sz="3500" b="1" i="0" u="none" strike="noStrike" cap="none">
              <a:solidFill>
                <a:schemeClr val="dk1"/>
              </a:solidFill>
              <a:latin typeface="DM Sans"/>
              <a:ea typeface="DM Sans"/>
              <a:cs typeface="DM Sans"/>
              <a:sym typeface="DM Sans"/>
            </a:endParaRPr>
          </a:p>
        </p:txBody>
      </p:sp>
      <p:grpSp>
        <p:nvGrpSpPr>
          <p:cNvPr id="582" name="Google Shape;582;p85"/>
          <p:cNvGrpSpPr/>
          <p:nvPr/>
        </p:nvGrpSpPr>
        <p:grpSpPr>
          <a:xfrm>
            <a:off x="4202550" y="994173"/>
            <a:ext cx="738900" cy="738900"/>
            <a:chOff x="4202550" y="994173"/>
            <a:chExt cx="738900" cy="738900"/>
          </a:xfrm>
        </p:grpSpPr>
        <p:sp>
          <p:nvSpPr>
            <p:cNvPr id="583" name="Google Shape;583;p85"/>
            <p:cNvSpPr/>
            <p:nvPr/>
          </p:nvSpPr>
          <p:spPr>
            <a:xfrm>
              <a:off x="4202550" y="99417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584" name="Google Shape;584;p85" title="ícono de material ampliado"/>
            <p:cNvPicPr preferRelativeResize="0"/>
            <p:nvPr/>
          </p:nvPicPr>
          <p:blipFill rotWithShape="1">
            <a:blip r:embed="rId3">
              <a:alphaModFix/>
            </a:blip>
            <a:srcRect/>
            <a:stretch/>
          </p:blipFill>
          <p:spPr>
            <a:xfrm>
              <a:off x="4346688" y="1138325"/>
              <a:ext cx="450600" cy="450600"/>
            </a:xfrm>
            <a:prstGeom prst="rect">
              <a:avLst/>
            </a:prstGeom>
            <a:noFill/>
            <a:ln>
              <a:noFill/>
            </a:ln>
          </p:spPr>
        </p:pic>
      </p:grpSp>
      <p:sp>
        <p:nvSpPr>
          <p:cNvPr id="2" name="Rectángulo 1">
            <a:extLst>
              <a:ext uri="{FF2B5EF4-FFF2-40B4-BE49-F238E27FC236}">
                <a16:creationId xmlns:a16="http://schemas.microsoft.com/office/drawing/2014/main" id="{F92B8333-258D-36C8-95EA-DDE1B1CA57D2}"/>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86"/>
          <p:cNvSpPr txBox="1"/>
          <p:nvPr/>
        </p:nvSpPr>
        <p:spPr>
          <a:xfrm>
            <a:off x="501450" y="899375"/>
            <a:ext cx="731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i="0" u="none" strike="noStrike" cap="none">
                <a:solidFill>
                  <a:schemeClr val="dk1"/>
                </a:solidFill>
                <a:latin typeface="DM Sans"/>
                <a:ea typeface="DM Sans"/>
                <a:cs typeface="DM Sans"/>
                <a:sym typeface="DM Sans"/>
              </a:rPr>
              <a:t>Recursos multimedia</a:t>
            </a:r>
            <a:endParaRPr sz="4000" b="1" i="0" u="none" strike="noStrike" cap="none">
              <a:solidFill>
                <a:schemeClr val="dk1"/>
              </a:solidFill>
              <a:latin typeface="DM Sans"/>
              <a:ea typeface="DM Sans"/>
              <a:cs typeface="DM Sans"/>
              <a:sym typeface="DM Sans"/>
            </a:endParaRPr>
          </a:p>
        </p:txBody>
      </p:sp>
      <p:grpSp>
        <p:nvGrpSpPr>
          <p:cNvPr id="590" name="Google Shape;590;p86"/>
          <p:cNvGrpSpPr/>
          <p:nvPr/>
        </p:nvGrpSpPr>
        <p:grpSpPr>
          <a:xfrm>
            <a:off x="457358" y="468285"/>
            <a:ext cx="431074" cy="431074"/>
            <a:chOff x="4202550" y="994173"/>
            <a:chExt cx="738900" cy="738900"/>
          </a:xfrm>
        </p:grpSpPr>
        <p:sp>
          <p:nvSpPr>
            <p:cNvPr id="591" name="Google Shape;591;p86"/>
            <p:cNvSpPr/>
            <p:nvPr/>
          </p:nvSpPr>
          <p:spPr>
            <a:xfrm>
              <a:off x="4202550" y="99417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592" name="Google Shape;592;p86" title="ícono de material ampliado"/>
            <p:cNvPicPr preferRelativeResize="0"/>
            <p:nvPr/>
          </p:nvPicPr>
          <p:blipFill rotWithShape="1">
            <a:blip r:embed="rId3">
              <a:alphaModFix/>
            </a:blip>
            <a:srcRect/>
            <a:stretch/>
          </p:blipFill>
          <p:spPr>
            <a:xfrm>
              <a:off x="4346688" y="1138325"/>
              <a:ext cx="450600" cy="450600"/>
            </a:xfrm>
            <a:prstGeom prst="rect">
              <a:avLst/>
            </a:prstGeom>
            <a:noFill/>
            <a:ln>
              <a:noFill/>
            </a:ln>
          </p:spPr>
        </p:pic>
      </p:grpSp>
      <p:sp>
        <p:nvSpPr>
          <p:cNvPr id="593" name="Google Shape;593;p86"/>
          <p:cNvSpPr txBox="1"/>
          <p:nvPr/>
        </p:nvSpPr>
        <p:spPr>
          <a:xfrm>
            <a:off x="930550" y="468275"/>
            <a:ext cx="31992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 sz="1600" b="0" i="0" u="none" strike="noStrike" cap="none">
                <a:solidFill>
                  <a:schemeClr val="dk1"/>
                </a:solidFill>
                <a:latin typeface="DM Sans"/>
                <a:ea typeface="DM Sans"/>
                <a:cs typeface="DM Sans"/>
                <a:sym typeface="DM Sans"/>
              </a:rPr>
              <a:t>MATERIAL AMPLIADO</a:t>
            </a:r>
            <a:endParaRPr sz="1400" b="0" i="0" u="none" strike="noStrike" cap="none">
              <a:solidFill>
                <a:srgbClr val="000000"/>
              </a:solidFill>
              <a:latin typeface="DM Sans"/>
              <a:ea typeface="DM Sans"/>
              <a:cs typeface="DM Sans"/>
              <a:sym typeface="DM Sans"/>
            </a:endParaRPr>
          </a:p>
        </p:txBody>
      </p:sp>
      <p:sp>
        <p:nvSpPr>
          <p:cNvPr id="594" name="Google Shape;594;p86"/>
          <p:cNvSpPr txBox="1"/>
          <p:nvPr/>
        </p:nvSpPr>
        <p:spPr>
          <a:xfrm>
            <a:off x="559000" y="4675925"/>
            <a:ext cx="70563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100" b="0" i="0" u="none" strike="noStrike" cap="none">
                <a:solidFill>
                  <a:srgbClr val="999999"/>
                </a:solidFill>
                <a:latin typeface="DM Sans"/>
                <a:ea typeface="DM Sans"/>
                <a:cs typeface="DM Sans"/>
                <a:sym typeface="DM Sans"/>
              </a:rPr>
              <a:t>Disponible en nuestro repositorio.</a:t>
            </a:r>
            <a:endParaRPr sz="1100" b="0" i="1" u="sng" strike="noStrike" cap="none">
              <a:solidFill>
                <a:srgbClr val="83AEFB"/>
              </a:solidFill>
              <a:latin typeface="DM Sans"/>
              <a:ea typeface="DM Sans"/>
              <a:cs typeface="DM Sans"/>
              <a:sym typeface="DM Sans"/>
            </a:endParaRPr>
          </a:p>
        </p:txBody>
      </p:sp>
      <p:sp>
        <p:nvSpPr>
          <p:cNvPr id="595" name="Google Shape;595;p86"/>
          <p:cNvSpPr txBox="1"/>
          <p:nvPr/>
        </p:nvSpPr>
        <p:spPr>
          <a:xfrm>
            <a:off x="476250" y="2568025"/>
            <a:ext cx="3834600" cy="662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b="1" i="0" u="none" strike="noStrike" cap="none">
                <a:solidFill>
                  <a:srgbClr val="000000"/>
                </a:solidFill>
                <a:latin typeface="DM Sans"/>
                <a:ea typeface="DM Sans"/>
                <a:cs typeface="DM Sans"/>
                <a:sym typeface="DM Sans"/>
              </a:rPr>
              <a:t>Ejemplos de repaso</a:t>
            </a:r>
            <a:endParaRPr sz="1350" b="1" i="0" u="none" strike="noStrike" cap="none">
              <a:solidFill>
                <a:srgbClr val="000000"/>
              </a:solidFill>
              <a:latin typeface="DM Sans"/>
              <a:ea typeface="DM Sans"/>
              <a:cs typeface="DM Sans"/>
              <a:sym typeface="DM Sans"/>
            </a:endParaRPr>
          </a:p>
          <a:p>
            <a:pPr marL="0" marR="0" lvl="0" indent="0" algn="l" rtl="0">
              <a:lnSpc>
                <a:spcPct val="30000"/>
              </a:lnSpc>
              <a:spcBef>
                <a:spcPts val="0"/>
              </a:spcBef>
              <a:spcAft>
                <a:spcPts val="0"/>
              </a:spcAft>
              <a:buClr>
                <a:srgbClr val="000000"/>
              </a:buClr>
              <a:buSzPts val="1350"/>
              <a:buFont typeface="Arial"/>
              <a:buNone/>
            </a:pPr>
            <a:endParaRPr sz="1350" b="1" i="0" u="none" strike="noStrike" cap="none">
              <a:solidFill>
                <a:srgbClr val="000000"/>
              </a:solidFill>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b="0" i="0" u="sng" strike="noStrike" cap="none">
                <a:solidFill>
                  <a:schemeClr val="hlink"/>
                </a:solidFill>
                <a:latin typeface="DM Sans"/>
                <a:ea typeface="DM Sans"/>
                <a:cs typeface="DM Sans"/>
                <a:sym typeface="DM Sans"/>
                <a:hlinkClick r:id="rId4"/>
              </a:rPr>
              <a:t>EjemplodeRepaso</a:t>
            </a:r>
            <a:endParaRPr sz="1350" b="1" i="0" u="none" strike="noStrike" cap="none">
              <a:solidFill>
                <a:srgbClr val="999999"/>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E82F3E49-DEE5-EA93-65E5-74C41B2A4840}"/>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87"/>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¿Preguntas?</a:t>
            </a:r>
            <a:endParaRPr sz="4000" b="1" i="0" u="none" strike="noStrike" cap="none">
              <a:solidFill>
                <a:srgbClr val="EAFF6A"/>
              </a:solidFill>
              <a:latin typeface="DM Sans"/>
              <a:ea typeface="DM Sans"/>
              <a:cs typeface="DM Sans"/>
              <a:sym typeface="DM Sans"/>
            </a:endParaRPr>
          </a:p>
        </p:txBody>
      </p:sp>
      <p:sp>
        <p:nvSpPr>
          <p:cNvPr id="2" name="Rectángulo 1">
            <a:extLst>
              <a:ext uri="{FF2B5EF4-FFF2-40B4-BE49-F238E27FC236}">
                <a16:creationId xmlns:a16="http://schemas.microsoft.com/office/drawing/2014/main" id="{CC7998EC-1F13-C8C5-6F07-1689FC8D07B7}"/>
              </a:ext>
            </a:extLst>
          </p:cNvPr>
          <p:cNvSpPr/>
          <p:nvPr/>
        </p:nvSpPr>
        <p:spPr>
          <a:xfrm>
            <a:off x="0" y="4387065"/>
            <a:ext cx="9144000" cy="75643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s-AR"/>
          </a:p>
        </p:txBody>
      </p:sp>
    </p:spTree>
  </p:cSld>
  <p:clrMapOvr>
    <a:masterClrMapping/>
  </p:clrMapOvr>
</p:sld>
</file>

<file path=ppt/theme/theme1.xml><?xml version="1.0" encoding="utf-8"?>
<a:theme xmlns:a="http://schemas.openxmlformats.org/drawingml/2006/main"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2813</Words>
  <Application>Microsoft Office PowerPoint</Application>
  <PresentationFormat>Presentación en pantalla (16:9)</PresentationFormat>
  <Paragraphs>290</Paragraphs>
  <Slides>58</Slides>
  <Notes>58</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58</vt:i4>
      </vt:variant>
    </vt:vector>
  </HeadingPairs>
  <TitlesOfParts>
    <vt:vector size="65" baseType="lpstr">
      <vt:lpstr>DM Sans</vt:lpstr>
      <vt:lpstr>Roboto Mono</vt:lpstr>
      <vt:lpstr>Arial</vt:lpstr>
      <vt:lpstr>Helvetica Neue</vt:lpstr>
      <vt:lpstr>Helvetica Neue Light</vt:lpstr>
      <vt:lpstr>Coder</vt:lpstr>
      <vt:lpstr>Coder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Emanuel Tevez</cp:lastModifiedBy>
  <cp:revision>1</cp:revision>
  <dcterms:modified xsi:type="dcterms:W3CDTF">2025-10-02T19:06:40Z</dcterms:modified>
</cp:coreProperties>
</file>