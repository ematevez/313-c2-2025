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Encode Sans"/>
      <p:regular r:id="rId33"/>
      <p:bold r:id="rId34"/>
    </p:embeddedFont>
    <p:embeddedFont>
      <p:font typeface="Montserrat"/>
      <p:regular r:id="rId35"/>
      <p:bold r:id="rId36"/>
      <p:italic r:id="rId37"/>
      <p:boldItalic r:id="rId38"/>
    </p:embeddedFont>
    <p:embeddedFont>
      <p:font typeface="Montserrat Light"/>
      <p:regular r:id="rId39"/>
      <p:bold r:id="rId40"/>
      <p:italic r:id="rId41"/>
      <p:boldItalic r:id="rId42"/>
    </p:embeddedFont>
    <p:embeddedFont>
      <p:font typeface="Encode Sans ExtraBold"/>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4" roundtripDataSignature="AMtx7mhfIOQyO4T7+3FPuSqoO8DyC9eO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Light-bold.fntdata"/><Relationship Id="rId20" Type="http://schemas.openxmlformats.org/officeDocument/2006/relationships/slide" Target="slides/slide15.xml"/><Relationship Id="rId42" Type="http://schemas.openxmlformats.org/officeDocument/2006/relationships/font" Target="fonts/MontserratLight-boldItalic.fntdata"/><Relationship Id="rId41" Type="http://schemas.openxmlformats.org/officeDocument/2006/relationships/font" Target="fonts/MontserratLight-italic.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EncodeSansExtraBo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EncodeSans-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regular.fntdata"/><Relationship Id="rId12" Type="http://schemas.openxmlformats.org/officeDocument/2006/relationships/slide" Target="slides/slide7.xml"/><Relationship Id="rId34" Type="http://schemas.openxmlformats.org/officeDocument/2006/relationships/font" Target="fonts/EncodeSans-bold.fntdata"/><Relationship Id="rId15" Type="http://schemas.openxmlformats.org/officeDocument/2006/relationships/slide" Target="slides/slide10.xml"/><Relationship Id="rId37" Type="http://schemas.openxmlformats.org/officeDocument/2006/relationships/font" Target="fonts/Montserrat-italic.fntdata"/><Relationship Id="rId14" Type="http://schemas.openxmlformats.org/officeDocument/2006/relationships/slide" Target="slides/slide9.xml"/><Relationship Id="rId36" Type="http://schemas.openxmlformats.org/officeDocument/2006/relationships/font" Target="fonts/Montserrat-bold.fntdata"/><Relationship Id="rId17" Type="http://schemas.openxmlformats.org/officeDocument/2006/relationships/slide" Target="slides/slide12.xml"/><Relationship Id="rId39" Type="http://schemas.openxmlformats.org/officeDocument/2006/relationships/font" Target="fonts/MontserratLight-regular.fntdata"/><Relationship Id="rId16" Type="http://schemas.openxmlformats.org/officeDocument/2006/relationships/slide" Target="slides/slide11.xml"/><Relationship Id="rId38" Type="http://schemas.openxmlformats.org/officeDocument/2006/relationships/font" Target="fonts/Montserra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6d58b6af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46d58b6afc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419"/>
              <a:t>Parámetros / Argumentos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6b4161e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46b4161e2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7"/>
          <p:cNvSpPr txBox="1"/>
          <p:nvPr>
            <p:ph type="ctrTitle"/>
          </p:nvPr>
        </p:nvSpPr>
        <p:spPr>
          <a:xfrm>
            <a:off x="311700" y="1197075"/>
            <a:ext cx="8520600" cy="1716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5200"/>
              <a:buFont typeface="Montserrat"/>
              <a:buNone/>
              <a:defRPr b="1" sz="5200">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27"/>
          <p:cNvSpPr txBox="1"/>
          <p:nvPr>
            <p:ph idx="1" type="subTitle"/>
          </p:nvPr>
        </p:nvSpPr>
        <p:spPr>
          <a:xfrm>
            <a:off x="311700" y="3307413"/>
            <a:ext cx="8520600" cy="792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sz="2800">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27"/>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8"/>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8"/>
          <p:cNvSpPr txBox="1"/>
          <p:nvPr>
            <p:ph idx="1" type="body"/>
          </p:nvPr>
        </p:nvSpPr>
        <p:spPr>
          <a:xfrm>
            <a:off x="311700" y="1969350"/>
            <a:ext cx="8520600" cy="2601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lgn="l">
              <a:lnSpc>
                <a:spcPct val="115000"/>
              </a:lnSpc>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lgn="l">
              <a:lnSpc>
                <a:spcPct val="115000"/>
              </a:lnSpc>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lgn="l">
              <a:lnSpc>
                <a:spcPct val="115000"/>
              </a:lnSpc>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lgn="l">
              <a:lnSpc>
                <a:spcPct val="115000"/>
              </a:lnSpc>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lgn="l">
              <a:lnSpc>
                <a:spcPct val="115000"/>
              </a:lnSpc>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lgn="l">
              <a:lnSpc>
                <a:spcPct val="115000"/>
              </a:lnSpc>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lgn="l">
              <a:lnSpc>
                <a:spcPct val="115000"/>
              </a:lnSpc>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lgn="l">
              <a:lnSpc>
                <a:spcPct val="115000"/>
              </a:lnSpc>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19" name="Google Shape;19;p28"/>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29"/>
          <p:cNvSpPr txBox="1"/>
          <p:nvPr>
            <p:ph type="title"/>
          </p:nvPr>
        </p:nvSpPr>
        <p:spPr>
          <a:xfrm>
            <a:off x="311700" y="1984800"/>
            <a:ext cx="8520600" cy="1173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Montserrat"/>
              <a:buNone/>
              <a:defRPr b="1" sz="36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29"/>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30"/>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30"/>
          <p:cNvSpPr txBox="1"/>
          <p:nvPr>
            <p:ph idx="1" type="body"/>
          </p:nvPr>
        </p:nvSpPr>
        <p:spPr>
          <a:xfrm>
            <a:off x="311700" y="2054300"/>
            <a:ext cx="3999900" cy="2609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6" name="Google Shape;26;p30"/>
          <p:cNvSpPr txBox="1"/>
          <p:nvPr>
            <p:ph idx="2" type="body"/>
          </p:nvPr>
        </p:nvSpPr>
        <p:spPr>
          <a:xfrm>
            <a:off x="4832400" y="2054150"/>
            <a:ext cx="3999900" cy="2609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7" name="Google Shape;27;p30"/>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31"/>
          <p:cNvSpPr txBox="1"/>
          <p:nvPr>
            <p:ph type="title"/>
          </p:nvPr>
        </p:nvSpPr>
        <p:spPr>
          <a:xfrm>
            <a:off x="311700" y="993350"/>
            <a:ext cx="8520600" cy="975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b="1">
                <a:latin typeface="Montserrat"/>
                <a:ea typeface="Montserrat"/>
                <a:cs typeface="Montserrat"/>
                <a:sym typeface="Montserrat"/>
              </a:defRPr>
            </a:lvl1pPr>
            <a:lvl2pPr lvl="1" algn="ctr">
              <a:lnSpc>
                <a:spcPct val="100000"/>
              </a:lnSpc>
              <a:spcBef>
                <a:spcPts val="0"/>
              </a:spcBef>
              <a:spcAft>
                <a:spcPts val="0"/>
              </a:spcAft>
              <a:buSzPts val="2800"/>
              <a:buFont typeface="Montserrat"/>
              <a:buNone/>
              <a:defRPr b="1">
                <a:latin typeface="Montserrat"/>
                <a:ea typeface="Montserrat"/>
                <a:cs typeface="Montserrat"/>
                <a:sym typeface="Montserrat"/>
              </a:defRPr>
            </a:lvl2pPr>
            <a:lvl3pPr lvl="2" algn="ctr">
              <a:lnSpc>
                <a:spcPct val="100000"/>
              </a:lnSpc>
              <a:spcBef>
                <a:spcPts val="0"/>
              </a:spcBef>
              <a:spcAft>
                <a:spcPts val="0"/>
              </a:spcAft>
              <a:buSzPts val="2800"/>
              <a:buFont typeface="Montserrat"/>
              <a:buNone/>
              <a:defRPr b="1">
                <a:latin typeface="Montserrat"/>
                <a:ea typeface="Montserrat"/>
                <a:cs typeface="Montserrat"/>
                <a:sym typeface="Montserrat"/>
              </a:defRPr>
            </a:lvl3pPr>
            <a:lvl4pPr lvl="3" algn="ctr">
              <a:lnSpc>
                <a:spcPct val="100000"/>
              </a:lnSpc>
              <a:spcBef>
                <a:spcPts val="0"/>
              </a:spcBef>
              <a:spcAft>
                <a:spcPts val="0"/>
              </a:spcAft>
              <a:buSzPts val="2800"/>
              <a:buFont typeface="Montserrat"/>
              <a:buNone/>
              <a:defRPr b="1">
                <a:latin typeface="Montserrat"/>
                <a:ea typeface="Montserrat"/>
                <a:cs typeface="Montserrat"/>
                <a:sym typeface="Montserrat"/>
              </a:defRPr>
            </a:lvl4pPr>
            <a:lvl5pPr lvl="4" algn="ctr">
              <a:lnSpc>
                <a:spcPct val="100000"/>
              </a:lnSpc>
              <a:spcBef>
                <a:spcPts val="0"/>
              </a:spcBef>
              <a:spcAft>
                <a:spcPts val="0"/>
              </a:spcAft>
              <a:buSzPts val="2800"/>
              <a:buFont typeface="Montserrat"/>
              <a:buNone/>
              <a:defRPr b="1">
                <a:latin typeface="Montserrat"/>
                <a:ea typeface="Montserrat"/>
                <a:cs typeface="Montserrat"/>
                <a:sym typeface="Montserrat"/>
              </a:defRPr>
            </a:lvl5pPr>
            <a:lvl6pPr lvl="5" algn="ctr">
              <a:lnSpc>
                <a:spcPct val="100000"/>
              </a:lnSpc>
              <a:spcBef>
                <a:spcPts val="0"/>
              </a:spcBef>
              <a:spcAft>
                <a:spcPts val="0"/>
              </a:spcAft>
              <a:buSzPts val="2800"/>
              <a:buFont typeface="Montserrat"/>
              <a:buNone/>
              <a:defRPr b="1">
                <a:latin typeface="Montserrat"/>
                <a:ea typeface="Montserrat"/>
                <a:cs typeface="Montserrat"/>
                <a:sym typeface="Montserrat"/>
              </a:defRPr>
            </a:lvl6pPr>
            <a:lvl7pPr lvl="6" algn="ctr">
              <a:lnSpc>
                <a:spcPct val="100000"/>
              </a:lnSpc>
              <a:spcBef>
                <a:spcPts val="0"/>
              </a:spcBef>
              <a:spcAft>
                <a:spcPts val="0"/>
              </a:spcAft>
              <a:buSzPts val="2800"/>
              <a:buFont typeface="Montserrat"/>
              <a:buNone/>
              <a:defRPr b="1">
                <a:latin typeface="Montserrat"/>
                <a:ea typeface="Montserrat"/>
                <a:cs typeface="Montserrat"/>
                <a:sym typeface="Montserrat"/>
              </a:defRPr>
            </a:lvl7pPr>
            <a:lvl8pPr lvl="7" algn="ctr">
              <a:lnSpc>
                <a:spcPct val="100000"/>
              </a:lnSpc>
              <a:spcBef>
                <a:spcPts val="0"/>
              </a:spcBef>
              <a:spcAft>
                <a:spcPts val="0"/>
              </a:spcAft>
              <a:buSzPts val="2800"/>
              <a:buFont typeface="Montserrat"/>
              <a:buNone/>
              <a:defRPr b="1">
                <a:latin typeface="Montserrat"/>
                <a:ea typeface="Montserrat"/>
                <a:cs typeface="Montserrat"/>
                <a:sym typeface="Montserrat"/>
              </a:defRPr>
            </a:lvl8pPr>
            <a:lvl9pPr lvl="8" algn="ctr">
              <a:lnSpc>
                <a:spcPct val="100000"/>
              </a:lnSpc>
              <a:spcBef>
                <a:spcPts val="0"/>
              </a:spcBef>
              <a:spcAft>
                <a:spcPts val="0"/>
              </a:spcAft>
              <a:buSzPts val="2800"/>
              <a:buFont typeface="Montserrat"/>
              <a:buNone/>
              <a:defRPr b="1">
                <a:latin typeface="Montserrat"/>
                <a:ea typeface="Montserrat"/>
                <a:cs typeface="Montserrat"/>
                <a:sym typeface="Montserrat"/>
              </a:defRPr>
            </a:lvl9pPr>
          </a:lstStyle>
          <a:p/>
        </p:txBody>
      </p:sp>
      <p:sp>
        <p:nvSpPr>
          <p:cNvPr id="30" name="Google Shape;30;p31"/>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2"/>
          <p:cNvSpPr txBox="1"/>
          <p:nvPr>
            <p:ph type="title"/>
          </p:nvPr>
        </p:nvSpPr>
        <p:spPr>
          <a:xfrm>
            <a:off x="311700" y="1042600"/>
            <a:ext cx="2808000" cy="105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400"/>
              <a:buFont typeface="Montserrat"/>
              <a:buNone/>
              <a:defRPr b="1" sz="2400">
                <a:latin typeface="Montserrat"/>
                <a:ea typeface="Montserrat"/>
                <a:cs typeface="Montserrat"/>
                <a:sym typeface="Montserrat"/>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2"/>
          <p:cNvSpPr txBox="1"/>
          <p:nvPr>
            <p:ph idx="1" type="body"/>
          </p:nvPr>
        </p:nvSpPr>
        <p:spPr>
          <a:xfrm>
            <a:off x="311700" y="1389600"/>
            <a:ext cx="2808000" cy="3182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1pPr>
            <a:lvl2pPr indent="-304800" lvl="1" marL="914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lgn="l">
              <a:lnSpc>
                <a:spcPct val="115000"/>
              </a:lnSpc>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34" name="Google Shape;34;p32"/>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3"/>
          <p:cNvSpPr txBox="1"/>
          <p:nvPr>
            <p:ph type="title"/>
          </p:nvPr>
        </p:nvSpPr>
        <p:spPr>
          <a:xfrm>
            <a:off x="490250" y="973100"/>
            <a:ext cx="6367800" cy="3382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Font typeface="Montserrat"/>
              <a:buNone/>
              <a:defRPr b="1" sz="4800">
                <a:latin typeface="Montserrat"/>
                <a:ea typeface="Montserrat"/>
                <a:cs typeface="Montserrat"/>
                <a:sym typeface="Montserrat"/>
              </a:defRPr>
            </a:lvl1pPr>
            <a:lvl2pPr lvl="1" algn="l">
              <a:lnSpc>
                <a:spcPct val="100000"/>
              </a:lnSpc>
              <a:spcBef>
                <a:spcPts val="0"/>
              </a:spcBef>
              <a:spcAft>
                <a:spcPts val="0"/>
              </a:spcAft>
              <a:buSzPts val="4800"/>
              <a:buFont typeface="Montserrat"/>
              <a:buNone/>
              <a:defRPr b="1" sz="4800">
                <a:latin typeface="Montserrat"/>
                <a:ea typeface="Montserrat"/>
                <a:cs typeface="Montserrat"/>
                <a:sym typeface="Montserrat"/>
              </a:defRPr>
            </a:lvl2pPr>
            <a:lvl3pPr lvl="2" algn="l">
              <a:lnSpc>
                <a:spcPct val="100000"/>
              </a:lnSpc>
              <a:spcBef>
                <a:spcPts val="0"/>
              </a:spcBef>
              <a:spcAft>
                <a:spcPts val="0"/>
              </a:spcAft>
              <a:buSzPts val="4800"/>
              <a:buFont typeface="Montserrat"/>
              <a:buNone/>
              <a:defRPr b="1" sz="4800">
                <a:latin typeface="Montserrat"/>
                <a:ea typeface="Montserrat"/>
                <a:cs typeface="Montserrat"/>
                <a:sym typeface="Montserrat"/>
              </a:defRPr>
            </a:lvl3pPr>
            <a:lvl4pPr lvl="3" algn="l">
              <a:lnSpc>
                <a:spcPct val="100000"/>
              </a:lnSpc>
              <a:spcBef>
                <a:spcPts val="0"/>
              </a:spcBef>
              <a:spcAft>
                <a:spcPts val="0"/>
              </a:spcAft>
              <a:buSzPts val="4800"/>
              <a:buFont typeface="Montserrat"/>
              <a:buNone/>
              <a:defRPr b="1" sz="4800">
                <a:latin typeface="Montserrat"/>
                <a:ea typeface="Montserrat"/>
                <a:cs typeface="Montserrat"/>
                <a:sym typeface="Montserrat"/>
              </a:defRPr>
            </a:lvl4pPr>
            <a:lvl5pPr lvl="4" algn="l">
              <a:lnSpc>
                <a:spcPct val="100000"/>
              </a:lnSpc>
              <a:spcBef>
                <a:spcPts val="0"/>
              </a:spcBef>
              <a:spcAft>
                <a:spcPts val="0"/>
              </a:spcAft>
              <a:buSzPts val="4800"/>
              <a:buFont typeface="Montserrat"/>
              <a:buNone/>
              <a:defRPr b="1" sz="4800">
                <a:latin typeface="Montserrat"/>
                <a:ea typeface="Montserrat"/>
                <a:cs typeface="Montserrat"/>
                <a:sym typeface="Montserrat"/>
              </a:defRPr>
            </a:lvl5pPr>
            <a:lvl6pPr lvl="5" algn="l">
              <a:lnSpc>
                <a:spcPct val="100000"/>
              </a:lnSpc>
              <a:spcBef>
                <a:spcPts val="0"/>
              </a:spcBef>
              <a:spcAft>
                <a:spcPts val="0"/>
              </a:spcAft>
              <a:buSzPts val="4800"/>
              <a:buFont typeface="Montserrat"/>
              <a:buNone/>
              <a:defRPr b="1" sz="4800">
                <a:latin typeface="Montserrat"/>
                <a:ea typeface="Montserrat"/>
                <a:cs typeface="Montserrat"/>
                <a:sym typeface="Montserrat"/>
              </a:defRPr>
            </a:lvl6pPr>
            <a:lvl7pPr lvl="6" algn="l">
              <a:lnSpc>
                <a:spcPct val="100000"/>
              </a:lnSpc>
              <a:spcBef>
                <a:spcPts val="0"/>
              </a:spcBef>
              <a:spcAft>
                <a:spcPts val="0"/>
              </a:spcAft>
              <a:buSzPts val="4800"/>
              <a:buFont typeface="Montserrat"/>
              <a:buNone/>
              <a:defRPr b="1" sz="4800">
                <a:latin typeface="Montserrat"/>
                <a:ea typeface="Montserrat"/>
                <a:cs typeface="Montserrat"/>
                <a:sym typeface="Montserrat"/>
              </a:defRPr>
            </a:lvl7pPr>
            <a:lvl8pPr lvl="7" algn="l">
              <a:lnSpc>
                <a:spcPct val="100000"/>
              </a:lnSpc>
              <a:spcBef>
                <a:spcPts val="0"/>
              </a:spcBef>
              <a:spcAft>
                <a:spcPts val="0"/>
              </a:spcAft>
              <a:buSzPts val="4800"/>
              <a:buFont typeface="Montserrat"/>
              <a:buNone/>
              <a:defRPr b="1" sz="4800">
                <a:latin typeface="Montserrat"/>
                <a:ea typeface="Montserrat"/>
                <a:cs typeface="Montserrat"/>
                <a:sym typeface="Montserrat"/>
              </a:defRPr>
            </a:lvl8pPr>
            <a:lvl9pPr lvl="8" algn="l">
              <a:lnSpc>
                <a:spcPct val="100000"/>
              </a:lnSpc>
              <a:spcBef>
                <a:spcPts val="0"/>
              </a:spcBef>
              <a:spcAft>
                <a:spcPts val="0"/>
              </a:spcAft>
              <a:buSzPts val="4800"/>
              <a:buFont typeface="Montserrat"/>
              <a:buNone/>
              <a:defRPr b="1" sz="4800">
                <a:latin typeface="Montserrat"/>
                <a:ea typeface="Montserrat"/>
                <a:cs typeface="Montserrat"/>
                <a:sym typeface="Montserrat"/>
              </a:defRPr>
            </a:lvl9pPr>
          </a:lstStyle>
          <a:p/>
        </p:txBody>
      </p:sp>
      <p:sp>
        <p:nvSpPr>
          <p:cNvPr id="37" name="Google Shape;37;p33"/>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34"/>
          <p:cNvSpPr txBox="1"/>
          <p:nvPr>
            <p:ph type="title"/>
          </p:nvPr>
        </p:nvSpPr>
        <p:spPr>
          <a:xfrm>
            <a:off x="265500" y="1073500"/>
            <a:ext cx="4045200" cy="1729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Font typeface="Encode Sans"/>
              <a:buNone/>
              <a:defRPr b="1" sz="4200">
                <a:latin typeface="Encode Sans"/>
                <a:ea typeface="Encode Sans"/>
                <a:cs typeface="Encode Sans"/>
                <a:sym typeface="Encode Sans"/>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4"/>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Font typeface="Encode Sans"/>
              <a:buChar char="●"/>
              <a:defRPr>
                <a:solidFill>
                  <a:schemeClr val="dk1"/>
                </a:solidFill>
                <a:latin typeface="Encode Sans"/>
                <a:ea typeface="Encode Sans"/>
                <a:cs typeface="Encode Sans"/>
                <a:sym typeface="Encode Sans"/>
              </a:defRPr>
            </a:lvl1pPr>
            <a:lvl2pPr indent="-317500" lvl="1" marL="9144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indent="-317500" lvl="2" marL="13716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indent="-317500" lvl="3" marL="18288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indent="-317500" lvl="4" marL="22860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indent="-317500" lvl="5" marL="27432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indent="-317500" lvl="6" marL="32004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indent="-317500" lvl="7" marL="36576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indent="-317500" lvl="8" marL="4114800" algn="l">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p:txBody>
      </p:sp>
      <p:sp>
        <p:nvSpPr>
          <p:cNvPr id="43" name="Google Shape;43;p34"/>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dk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5"/>
          <p:cNvSpPr txBox="1"/>
          <p:nvPr>
            <p:ph idx="1" type="body"/>
          </p:nvPr>
        </p:nvSpPr>
        <p:spPr>
          <a:xfrm>
            <a:off x="49125" y="4179425"/>
            <a:ext cx="5634900" cy="3936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Montserrat"/>
              <a:buNone/>
              <a:defRPr>
                <a:latin typeface="Montserrat"/>
                <a:ea typeface="Montserrat"/>
                <a:cs typeface="Montserrat"/>
                <a:sym typeface="Montserrat"/>
              </a:defRPr>
            </a:lvl1pPr>
          </a:lstStyle>
          <a:p/>
        </p:txBody>
      </p:sp>
      <p:sp>
        <p:nvSpPr>
          <p:cNvPr id="46" name="Google Shape;46;p35"/>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1pPr>
            <a:lvl2pPr lvl="1"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2pPr>
            <a:lvl3pPr lvl="2"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3pPr>
            <a:lvl4pPr lvl="3"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4pPr>
            <a:lvl5pPr lvl="4"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5pPr>
            <a:lvl6pPr lvl="5"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6pPr>
            <a:lvl7pPr lvl="6"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7pPr>
            <a:lvl8pPr lvl="7"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8pPr>
            <a:lvl9pPr lvl="8" algn="ctr">
              <a:lnSpc>
                <a:spcPct val="100000"/>
              </a:lnSpc>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9pPr>
          </a:lstStyle>
          <a:p>
            <a:r>
              <a:t>xx%</a:t>
            </a:r>
          </a:p>
        </p:txBody>
      </p:sp>
      <p:sp>
        <p:nvSpPr>
          <p:cNvPr id="49" name="Google Shape;49;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lgn="ctr">
              <a:lnSpc>
                <a:spcPct val="115000"/>
              </a:lnSpc>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lgn="ctr">
              <a:lnSpc>
                <a:spcPct val="115000"/>
              </a:lnSpc>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lgn="ctr">
              <a:lnSpc>
                <a:spcPct val="115000"/>
              </a:lnSpc>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lgn="ctr">
              <a:lnSpc>
                <a:spcPct val="115000"/>
              </a:lnSpc>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lgn="ctr">
              <a:lnSpc>
                <a:spcPct val="115000"/>
              </a:lnSpc>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lgn="ctr">
              <a:lnSpc>
                <a:spcPct val="115000"/>
              </a:lnSpc>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lgn="ctr">
              <a:lnSpc>
                <a:spcPct val="115000"/>
              </a:lnSpc>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lgn="ctr">
              <a:lnSpc>
                <a:spcPct val="115000"/>
              </a:lnSpc>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50" name="Google Shape;50;p36"/>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37"/>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993350"/>
            <a:ext cx="8520600" cy="975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Montserrat"/>
              <a:buNone/>
              <a:defRPr b="1" i="0" sz="2800" u="none" cap="none" strike="noStrike">
                <a:solidFill>
                  <a:srgbClr val="FFFFFF"/>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9pPr>
          </a:lstStyle>
          <a:p/>
        </p:txBody>
      </p:sp>
      <p:sp>
        <p:nvSpPr>
          <p:cNvPr id="7" name="Google Shape;7;p26"/>
          <p:cNvSpPr txBox="1"/>
          <p:nvPr>
            <p:ph idx="1" type="body"/>
          </p:nvPr>
        </p:nvSpPr>
        <p:spPr>
          <a:xfrm>
            <a:off x="311700" y="1969350"/>
            <a:ext cx="8520600" cy="26013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Encode Sans"/>
              <a:buChar char="●"/>
              <a:defRPr b="0" i="0" sz="1800" u="none" cap="none" strike="noStrike">
                <a:solidFill>
                  <a:srgbClr val="FFFFFF"/>
                </a:solidFill>
                <a:latin typeface="Encode Sans"/>
                <a:ea typeface="Encode Sans"/>
                <a:cs typeface="Encode Sans"/>
                <a:sym typeface="Encode Sans"/>
              </a:defRPr>
            </a:lvl1pPr>
            <a:lvl2pPr indent="-317500" lvl="1" marL="9144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2pPr>
            <a:lvl3pPr indent="-317500" lvl="2" marL="13716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3pPr>
            <a:lvl4pPr indent="-317500" lvl="3" marL="18288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4pPr>
            <a:lvl5pPr indent="-317500" lvl="4" marL="22860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5pPr>
            <a:lvl6pPr indent="-317500" lvl="5" marL="27432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6pPr>
            <a:lvl7pPr indent="-317500" lvl="6" marL="32004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7pPr>
            <a:lvl8pPr indent="-317500" lvl="7" marL="36576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8pPr>
            <a:lvl9pPr indent="-317500" lvl="8" marL="4114800" marR="0" rtl="0" algn="l">
              <a:lnSpc>
                <a:spcPct val="115000"/>
              </a:lnSpc>
              <a:spcBef>
                <a:spcPts val="0"/>
              </a:spcBef>
              <a:spcAft>
                <a:spcPts val="0"/>
              </a:spcAft>
              <a:buClr>
                <a:srgbClr val="FFFFFF"/>
              </a:buClr>
              <a:buSzPts val="1400"/>
              <a:buFont typeface="Encode Sans"/>
              <a:buChar char="■"/>
              <a:defRPr b="0" i="0" sz="1400" u="none" cap="none" strike="noStrike">
                <a:solidFill>
                  <a:srgbClr val="FFFFFF"/>
                </a:solidFill>
                <a:latin typeface="Encode Sans"/>
                <a:ea typeface="Encode Sans"/>
                <a:cs typeface="Encode Sans"/>
                <a:sym typeface="Encode Sans"/>
              </a:defRPr>
            </a:lvl9pPr>
          </a:lstStyle>
          <a:p/>
        </p:txBody>
      </p:sp>
      <p:sp>
        <p:nvSpPr>
          <p:cNvPr id="8" name="Google Shape;8;p26"/>
          <p:cNvSpPr txBox="1"/>
          <p:nvPr/>
        </p:nvSpPr>
        <p:spPr>
          <a:xfrm>
            <a:off x="1668175" y="84975"/>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FFFF"/>
                </a:solidFill>
                <a:latin typeface="Montserrat Light"/>
                <a:ea typeface="Montserrat Light"/>
                <a:cs typeface="Montserrat Light"/>
                <a:sym typeface="Montserrat Light"/>
              </a:rPr>
              <a:t>Programación I</a:t>
            </a:r>
            <a:endParaRPr b="0" i="0" sz="1800" u="none" cap="none" strike="noStrike">
              <a:solidFill>
                <a:srgbClr val="FFFFFF"/>
              </a:solidFill>
              <a:latin typeface="Montserrat Light"/>
              <a:ea typeface="Montserrat Light"/>
              <a:cs typeface="Montserrat Light"/>
              <a:sym typeface="Montserrat Light"/>
            </a:endParaRPr>
          </a:p>
        </p:txBody>
      </p:sp>
      <p:sp>
        <p:nvSpPr>
          <p:cNvPr id="9" name="Google Shape;9;p26"/>
          <p:cNvSpPr txBox="1"/>
          <p:nvPr/>
        </p:nvSpPr>
        <p:spPr>
          <a:xfrm>
            <a:off x="1668175" y="654446"/>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419" sz="1500" u="none" cap="none" strike="noStrike">
                <a:solidFill>
                  <a:srgbClr val="FFFFFF"/>
                </a:solidFill>
                <a:latin typeface="Montserrat Light"/>
                <a:ea typeface="Montserrat Light"/>
                <a:cs typeface="Montserrat Light"/>
                <a:sym typeface="Montserrat Light"/>
              </a:rPr>
              <a:t>Funciones</a:t>
            </a:r>
            <a:endParaRPr b="0" i="0" sz="1500" u="none" cap="none" strike="noStrike">
              <a:solidFill>
                <a:srgbClr val="FFFFFF"/>
              </a:solidFill>
              <a:latin typeface="Montserrat Light"/>
              <a:ea typeface="Montserrat Light"/>
              <a:cs typeface="Montserrat Light"/>
              <a:sym typeface="Montserrat Light"/>
            </a:endParaRPr>
          </a:p>
        </p:txBody>
      </p:sp>
      <p:sp>
        <p:nvSpPr>
          <p:cNvPr id="10" name="Google Shape;10;p26"/>
          <p:cNvSpPr txBox="1"/>
          <p:nvPr/>
        </p:nvSpPr>
        <p:spPr>
          <a:xfrm>
            <a:off x="1668175" y="370798"/>
            <a:ext cx="7475700" cy="27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s-419" sz="800" u="none" cap="none" strike="noStrike">
                <a:solidFill>
                  <a:srgbClr val="FFFFFF"/>
                </a:solidFill>
                <a:latin typeface="Montserrat Light"/>
                <a:ea typeface="Montserrat Light"/>
                <a:cs typeface="Montserrat Light"/>
                <a:sym typeface="Montserrat Light"/>
              </a:rPr>
              <a:t>Scarafilo Germán - Scudero Yanina - Fernandez Mariano - Pavlov Valeriy</a:t>
            </a:r>
            <a:endParaRPr b="0" i="0" sz="800" u="none" cap="none" strike="noStrike">
              <a:solidFill>
                <a:srgbClr val="FFFFFF"/>
              </a:solidFill>
              <a:latin typeface="Montserrat Light"/>
              <a:ea typeface="Montserrat Light"/>
              <a:cs typeface="Montserrat Light"/>
              <a:sym typeface="Montserrat Light"/>
            </a:endParaRPr>
          </a:p>
        </p:txBody>
      </p:sp>
      <p:sp>
        <p:nvSpPr>
          <p:cNvPr id="11" name="Google Shape;11;p26"/>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1pPr>
            <a:lvl2pPr indent="0" lvl="1"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2pPr>
            <a:lvl3pPr indent="0" lvl="2"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3pPr>
            <a:lvl4pPr indent="0" lvl="3"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4pPr>
            <a:lvl5pPr indent="0" lvl="4"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5pPr>
            <a:lvl6pPr indent="0" lvl="5"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6pPr>
            <a:lvl7pPr indent="0" lvl="6"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7pPr>
            <a:lvl8pPr indent="0" lvl="7"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8pPr>
            <a:lvl9pPr indent="0" lvl="8" marL="0" marR="0" rtl="0" algn="r">
              <a:lnSpc>
                <a:spcPct val="100000"/>
              </a:lnSpc>
              <a:spcBef>
                <a:spcPts val="0"/>
              </a:spcBef>
              <a:spcAft>
                <a:spcPts val="0"/>
              </a:spcAft>
              <a:buClr>
                <a:srgbClr val="000000"/>
              </a:buClr>
              <a:buSzPts val="1600"/>
              <a:buFont typeface="Arial"/>
              <a:buNone/>
              <a:defRPr b="1" i="0" sz="1600" u="none" cap="none" strike="noStrike">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
          <p:cNvSpPr txBox="1"/>
          <p:nvPr>
            <p:ph idx="1" type="subTitle"/>
          </p:nvPr>
        </p:nvSpPr>
        <p:spPr>
          <a:xfrm>
            <a:off x="84400" y="1095549"/>
            <a:ext cx="8520600" cy="30534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2800"/>
              <a:buNone/>
            </a:pPr>
            <a:r>
              <a:rPr lang="es-419" sz="4800"/>
              <a:t> </a:t>
            </a:r>
            <a:r>
              <a:rPr b="1" lang="es-419" sz="5400"/>
              <a:t>Funciones</a:t>
            </a:r>
            <a:r>
              <a:rPr lang="es-419" sz="4800"/>
              <a:t>	</a:t>
            </a:r>
            <a:endParaRPr sz="4800"/>
          </a:p>
          <a:p>
            <a:pPr indent="0" lvl="0" marL="0" rtl="0" algn="l">
              <a:lnSpc>
                <a:spcPct val="90000"/>
              </a:lnSpc>
              <a:spcBef>
                <a:spcPts val="0"/>
              </a:spcBef>
              <a:spcAft>
                <a:spcPts val="0"/>
              </a:spcAft>
              <a:buSzPts val="2800"/>
              <a:buNone/>
            </a:pPr>
            <a:r>
              <a:t/>
            </a:r>
            <a:endParaRPr sz="2400"/>
          </a:p>
        </p:txBody>
      </p:sp>
      <p:pic>
        <p:nvPicPr>
          <p:cNvPr id="58" name="Google Shape;58;p1"/>
          <p:cNvPicPr preferRelativeResize="0"/>
          <p:nvPr/>
        </p:nvPicPr>
        <p:blipFill rotWithShape="1">
          <a:blip r:embed="rId3">
            <a:alphaModFix/>
          </a:blip>
          <a:srcRect b="0" l="0" r="0" t="0"/>
          <a:stretch/>
        </p:blipFill>
        <p:spPr>
          <a:xfrm>
            <a:off x="4345147" y="1560375"/>
            <a:ext cx="4630574" cy="2248950"/>
          </a:xfrm>
          <a:prstGeom prst="rect">
            <a:avLst/>
          </a:prstGeom>
          <a:noFill/>
          <a:ln cap="flat" cmpd="sng" w="28575">
            <a:solidFill>
              <a:schemeClr val="accent4"/>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idx="1" type="body"/>
          </p:nvPr>
        </p:nvSpPr>
        <p:spPr>
          <a:xfrm>
            <a:off x="345750" y="2072600"/>
            <a:ext cx="8452500" cy="13470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90000"/>
              </a:lnSpc>
              <a:spcBef>
                <a:spcPts val="0"/>
              </a:spcBef>
              <a:spcAft>
                <a:spcPts val="0"/>
              </a:spcAft>
              <a:buSzPts val="1800"/>
              <a:buNone/>
            </a:pPr>
            <a:r>
              <a:t/>
            </a:r>
            <a:endParaRPr sz="1700"/>
          </a:p>
          <a:p>
            <a:pPr indent="0" lvl="0" marL="0" rtl="0" algn="ctr">
              <a:lnSpc>
                <a:spcPct val="90000"/>
              </a:lnSpc>
              <a:spcBef>
                <a:spcPts val="1200"/>
              </a:spcBef>
              <a:spcAft>
                <a:spcPts val="1200"/>
              </a:spcAft>
              <a:buSzPts val="1800"/>
              <a:buNone/>
            </a:pPr>
            <a:r>
              <a:rPr lang="es-419" sz="3200">
                <a:latin typeface="Montserrat"/>
                <a:ea typeface="Montserrat"/>
                <a:cs typeface="Montserrat"/>
                <a:sym typeface="Montserrat"/>
              </a:rPr>
              <a:t>En Python, una función es un bloque de código que realiza una tarea específica.</a:t>
            </a:r>
            <a:endParaRPr sz="3200">
              <a:latin typeface="Montserrat"/>
              <a:ea typeface="Montserrat"/>
              <a:cs typeface="Montserrat"/>
              <a:sym typeface="Montserrat"/>
            </a:endParaRPr>
          </a:p>
        </p:txBody>
      </p:sp>
      <p:sp>
        <p:nvSpPr>
          <p:cNvPr id="64" name="Google Shape;64;p2"/>
          <p:cNvSpPr txBox="1"/>
          <p:nvPr>
            <p:ph type="title"/>
          </p:nvPr>
        </p:nvSpPr>
        <p:spPr>
          <a:xfrm>
            <a:off x="311700" y="1235550"/>
            <a:ext cx="8520600" cy="975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800"/>
              <a:buNone/>
            </a:pPr>
            <a:r>
              <a:rPr lang="es-419" sz="4400"/>
              <a:t>Introducción</a:t>
            </a:r>
            <a:endParaRPr sz="4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idx="1" type="subTitle"/>
          </p:nvPr>
        </p:nvSpPr>
        <p:spPr>
          <a:xfrm>
            <a:off x="311700" y="911875"/>
            <a:ext cx="8520600" cy="36831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¿Qué es una función?</a:t>
            </a:r>
            <a:endParaRPr b="1" sz="3200"/>
          </a:p>
          <a:p>
            <a:pPr indent="0" lvl="0" marL="0" rtl="0" algn="ctr">
              <a:lnSpc>
                <a:spcPct val="90000"/>
              </a:lnSpc>
              <a:spcBef>
                <a:spcPts val="0"/>
              </a:spcBef>
              <a:spcAft>
                <a:spcPts val="0"/>
              </a:spcAft>
              <a:buSzPts val="2800"/>
              <a:buNone/>
            </a:pPr>
            <a:r>
              <a:t/>
            </a:r>
            <a:endParaRPr b="1" sz="3200"/>
          </a:p>
          <a:p>
            <a:pPr indent="0" lvl="0" marL="0" rtl="0" algn="just">
              <a:lnSpc>
                <a:spcPct val="90000"/>
              </a:lnSpc>
              <a:spcBef>
                <a:spcPts val="0"/>
              </a:spcBef>
              <a:spcAft>
                <a:spcPts val="0"/>
              </a:spcAft>
              <a:buSzPts val="2800"/>
              <a:buNone/>
            </a:pPr>
            <a:r>
              <a:rPr lang="es-419" sz="2400"/>
              <a:t>A medida que los programas crecen en extensión y complejidad la resolución se torna más </a:t>
            </a:r>
            <a:r>
              <a:rPr b="1" lang="es-419" sz="2400"/>
              <a:t>complicada</a:t>
            </a:r>
            <a:r>
              <a:rPr lang="es-419" sz="2400"/>
              <a:t> y su </a:t>
            </a:r>
            <a:r>
              <a:rPr b="1" lang="es-419" sz="2400"/>
              <a:t>depuración</a:t>
            </a:r>
            <a:r>
              <a:rPr lang="es-419" sz="2400"/>
              <a:t> y </a:t>
            </a:r>
            <a:r>
              <a:rPr b="1" lang="es-419" sz="2400"/>
              <a:t>modificaciones</a:t>
            </a:r>
            <a:r>
              <a:rPr lang="es-419" sz="2400"/>
              <a:t> futuras resultan casi imposibles. Para resolver este tipo de problemas lo que se hace es </a:t>
            </a:r>
            <a:r>
              <a:rPr b="1" lang="es-419" sz="2400"/>
              <a:t>dividir el programa</a:t>
            </a:r>
            <a:r>
              <a:rPr lang="es-419" sz="2400"/>
              <a:t> en módulos más pequeños que cumplan </a:t>
            </a:r>
            <a:r>
              <a:rPr b="1" lang="es-419" sz="2400"/>
              <a:t>una tarea simple y bien acotada</a:t>
            </a:r>
            <a:r>
              <a:rPr lang="es-419" sz="2400"/>
              <a:t> llamados funciones.</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idx="1" type="subTitle"/>
          </p:nvPr>
        </p:nvSpPr>
        <p:spPr>
          <a:xfrm>
            <a:off x="311700" y="1040100"/>
            <a:ext cx="8520600" cy="3341100"/>
          </a:xfrm>
          <a:prstGeom prst="rect">
            <a:avLst/>
          </a:prstGeom>
          <a:noFill/>
          <a:ln>
            <a:noFill/>
          </a:ln>
        </p:spPr>
        <p:txBody>
          <a:bodyPr anchorCtr="0" anchor="ctr" bIns="91425" lIns="91425" spcFirstLastPara="1" rIns="91425" wrap="square" tIns="91425">
            <a:normAutofit lnSpcReduction="10000"/>
          </a:bodyPr>
          <a:lstStyle/>
          <a:p>
            <a:pPr indent="0" lvl="0" marL="0" rtl="0" algn="ctr">
              <a:lnSpc>
                <a:spcPct val="90000"/>
              </a:lnSpc>
              <a:spcBef>
                <a:spcPts val="0"/>
              </a:spcBef>
              <a:spcAft>
                <a:spcPts val="0"/>
              </a:spcAft>
              <a:buSzPts val="2800"/>
              <a:buNone/>
            </a:pPr>
            <a:r>
              <a:rPr b="1" lang="es-419" sz="3200"/>
              <a:t>¿Para qué sirve una función?</a:t>
            </a:r>
            <a:endParaRPr b="1" sz="3200"/>
          </a:p>
          <a:p>
            <a:pPr indent="0" lvl="0" marL="0" rtl="0" algn="just">
              <a:lnSpc>
                <a:spcPct val="90000"/>
              </a:lnSpc>
              <a:spcBef>
                <a:spcPts val="0"/>
              </a:spcBef>
              <a:spcAft>
                <a:spcPts val="0"/>
              </a:spcAft>
              <a:buSzPts val="2800"/>
              <a:buNone/>
            </a:pPr>
            <a:r>
              <a:t/>
            </a:r>
            <a:endParaRPr b="1" sz="3200"/>
          </a:p>
          <a:p>
            <a:pPr indent="-381000" lvl="0" marL="457200" rtl="0" algn="just">
              <a:lnSpc>
                <a:spcPct val="90000"/>
              </a:lnSpc>
              <a:spcBef>
                <a:spcPts val="0"/>
              </a:spcBef>
              <a:spcAft>
                <a:spcPts val="0"/>
              </a:spcAft>
              <a:buSzPts val="2400"/>
              <a:buChar char="●"/>
            </a:pPr>
            <a:r>
              <a:rPr lang="es-419" sz="2400"/>
              <a:t>Las funciones sirven para </a:t>
            </a:r>
            <a:r>
              <a:rPr b="1" lang="es-419" sz="2400"/>
              <a:t>descomponer una tarea específica en un bloque de código</a:t>
            </a:r>
            <a:r>
              <a:rPr lang="es-419" sz="2400"/>
              <a:t> que se puede llamar varias veces desde cualquier parte del programa. </a:t>
            </a:r>
            <a:endParaRPr sz="2400"/>
          </a:p>
          <a:p>
            <a:pPr indent="0" lvl="0" marL="457200" rtl="0" algn="just">
              <a:lnSpc>
                <a:spcPct val="90000"/>
              </a:lnSpc>
              <a:spcBef>
                <a:spcPts val="0"/>
              </a:spcBef>
              <a:spcAft>
                <a:spcPts val="0"/>
              </a:spcAft>
              <a:buSzPts val="2800"/>
              <a:buNone/>
            </a:pPr>
            <a:r>
              <a:t/>
            </a:r>
            <a:endParaRPr sz="2400"/>
          </a:p>
          <a:p>
            <a:pPr indent="-381000" lvl="0" marL="457200" rtl="0" algn="just">
              <a:lnSpc>
                <a:spcPct val="90000"/>
              </a:lnSpc>
              <a:spcBef>
                <a:spcPts val="0"/>
              </a:spcBef>
              <a:spcAft>
                <a:spcPts val="0"/>
              </a:spcAft>
              <a:buSzPts val="2400"/>
              <a:buChar char="●"/>
            </a:pPr>
            <a:r>
              <a:rPr lang="es-419" sz="2400"/>
              <a:t>Las funciones permiten que el código sea </a:t>
            </a:r>
            <a:r>
              <a:rPr b="1" lang="es-419" sz="2400"/>
              <a:t>modular, legible y fácil de mantener</a:t>
            </a:r>
            <a:r>
              <a:rPr lang="es-419" sz="2400"/>
              <a:t>.</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5"/>
          <p:cNvSpPr txBox="1"/>
          <p:nvPr>
            <p:ph idx="1" type="subTitle"/>
          </p:nvPr>
        </p:nvSpPr>
        <p:spPr>
          <a:xfrm>
            <a:off x="311700" y="1040100"/>
            <a:ext cx="8520600" cy="36261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Objetivos de una función:</a:t>
            </a:r>
            <a:endParaRPr b="1" sz="3200"/>
          </a:p>
          <a:p>
            <a:pPr indent="0" lvl="0" marL="0" rtl="0" algn="just">
              <a:lnSpc>
                <a:spcPct val="90000"/>
              </a:lnSpc>
              <a:spcBef>
                <a:spcPts val="0"/>
              </a:spcBef>
              <a:spcAft>
                <a:spcPts val="0"/>
              </a:spcAft>
              <a:buSzPts val="2800"/>
              <a:buNone/>
            </a:pPr>
            <a:r>
              <a:t/>
            </a:r>
            <a:endParaRPr b="1" sz="3200"/>
          </a:p>
          <a:p>
            <a:pPr indent="0" lvl="0" marL="2699999" rtl="0" algn="l">
              <a:lnSpc>
                <a:spcPct val="90000"/>
              </a:lnSpc>
              <a:spcBef>
                <a:spcPts val="0"/>
              </a:spcBef>
              <a:spcAft>
                <a:spcPts val="0"/>
              </a:spcAft>
              <a:buSzPts val="2800"/>
              <a:buNone/>
            </a:pPr>
            <a:r>
              <a:rPr b="1" lang="es-419" sz="2400"/>
              <a:t>Minificación</a:t>
            </a:r>
            <a:r>
              <a:rPr lang="es-419" sz="2400"/>
              <a:t>:  </a:t>
            </a:r>
            <a:r>
              <a:rPr lang="es-419" sz="2500"/>
              <a:t>Logramos que el programa sea más simple de comprender ya que cada función se dedica a realizar una tarea en particular.</a:t>
            </a:r>
            <a:endParaRPr sz="2500"/>
          </a:p>
          <a:p>
            <a:pPr indent="0" lvl="0" marL="0" rtl="0" algn="just">
              <a:lnSpc>
                <a:spcPct val="90000"/>
              </a:lnSpc>
              <a:spcBef>
                <a:spcPts val="0"/>
              </a:spcBef>
              <a:spcAft>
                <a:spcPts val="0"/>
              </a:spcAft>
              <a:buSzPts val="2800"/>
              <a:buNone/>
            </a:pPr>
            <a:r>
              <a:t/>
            </a:r>
            <a:endParaRPr sz="2400"/>
          </a:p>
        </p:txBody>
      </p:sp>
      <p:pic>
        <p:nvPicPr>
          <p:cNvPr id="80" name="Google Shape;80;p5"/>
          <p:cNvPicPr preferRelativeResize="0"/>
          <p:nvPr/>
        </p:nvPicPr>
        <p:blipFill rotWithShape="1">
          <a:blip r:embed="rId3">
            <a:alphaModFix/>
          </a:blip>
          <a:srcRect b="0" l="0" r="0" t="0"/>
          <a:stretch/>
        </p:blipFill>
        <p:spPr>
          <a:xfrm>
            <a:off x="411425" y="2121150"/>
            <a:ext cx="2267175" cy="2267175"/>
          </a:xfrm>
          <a:prstGeom prst="rect">
            <a:avLst/>
          </a:prstGeom>
          <a:noFill/>
          <a:ln cap="flat" cmpd="sng" w="28575">
            <a:solidFill>
              <a:srgbClr val="FF9900"/>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6"/>
          <p:cNvSpPr txBox="1"/>
          <p:nvPr>
            <p:ph idx="1" type="subTitle"/>
          </p:nvPr>
        </p:nvSpPr>
        <p:spPr>
          <a:xfrm>
            <a:off x="311700" y="527175"/>
            <a:ext cx="8520600" cy="39609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Objetivos de una función:</a:t>
            </a:r>
            <a:endParaRPr b="1" sz="3200"/>
          </a:p>
          <a:p>
            <a:pPr indent="0" lvl="0" marL="0" rtl="0" algn="just">
              <a:lnSpc>
                <a:spcPct val="90000"/>
              </a:lnSpc>
              <a:spcBef>
                <a:spcPts val="0"/>
              </a:spcBef>
              <a:spcAft>
                <a:spcPts val="0"/>
              </a:spcAft>
              <a:buSzPts val="2800"/>
              <a:buNone/>
            </a:pPr>
            <a:r>
              <a:t/>
            </a:r>
            <a:endParaRPr b="1" sz="3200"/>
          </a:p>
          <a:p>
            <a:pPr indent="0" lvl="0" marL="2699999" rtl="0" algn="l">
              <a:lnSpc>
                <a:spcPct val="90000"/>
              </a:lnSpc>
              <a:spcBef>
                <a:spcPts val="0"/>
              </a:spcBef>
              <a:spcAft>
                <a:spcPts val="0"/>
              </a:spcAft>
              <a:buSzPts val="2800"/>
              <a:buNone/>
            </a:pPr>
            <a:r>
              <a:t/>
            </a:r>
            <a:endParaRPr b="1" sz="2400"/>
          </a:p>
          <a:p>
            <a:pPr indent="0" lvl="0" marL="2699999" rtl="0" algn="l">
              <a:lnSpc>
                <a:spcPct val="90000"/>
              </a:lnSpc>
              <a:spcBef>
                <a:spcPts val="0"/>
              </a:spcBef>
              <a:spcAft>
                <a:spcPts val="0"/>
              </a:spcAft>
              <a:buSzPts val="2800"/>
              <a:buNone/>
            </a:pPr>
            <a:r>
              <a:rPr b="1" lang="es-419" sz="2400"/>
              <a:t>Depuración</a:t>
            </a:r>
            <a:r>
              <a:rPr lang="es-419" sz="2400"/>
              <a:t>:  </a:t>
            </a:r>
            <a:r>
              <a:rPr lang="es-419" sz="2500"/>
              <a:t>La depuración queda acotada a cada función.</a:t>
            </a:r>
            <a:endParaRPr sz="2500"/>
          </a:p>
          <a:p>
            <a:pPr indent="0" lvl="0" marL="0" rtl="0" algn="just">
              <a:lnSpc>
                <a:spcPct val="90000"/>
              </a:lnSpc>
              <a:spcBef>
                <a:spcPts val="0"/>
              </a:spcBef>
              <a:spcAft>
                <a:spcPts val="0"/>
              </a:spcAft>
              <a:buSzPts val="2800"/>
              <a:buNone/>
            </a:pPr>
            <a:r>
              <a:t/>
            </a:r>
            <a:endParaRPr sz="2400"/>
          </a:p>
        </p:txBody>
      </p:sp>
      <p:pic>
        <p:nvPicPr>
          <p:cNvPr id="86" name="Google Shape;86;p6"/>
          <p:cNvPicPr preferRelativeResize="0"/>
          <p:nvPr/>
        </p:nvPicPr>
        <p:blipFill rotWithShape="1">
          <a:blip r:embed="rId3">
            <a:alphaModFix/>
          </a:blip>
          <a:srcRect b="0" l="0" r="0" t="0"/>
          <a:stretch/>
        </p:blipFill>
        <p:spPr>
          <a:xfrm>
            <a:off x="311700" y="2315300"/>
            <a:ext cx="2572224" cy="1938600"/>
          </a:xfrm>
          <a:prstGeom prst="rect">
            <a:avLst/>
          </a:prstGeom>
          <a:noFill/>
          <a:ln cap="flat" cmpd="sng" w="28575">
            <a:solidFill>
              <a:srgbClr val="FF99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7"/>
          <p:cNvSpPr txBox="1"/>
          <p:nvPr>
            <p:ph idx="1" type="subTitle"/>
          </p:nvPr>
        </p:nvSpPr>
        <p:spPr>
          <a:xfrm>
            <a:off x="311700" y="876250"/>
            <a:ext cx="8520600" cy="36120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Objetivos de una función:</a:t>
            </a:r>
            <a:endParaRPr b="1" sz="3200"/>
          </a:p>
          <a:p>
            <a:pPr indent="0" lvl="0" marL="0" rtl="0" algn="just">
              <a:lnSpc>
                <a:spcPct val="90000"/>
              </a:lnSpc>
              <a:spcBef>
                <a:spcPts val="0"/>
              </a:spcBef>
              <a:spcAft>
                <a:spcPts val="0"/>
              </a:spcAft>
              <a:buSzPts val="2800"/>
              <a:buNone/>
            </a:pPr>
            <a:r>
              <a:t/>
            </a:r>
            <a:endParaRPr b="1" sz="3200"/>
          </a:p>
          <a:p>
            <a:pPr indent="0" lvl="0" marL="2699999" rtl="0" algn="l">
              <a:lnSpc>
                <a:spcPct val="90000"/>
              </a:lnSpc>
              <a:spcBef>
                <a:spcPts val="0"/>
              </a:spcBef>
              <a:spcAft>
                <a:spcPts val="0"/>
              </a:spcAft>
              <a:buSzPts val="2800"/>
              <a:buNone/>
            </a:pPr>
            <a:r>
              <a:t/>
            </a:r>
            <a:endParaRPr b="1" sz="2400"/>
          </a:p>
          <a:p>
            <a:pPr indent="0" lvl="0" marL="2699999" rtl="0" algn="l">
              <a:lnSpc>
                <a:spcPct val="90000"/>
              </a:lnSpc>
              <a:spcBef>
                <a:spcPts val="0"/>
              </a:spcBef>
              <a:spcAft>
                <a:spcPts val="0"/>
              </a:spcAft>
              <a:buSzPts val="2800"/>
              <a:buNone/>
            </a:pPr>
            <a:r>
              <a:rPr b="1" lang="es-419" sz="2400"/>
              <a:t>Modificación</a:t>
            </a:r>
            <a:r>
              <a:rPr lang="es-419" sz="2400"/>
              <a:t>:  </a:t>
            </a:r>
            <a:r>
              <a:rPr lang="es-419" sz="2500"/>
              <a:t>Las modificaciones al programa se reducen a cada módulo.</a:t>
            </a:r>
            <a:endParaRPr sz="2500"/>
          </a:p>
          <a:p>
            <a:pPr indent="0" lvl="0" marL="0" rtl="0" algn="just">
              <a:lnSpc>
                <a:spcPct val="90000"/>
              </a:lnSpc>
              <a:spcBef>
                <a:spcPts val="0"/>
              </a:spcBef>
              <a:spcAft>
                <a:spcPts val="0"/>
              </a:spcAft>
              <a:buSzPts val="2800"/>
              <a:buNone/>
            </a:pPr>
            <a:r>
              <a:t/>
            </a:r>
            <a:endParaRPr sz="2400"/>
          </a:p>
        </p:txBody>
      </p:sp>
      <p:pic>
        <p:nvPicPr>
          <p:cNvPr id="92" name="Google Shape;92;p7"/>
          <p:cNvPicPr preferRelativeResize="0"/>
          <p:nvPr/>
        </p:nvPicPr>
        <p:blipFill rotWithShape="1">
          <a:blip r:embed="rId3">
            <a:alphaModFix/>
          </a:blip>
          <a:srcRect b="3753" l="0" r="0" t="0"/>
          <a:stretch/>
        </p:blipFill>
        <p:spPr>
          <a:xfrm>
            <a:off x="375825" y="2155475"/>
            <a:ext cx="2340576" cy="2246525"/>
          </a:xfrm>
          <a:prstGeom prst="rect">
            <a:avLst/>
          </a:prstGeom>
          <a:noFill/>
          <a:ln cap="flat" cmpd="sng" w="28575">
            <a:solidFill>
              <a:srgbClr val="FF99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8"/>
          <p:cNvSpPr txBox="1"/>
          <p:nvPr>
            <p:ph idx="1" type="subTitle"/>
          </p:nvPr>
        </p:nvSpPr>
        <p:spPr>
          <a:xfrm>
            <a:off x="311700" y="726650"/>
            <a:ext cx="8520600" cy="39396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Objetivos de una función:</a:t>
            </a:r>
            <a:endParaRPr b="1" sz="3200"/>
          </a:p>
          <a:p>
            <a:pPr indent="0" lvl="0" marL="0" rtl="0" algn="just">
              <a:lnSpc>
                <a:spcPct val="90000"/>
              </a:lnSpc>
              <a:spcBef>
                <a:spcPts val="0"/>
              </a:spcBef>
              <a:spcAft>
                <a:spcPts val="0"/>
              </a:spcAft>
              <a:buSzPts val="2800"/>
              <a:buNone/>
            </a:pPr>
            <a:r>
              <a:t/>
            </a:r>
            <a:endParaRPr b="1" sz="3200"/>
          </a:p>
          <a:p>
            <a:pPr indent="0" lvl="0" marL="2699999" rtl="0" algn="l">
              <a:lnSpc>
                <a:spcPct val="90000"/>
              </a:lnSpc>
              <a:spcBef>
                <a:spcPts val="0"/>
              </a:spcBef>
              <a:spcAft>
                <a:spcPts val="0"/>
              </a:spcAft>
              <a:buSzPts val="2800"/>
              <a:buNone/>
            </a:pPr>
            <a:r>
              <a:rPr b="1" lang="es-419" sz="2400"/>
              <a:t>Reutilización</a:t>
            </a:r>
            <a:r>
              <a:rPr lang="es-419" sz="2400"/>
              <a:t>:  </a:t>
            </a:r>
            <a:r>
              <a:rPr lang="es-419" sz="2500"/>
              <a:t>Cuando cada función está bien probada, se la puede usar las veces que se quiera y así reutilizar código.</a:t>
            </a:r>
            <a:endParaRPr sz="2500"/>
          </a:p>
          <a:p>
            <a:pPr indent="0" lvl="0" marL="0" rtl="0" algn="just">
              <a:lnSpc>
                <a:spcPct val="90000"/>
              </a:lnSpc>
              <a:spcBef>
                <a:spcPts val="0"/>
              </a:spcBef>
              <a:spcAft>
                <a:spcPts val="0"/>
              </a:spcAft>
              <a:buSzPts val="2800"/>
              <a:buNone/>
            </a:pPr>
            <a:r>
              <a:t/>
            </a:r>
            <a:endParaRPr sz="2400"/>
          </a:p>
        </p:txBody>
      </p:sp>
      <p:pic>
        <p:nvPicPr>
          <p:cNvPr id="98" name="Google Shape;98;p8"/>
          <p:cNvPicPr preferRelativeResize="0"/>
          <p:nvPr/>
        </p:nvPicPr>
        <p:blipFill rotWithShape="1">
          <a:blip r:embed="rId3">
            <a:alphaModFix/>
          </a:blip>
          <a:srcRect b="0" l="0" r="0" t="0"/>
          <a:stretch/>
        </p:blipFill>
        <p:spPr>
          <a:xfrm>
            <a:off x="375875" y="2132450"/>
            <a:ext cx="2388225" cy="2227600"/>
          </a:xfrm>
          <a:prstGeom prst="rect">
            <a:avLst/>
          </a:prstGeom>
          <a:noFill/>
          <a:ln cap="flat" cmpd="sng" w="28575">
            <a:solidFill>
              <a:schemeClr val="accent4"/>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9"/>
          <p:cNvSpPr txBox="1"/>
          <p:nvPr>
            <p:ph idx="1" type="subTitle"/>
          </p:nvPr>
        </p:nvSpPr>
        <p:spPr>
          <a:xfrm>
            <a:off x="311700" y="719525"/>
            <a:ext cx="8520600" cy="39471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Objetivos de una función:</a:t>
            </a:r>
            <a:endParaRPr b="1" sz="3200"/>
          </a:p>
          <a:p>
            <a:pPr indent="0" lvl="0" marL="0" rtl="0" algn="just">
              <a:lnSpc>
                <a:spcPct val="90000"/>
              </a:lnSpc>
              <a:spcBef>
                <a:spcPts val="0"/>
              </a:spcBef>
              <a:spcAft>
                <a:spcPts val="0"/>
              </a:spcAft>
              <a:buSzPts val="2800"/>
              <a:buNone/>
            </a:pPr>
            <a:r>
              <a:t/>
            </a:r>
            <a:endParaRPr b="1" sz="3200"/>
          </a:p>
          <a:p>
            <a:pPr indent="0" lvl="0" marL="2699999" rtl="0" algn="l">
              <a:lnSpc>
                <a:spcPct val="90000"/>
              </a:lnSpc>
              <a:spcBef>
                <a:spcPts val="0"/>
              </a:spcBef>
              <a:spcAft>
                <a:spcPts val="0"/>
              </a:spcAft>
              <a:buSzPts val="2800"/>
              <a:buNone/>
            </a:pPr>
            <a:r>
              <a:t/>
            </a:r>
            <a:endParaRPr b="1" sz="2400"/>
          </a:p>
          <a:p>
            <a:pPr indent="0" lvl="0" marL="2699999" rtl="0" algn="l">
              <a:lnSpc>
                <a:spcPct val="90000"/>
              </a:lnSpc>
              <a:spcBef>
                <a:spcPts val="0"/>
              </a:spcBef>
              <a:spcAft>
                <a:spcPts val="0"/>
              </a:spcAft>
              <a:buSzPts val="2800"/>
              <a:buNone/>
            </a:pPr>
            <a:r>
              <a:rPr b="1" lang="es-419" sz="2400"/>
              <a:t>Independencia</a:t>
            </a:r>
            <a:r>
              <a:rPr lang="es-419" sz="2400"/>
              <a:t>:  </a:t>
            </a:r>
            <a:r>
              <a:rPr lang="es-419" sz="2500"/>
              <a:t>Se obtiene una autonomía del código donde cada función es independiente de otra.</a:t>
            </a:r>
            <a:endParaRPr sz="2500"/>
          </a:p>
          <a:p>
            <a:pPr indent="0" lvl="0" marL="0" rtl="0" algn="just">
              <a:lnSpc>
                <a:spcPct val="90000"/>
              </a:lnSpc>
              <a:spcBef>
                <a:spcPts val="0"/>
              </a:spcBef>
              <a:spcAft>
                <a:spcPts val="0"/>
              </a:spcAft>
              <a:buSzPts val="2800"/>
              <a:buNone/>
            </a:pPr>
            <a:r>
              <a:t/>
            </a:r>
            <a:endParaRPr sz="2400"/>
          </a:p>
        </p:txBody>
      </p:sp>
      <p:pic>
        <p:nvPicPr>
          <p:cNvPr id="104" name="Google Shape;104;p9"/>
          <p:cNvPicPr preferRelativeResize="0"/>
          <p:nvPr/>
        </p:nvPicPr>
        <p:blipFill rotWithShape="1">
          <a:blip r:embed="rId3">
            <a:alphaModFix/>
          </a:blip>
          <a:srcRect b="0" l="0" r="0" t="0"/>
          <a:stretch/>
        </p:blipFill>
        <p:spPr>
          <a:xfrm>
            <a:off x="311700" y="2137200"/>
            <a:ext cx="2488026" cy="2306876"/>
          </a:xfrm>
          <a:prstGeom prst="rect">
            <a:avLst/>
          </a:prstGeom>
          <a:noFill/>
          <a:ln cap="flat" cmpd="sng" w="28575">
            <a:solidFill>
              <a:schemeClr val="accent4"/>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 name="Shape 108"/>
        <p:cNvGrpSpPr/>
        <p:nvPr/>
      </p:nvGrpSpPr>
      <p:grpSpPr>
        <a:xfrm>
          <a:off x="0" y="0"/>
          <a:ext cx="0" cy="0"/>
          <a:chOff x="0" y="0"/>
          <a:chExt cx="0" cy="0"/>
        </a:xfrm>
      </p:grpSpPr>
      <p:sp>
        <p:nvSpPr>
          <p:cNvPr id="109" name="Google Shape;109;p10"/>
          <p:cNvSpPr txBox="1"/>
          <p:nvPr>
            <p:ph idx="1" type="subTitle"/>
          </p:nvPr>
        </p:nvSpPr>
        <p:spPr>
          <a:xfrm>
            <a:off x="311700" y="790750"/>
            <a:ext cx="8520600" cy="38760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Componentes de una función:</a:t>
            </a:r>
            <a:endParaRPr b="1" sz="3200"/>
          </a:p>
          <a:p>
            <a:pPr indent="0" lvl="0" marL="0" rtl="0" algn="ctr">
              <a:lnSpc>
                <a:spcPct val="90000"/>
              </a:lnSpc>
              <a:spcBef>
                <a:spcPts val="0"/>
              </a:spcBef>
              <a:spcAft>
                <a:spcPts val="0"/>
              </a:spcAft>
              <a:buSzPts val="2800"/>
              <a:buNone/>
            </a:pPr>
            <a:r>
              <a:t/>
            </a:r>
            <a:endParaRPr b="1" sz="3200"/>
          </a:p>
          <a:p>
            <a:pPr indent="0" lvl="0" marL="0" rtl="0" algn="ctr">
              <a:lnSpc>
                <a:spcPct val="90000"/>
              </a:lnSpc>
              <a:spcBef>
                <a:spcPts val="0"/>
              </a:spcBef>
              <a:spcAft>
                <a:spcPts val="0"/>
              </a:spcAft>
              <a:buSzPts val="2800"/>
              <a:buNone/>
            </a:pPr>
            <a:r>
              <a:t/>
            </a:r>
            <a:endParaRPr b="1" sz="3200"/>
          </a:p>
          <a:p>
            <a:pPr indent="0" lvl="0" marL="360000" rtl="0" algn="l">
              <a:lnSpc>
                <a:spcPct val="90000"/>
              </a:lnSpc>
              <a:spcBef>
                <a:spcPts val="0"/>
              </a:spcBef>
              <a:spcAft>
                <a:spcPts val="0"/>
              </a:spcAft>
              <a:buSzPts val="2800"/>
              <a:buNone/>
            </a:pPr>
            <a:r>
              <a:rPr lang="es-419" sz="2400">
                <a:solidFill>
                  <a:srgbClr val="00FFFF"/>
                </a:solidFill>
              </a:rPr>
              <a:t>def</a:t>
            </a:r>
            <a:r>
              <a:rPr lang="es-419" sz="2400"/>
              <a:t> calcular_precio_con_iva(valor_sin_iva, iva=</a:t>
            </a:r>
            <a:r>
              <a:rPr lang="es-419" sz="2400">
                <a:solidFill>
                  <a:srgbClr val="B6D7A8"/>
                </a:solidFill>
              </a:rPr>
              <a:t>21</a:t>
            </a:r>
            <a:r>
              <a:rPr lang="es-419" sz="2400"/>
              <a:t>):</a:t>
            </a:r>
            <a:endParaRPr sz="2400"/>
          </a:p>
          <a:p>
            <a:pPr indent="359998" lvl="0" marL="360000" rtl="0" algn="l">
              <a:lnSpc>
                <a:spcPct val="90000"/>
              </a:lnSpc>
              <a:spcBef>
                <a:spcPts val="0"/>
              </a:spcBef>
              <a:spcAft>
                <a:spcPts val="0"/>
              </a:spcAft>
              <a:buSzPts val="2800"/>
              <a:buNone/>
            </a:pPr>
            <a:r>
              <a:rPr lang="es-419" sz="2400">
                <a:solidFill>
                  <a:srgbClr val="E69138"/>
                </a:solidFill>
              </a:rPr>
              <a:t>’’’Documentación’’’</a:t>
            </a:r>
            <a:endParaRPr sz="2400">
              <a:solidFill>
                <a:srgbClr val="E69138"/>
              </a:solidFill>
            </a:endParaRPr>
          </a:p>
          <a:p>
            <a:pPr indent="359998" lvl="0" marL="360000" rtl="0" algn="l">
              <a:lnSpc>
                <a:spcPct val="90000"/>
              </a:lnSpc>
              <a:spcBef>
                <a:spcPts val="0"/>
              </a:spcBef>
              <a:spcAft>
                <a:spcPts val="0"/>
              </a:spcAft>
              <a:buSzPts val="2800"/>
              <a:buNone/>
            </a:pPr>
            <a:r>
              <a:rPr lang="es-419" sz="2400"/>
              <a:t>resultado = valor_sin_iva * (</a:t>
            </a:r>
            <a:r>
              <a:rPr lang="es-419" sz="2400">
                <a:solidFill>
                  <a:srgbClr val="B6D7A8"/>
                </a:solidFill>
              </a:rPr>
              <a:t>1</a:t>
            </a:r>
            <a:r>
              <a:rPr lang="es-419" sz="2400"/>
              <a:t> + (iva / </a:t>
            </a:r>
            <a:r>
              <a:rPr lang="es-419" sz="2400">
                <a:solidFill>
                  <a:srgbClr val="B6D7A8"/>
                </a:solidFill>
              </a:rPr>
              <a:t>100</a:t>
            </a:r>
            <a:r>
              <a:rPr lang="es-419" sz="2400"/>
              <a:t>))</a:t>
            </a:r>
            <a:endParaRPr sz="2400"/>
          </a:p>
          <a:p>
            <a:pPr indent="359998" lvl="0" marL="360000" rtl="0" algn="l">
              <a:lnSpc>
                <a:spcPct val="90000"/>
              </a:lnSpc>
              <a:spcBef>
                <a:spcPts val="0"/>
              </a:spcBef>
              <a:spcAft>
                <a:spcPts val="0"/>
              </a:spcAft>
              <a:buSzPts val="2800"/>
              <a:buNone/>
            </a:pPr>
            <a:r>
              <a:rPr lang="es-419" sz="2400">
                <a:solidFill>
                  <a:srgbClr val="00FFFF"/>
                </a:solidFill>
              </a:rPr>
              <a:t>return</a:t>
            </a:r>
            <a:r>
              <a:rPr lang="es-419" sz="2400"/>
              <a:t> resultado</a:t>
            </a:r>
            <a:endParaRPr sz="2400"/>
          </a:p>
          <a:p>
            <a:pPr indent="0" lvl="0" marL="0" rtl="0" algn="just">
              <a:lnSpc>
                <a:spcPct val="90000"/>
              </a:lnSpc>
              <a:spcBef>
                <a:spcPts val="0"/>
              </a:spcBef>
              <a:spcAft>
                <a:spcPts val="0"/>
              </a:spcAft>
              <a:buSzPts val="2800"/>
              <a:buNone/>
            </a:pPr>
            <a:r>
              <a:t/>
            </a:r>
            <a:endParaRPr b="1" sz="3200"/>
          </a:p>
          <a:p>
            <a:pPr indent="0" lvl="0" marL="0" rtl="0" algn="just">
              <a:lnSpc>
                <a:spcPct val="90000"/>
              </a:lnSpc>
              <a:spcBef>
                <a:spcPts val="0"/>
              </a:spcBef>
              <a:spcAft>
                <a:spcPts val="0"/>
              </a:spcAft>
              <a:buSzPts val="2800"/>
              <a:buNone/>
            </a:pPr>
            <a:r>
              <a:t/>
            </a:r>
            <a:endParaRPr sz="2400"/>
          </a:p>
        </p:txBody>
      </p:sp>
      <p:sp>
        <p:nvSpPr>
          <p:cNvPr id="110" name="Google Shape;110;p10"/>
          <p:cNvSpPr txBox="1"/>
          <p:nvPr/>
        </p:nvSpPr>
        <p:spPr>
          <a:xfrm>
            <a:off x="6952975" y="3401575"/>
            <a:ext cx="2108700" cy="52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D966"/>
                </a:solidFill>
                <a:latin typeface="Montserrat"/>
                <a:ea typeface="Montserrat"/>
                <a:cs typeface="Montserrat"/>
                <a:sym typeface="Montserrat"/>
              </a:rPr>
              <a:t>Documentación</a:t>
            </a:r>
            <a:endParaRPr b="0" i="0" sz="1800" u="none" cap="none" strike="noStrike">
              <a:solidFill>
                <a:srgbClr val="FFD966"/>
              </a:solidFill>
              <a:latin typeface="Montserrat"/>
              <a:ea typeface="Montserrat"/>
              <a:cs typeface="Montserrat"/>
              <a:sym typeface="Montserrat"/>
            </a:endParaRPr>
          </a:p>
        </p:txBody>
      </p:sp>
      <p:sp>
        <p:nvSpPr>
          <p:cNvPr id="111" name="Google Shape;111;p10"/>
          <p:cNvSpPr txBox="1"/>
          <p:nvPr/>
        </p:nvSpPr>
        <p:spPr>
          <a:xfrm>
            <a:off x="2721350" y="3882475"/>
            <a:ext cx="1795200" cy="44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D966"/>
                </a:solidFill>
                <a:latin typeface="Montserrat"/>
                <a:ea typeface="Montserrat"/>
                <a:cs typeface="Montserrat"/>
                <a:sym typeface="Montserrat"/>
              </a:rPr>
              <a:t>Variable local</a:t>
            </a:r>
            <a:endParaRPr b="0" i="0" sz="1800" u="none" cap="none" strike="noStrike">
              <a:solidFill>
                <a:srgbClr val="FFD966"/>
              </a:solidFill>
              <a:latin typeface="Montserrat"/>
              <a:ea typeface="Montserrat"/>
              <a:cs typeface="Montserrat"/>
              <a:sym typeface="Montserrat"/>
            </a:endParaRPr>
          </a:p>
        </p:txBody>
      </p:sp>
      <p:sp>
        <p:nvSpPr>
          <p:cNvPr id="112" name="Google Shape;112;p10"/>
          <p:cNvSpPr txBox="1"/>
          <p:nvPr/>
        </p:nvSpPr>
        <p:spPr>
          <a:xfrm>
            <a:off x="5141900" y="3882475"/>
            <a:ext cx="22299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D966"/>
                </a:solidFill>
                <a:latin typeface="Montserrat"/>
                <a:ea typeface="Montserrat"/>
                <a:cs typeface="Montserrat"/>
                <a:sym typeface="Montserrat"/>
              </a:rPr>
              <a:t>Valor del retorno</a:t>
            </a:r>
            <a:endParaRPr b="0" i="0" sz="1800" u="none" cap="none" strike="noStrike">
              <a:solidFill>
                <a:srgbClr val="FFD966"/>
              </a:solidFill>
              <a:latin typeface="Montserrat"/>
              <a:ea typeface="Montserrat"/>
              <a:cs typeface="Montserrat"/>
              <a:sym typeface="Montserrat"/>
            </a:endParaRPr>
          </a:p>
        </p:txBody>
      </p:sp>
      <p:sp>
        <p:nvSpPr>
          <p:cNvPr id="113" name="Google Shape;113;p10"/>
          <p:cNvSpPr txBox="1"/>
          <p:nvPr/>
        </p:nvSpPr>
        <p:spPr>
          <a:xfrm>
            <a:off x="49875" y="1652750"/>
            <a:ext cx="24009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D966"/>
                </a:solidFill>
                <a:latin typeface="Montserrat"/>
                <a:ea typeface="Montserrat"/>
                <a:cs typeface="Montserrat"/>
                <a:sym typeface="Montserrat"/>
              </a:rPr>
              <a:t>Palabra reservada</a:t>
            </a:r>
            <a:endParaRPr b="0" i="0" sz="1800" u="none" cap="none" strike="noStrike">
              <a:solidFill>
                <a:srgbClr val="FFD966"/>
              </a:solidFill>
              <a:latin typeface="Montserrat"/>
              <a:ea typeface="Montserrat"/>
              <a:cs typeface="Montserrat"/>
              <a:sym typeface="Montserrat"/>
            </a:endParaRPr>
          </a:p>
        </p:txBody>
      </p:sp>
      <p:sp>
        <p:nvSpPr>
          <p:cNvPr id="114" name="Google Shape;114;p10"/>
          <p:cNvSpPr txBox="1"/>
          <p:nvPr/>
        </p:nvSpPr>
        <p:spPr>
          <a:xfrm>
            <a:off x="2671525" y="1652750"/>
            <a:ext cx="1196700" cy="40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D966"/>
                </a:solidFill>
                <a:latin typeface="Montserrat"/>
                <a:ea typeface="Montserrat"/>
                <a:cs typeface="Montserrat"/>
                <a:sym typeface="Montserrat"/>
              </a:rPr>
              <a:t>Nombre</a:t>
            </a:r>
            <a:endParaRPr b="0" i="0" sz="1800" u="none" cap="none" strike="noStrike">
              <a:solidFill>
                <a:srgbClr val="FFD966"/>
              </a:solidFill>
              <a:latin typeface="Montserrat"/>
              <a:ea typeface="Montserrat"/>
              <a:cs typeface="Montserrat"/>
              <a:sym typeface="Montserrat"/>
            </a:endParaRPr>
          </a:p>
        </p:txBody>
      </p:sp>
      <p:sp>
        <p:nvSpPr>
          <p:cNvPr id="115" name="Google Shape;115;p10"/>
          <p:cNvSpPr txBox="1"/>
          <p:nvPr/>
        </p:nvSpPr>
        <p:spPr>
          <a:xfrm>
            <a:off x="4345575" y="1674200"/>
            <a:ext cx="1488900" cy="44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D966"/>
                </a:solidFill>
                <a:latin typeface="Montserrat"/>
                <a:ea typeface="Montserrat"/>
                <a:cs typeface="Montserrat"/>
                <a:sym typeface="Montserrat"/>
              </a:rPr>
              <a:t>Parámetro</a:t>
            </a:r>
            <a:endParaRPr b="0" i="0" sz="1800" u="none" cap="none" strike="noStrike">
              <a:solidFill>
                <a:srgbClr val="FFD966"/>
              </a:solidFill>
              <a:latin typeface="Montserrat"/>
              <a:ea typeface="Montserrat"/>
              <a:cs typeface="Montserrat"/>
              <a:sym typeface="Montserrat"/>
            </a:endParaRPr>
          </a:p>
        </p:txBody>
      </p:sp>
      <p:sp>
        <p:nvSpPr>
          <p:cNvPr id="116" name="Google Shape;116;p10"/>
          <p:cNvSpPr txBox="1"/>
          <p:nvPr/>
        </p:nvSpPr>
        <p:spPr>
          <a:xfrm>
            <a:off x="6311825" y="1674200"/>
            <a:ext cx="25719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D966"/>
                </a:solidFill>
                <a:latin typeface="Montserrat"/>
                <a:ea typeface="Montserrat"/>
                <a:cs typeface="Montserrat"/>
                <a:sym typeface="Montserrat"/>
              </a:rPr>
              <a:t>Parámetro opcional</a:t>
            </a:r>
            <a:endParaRPr b="0" i="0" sz="1800" u="none" cap="none" strike="noStrike">
              <a:solidFill>
                <a:srgbClr val="FFD966"/>
              </a:solidFill>
              <a:latin typeface="Montserrat"/>
              <a:ea typeface="Montserrat"/>
              <a:cs typeface="Montserrat"/>
              <a:sym typeface="Montserrat"/>
            </a:endParaRPr>
          </a:p>
        </p:txBody>
      </p:sp>
      <p:cxnSp>
        <p:nvCxnSpPr>
          <p:cNvPr id="117" name="Google Shape;117;p10"/>
          <p:cNvCxnSpPr/>
          <p:nvPr/>
        </p:nvCxnSpPr>
        <p:spPr>
          <a:xfrm>
            <a:off x="491550" y="2080200"/>
            <a:ext cx="263700" cy="349200"/>
          </a:xfrm>
          <a:prstGeom prst="straightConnector1">
            <a:avLst/>
          </a:prstGeom>
          <a:noFill/>
          <a:ln cap="flat" cmpd="sng" w="28575">
            <a:solidFill>
              <a:srgbClr val="FFD966"/>
            </a:solidFill>
            <a:prstDash val="solid"/>
            <a:round/>
            <a:headEnd len="sm" w="sm" type="none"/>
            <a:tailEnd len="med" w="med" type="stealth"/>
          </a:ln>
        </p:spPr>
      </p:cxnSp>
      <p:sp>
        <p:nvSpPr>
          <p:cNvPr id="118" name="Google Shape;118;p10"/>
          <p:cNvSpPr/>
          <p:nvPr/>
        </p:nvSpPr>
        <p:spPr>
          <a:xfrm>
            <a:off x="434550" y="2108700"/>
            <a:ext cx="634050" cy="1339300"/>
          </a:xfrm>
          <a:custGeom>
            <a:rect b="b" l="l" r="r" t="t"/>
            <a:pathLst>
              <a:path extrusionOk="0" h="53572" w="25362">
                <a:moveTo>
                  <a:pt x="0" y="0"/>
                </a:moveTo>
                <a:cubicBezTo>
                  <a:pt x="3125" y="9376"/>
                  <a:pt x="3652" y="19528"/>
                  <a:pt x="7124" y="28781"/>
                </a:cubicBezTo>
                <a:cubicBezTo>
                  <a:pt x="10728" y="38386"/>
                  <a:pt x="18108" y="46318"/>
                  <a:pt x="25362" y="53572"/>
                </a:cubicBezTo>
              </a:path>
            </a:pathLst>
          </a:custGeom>
          <a:noFill/>
          <a:ln cap="flat" cmpd="sng" w="2857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 name="Google Shape;119;p10"/>
          <p:cNvCxnSpPr/>
          <p:nvPr/>
        </p:nvCxnSpPr>
        <p:spPr>
          <a:xfrm rot="5400000">
            <a:off x="7284200" y="2169225"/>
            <a:ext cx="285000" cy="35700"/>
          </a:xfrm>
          <a:prstGeom prst="curvedConnector3">
            <a:avLst>
              <a:gd fmla="val 50000" name="adj1"/>
            </a:avLst>
          </a:prstGeom>
          <a:noFill/>
          <a:ln cap="flat" cmpd="sng" w="28575">
            <a:solidFill>
              <a:srgbClr val="FFD966"/>
            </a:solidFill>
            <a:prstDash val="solid"/>
            <a:round/>
            <a:headEnd len="sm" w="sm" type="none"/>
            <a:tailEnd len="med" w="med" type="stealth"/>
          </a:ln>
        </p:spPr>
      </p:cxnSp>
      <p:cxnSp>
        <p:nvCxnSpPr>
          <p:cNvPr id="120" name="Google Shape;120;p10"/>
          <p:cNvCxnSpPr>
            <a:stCxn id="114" idx="2"/>
          </p:cNvCxnSpPr>
          <p:nvPr/>
        </p:nvCxnSpPr>
        <p:spPr>
          <a:xfrm flipH="1">
            <a:off x="3077575" y="2058950"/>
            <a:ext cx="192300" cy="277800"/>
          </a:xfrm>
          <a:prstGeom prst="straightConnector1">
            <a:avLst/>
          </a:prstGeom>
          <a:noFill/>
          <a:ln cap="flat" cmpd="sng" w="28575">
            <a:solidFill>
              <a:srgbClr val="FFD966"/>
            </a:solidFill>
            <a:prstDash val="solid"/>
            <a:round/>
            <a:headEnd len="sm" w="sm" type="none"/>
            <a:tailEnd len="med" w="med" type="stealth"/>
          </a:ln>
        </p:spPr>
      </p:cxnSp>
      <p:cxnSp>
        <p:nvCxnSpPr>
          <p:cNvPr id="121" name="Google Shape;121;p10"/>
          <p:cNvCxnSpPr/>
          <p:nvPr/>
        </p:nvCxnSpPr>
        <p:spPr>
          <a:xfrm>
            <a:off x="5221875" y="2065950"/>
            <a:ext cx="498900" cy="235200"/>
          </a:xfrm>
          <a:prstGeom prst="straightConnector1">
            <a:avLst/>
          </a:prstGeom>
          <a:noFill/>
          <a:ln cap="flat" cmpd="sng" w="28575">
            <a:solidFill>
              <a:srgbClr val="FFD966"/>
            </a:solidFill>
            <a:prstDash val="solid"/>
            <a:round/>
            <a:headEnd len="sm" w="sm" type="none"/>
            <a:tailEnd len="med" w="med" type="stealth"/>
          </a:ln>
        </p:spPr>
      </p:cxnSp>
      <p:sp>
        <p:nvSpPr>
          <p:cNvPr id="122" name="Google Shape;122;p10"/>
          <p:cNvSpPr/>
          <p:nvPr/>
        </p:nvSpPr>
        <p:spPr>
          <a:xfrm>
            <a:off x="2122950" y="3348250"/>
            <a:ext cx="641150" cy="805025"/>
          </a:xfrm>
          <a:custGeom>
            <a:rect b="b" l="l" r="r" t="t"/>
            <a:pathLst>
              <a:path extrusionOk="0" h="32201" w="25646">
                <a:moveTo>
                  <a:pt x="25646" y="32201"/>
                </a:moveTo>
                <a:cubicBezTo>
                  <a:pt x="18269" y="30357"/>
                  <a:pt x="10078" y="28001"/>
                  <a:pt x="5129" y="22227"/>
                </a:cubicBezTo>
                <a:cubicBezTo>
                  <a:pt x="181" y="16454"/>
                  <a:pt x="0" y="7604"/>
                  <a:pt x="0" y="0"/>
                </a:cubicBezTo>
              </a:path>
            </a:pathLst>
          </a:cu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p:nvPr/>
        </p:nvSpPr>
        <p:spPr>
          <a:xfrm>
            <a:off x="3704450" y="3512125"/>
            <a:ext cx="1453300" cy="498675"/>
          </a:xfrm>
          <a:custGeom>
            <a:rect b="b" l="l" r="r" t="t"/>
            <a:pathLst>
              <a:path extrusionOk="0" h="19947" w="58132">
                <a:moveTo>
                  <a:pt x="58132" y="19947"/>
                </a:moveTo>
                <a:cubicBezTo>
                  <a:pt x="41743" y="7655"/>
                  <a:pt x="20486" y="0"/>
                  <a:pt x="0" y="0"/>
                </a:cubicBezTo>
              </a:path>
            </a:pathLst>
          </a:custGeom>
          <a:noFill/>
          <a:ln cap="flat" cmpd="sng" w="2857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0"/>
          <p:cNvSpPr/>
          <p:nvPr/>
        </p:nvSpPr>
        <p:spPr>
          <a:xfrm>
            <a:off x="4317125" y="2856700"/>
            <a:ext cx="3868300" cy="619800"/>
          </a:xfrm>
          <a:custGeom>
            <a:rect b="b" l="l" r="r" t="t"/>
            <a:pathLst>
              <a:path extrusionOk="0" h="24792" w="154732">
                <a:moveTo>
                  <a:pt x="154732" y="24792"/>
                </a:moveTo>
                <a:cubicBezTo>
                  <a:pt x="154732" y="4943"/>
                  <a:pt x="120439" y="0"/>
                  <a:pt x="100590" y="0"/>
                </a:cubicBezTo>
                <a:cubicBezTo>
                  <a:pt x="67060" y="0"/>
                  <a:pt x="33530" y="0"/>
                  <a:pt x="0" y="0"/>
                </a:cubicBezTo>
              </a:path>
            </a:pathLst>
          </a:custGeom>
          <a:noFill/>
          <a:ln cap="flat" cmpd="sng" w="2857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46d58b6afc_3_0"/>
          <p:cNvSpPr txBox="1"/>
          <p:nvPr>
            <p:ph idx="1" type="subTitle"/>
          </p:nvPr>
        </p:nvSpPr>
        <p:spPr>
          <a:xfrm>
            <a:off x="311700" y="790750"/>
            <a:ext cx="8520600" cy="38760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Componentes de una función:</a:t>
            </a:r>
            <a:endParaRPr b="1" sz="3200"/>
          </a:p>
          <a:p>
            <a:pPr indent="0" lvl="0" marL="0" rtl="0" algn="ctr">
              <a:lnSpc>
                <a:spcPct val="90000"/>
              </a:lnSpc>
              <a:spcBef>
                <a:spcPts val="0"/>
              </a:spcBef>
              <a:spcAft>
                <a:spcPts val="0"/>
              </a:spcAft>
              <a:buSzPts val="2800"/>
              <a:buNone/>
            </a:pPr>
            <a:r>
              <a:t/>
            </a:r>
            <a:endParaRPr b="1" sz="3200"/>
          </a:p>
          <a:p>
            <a:pPr indent="0" lvl="0" marL="0" rtl="0" algn="ctr">
              <a:lnSpc>
                <a:spcPct val="90000"/>
              </a:lnSpc>
              <a:spcBef>
                <a:spcPts val="0"/>
              </a:spcBef>
              <a:spcAft>
                <a:spcPts val="0"/>
              </a:spcAft>
              <a:buSzPts val="2800"/>
              <a:buNone/>
            </a:pPr>
            <a:r>
              <a:t/>
            </a:r>
            <a:endParaRPr b="1" sz="3200"/>
          </a:p>
          <a:p>
            <a:pPr indent="0" lvl="0" marL="0" rtl="0" algn="just">
              <a:lnSpc>
                <a:spcPct val="90000"/>
              </a:lnSpc>
              <a:spcBef>
                <a:spcPts val="0"/>
              </a:spcBef>
              <a:spcAft>
                <a:spcPts val="0"/>
              </a:spcAft>
              <a:buSzPts val="2800"/>
              <a:buNone/>
            </a:pPr>
            <a:r>
              <a:t/>
            </a:r>
            <a:endParaRPr sz="2400">
              <a:solidFill>
                <a:srgbClr val="00FFFF"/>
              </a:solidFill>
            </a:endParaRPr>
          </a:p>
          <a:p>
            <a:pPr indent="0" lvl="0" marL="0" rtl="0" algn="just">
              <a:lnSpc>
                <a:spcPct val="90000"/>
              </a:lnSpc>
              <a:spcBef>
                <a:spcPts val="0"/>
              </a:spcBef>
              <a:spcAft>
                <a:spcPts val="0"/>
              </a:spcAft>
              <a:buSzPts val="2800"/>
              <a:buNone/>
            </a:pPr>
            <a:r>
              <a:t/>
            </a:r>
            <a:endParaRPr sz="2400">
              <a:solidFill>
                <a:srgbClr val="00FFFF"/>
              </a:solidFill>
            </a:endParaRPr>
          </a:p>
          <a:p>
            <a:pPr indent="0" lvl="0" marL="0" rtl="0" algn="just">
              <a:lnSpc>
                <a:spcPct val="90000"/>
              </a:lnSpc>
              <a:spcBef>
                <a:spcPts val="0"/>
              </a:spcBef>
              <a:spcAft>
                <a:spcPts val="0"/>
              </a:spcAft>
              <a:buSzPts val="2800"/>
              <a:buNone/>
            </a:pPr>
            <a:r>
              <a:t/>
            </a:r>
            <a:endParaRPr sz="2400">
              <a:solidFill>
                <a:srgbClr val="00FFFF"/>
              </a:solidFill>
            </a:endParaRPr>
          </a:p>
          <a:p>
            <a:pPr indent="0" lvl="0" marL="0" rtl="0" algn="just">
              <a:lnSpc>
                <a:spcPct val="90000"/>
              </a:lnSpc>
              <a:spcBef>
                <a:spcPts val="0"/>
              </a:spcBef>
              <a:spcAft>
                <a:spcPts val="0"/>
              </a:spcAft>
              <a:buSzPts val="2800"/>
              <a:buNone/>
            </a:pPr>
            <a:r>
              <a:t/>
            </a:r>
            <a:endParaRPr sz="2400">
              <a:solidFill>
                <a:srgbClr val="00FFFF"/>
              </a:solidFill>
            </a:endParaRPr>
          </a:p>
          <a:p>
            <a:pPr indent="0" lvl="0" marL="0" rtl="0" algn="just">
              <a:lnSpc>
                <a:spcPct val="90000"/>
              </a:lnSpc>
              <a:spcBef>
                <a:spcPts val="0"/>
              </a:spcBef>
              <a:spcAft>
                <a:spcPts val="0"/>
              </a:spcAft>
              <a:buSzPts val="2800"/>
              <a:buNone/>
            </a:pPr>
            <a:r>
              <a:t/>
            </a:r>
            <a:endParaRPr sz="2400">
              <a:solidFill>
                <a:srgbClr val="00FFFF"/>
              </a:solidFill>
            </a:endParaRPr>
          </a:p>
          <a:p>
            <a:pPr indent="0" lvl="0" marL="0" rtl="0" algn="just">
              <a:lnSpc>
                <a:spcPct val="90000"/>
              </a:lnSpc>
              <a:spcBef>
                <a:spcPts val="0"/>
              </a:spcBef>
              <a:spcAft>
                <a:spcPts val="0"/>
              </a:spcAft>
              <a:buSzPts val="2800"/>
              <a:buNone/>
            </a:pPr>
            <a:r>
              <a:t/>
            </a:r>
            <a:endParaRPr sz="2400"/>
          </a:p>
        </p:txBody>
      </p:sp>
      <p:sp>
        <p:nvSpPr>
          <p:cNvPr id="130" name="Google Shape;130;g346d58b6afc_3_0"/>
          <p:cNvSpPr txBox="1"/>
          <p:nvPr/>
        </p:nvSpPr>
        <p:spPr>
          <a:xfrm>
            <a:off x="7069075" y="2728175"/>
            <a:ext cx="2400900" cy="107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500" u="none" cap="none" strike="noStrike">
                <a:solidFill>
                  <a:srgbClr val="FFD966"/>
                </a:solidFill>
                <a:latin typeface="Montserrat"/>
                <a:ea typeface="Montserrat"/>
                <a:cs typeface="Montserrat"/>
                <a:sym typeface="Montserrat"/>
              </a:rPr>
              <a:t>Documentación</a:t>
            </a:r>
            <a:endParaRPr b="0" i="0" sz="1500" u="none" cap="none" strike="noStrike">
              <a:solidFill>
                <a:srgbClr val="FFD966"/>
              </a:solidFill>
              <a:latin typeface="Montserrat"/>
              <a:ea typeface="Montserrat"/>
              <a:cs typeface="Montserrat"/>
              <a:sym typeface="Montserrat"/>
            </a:endParaRPr>
          </a:p>
        </p:txBody>
      </p:sp>
      <p:sp>
        <p:nvSpPr>
          <p:cNvPr id="131" name="Google Shape;131;g346d58b6afc_3_0"/>
          <p:cNvSpPr txBox="1"/>
          <p:nvPr/>
        </p:nvSpPr>
        <p:spPr>
          <a:xfrm>
            <a:off x="521375" y="4141975"/>
            <a:ext cx="3995100" cy="64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500" u="none" cap="none" strike="noStrike">
                <a:solidFill>
                  <a:srgbClr val="FFD966"/>
                </a:solidFill>
                <a:latin typeface="Montserrat"/>
                <a:ea typeface="Montserrat"/>
                <a:cs typeface="Montserrat"/>
                <a:sym typeface="Montserrat"/>
              </a:rPr>
              <a:t>Variable local</a:t>
            </a:r>
            <a:endParaRPr b="0" i="0" sz="1500" u="none" cap="none" strike="noStrike">
              <a:solidFill>
                <a:srgbClr val="FFD966"/>
              </a:solidFill>
              <a:latin typeface="Montserrat"/>
              <a:ea typeface="Montserrat"/>
              <a:cs typeface="Montserrat"/>
              <a:sym typeface="Montserrat"/>
            </a:endParaRPr>
          </a:p>
        </p:txBody>
      </p:sp>
      <p:sp>
        <p:nvSpPr>
          <p:cNvPr id="132" name="Google Shape;132;g346d58b6afc_3_0"/>
          <p:cNvSpPr txBox="1"/>
          <p:nvPr/>
        </p:nvSpPr>
        <p:spPr>
          <a:xfrm>
            <a:off x="3388700" y="4018025"/>
            <a:ext cx="4895100" cy="76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500" u="none" cap="none" strike="noStrike">
                <a:solidFill>
                  <a:srgbClr val="FFD966"/>
                </a:solidFill>
                <a:latin typeface="Montserrat"/>
                <a:ea typeface="Montserrat"/>
                <a:cs typeface="Montserrat"/>
                <a:sym typeface="Montserrat"/>
              </a:rPr>
              <a:t>Valor del retorno</a:t>
            </a:r>
            <a:endParaRPr b="0" i="0" sz="1500" u="none" cap="none" strike="noStrike">
              <a:solidFill>
                <a:srgbClr val="FFD966"/>
              </a:solidFill>
              <a:latin typeface="Montserrat"/>
              <a:ea typeface="Montserrat"/>
              <a:cs typeface="Montserrat"/>
              <a:sym typeface="Montserrat"/>
            </a:endParaRPr>
          </a:p>
        </p:txBody>
      </p:sp>
      <p:sp>
        <p:nvSpPr>
          <p:cNvPr id="133" name="Google Shape;133;g346d58b6afc_3_0"/>
          <p:cNvSpPr txBox="1"/>
          <p:nvPr/>
        </p:nvSpPr>
        <p:spPr>
          <a:xfrm>
            <a:off x="43750" y="1550225"/>
            <a:ext cx="24009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500" u="none" cap="none" strike="noStrike">
                <a:solidFill>
                  <a:srgbClr val="FFD966"/>
                </a:solidFill>
                <a:latin typeface="Montserrat"/>
                <a:ea typeface="Montserrat"/>
                <a:cs typeface="Montserrat"/>
                <a:sym typeface="Montserrat"/>
              </a:rPr>
              <a:t>Palabra reservada</a:t>
            </a:r>
            <a:endParaRPr b="0" i="0" sz="1500" u="none" cap="none" strike="noStrike">
              <a:solidFill>
                <a:srgbClr val="FFD966"/>
              </a:solidFill>
              <a:latin typeface="Montserrat"/>
              <a:ea typeface="Montserrat"/>
              <a:cs typeface="Montserrat"/>
              <a:sym typeface="Montserrat"/>
            </a:endParaRPr>
          </a:p>
        </p:txBody>
      </p:sp>
      <p:sp>
        <p:nvSpPr>
          <p:cNvPr id="134" name="Google Shape;134;g346d58b6afc_3_0"/>
          <p:cNvSpPr txBox="1"/>
          <p:nvPr/>
        </p:nvSpPr>
        <p:spPr>
          <a:xfrm>
            <a:off x="2671525" y="1501525"/>
            <a:ext cx="11967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500" u="none" cap="none" strike="noStrike">
                <a:solidFill>
                  <a:srgbClr val="FFD966"/>
                </a:solidFill>
                <a:latin typeface="Montserrat"/>
                <a:ea typeface="Montserrat"/>
                <a:cs typeface="Montserrat"/>
                <a:sym typeface="Montserrat"/>
              </a:rPr>
              <a:t>Nombre</a:t>
            </a:r>
            <a:endParaRPr b="0" i="0" sz="1500" u="none" cap="none" strike="noStrike">
              <a:solidFill>
                <a:srgbClr val="FFD966"/>
              </a:solidFill>
              <a:latin typeface="Montserrat"/>
              <a:ea typeface="Montserrat"/>
              <a:cs typeface="Montserrat"/>
              <a:sym typeface="Montserrat"/>
            </a:endParaRPr>
          </a:p>
        </p:txBody>
      </p:sp>
      <p:sp>
        <p:nvSpPr>
          <p:cNvPr id="135" name="Google Shape;135;g346d58b6afc_3_0"/>
          <p:cNvSpPr txBox="1"/>
          <p:nvPr/>
        </p:nvSpPr>
        <p:spPr>
          <a:xfrm>
            <a:off x="4345575" y="1514650"/>
            <a:ext cx="1488900" cy="76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500" u="none" cap="none" strike="noStrike">
                <a:solidFill>
                  <a:srgbClr val="FFD966"/>
                </a:solidFill>
                <a:latin typeface="Montserrat"/>
                <a:ea typeface="Montserrat"/>
                <a:cs typeface="Montserrat"/>
                <a:sym typeface="Montserrat"/>
              </a:rPr>
              <a:t>Parámetro</a:t>
            </a:r>
            <a:endParaRPr b="0" i="0" sz="1500" u="none" cap="none" strike="noStrike">
              <a:solidFill>
                <a:srgbClr val="FFD966"/>
              </a:solidFill>
              <a:latin typeface="Montserrat"/>
              <a:ea typeface="Montserrat"/>
              <a:cs typeface="Montserrat"/>
              <a:sym typeface="Montserrat"/>
            </a:endParaRPr>
          </a:p>
        </p:txBody>
      </p:sp>
      <p:sp>
        <p:nvSpPr>
          <p:cNvPr id="136" name="Google Shape;136;g346d58b6afc_3_0"/>
          <p:cNvSpPr txBox="1"/>
          <p:nvPr/>
        </p:nvSpPr>
        <p:spPr>
          <a:xfrm>
            <a:off x="6311825" y="1521500"/>
            <a:ext cx="2571900" cy="64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500" u="none" cap="none" strike="noStrike">
                <a:solidFill>
                  <a:srgbClr val="FFD966"/>
                </a:solidFill>
                <a:latin typeface="Montserrat"/>
                <a:ea typeface="Montserrat"/>
                <a:cs typeface="Montserrat"/>
                <a:sym typeface="Montserrat"/>
              </a:rPr>
              <a:t>Parámetro opcional</a:t>
            </a:r>
            <a:endParaRPr b="0" i="0" sz="1500" u="none" cap="none" strike="noStrike">
              <a:solidFill>
                <a:srgbClr val="FFD966"/>
              </a:solidFill>
              <a:latin typeface="Montserrat"/>
              <a:ea typeface="Montserrat"/>
              <a:cs typeface="Montserrat"/>
              <a:sym typeface="Montserrat"/>
            </a:endParaRPr>
          </a:p>
        </p:txBody>
      </p:sp>
      <p:pic>
        <p:nvPicPr>
          <p:cNvPr id="137" name="Google Shape;137;g346d58b6afc_3_0" title="Captura de pantalla 2025-03-29 a la(s) 7.50.00 p. m..png"/>
          <p:cNvPicPr preferRelativeResize="0"/>
          <p:nvPr/>
        </p:nvPicPr>
        <p:blipFill>
          <a:blip r:embed="rId3">
            <a:alphaModFix/>
          </a:blip>
          <a:stretch>
            <a:fillRect/>
          </a:stretch>
        </p:blipFill>
        <p:spPr>
          <a:xfrm>
            <a:off x="738488" y="2190812"/>
            <a:ext cx="6222714" cy="1802300"/>
          </a:xfrm>
          <a:prstGeom prst="rect">
            <a:avLst/>
          </a:prstGeom>
          <a:noFill/>
          <a:ln>
            <a:noFill/>
          </a:ln>
        </p:spPr>
      </p:pic>
      <p:cxnSp>
        <p:nvCxnSpPr>
          <p:cNvPr id="138" name="Google Shape;138;g346d58b6afc_3_0"/>
          <p:cNvCxnSpPr/>
          <p:nvPr/>
        </p:nvCxnSpPr>
        <p:spPr>
          <a:xfrm>
            <a:off x="784625" y="1841600"/>
            <a:ext cx="263700" cy="349200"/>
          </a:xfrm>
          <a:prstGeom prst="straightConnector1">
            <a:avLst/>
          </a:prstGeom>
          <a:noFill/>
          <a:ln cap="flat" cmpd="sng" w="28575">
            <a:solidFill>
              <a:srgbClr val="FFD966"/>
            </a:solidFill>
            <a:prstDash val="solid"/>
            <a:round/>
            <a:headEnd len="sm" w="sm" type="none"/>
            <a:tailEnd len="med" w="med" type="stealth"/>
          </a:ln>
        </p:spPr>
      </p:cxnSp>
      <p:cxnSp>
        <p:nvCxnSpPr>
          <p:cNvPr id="139" name="Google Shape;139;g346d58b6afc_3_0"/>
          <p:cNvCxnSpPr/>
          <p:nvPr/>
        </p:nvCxnSpPr>
        <p:spPr>
          <a:xfrm>
            <a:off x="3091200" y="1790150"/>
            <a:ext cx="10500" cy="366300"/>
          </a:xfrm>
          <a:prstGeom prst="straightConnector1">
            <a:avLst/>
          </a:prstGeom>
          <a:noFill/>
          <a:ln cap="flat" cmpd="sng" w="28575">
            <a:solidFill>
              <a:srgbClr val="FFD966"/>
            </a:solidFill>
            <a:prstDash val="solid"/>
            <a:round/>
            <a:headEnd len="sm" w="sm" type="none"/>
            <a:tailEnd len="med" w="med" type="stealth"/>
          </a:ln>
        </p:spPr>
      </p:cxnSp>
      <p:cxnSp>
        <p:nvCxnSpPr>
          <p:cNvPr id="140" name="Google Shape;140;g346d58b6afc_3_0"/>
          <p:cNvCxnSpPr/>
          <p:nvPr/>
        </p:nvCxnSpPr>
        <p:spPr>
          <a:xfrm>
            <a:off x="4861650" y="1833050"/>
            <a:ext cx="10500" cy="366300"/>
          </a:xfrm>
          <a:prstGeom prst="straightConnector1">
            <a:avLst/>
          </a:prstGeom>
          <a:noFill/>
          <a:ln cap="flat" cmpd="sng" w="28575">
            <a:solidFill>
              <a:srgbClr val="FFD966"/>
            </a:solidFill>
            <a:prstDash val="solid"/>
            <a:round/>
            <a:headEnd len="sm" w="sm" type="none"/>
            <a:tailEnd len="med" w="med" type="stealth"/>
          </a:ln>
        </p:spPr>
      </p:cxnSp>
      <p:cxnSp>
        <p:nvCxnSpPr>
          <p:cNvPr id="141" name="Google Shape;141;g346d58b6afc_3_0"/>
          <p:cNvCxnSpPr/>
          <p:nvPr/>
        </p:nvCxnSpPr>
        <p:spPr>
          <a:xfrm flipH="1">
            <a:off x="6401075" y="1799575"/>
            <a:ext cx="353100" cy="410100"/>
          </a:xfrm>
          <a:prstGeom prst="straightConnector1">
            <a:avLst/>
          </a:prstGeom>
          <a:noFill/>
          <a:ln cap="flat" cmpd="sng" w="28575">
            <a:solidFill>
              <a:srgbClr val="FFD966"/>
            </a:solidFill>
            <a:prstDash val="solid"/>
            <a:round/>
            <a:headEnd len="sm" w="sm" type="none"/>
            <a:tailEnd len="med" w="med" type="stealth"/>
          </a:ln>
        </p:spPr>
      </p:cxnSp>
      <p:cxnSp>
        <p:nvCxnSpPr>
          <p:cNvPr id="142" name="Google Shape;142;g346d58b6afc_3_0"/>
          <p:cNvCxnSpPr/>
          <p:nvPr/>
        </p:nvCxnSpPr>
        <p:spPr>
          <a:xfrm flipH="1">
            <a:off x="2964575" y="2927225"/>
            <a:ext cx="4116300" cy="16200"/>
          </a:xfrm>
          <a:prstGeom prst="straightConnector1">
            <a:avLst/>
          </a:prstGeom>
          <a:noFill/>
          <a:ln cap="flat" cmpd="sng" w="28575">
            <a:solidFill>
              <a:srgbClr val="FFD966"/>
            </a:solidFill>
            <a:prstDash val="solid"/>
            <a:round/>
            <a:headEnd len="sm" w="sm" type="none"/>
            <a:tailEnd len="med" w="med" type="stealth"/>
          </a:ln>
        </p:spPr>
      </p:cxnSp>
      <p:cxnSp>
        <p:nvCxnSpPr>
          <p:cNvPr id="143" name="Google Shape;143;g346d58b6afc_3_0"/>
          <p:cNvCxnSpPr/>
          <p:nvPr/>
        </p:nvCxnSpPr>
        <p:spPr>
          <a:xfrm flipH="1" rot="10800000">
            <a:off x="806150" y="3552125"/>
            <a:ext cx="520500" cy="657900"/>
          </a:xfrm>
          <a:prstGeom prst="straightConnector1">
            <a:avLst/>
          </a:prstGeom>
          <a:noFill/>
          <a:ln cap="flat" cmpd="sng" w="28575">
            <a:solidFill>
              <a:srgbClr val="FFD966"/>
            </a:solidFill>
            <a:prstDash val="solid"/>
            <a:round/>
            <a:headEnd len="sm" w="sm" type="none"/>
            <a:tailEnd len="med" w="med" type="stealth"/>
          </a:ln>
        </p:spPr>
      </p:cxnSp>
      <p:cxnSp>
        <p:nvCxnSpPr>
          <p:cNvPr id="144" name="Google Shape;144;g346d58b6afc_3_0"/>
          <p:cNvCxnSpPr/>
          <p:nvPr/>
        </p:nvCxnSpPr>
        <p:spPr>
          <a:xfrm rot="10800000">
            <a:off x="3172775" y="3916375"/>
            <a:ext cx="500700" cy="176700"/>
          </a:xfrm>
          <a:prstGeom prst="straightConnector1">
            <a:avLst/>
          </a:prstGeom>
          <a:noFill/>
          <a:ln cap="flat" cmpd="sng" w="28575">
            <a:solidFill>
              <a:srgbClr val="FFD966"/>
            </a:solidFill>
            <a:prstDash val="solid"/>
            <a:round/>
            <a:headEnd len="sm" w="sm" type="none"/>
            <a:tailEnd len="med" w="med" type="stealth"/>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idx="1" type="subTitle"/>
          </p:nvPr>
        </p:nvSpPr>
        <p:spPr>
          <a:xfrm>
            <a:off x="311700" y="940375"/>
            <a:ext cx="8520600" cy="1090500"/>
          </a:xfrm>
          <a:prstGeom prst="rect">
            <a:avLst/>
          </a:prstGeom>
          <a:noFill/>
          <a:ln>
            <a:noFill/>
          </a:ln>
        </p:spPr>
        <p:txBody>
          <a:bodyPr anchorCtr="0" anchor="ctr" bIns="91425" lIns="91425" spcFirstLastPara="1" rIns="91425" wrap="square" tIns="91425">
            <a:normAutofit lnSpcReduction="20000"/>
          </a:bodyPr>
          <a:lstStyle/>
          <a:p>
            <a:pPr indent="0" lvl="0" marL="0" rtl="0" algn="ctr">
              <a:lnSpc>
                <a:spcPct val="90000"/>
              </a:lnSpc>
              <a:spcBef>
                <a:spcPts val="0"/>
              </a:spcBef>
              <a:spcAft>
                <a:spcPts val="0"/>
              </a:spcAft>
              <a:buSzPts val="2800"/>
              <a:buNone/>
            </a:pPr>
            <a:r>
              <a:rPr b="1" lang="es-419" sz="3200"/>
              <a:t>Desarrollo e invocación</a:t>
            </a:r>
            <a:endParaRPr b="1" sz="3200"/>
          </a:p>
          <a:p>
            <a:pPr indent="0" lvl="0" marL="0" rtl="0" algn="ctr">
              <a:lnSpc>
                <a:spcPct val="90000"/>
              </a:lnSpc>
              <a:spcBef>
                <a:spcPts val="0"/>
              </a:spcBef>
              <a:spcAft>
                <a:spcPts val="0"/>
              </a:spcAft>
              <a:buSzPts val="2800"/>
              <a:buNone/>
            </a:pPr>
            <a:r>
              <a:t/>
            </a:r>
            <a:endParaRPr b="1" sz="3200"/>
          </a:p>
          <a:p>
            <a:pPr indent="0" lvl="0" marL="0" rtl="0" algn="just">
              <a:lnSpc>
                <a:spcPct val="90000"/>
              </a:lnSpc>
              <a:spcBef>
                <a:spcPts val="0"/>
              </a:spcBef>
              <a:spcAft>
                <a:spcPts val="0"/>
              </a:spcAft>
              <a:buClr>
                <a:schemeClr val="dk1"/>
              </a:buClr>
              <a:buSzPts val="1100"/>
              <a:buFont typeface="Arial"/>
              <a:buNone/>
            </a:pPr>
            <a:r>
              <a:t/>
            </a:r>
            <a:endParaRPr sz="2000">
              <a:solidFill>
                <a:srgbClr val="FF9900"/>
              </a:solidFill>
            </a:endParaRPr>
          </a:p>
        </p:txBody>
      </p:sp>
      <p:sp>
        <p:nvSpPr>
          <p:cNvPr id="150" name="Google Shape;150;p11"/>
          <p:cNvSpPr txBox="1"/>
          <p:nvPr/>
        </p:nvSpPr>
        <p:spPr>
          <a:xfrm>
            <a:off x="7522900" y="2236925"/>
            <a:ext cx="1453500" cy="78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E599"/>
                </a:solidFill>
                <a:latin typeface="Encode Sans"/>
                <a:ea typeface="Encode Sans"/>
                <a:cs typeface="Encode Sans"/>
                <a:sym typeface="Encode Sans"/>
              </a:rPr>
              <a:t>Definición y desarrollo </a:t>
            </a:r>
            <a:endParaRPr b="0" i="0" sz="1800" u="none" cap="none" strike="noStrike">
              <a:solidFill>
                <a:srgbClr val="FFE599"/>
              </a:solidFill>
              <a:latin typeface="Encode Sans"/>
              <a:ea typeface="Encode Sans"/>
              <a:cs typeface="Encode Sans"/>
              <a:sym typeface="Encode Sans"/>
            </a:endParaRPr>
          </a:p>
        </p:txBody>
      </p:sp>
      <p:sp>
        <p:nvSpPr>
          <p:cNvPr id="151" name="Google Shape;151;p11"/>
          <p:cNvSpPr txBox="1"/>
          <p:nvPr/>
        </p:nvSpPr>
        <p:spPr>
          <a:xfrm>
            <a:off x="7487275" y="3584225"/>
            <a:ext cx="1453500" cy="69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419" sz="1800" u="none" cap="none" strike="noStrike">
                <a:solidFill>
                  <a:srgbClr val="FFE599"/>
                </a:solidFill>
                <a:latin typeface="Encode Sans"/>
                <a:ea typeface="Encode Sans"/>
                <a:cs typeface="Encode Sans"/>
                <a:sym typeface="Encode Sans"/>
              </a:rPr>
              <a:t>Invocación o llamada</a:t>
            </a:r>
            <a:endParaRPr b="0" i="0" sz="1800" u="none" cap="none" strike="noStrike">
              <a:solidFill>
                <a:srgbClr val="FFE599"/>
              </a:solidFill>
              <a:latin typeface="Encode Sans"/>
              <a:ea typeface="Encode Sans"/>
              <a:cs typeface="Encode Sans"/>
              <a:sym typeface="Encode Sans"/>
            </a:endParaRPr>
          </a:p>
        </p:txBody>
      </p:sp>
      <p:cxnSp>
        <p:nvCxnSpPr>
          <p:cNvPr id="152" name="Google Shape;152;p11"/>
          <p:cNvCxnSpPr/>
          <p:nvPr/>
        </p:nvCxnSpPr>
        <p:spPr>
          <a:xfrm flipH="1">
            <a:off x="6743500" y="2628725"/>
            <a:ext cx="779400" cy="1200"/>
          </a:xfrm>
          <a:prstGeom prst="straightConnector1">
            <a:avLst/>
          </a:prstGeom>
          <a:noFill/>
          <a:ln cap="flat" cmpd="sng" w="28575">
            <a:solidFill>
              <a:srgbClr val="FFE599"/>
            </a:solidFill>
            <a:prstDash val="solid"/>
            <a:round/>
            <a:headEnd len="sm" w="sm" type="none"/>
            <a:tailEnd len="med" w="med" type="stealth"/>
          </a:ln>
        </p:spPr>
      </p:cxnSp>
      <p:cxnSp>
        <p:nvCxnSpPr>
          <p:cNvPr id="153" name="Google Shape;153;p11"/>
          <p:cNvCxnSpPr>
            <a:stCxn id="151" idx="1"/>
          </p:cNvCxnSpPr>
          <p:nvPr/>
        </p:nvCxnSpPr>
        <p:spPr>
          <a:xfrm rot="10800000">
            <a:off x="6632275" y="3927725"/>
            <a:ext cx="855000" cy="3600"/>
          </a:xfrm>
          <a:prstGeom prst="straightConnector1">
            <a:avLst/>
          </a:prstGeom>
          <a:noFill/>
          <a:ln cap="flat" cmpd="sng" w="28575">
            <a:solidFill>
              <a:srgbClr val="FFD966"/>
            </a:solidFill>
            <a:prstDash val="solid"/>
            <a:round/>
            <a:headEnd len="sm" w="sm" type="none"/>
            <a:tailEnd len="med" w="med" type="stealth"/>
          </a:ln>
        </p:spPr>
      </p:cxnSp>
      <p:pic>
        <p:nvPicPr>
          <p:cNvPr id="154" name="Google Shape;154;p11" title="Captura de pantalla 2025-03-29 a la(s) 7.36.46 p. m..png"/>
          <p:cNvPicPr preferRelativeResize="0"/>
          <p:nvPr/>
        </p:nvPicPr>
        <p:blipFill>
          <a:blip r:embed="rId3">
            <a:alphaModFix/>
          </a:blip>
          <a:stretch>
            <a:fillRect/>
          </a:stretch>
        </p:blipFill>
        <p:spPr>
          <a:xfrm>
            <a:off x="311700" y="3378425"/>
            <a:ext cx="6073051" cy="900000"/>
          </a:xfrm>
          <a:prstGeom prst="rect">
            <a:avLst/>
          </a:prstGeom>
          <a:noFill/>
          <a:ln>
            <a:noFill/>
          </a:ln>
        </p:spPr>
      </p:pic>
      <p:pic>
        <p:nvPicPr>
          <p:cNvPr id="155" name="Google Shape;155;p11"/>
          <p:cNvPicPr preferRelativeResize="0"/>
          <p:nvPr/>
        </p:nvPicPr>
        <p:blipFill>
          <a:blip r:embed="rId4">
            <a:alphaModFix/>
          </a:blip>
          <a:stretch>
            <a:fillRect/>
          </a:stretch>
        </p:blipFill>
        <p:spPr>
          <a:xfrm>
            <a:off x="311700" y="1873774"/>
            <a:ext cx="6241776" cy="1197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idx="1" type="subTitle"/>
          </p:nvPr>
        </p:nvSpPr>
        <p:spPr>
          <a:xfrm>
            <a:off x="311700" y="940375"/>
            <a:ext cx="8520600" cy="35691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Palabras reservadas: </a:t>
            </a:r>
            <a:r>
              <a:rPr b="1" lang="es-419" sz="3200">
                <a:solidFill>
                  <a:srgbClr val="00FFFF"/>
                </a:solidFill>
              </a:rPr>
              <a:t>def</a:t>
            </a:r>
            <a:r>
              <a:rPr b="1" lang="es-419" sz="3200">
                <a:solidFill>
                  <a:srgbClr val="FF00FF"/>
                </a:solidFill>
              </a:rPr>
              <a:t> </a:t>
            </a:r>
            <a:r>
              <a:rPr b="1" lang="es-419" sz="3200"/>
              <a:t>y </a:t>
            </a:r>
            <a:r>
              <a:rPr b="1" lang="es-419" sz="3200">
                <a:solidFill>
                  <a:srgbClr val="00FFFF"/>
                </a:solidFill>
              </a:rPr>
              <a:t>return</a:t>
            </a:r>
            <a:endParaRPr b="1" sz="3200">
              <a:solidFill>
                <a:srgbClr val="00FFFF"/>
              </a:solidFill>
            </a:endParaRPr>
          </a:p>
          <a:p>
            <a:pPr indent="0" lvl="0" marL="0" rtl="0" algn="l">
              <a:lnSpc>
                <a:spcPct val="90000"/>
              </a:lnSpc>
              <a:spcBef>
                <a:spcPts val="0"/>
              </a:spcBef>
              <a:spcAft>
                <a:spcPts val="0"/>
              </a:spcAft>
              <a:buSzPts val="2800"/>
              <a:buNone/>
            </a:pPr>
            <a:r>
              <a:t/>
            </a:r>
            <a:endParaRPr sz="2500"/>
          </a:p>
          <a:p>
            <a:pPr indent="0" lvl="0" marL="0" rtl="0" algn="just">
              <a:lnSpc>
                <a:spcPct val="90000"/>
              </a:lnSpc>
              <a:spcBef>
                <a:spcPts val="0"/>
              </a:spcBef>
              <a:spcAft>
                <a:spcPts val="0"/>
              </a:spcAft>
              <a:buSzPts val="2800"/>
              <a:buNone/>
            </a:pPr>
            <a:r>
              <a:rPr lang="es-419" sz="2200"/>
              <a:t>El uso de </a:t>
            </a:r>
            <a:r>
              <a:rPr lang="es-419" sz="2200">
                <a:solidFill>
                  <a:srgbClr val="00FFFF"/>
                </a:solidFill>
              </a:rPr>
              <a:t>def</a:t>
            </a:r>
            <a:r>
              <a:rPr lang="es-419" sz="2200"/>
              <a:t> nos permite crear una función.</a:t>
            </a:r>
            <a:endParaRPr sz="2200"/>
          </a:p>
          <a:p>
            <a:pPr indent="0" lvl="0" marL="0" rtl="0" algn="just">
              <a:lnSpc>
                <a:spcPct val="90000"/>
              </a:lnSpc>
              <a:spcBef>
                <a:spcPts val="0"/>
              </a:spcBef>
              <a:spcAft>
                <a:spcPts val="0"/>
              </a:spcAft>
              <a:buSzPts val="2800"/>
              <a:buNone/>
            </a:pPr>
            <a:r>
              <a:rPr lang="es-419" sz="2200"/>
              <a:t>Podemos utilizar </a:t>
            </a:r>
            <a:r>
              <a:rPr lang="es-419" sz="2200">
                <a:solidFill>
                  <a:srgbClr val="00FFFF"/>
                </a:solidFill>
              </a:rPr>
              <a:t>return</a:t>
            </a:r>
            <a:r>
              <a:rPr lang="es-419" sz="2200"/>
              <a:t> para devolver un valor.</a:t>
            </a:r>
            <a:endParaRPr sz="2200"/>
          </a:p>
          <a:p>
            <a:pPr indent="0" lvl="0" marL="0" rtl="0" algn="just">
              <a:lnSpc>
                <a:spcPct val="90000"/>
              </a:lnSpc>
              <a:spcBef>
                <a:spcPts val="0"/>
              </a:spcBef>
              <a:spcAft>
                <a:spcPts val="0"/>
              </a:spcAft>
              <a:buSzPts val="2800"/>
              <a:buNone/>
            </a:pPr>
            <a:r>
              <a:t/>
            </a:r>
            <a:endParaRPr sz="2200"/>
          </a:p>
          <a:p>
            <a:pPr indent="0" lvl="0" marL="0" rtl="0" algn="just">
              <a:lnSpc>
                <a:spcPct val="90000"/>
              </a:lnSpc>
              <a:spcBef>
                <a:spcPts val="0"/>
              </a:spcBef>
              <a:spcAft>
                <a:spcPts val="0"/>
              </a:spcAft>
              <a:buSzPts val="2800"/>
              <a:buNone/>
            </a:pPr>
            <a:r>
              <a:t/>
            </a:r>
            <a:endParaRPr sz="2200">
              <a:solidFill>
                <a:srgbClr val="FF9900"/>
              </a:solidFill>
            </a:endParaRPr>
          </a:p>
          <a:p>
            <a:pPr indent="0" lvl="0" marL="0" rtl="0" algn="just">
              <a:lnSpc>
                <a:spcPct val="90000"/>
              </a:lnSpc>
              <a:spcBef>
                <a:spcPts val="0"/>
              </a:spcBef>
              <a:spcAft>
                <a:spcPts val="0"/>
              </a:spcAft>
              <a:buSzPts val="2800"/>
              <a:buNone/>
            </a:pPr>
            <a:r>
              <a:t/>
            </a:r>
            <a:endParaRPr sz="2200">
              <a:solidFill>
                <a:srgbClr val="FF9900"/>
              </a:solidFill>
            </a:endParaRPr>
          </a:p>
          <a:p>
            <a:pPr indent="0" lvl="0" marL="0" rtl="0" algn="just">
              <a:lnSpc>
                <a:spcPct val="90000"/>
              </a:lnSpc>
              <a:spcBef>
                <a:spcPts val="0"/>
              </a:spcBef>
              <a:spcAft>
                <a:spcPts val="0"/>
              </a:spcAft>
              <a:buSzPts val="2800"/>
              <a:buNone/>
            </a:pPr>
            <a:r>
              <a:t/>
            </a:r>
            <a:endParaRPr sz="2200">
              <a:solidFill>
                <a:srgbClr val="FF9900"/>
              </a:solidFill>
            </a:endParaRPr>
          </a:p>
          <a:p>
            <a:pPr indent="0" lvl="0" marL="0" rtl="0" algn="just">
              <a:lnSpc>
                <a:spcPct val="90000"/>
              </a:lnSpc>
              <a:spcBef>
                <a:spcPts val="0"/>
              </a:spcBef>
              <a:spcAft>
                <a:spcPts val="0"/>
              </a:spcAft>
              <a:buSzPts val="2800"/>
              <a:buNone/>
            </a:pPr>
            <a:r>
              <a:t/>
            </a:r>
            <a:endParaRPr sz="2200">
              <a:solidFill>
                <a:srgbClr val="FF9900"/>
              </a:solidFill>
            </a:endParaRPr>
          </a:p>
          <a:p>
            <a:pPr indent="0" lvl="0" marL="0" rtl="0" algn="just">
              <a:lnSpc>
                <a:spcPct val="90000"/>
              </a:lnSpc>
              <a:spcBef>
                <a:spcPts val="0"/>
              </a:spcBef>
              <a:spcAft>
                <a:spcPts val="0"/>
              </a:spcAft>
              <a:buSzPts val="2800"/>
              <a:buNone/>
            </a:pPr>
            <a:r>
              <a:t/>
            </a:r>
            <a:endParaRPr sz="2200">
              <a:solidFill>
                <a:srgbClr val="FF9900"/>
              </a:solidFill>
            </a:endParaRPr>
          </a:p>
        </p:txBody>
      </p:sp>
      <p:pic>
        <p:nvPicPr>
          <p:cNvPr id="161" name="Google Shape;161;p12" title="Captura de pantalla 2025-03-29 a la(s) 5.38.24 p. m..png"/>
          <p:cNvPicPr preferRelativeResize="0"/>
          <p:nvPr/>
        </p:nvPicPr>
        <p:blipFill>
          <a:blip r:embed="rId3">
            <a:alphaModFix/>
          </a:blip>
          <a:stretch>
            <a:fillRect/>
          </a:stretch>
        </p:blipFill>
        <p:spPr>
          <a:xfrm>
            <a:off x="1227675" y="2571750"/>
            <a:ext cx="7028775" cy="1937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txBox="1"/>
          <p:nvPr>
            <p:ph idx="1" type="subTitle"/>
          </p:nvPr>
        </p:nvSpPr>
        <p:spPr>
          <a:xfrm>
            <a:off x="311700" y="975975"/>
            <a:ext cx="8520600" cy="36909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Nombre</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just">
              <a:lnSpc>
                <a:spcPct val="90000"/>
              </a:lnSpc>
              <a:spcBef>
                <a:spcPts val="0"/>
              </a:spcBef>
              <a:spcAft>
                <a:spcPts val="0"/>
              </a:spcAft>
              <a:buSzPts val="2800"/>
              <a:buNone/>
            </a:pPr>
            <a:r>
              <a:rPr lang="es-419" sz="2200"/>
              <a:t>Las funciones y las variables se deberán escribir en formato </a:t>
            </a:r>
            <a:r>
              <a:rPr b="1" lang="es-419" sz="2200">
                <a:solidFill>
                  <a:srgbClr val="FFD966"/>
                </a:solidFill>
              </a:rPr>
              <a:t>snake_case</a:t>
            </a:r>
            <a:r>
              <a:rPr lang="es-419" sz="2200"/>
              <a:t>.</a:t>
            </a:r>
            <a:endParaRPr sz="2200"/>
          </a:p>
          <a:p>
            <a:pPr indent="0" lvl="0" marL="0" rtl="0" algn="just">
              <a:lnSpc>
                <a:spcPct val="90000"/>
              </a:lnSpc>
              <a:spcBef>
                <a:spcPts val="0"/>
              </a:spcBef>
              <a:spcAft>
                <a:spcPts val="0"/>
              </a:spcAft>
              <a:buSzPts val="2800"/>
              <a:buNone/>
            </a:pPr>
            <a:r>
              <a:rPr lang="es-419" sz="2200"/>
              <a:t>Las palabras separadas entre sí por barra baja (underscore) en vez de espacios y las letras en minúscula.</a:t>
            </a:r>
            <a:endParaRPr sz="2200"/>
          </a:p>
          <a:p>
            <a:pPr indent="0" lvl="0" marL="0" rtl="0" algn="just">
              <a:lnSpc>
                <a:spcPct val="90000"/>
              </a:lnSpc>
              <a:spcBef>
                <a:spcPts val="0"/>
              </a:spcBef>
              <a:spcAft>
                <a:spcPts val="0"/>
              </a:spcAft>
              <a:buSzPts val="2800"/>
              <a:buNone/>
            </a:pPr>
            <a:r>
              <a:rPr lang="es-419" sz="2200"/>
              <a:t>Las funciones representan una acción, por lo tanto, el nombre debe contener un verbo.</a:t>
            </a:r>
            <a:endParaRPr sz="2200"/>
          </a:p>
          <a:p>
            <a:pPr indent="0" lvl="0" marL="0" rtl="0" algn="just">
              <a:lnSpc>
                <a:spcPct val="90000"/>
              </a:lnSpc>
              <a:spcBef>
                <a:spcPts val="0"/>
              </a:spcBef>
              <a:spcAft>
                <a:spcPts val="0"/>
              </a:spcAft>
              <a:buSzPts val="2800"/>
              <a:buNone/>
            </a:pPr>
            <a:r>
              <a:t/>
            </a:r>
            <a:endParaRPr sz="2200"/>
          </a:p>
          <a:p>
            <a:pPr indent="0" lvl="0" marL="0" rtl="0" algn="ctr">
              <a:lnSpc>
                <a:spcPct val="90000"/>
              </a:lnSpc>
              <a:spcBef>
                <a:spcPts val="0"/>
              </a:spcBef>
              <a:spcAft>
                <a:spcPts val="0"/>
              </a:spcAft>
              <a:buSzPts val="2800"/>
              <a:buNone/>
            </a:pPr>
            <a:r>
              <a:rPr b="1" lang="es-419" sz="2200">
                <a:solidFill>
                  <a:srgbClr val="FFFFFF"/>
                </a:solidFill>
              </a:rPr>
              <a:t>calcular_precio_con_iva()</a:t>
            </a:r>
            <a:endParaRPr b="1" sz="2200">
              <a:solidFill>
                <a:srgbClr val="FFFFFF"/>
              </a:solidFill>
            </a:endParaRPr>
          </a:p>
          <a:p>
            <a:pPr indent="0" lvl="0" marL="0" rtl="0" algn="just">
              <a:lnSpc>
                <a:spcPct val="90000"/>
              </a:lnSpc>
              <a:spcBef>
                <a:spcPts val="0"/>
              </a:spcBef>
              <a:spcAft>
                <a:spcPts val="0"/>
              </a:spcAft>
              <a:buSzPts val="2800"/>
              <a:buNone/>
            </a:pPr>
            <a:r>
              <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4"/>
          <p:cNvSpPr txBox="1"/>
          <p:nvPr>
            <p:ph idx="1" type="subTitle"/>
          </p:nvPr>
        </p:nvSpPr>
        <p:spPr>
          <a:xfrm>
            <a:off x="311700" y="997350"/>
            <a:ext cx="8520600" cy="3669300"/>
          </a:xfrm>
          <a:prstGeom prst="rect">
            <a:avLst/>
          </a:prstGeom>
          <a:noFill/>
          <a:ln>
            <a:noFill/>
          </a:ln>
        </p:spPr>
        <p:txBody>
          <a:bodyPr anchorCtr="0" anchor="ctr" bIns="91425" lIns="91425" spcFirstLastPara="1" rIns="91425" wrap="square" tIns="91425">
            <a:normAutofit lnSpcReduction="10000"/>
          </a:bodyPr>
          <a:lstStyle/>
          <a:p>
            <a:pPr indent="0" lvl="0" marL="0" rtl="0" algn="ctr">
              <a:lnSpc>
                <a:spcPct val="90000"/>
              </a:lnSpc>
              <a:spcBef>
                <a:spcPts val="0"/>
              </a:spcBef>
              <a:spcAft>
                <a:spcPts val="0"/>
              </a:spcAft>
              <a:buSzPts val="2800"/>
              <a:buNone/>
            </a:pPr>
            <a:r>
              <a:rPr b="1" lang="es-419" sz="3200"/>
              <a:t>Tipos de parámetros</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l">
              <a:lnSpc>
                <a:spcPct val="90000"/>
              </a:lnSpc>
              <a:spcBef>
                <a:spcPts val="0"/>
              </a:spcBef>
              <a:spcAft>
                <a:spcPts val="0"/>
              </a:spcAft>
              <a:buSzPts val="2800"/>
              <a:buNone/>
            </a:pPr>
            <a:r>
              <a:rPr b="1" lang="es-419" sz="2200" u="sng"/>
              <a:t>Parámetros Formales</a:t>
            </a:r>
            <a:r>
              <a:rPr lang="es-419" sz="2200"/>
              <a:t>: son variables</a:t>
            </a:r>
            <a:endParaRPr sz="2200"/>
          </a:p>
          <a:p>
            <a:pPr indent="0" lvl="0" marL="0" rtl="0" algn="l">
              <a:lnSpc>
                <a:spcPct val="90000"/>
              </a:lnSpc>
              <a:spcBef>
                <a:spcPts val="0"/>
              </a:spcBef>
              <a:spcAft>
                <a:spcPts val="0"/>
              </a:spcAft>
              <a:buSzPts val="2800"/>
              <a:buNone/>
            </a:pPr>
            <a:r>
              <a:rPr lang="es-419" sz="2200"/>
              <a:t>locales declaradas en la definición</a:t>
            </a:r>
            <a:endParaRPr sz="2200"/>
          </a:p>
          <a:p>
            <a:pPr indent="0" lvl="0" marL="0" rtl="0" algn="l">
              <a:lnSpc>
                <a:spcPct val="90000"/>
              </a:lnSpc>
              <a:spcBef>
                <a:spcPts val="0"/>
              </a:spcBef>
              <a:spcAft>
                <a:spcPts val="0"/>
              </a:spcAft>
              <a:buSzPts val="2800"/>
              <a:buNone/>
            </a:pPr>
            <a:r>
              <a:rPr lang="es-419" sz="2200"/>
              <a:t>de la función, que se utilizarán para</a:t>
            </a:r>
            <a:endParaRPr sz="2200"/>
          </a:p>
          <a:p>
            <a:pPr indent="0" lvl="0" marL="0" rtl="0" algn="l">
              <a:lnSpc>
                <a:spcPct val="90000"/>
              </a:lnSpc>
              <a:spcBef>
                <a:spcPts val="0"/>
              </a:spcBef>
              <a:spcAft>
                <a:spcPts val="0"/>
              </a:spcAft>
              <a:buSzPts val="2800"/>
              <a:buNone/>
            </a:pPr>
            <a:r>
              <a:rPr lang="es-419" sz="2200"/>
              <a:t>recibir datos con los que va a operar</a:t>
            </a:r>
            <a:endParaRPr sz="2200"/>
          </a:p>
          <a:p>
            <a:pPr indent="0" lvl="0" marL="0" rtl="0" algn="l">
              <a:lnSpc>
                <a:spcPct val="90000"/>
              </a:lnSpc>
              <a:spcBef>
                <a:spcPts val="0"/>
              </a:spcBef>
              <a:spcAft>
                <a:spcPts val="0"/>
              </a:spcAft>
              <a:buSzPts val="2800"/>
              <a:buNone/>
            </a:pPr>
            <a:r>
              <a:rPr lang="es-419" sz="2200"/>
              <a:t>la misma.</a:t>
            </a:r>
            <a:endParaRPr sz="2200"/>
          </a:p>
          <a:p>
            <a:pPr indent="0" lvl="0" marL="0" rtl="0" algn="l">
              <a:lnSpc>
                <a:spcPct val="90000"/>
              </a:lnSpc>
              <a:spcBef>
                <a:spcPts val="0"/>
              </a:spcBef>
              <a:spcAft>
                <a:spcPts val="0"/>
              </a:spcAft>
              <a:buSzPts val="2800"/>
              <a:buNone/>
            </a:pPr>
            <a:r>
              <a:t/>
            </a:r>
            <a:endParaRPr sz="2200"/>
          </a:p>
          <a:p>
            <a:pPr indent="0" lvl="0" marL="0" rtl="0" algn="l">
              <a:lnSpc>
                <a:spcPct val="90000"/>
              </a:lnSpc>
              <a:spcBef>
                <a:spcPts val="0"/>
              </a:spcBef>
              <a:spcAft>
                <a:spcPts val="0"/>
              </a:spcAft>
              <a:buSzPts val="2800"/>
              <a:buNone/>
            </a:pPr>
            <a:r>
              <a:rPr b="1" lang="es-419" sz="2200" u="sng"/>
              <a:t>Parámetros Actuales</a:t>
            </a:r>
            <a:r>
              <a:rPr lang="es-419" sz="2200"/>
              <a:t>: son las </a:t>
            </a:r>
            <a:endParaRPr sz="2200"/>
          </a:p>
          <a:p>
            <a:pPr indent="0" lvl="0" marL="0" rtl="0" algn="l">
              <a:lnSpc>
                <a:spcPct val="90000"/>
              </a:lnSpc>
              <a:spcBef>
                <a:spcPts val="0"/>
              </a:spcBef>
              <a:spcAft>
                <a:spcPts val="0"/>
              </a:spcAft>
              <a:buSzPts val="2800"/>
              <a:buNone/>
            </a:pPr>
            <a:r>
              <a:rPr lang="es-419" sz="2200"/>
              <a:t>variables o datos que recibe la </a:t>
            </a:r>
            <a:endParaRPr sz="2200"/>
          </a:p>
          <a:p>
            <a:pPr indent="0" lvl="0" marL="0" rtl="0" algn="l">
              <a:lnSpc>
                <a:spcPct val="90000"/>
              </a:lnSpc>
              <a:spcBef>
                <a:spcPts val="0"/>
              </a:spcBef>
              <a:spcAft>
                <a:spcPts val="0"/>
              </a:spcAft>
              <a:buSzPts val="2800"/>
              <a:buNone/>
            </a:pPr>
            <a:r>
              <a:rPr lang="es-419" sz="2200"/>
              <a:t>función al momento de ser invocada.</a:t>
            </a:r>
            <a:endParaRPr sz="2200"/>
          </a:p>
          <a:p>
            <a:pPr indent="0" lvl="0" marL="0" rtl="0" algn="just">
              <a:lnSpc>
                <a:spcPct val="90000"/>
              </a:lnSpc>
              <a:spcBef>
                <a:spcPts val="0"/>
              </a:spcBef>
              <a:spcAft>
                <a:spcPts val="0"/>
              </a:spcAft>
              <a:buSzPts val="2800"/>
              <a:buNone/>
            </a:pPr>
            <a:r>
              <a:t/>
            </a:r>
            <a:endParaRPr sz="2200"/>
          </a:p>
        </p:txBody>
      </p:sp>
      <p:pic>
        <p:nvPicPr>
          <p:cNvPr id="172" name="Google Shape;172;p14"/>
          <p:cNvPicPr preferRelativeResize="0"/>
          <p:nvPr/>
        </p:nvPicPr>
        <p:blipFill rotWithShape="1">
          <a:blip r:embed="rId3">
            <a:alphaModFix/>
          </a:blip>
          <a:srcRect b="0" l="0" r="0" t="24196"/>
          <a:stretch/>
        </p:blipFill>
        <p:spPr>
          <a:xfrm>
            <a:off x="5686100" y="1873600"/>
            <a:ext cx="3408751" cy="2359901"/>
          </a:xfrm>
          <a:prstGeom prst="rect">
            <a:avLst/>
          </a:prstGeom>
          <a:noFill/>
          <a:ln cap="flat" cmpd="sng" w="28575">
            <a:solidFill>
              <a:srgbClr val="FF9900"/>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ph idx="1" type="subTitle"/>
          </p:nvPr>
        </p:nvSpPr>
        <p:spPr>
          <a:xfrm>
            <a:off x="311700" y="919000"/>
            <a:ext cx="8520600" cy="3747600"/>
          </a:xfrm>
          <a:prstGeom prst="rect">
            <a:avLst/>
          </a:prstGeom>
          <a:noFill/>
          <a:ln>
            <a:noFill/>
          </a:ln>
        </p:spPr>
        <p:txBody>
          <a:bodyPr anchorCtr="0" anchor="ctr" bIns="91425" lIns="91425" spcFirstLastPara="1" rIns="91425" wrap="square" tIns="91425">
            <a:normAutofit lnSpcReduction="10000"/>
          </a:bodyPr>
          <a:lstStyle/>
          <a:p>
            <a:pPr indent="0" lvl="0" marL="0" rtl="0" algn="ctr">
              <a:lnSpc>
                <a:spcPct val="90000"/>
              </a:lnSpc>
              <a:spcBef>
                <a:spcPts val="0"/>
              </a:spcBef>
              <a:spcAft>
                <a:spcPts val="0"/>
              </a:spcAft>
              <a:buSzPts val="2800"/>
              <a:buNone/>
            </a:pPr>
            <a:r>
              <a:rPr b="1" lang="es-419" sz="3200"/>
              <a:t>Parámetros por posición</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just">
              <a:lnSpc>
                <a:spcPct val="90000"/>
              </a:lnSpc>
              <a:spcBef>
                <a:spcPts val="0"/>
              </a:spcBef>
              <a:spcAft>
                <a:spcPts val="0"/>
              </a:spcAft>
              <a:buSzPts val="2800"/>
              <a:buNone/>
            </a:pPr>
            <a:r>
              <a:rPr lang="es-419" sz="2200"/>
              <a:t>La forma más intuitiva de trabajar con parámetros es pasandolos respetando la posición.</a:t>
            </a:r>
            <a:endParaRPr sz="2200"/>
          </a:p>
          <a:p>
            <a:pPr indent="0" lvl="0" marL="0" rtl="0" algn="just">
              <a:lnSpc>
                <a:spcPct val="90000"/>
              </a:lnSpc>
              <a:spcBef>
                <a:spcPts val="0"/>
              </a:spcBef>
              <a:spcAft>
                <a:spcPts val="0"/>
              </a:spcAft>
              <a:buSzPts val="2800"/>
              <a:buNone/>
            </a:pPr>
            <a:r>
              <a:t/>
            </a:r>
            <a:endParaRPr sz="2200"/>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p:txBody>
      </p:sp>
      <p:pic>
        <p:nvPicPr>
          <p:cNvPr id="178" name="Google Shape;178;p15" title="Captura de pantalla 2025-03-29 a la(s) 5.36.33 p. m..png"/>
          <p:cNvPicPr preferRelativeResize="0"/>
          <p:nvPr/>
        </p:nvPicPr>
        <p:blipFill>
          <a:blip r:embed="rId3">
            <a:alphaModFix/>
          </a:blip>
          <a:stretch>
            <a:fillRect/>
          </a:stretch>
        </p:blipFill>
        <p:spPr>
          <a:xfrm>
            <a:off x="818863" y="2392450"/>
            <a:ext cx="7506276" cy="2183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idx="1" type="subTitle"/>
          </p:nvPr>
        </p:nvSpPr>
        <p:spPr>
          <a:xfrm>
            <a:off x="311700" y="919000"/>
            <a:ext cx="8520600" cy="37476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Parámetros por nombre</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just">
              <a:lnSpc>
                <a:spcPct val="90000"/>
              </a:lnSpc>
              <a:spcBef>
                <a:spcPts val="0"/>
              </a:spcBef>
              <a:spcAft>
                <a:spcPts val="0"/>
              </a:spcAft>
              <a:buSzPts val="2800"/>
              <a:buNone/>
            </a:pPr>
            <a:r>
              <a:rPr lang="es-419" sz="2200"/>
              <a:t>Otra forma de pasar parámetros a una función es asignando valores a las variables utilizando sus nombres.</a:t>
            </a:r>
            <a:endParaRPr sz="2200"/>
          </a:p>
          <a:p>
            <a:pPr indent="0" lvl="0" marL="0" rtl="0" algn="just">
              <a:lnSpc>
                <a:spcPct val="90000"/>
              </a:lnSpc>
              <a:spcBef>
                <a:spcPts val="0"/>
              </a:spcBef>
              <a:spcAft>
                <a:spcPts val="0"/>
              </a:spcAft>
              <a:buSzPts val="2800"/>
              <a:buNone/>
            </a:pPr>
            <a:r>
              <a:t/>
            </a:r>
            <a:endParaRPr sz="2200"/>
          </a:p>
          <a:p>
            <a:pPr indent="0" lvl="0" marL="0" rtl="0" algn="just">
              <a:lnSpc>
                <a:spcPct val="90000"/>
              </a:lnSpc>
              <a:spcBef>
                <a:spcPts val="0"/>
              </a:spcBef>
              <a:spcAft>
                <a:spcPts val="0"/>
              </a:spcAft>
              <a:buSzPts val="2800"/>
              <a:buNone/>
            </a:pPr>
            <a:r>
              <a:rPr lang="es-419" sz="2200">
                <a:solidFill>
                  <a:srgbClr val="00FFFF"/>
                </a:solidFill>
              </a:rPr>
              <a:t>def</a:t>
            </a:r>
            <a:r>
              <a:rPr lang="es-419" sz="2200"/>
              <a:t> </a:t>
            </a:r>
            <a:r>
              <a:rPr b="1" lang="es-419" sz="2200"/>
              <a:t>restar</a:t>
            </a:r>
            <a:r>
              <a:rPr lang="es-419" sz="2200"/>
              <a:t>(numero_a, numero_b):</a:t>
            </a:r>
            <a:endParaRPr sz="2200"/>
          </a:p>
          <a:p>
            <a:pPr indent="0" lvl="0" marL="0" rtl="0" algn="just">
              <a:lnSpc>
                <a:spcPct val="90000"/>
              </a:lnSpc>
              <a:spcBef>
                <a:spcPts val="0"/>
              </a:spcBef>
              <a:spcAft>
                <a:spcPts val="0"/>
              </a:spcAft>
              <a:buSzPts val="2800"/>
              <a:buNone/>
            </a:pPr>
            <a:r>
              <a:rPr lang="es-419" sz="2200"/>
              <a:t>	diferencia = numero_a - numero_b</a:t>
            </a:r>
            <a:endParaRPr sz="2200"/>
          </a:p>
          <a:p>
            <a:pPr indent="0" lvl="0" marL="0" rtl="0" algn="just">
              <a:lnSpc>
                <a:spcPct val="90000"/>
              </a:lnSpc>
              <a:spcBef>
                <a:spcPts val="0"/>
              </a:spcBef>
              <a:spcAft>
                <a:spcPts val="0"/>
              </a:spcAft>
              <a:buSzPts val="2800"/>
              <a:buNone/>
            </a:pPr>
            <a:r>
              <a:rPr lang="es-419" sz="2200"/>
              <a:t>	</a:t>
            </a:r>
            <a:r>
              <a:rPr lang="es-419" sz="2200">
                <a:solidFill>
                  <a:srgbClr val="00FFFF"/>
                </a:solidFill>
              </a:rPr>
              <a:t>return</a:t>
            </a:r>
            <a:r>
              <a:rPr lang="es-419" sz="2200"/>
              <a:t> </a:t>
            </a:r>
            <a:r>
              <a:rPr lang="es-419" sz="2200">
                <a:solidFill>
                  <a:schemeClr val="lt1"/>
                </a:solidFill>
              </a:rPr>
              <a:t>diferencia </a:t>
            </a:r>
            <a:endParaRPr sz="2200"/>
          </a:p>
          <a:p>
            <a:pPr indent="0" lvl="0" marL="0" rtl="0" algn="l">
              <a:lnSpc>
                <a:spcPct val="90000"/>
              </a:lnSpc>
              <a:spcBef>
                <a:spcPts val="0"/>
              </a:spcBef>
              <a:spcAft>
                <a:spcPts val="0"/>
              </a:spcAft>
              <a:buSzPts val="2800"/>
              <a:buNone/>
            </a:pPr>
            <a:r>
              <a:t/>
            </a:r>
            <a:endParaRPr sz="2200"/>
          </a:p>
          <a:p>
            <a:pPr indent="0" lvl="0" marL="0" rtl="0" algn="l">
              <a:lnSpc>
                <a:spcPct val="90000"/>
              </a:lnSpc>
              <a:spcBef>
                <a:spcPts val="0"/>
              </a:spcBef>
              <a:spcAft>
                <a:spcPts val="0"/>
              </a:spcAft>
              <a:buSzPts val="2800"/>
              <a:buNone/>
            </a:pPr>
            <a:r>
              <a:rPr lang="es-419" sz="2200"/>
              <a:t>print(</a:t>
            </a:r>
            <a:r>
              <a:rPr b="1" lang="es-419" sz="2200"/>
              <a:t>restar</a:t>
            </a:r>
            <a:r>
              <a:rPr lang="es-419" sz="2200"/>
              <a:t>(numero_b = </a:t>
            </a:r>
            <a:r>
              <a:rPr lang="es-419" sz="2200">
                <a:solidFill>
                  <a:srgbClr val="B6D7A8"/>
                </a:solidFill>
              </a:rPr>
              <a:t>5</a:t>
            </a:r>
            <a:r>
              <a:rPr lang="es-419" sz="2200"/>
              <a:t>, numero_a = </a:t>
            </a:r>
            <a:r>
              <a:rPr lang="es-419" sz="2200">
                <a:solidFill>
                  <a:srgbClr val="B6D7A8"/>
                </a:solidFill>
              </a:rPr>
              <a:t>15</a:t>
            </a:r>
            <a:r>
              <a:rPr lang="es-419" sz="2200"/>
              <a:t>)) </a:t>
            </a:r>
            <a:r>
              <a:rPr lang="es-419" sz="2200">
                <a:solidFill>
                  <a:srgbClr val="FF9900"/>
                </a:solidFill>
              </a:rPr>
              <a:t># 10</a:t>
            </a:r>
            <a:endParaRPr sz="2200">
              <a:solidFill>
                <a:srgbClr val="FF9900"/>
              </a:solidFill>
            </a:endParaRPr>
          </a:p>
          <a:p>
            <a:pPr indent="0" lvl="0" marL="0" rtl="0" algn="just">
              <a:lnSpc>
                <a:spcPct val="90000"/>
              </a:lnSpc>
              <a:spcBef>
                <a:spcPts val="0"/>
              </a:spcBef>
              <a:spcAft>
                <a:spcPts val="0"/>
              </a:spcAft>
              <a:buSzPts val="2800"/>
              <a:buNone/>
            </a:pPr>
            <a:r>
              <a:t/>
            </a:r>
            <a:endParaRPr sz="2200"/>
          </a:p>
        </p:txBody>
      </p:sp>
      <p:pic>
        <p:nvPicPr>
          <p:cNvPr id="184" name="Google Shape;184;p16" title="Captura de pantalla 2025-03-29 a la(s) 5.34.12 p. m..png"/>
          <p:cNvPicPr preferRelativeResize="0"/>
          <p:nvPr/>
        </p:nvPicPr>
        <p:blipFill>
          <a:blip r:embed="rId3">
            <a:alphaModFix/>
          </a:blip>
          <a:stretch>
            <a:fillRect/>
          </a:stretch>
        </p:blipFill>
        <p:spPr>
          <a:xfrm>
            <a:off x="414000" y="2571750"/>
            <a:ext cx="7918024" cy="1933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7"/>
          <p:cNvSpPr txBox="1"/>
          <p:nvPr>
            <p:ph idx="1" type="subTitle"/>
          </p:nvPr>
        </p:nvSpPr>
        <p:spPr>
          <a:xfrm>
            <a:off x="311700" y="1018725"/>
            <a:ext cx="8520600" cy="38112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Parámetros opcionales</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just">
              <a:lnSpc>
                <a:spcPct val="90000"/>
              </a:lnSpc>
              <a:spcBef>
                <a:spcPts val="0"/>
              </a:spcBef>
              <a:spcAft>
                <a:spcPts val="0"/>
              </a:spcAft>
              <a:buSzPts val="2800"/>
              <a:buNone/>
            </a:pPr>
            <a:r>
              <a:rPr lang="es-419" sz="2200"/>
              <a:t>Python permite trabajar con parámetros opcionales o por defecto, estos deben ir siempre después de los obligatorios. </a:t>
            </a:r>
            <a:endParaRPr sz="2200"/>
          </a:p>
          <a:p>
            <a:pPr indent="0" lvl="0" marL="0" rtl="0" algn="just">
              <a:lnSpc>
                <a:spcPct val="90000"/>
              </a:lnSpc>
              <a:spcBef>
                <a:spcPts val="0"/>
              </a:spcBef>
              <a:spcAft>
                <a:spcPts val="0"/>
              </a:spcAft>
              <a:buSzPts val="2800"/>
              <a:buNone/>
            </a:pPr>
            <a:r>
              <a:t/>
            </a:r>
            <a:endParaRPr sz="2200"/>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a:p>
            <a:pPr indent="0" lvl="0" marL="0" rtl="0" algn="just">
              <a:lnSpc>
                <a:spcPct val="90000"/>
              </a:lnSpc>
              <a:spcBef>
                <a:spcPts val="0"/>
              </a:spcBef>
              <a:spcAft>
                <a:spcPts val="0"/>
              </a:spcAft>
              <a:buSzPts val="2800"/>
              <a:buNone/>
            </a:pPr>
            <a:r>
              <a:t/>
            </a:r>
            <a:endParaRPr sz="2200">
              <a:solidFill>
                <a:srgbClr val="00FFFF"/>
              </a:solidFill>
            </a:endParaRPr>
          </a:p>
        </p:txBody>
      </p:sp>
      <p:pic>
        <p:nvPicPr>
          <p:cNvPr id="190" name="Google Shape;190;p17" title="Captura de pantalla 2025-03-29 a la(s) 5.31.54 p. m..png"/>
          <p:cNvPicPr preferRelativeResize="0"/>
          <p:nvPr/>
        </p:nvPicPr>
        <p:blipFill>
          <a:blip r:embed="rId3">
            <a:alphaModFix/>
          </a:blip>
          <a:stretch>
            <a:fillRect/>
          </a:stretch>
        </p:blipFill>
        <p:spPr>
          <a:xfrm>
            <a:off x="950275" y="2757275"/>
            <a:ext cx="7243449" cy="1796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idx="1" type="subTitle"/>
          </p:nvPr>
        </p:nvSpPr>
        <p:spPr>
          <a:xfrm>
            <a:off x="311700" y="1018725"/>
            <a:ext cx="8520600" cy="3648000"/>
          </a:xfrm>
          <a:prstGeom prst="rect">
            <a:avLst/>
          </a:prstGeom>
          <a:noFill/>
          <a:ln>
            <a:noFill/>
          </a:ln>
        </p:spPr>
        <p:txBody>
          <a:bodyPr anchorCtr="0" anchor="ctr" bIns="91425" lIns="91425" spcFirstLastPara="1" rIns="91425" wrap="square" tIns="91425">
            <a:normAutofit lnSpcReduction="10000"/>
          </a:bodyPr>
          <a:lstStyle/>
          <a:p>
            <a:pPr indent="0" lvl="0" marL="0" rtl="0" algn="ctr">
              <a:lnSpc>
                <a:spcPct val="90000"/>
              </a:lnSpc>
              <a:spcBef>
                <a:spcPts val="0"/>
              </a:spcBef>
              <a:spcAft>
                <a:spcPts val="0"/>
              </a:spcAft>
              <a:buSzPts val="2800"/>
              <a:buNone/>
            </a:pPr>
            <a:r>
              <a:rPr b="1" lang="es-419" sz="3200"/>
              <a:t>Parámetros y retorno con tipos</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just">
              <a:lnSpc>
                <a:spcPct val="90000"/>
              </a:lnSpc>
              <a:spcBef>
                <a:spcPts val="0"/>
              </a:spcBef>
              <a:spcAft>
                <a:spcPts val="0"/>
              </a:spcAft>
              <a:buSzPts val="2800"/>
              <a:buNone/>
            </a:pPr>
            <a:r>
              <a:rPr lang="es-419" sz="2200"/>
              <a:t>Se recomienda indicar que tipo de dato se espera que reciban los parámetros y que tipo de dato devuelve la función. * En Python estas indicaciones NO son restrictivas.</a:t>
            </a:r>
            <a:endParaRPr sz="2200"/>
          </a:p>
          <a:p>
            <a:pPr indent="0" lvl="0" marL="0" rtl="0" algn="just">
              <a:lnSpc>
                <a:spcPct val="90000"/>
              </a:lnSpc>
              <a:spcBef>
                <a:spcPts val="0"/>
              </a:spcBef>
              <a:spcAft>
                <a:spcPts val="0"/>
              </a:spcAft>
              <a:buSzPts val="2800"/>
              <a:buNone/>
            </a:pPr>
            <a:r>
              <a:t/>
            </a:r>
            <a:endParaRPr sz="2200"/>
          </a:p>
          <a:p>
            <a:pPr indent="0" lvl="0" marL="0" rtl="0" algn="just">
              <a:lnSpc>
                <a:spcPct val="90000"/>
              </a:lnSpc>
              <a:spcBef>
                <a:spcPts val="0"/>
              </a:spcBef>
              <a:spcAft>
                <a:spcPts val="0"/>
              </a:spcAft>
              <a:buSzPts val="2800"/>
              <a:buNone/>
            </a:pPr>
            <a:r>
              <a:rPr lang="es-419" sz="2200">
                <a:solidFill>
                  <a:srgbClr val="00FFFF"/>
                </a:solidFill>
              </a:rPr>
              <a:t>def</a:t>
            </a:r>
            <a:r>
              <a:rPr lang="es-419" sz="2200"/>
              <a:t> </a:t>
            </a:r>
            <a:r>
              <a:rPr b="1" lang="es-419" sz="2200"/>
              <a:t>restar</a:t>
            </a:r>
            <a:r>
              <a:rPr lang="es-419" sz="2200"/>
              <a:t>(numero_a:</a:t>
            </a:r>
            <a:r>
              <a:rPr lang="es-419" sz="2200">
                <a:solidFill>
                  <a:srgbClr val="FFE599"/>
                </a:solidFill>
              </a:rPr>
              <a:t>int</a:t>
            </a:r>
            <a:r>
              <a:rPr lang="es-419" sz="2200"/>
              <a:t>, numero_b:</a:t>
            </a:r>
            <a:r>
              <a:rPr lang="es-419" sz="2200">
                <a:solidFill>
                  <a:srgbClr val="FFE599"/>
                </a:solidFill>
              </a:rPr>
              <a:t>int</a:t>
            </a:r>
            <a:r>
              <a:rPr lang="es-419" sz="2200"/>
              <a:t> = </a:t>
            </a:r>
            <a:r>
              <a:rPr lang="es-419" sz="2200">
                <a:solidFill>
                  <a:srgbClr val="B6D7A8"/>
                </a:solidFill>
              </a:rPr>
              <a:t>5</a:t>
            </a:r>
            <a:r>
              <a:rPr lang="es-419" sz="2200"/>
              <a:t>)-&gt; </a:t>
            </a:r>
            <a:r>
              <a:rPr lang="es-419" sz="2200">
                <a:solidFill>
                  <a:srgbClr val="FFE599"/>
                </a:solidFill>
              </a:rPr>
              <a:t>int</a:t>
            </a:r>
            <a:r>
              <a:rPr lang="es-419" sz="2200"/>
              <a:t>:</a:t>
            </a:r>
            <a:endParaRPr sz="2200"/>
          </a:p>
          <a:p>
            <a:pPr indent="0" lvl="0" marL="0" rtl="0" algn="just">
              <a:lnSpc>
                <a:spcPct val="90000"/>
              </a:lnSpc>
              <a:spcBef>
                <a:spcPts val="0"/>
              </a:spcBef>
              <a:spcAft>
                <a:spcPts val="0"/>
              </a:spcAft>
              <a:buSzPts val="2800"/>
              <a:buNone/>
            </a:pPr>
            <a:r>
              <a:rPr lang="es-419" sz="2200"/>
              <a:t>	diferencia = numero_a - numero_b</a:t>
            </a:r>
            <a:endParaRPr sz="2200"/>
          </a:p>
          <a:p>
            <a:pPr indent="0" lvl="0" marL="0" rtl="0" algn="just">
              <a:lnSpc>
                <a:spcPct val="90000"/>
              </a:lnSpc>
              <a:spcBef>
                <a:spcPts val="0"/>
              </a:spcBef>
              <a:spcAft>
                <a:spcPts val="0"/>
              </a:spcAft>
              <a:buSzPts val="2800"/>
              <a:buNone/>
            </a:pPr>
            <a:r>
              <a:rPr lang="es-419" sz="2200"/>
              <a:t>	</a:t>
            </a:r>
            <a:r>
              <a:rPr lang="es-419" sz="2200">
                <a:solidFill>
                  <a:srgbClr val="00FFFF"/>
                </a:solidFill>
              </a:rPr>
              <a:t>return</a:t>
            </a:r>
            <a:r>
              <a:rPr lang="es-419" sz="2200"/>
              <a:t> </a:t>
            </a:r>
            <a:r>
              <a:rPr lang="es-419" sz="2200">
                <a:solidFill>
                  <a:schemeClr val="lt1"/>
                </a:solidFill>
              </a:rPr>
              <a:t>diferencia </a:t>
            </a:r>
            <a:endParaRPr sz="2200"/>
          </a:p>
          <a:p>
            <a:pPr indent="0" lvl="0" marL="0" rtl="0" algn="l">
              <a:lnSpc>
                <a:spcPct val="90000"/>
              </a:lnSpc>
              <a:spcBef>
                <a:spcPts val="0"/>
              </a:spcBef>
              <a:spcAft>
                <a:spcPts val="0"/>
              </a:spcAft>
              <a:buSzPts val="2800"/>
              <a:buNone/>
            </a:pPr>
            <a:r>
              <a:t/>
            </a:r>
            <a:endParaRPr sz="2200"/>
          </a:p>
          <a:p>
            <a:pPr indent="0" lvl="0" marL="0" rtl="0" algn="l">
              <a:lnSpc>
                <a:spcPct val="90000"/>
              </a:lnSpc>
              <a:spcBef>
                <a:spcPts val="0"/>
              </a:spcBef>
              <a:spcAft>
                <a:spcPts val="0"/>
              </a:spcAft>
              <a:buSzPts val="2800"/>
              <a:buNone/>
            </a:pPr>
            <a:r>
              <a:rPr lang="es-419" sz="2200"/>
              <a:t>print(</a:t>
            </a:r>
            <a:r>
              <a:rPr b="1" lang="es-419" sz="2200"/>
              <a:t>restar</a:t>
            </a:r>
            <a:r>
              <a:rPr lang="es-419" sz="2200"/>
              <a:t>(</a:t>
            </a:r>
            <a:r>
              <a:rPr lang="es-419" sz="2200">
                <a:solidFill>
                  <a:srgbClr val="B6D7A8"/>
                </a:solidFill>
              </a:rPr>
              <a:t>15</a:t>
            </a:r>
            <a:r>
              <a:rPr lang="es-419" sz="2200"/>
              <a:t>)) </a:t>
            </a:r>
            <a:r>
              <a:rPr lang="es-419" sz="2200">
                <a:solidFill>
                  <a:srgbClr val="FF9900"/>
                </a:solidFill>
              </a:rPr>
              <a:t># 10</a:t>
            </a:r>
            <a:endParaRPr sz="2200"/>
          </a:p>
        </p:txBody>
      </p:sp>
      <p:pic>
        <p:nvPicPr>
          <p:cNvPr id="196" name="Google Shape;196;p18" title="Captura de pantalla 2025-03-29 a la(s) 5.30.11 p. m..png"/>
          <p:cNvPicPr preferRelativeResize="0"/>
          <p:nvPr/>
        </p:nvPicPr>
        <p:blipFill>
          <a:blip r:embed="rId3">
            <a:alphaModFix/>
          </a:blip>
          <a:stretch>
            <a:fillRect/>
          </a:stretch>
        </p:blipFill>
        <p:spPr>
          <a:xfrm>
            <a:off x="346625" y="2867350"/>
            <a:ext cx="8450777" cy="1701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idx="1" type="subTitle"/>
          </p:nvPr>
        </p:nvSpPr>
        <p:spPr>
          <a:xfrm>
            <a:off x="311700" y="961725"/>
            <a:ext cx="6976200" cy="2158500"/>
          </a:xfrm>
          <a:prstGeom prst="rect">
            <a:avLst/>
          </a:prstGeom>
          <a:noFill/>
          <a:ln>
            <a:noFill/>
          </a:ln>
        </p:spPr>
        <p:txBody>
          <a:bodyPr anchorCtr="0" anchor="ctr" bIns="91425" lIns="91425" spcFirstLastPara="1" rIns="91425" wrap="square" tIns="91425">
            <a:normAutofit fontScale="92500" lnSpcReduction="10000"/>
          </a:bodyPr>
          <a:lstStyle/>
          <a:p>
            <a:pPr indent="0" lvl="0" marL="0" rtl="0" algn="l">
              <a:lnSpc>
                <a:spcPct val="90000"/>
              </a:lnSpc>
              <a:spcBef>
                <a:spcPts val="0"/>
              </a:spcBef>
              <a:spcAft>
                <a:spcPts val="0"/>
              </a:spcAft>
              <a:buSzPct val="94594"/>
              <a:buNone/>
            </a:pPr>
            <a:r>
              <a:rPr b="1" lang="es-419" sz="3200"/>
              <a:t>           Variables locales y globales</a:t>
            </a:r>
            <a:endParaRPr b="1" sz="3200">
              <a:solidFill>
                <a:srgbClr val="FF0083"/>
              </a:solidFill>
            </a:endParaRPr>
          </a:p>
          <a:p>
            <a:pPr indent="0" lvl="0" marL="0" rtl="0" algn="l">
              <a:lnSpc>
                <a:spcPct val="90000"/>
              </a:lnSpc>
              <a:spcBef>
                <a:spcPts val="0"/>
              </a:spcBef>
              <a:spcAft>
                <a:spcPts val="0"/>
              </a:spcAft>
              <a:buSzPct val="121081"/>
              <a:buNone/>
            </a:pPr>
            <a:r>
              <a:t/>
            </a:r>
            <a:endParaRPr sz="2500"/>
          </a:p>
          <a:p>
            <a:pPr indent="-328484" lvl="0" marL="457200" rtl="0" algn="l">
              <a:lnSpc>
                <a:spcPct val="115000"/>
              </a:lnSpc>
              <a:spcBef>
                <a:spcPts val="0"/>
              </a:spcBef>
              <a:spcAft>
                <a:spcPts val="0"/>
              </a:spcAft>
              <a:buSzPct val="100000"/>
              <a:buChar char="●"/>
            </a:pPr>
            <a:r>
              <a:rPr lang="es-419" sz="1700"/>
              <a:t>Las variables </a:t>
            </a:r>
            <a:r>
              <a:rPr b="1" lang="es-419" sz="1700"/>
              <a:t>locales</a:t>
            </a:r>
            <a:r>
              <a:rPr lang="es-419" sz="1700"/>
              <a:t> son aquellas que se definen </a:t>
            </a:r>
            <a:r>
              <a:rPr b="1" lang="es-419" sz="1700"/>
              <a:t>dentro de una función</a:t>
            </a:r>
            <a:r>
              <a:rPr lang="es-419" sz="1700"/>
              <a:t> y solo son accesibles dentro de esa función.</a:t>
            </a:r>
            <a:endParaRPr sz="1700"/>
          </a:p>
          <a:p>
            <a:pPr indent="-328484" lvl="0" marL="457200" rtl="0" algn="l">
              <a:lnSpc>
                <a:spcPct val="115000"/>
              </a:lnSpc>
              <a:spcBef>
                <a:spcPts val="0"/>
              </a:spcBef>
              <a:spcAft>
                <a:spcPts val="0"/>
              </a:spcAft>
              <a:buSzPct val="100000"/>
              <a:buChar char="●"/>
            </a:pPr>
            <a:r>
              <a:rPr lang="es-419" sz="1700"/>
              <a:t>Las variables </a:t>
            </a:r>
            <a:r>
              <a:rPr b="1" lang="es-419" sz="1700"/>
              <a:t>globales</a:t>
            </a:r>
            <a:r>
              <a:rPr lang="es-419" sz="1700"/>
              <a:t> son aquellas que se definen </a:t>
            </a:r>
            <a:r>
              <a:rPr b="1" lang="es-419" sz="1700"/>
              <a:t>fuera de todas las funciones</a:t>
            </a:r>
            <a:r>
              <a:rPr lang="es-419" sz="1700"/>
              <a:t> y son accesibles desde cualquier parte del programa.</a:t>
            </a:r>
            <a:endParaRPr i="1" sz="1400"/>
          </a:p>
        </p:txBody>
      </p:sp>
      <p:sp>
        <p:nvSpPr>
          <p:cNvPr id="202" name="Google Shape;202;p19"/>
          <p:cNvSpPr txBox="1"/>
          <p:nvPr/>
        </p:nvSpPr>
        <p:spPr>
          <a:xfrm>
            <a:off x="569925" y="3013425"/>
            <a:ext cx="8377800" cy="10257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1100"/>
              <a:buFont typeface="Arial"/>
              <a:buNone/>
            </a:pPr>
            <a:r>
              <a:rPr b="0" i="0" lang="es-419" sz="1700" u="none" cap="none" strike="noStrike">
                <a:solidFill>
                  <a:schemeClr val="lt1"/>
                </a:solidFill>
                <a:latin typeface="Montserrat"/>
                <a:ea typeface="Montserrat"/>
                <a:cs typeface="Montserrat"/>
                <a:sym typeface="Montserrat"/>
              </a:rPr>
              <a:t>El </a:t>
            </a:r>
            <a:r>
              <a:rPr b="1" i="0" lang="es-419" sz="1700" u="none" cap="none" strike="noStrike">
                <a:solidFill>
                  <a:schemeClr val="lt1"/>
                </a:solidFill>
                <a:latin typeface="Montserrat"/>
                <a:ea typeface="Montserrat"/>
                <a:cs typeface="Montserrat"/>
                <a:sym typeface="Montserrat"/>
              </a:rPr>
              <a:t>scope</a:t>
            </a:r>
            <a:r>
              <a:rPr b="0" i="0" lang="es-419" sz="1700" u="none" cap="none" strike="noStrike">
                <a:solidFill>
                  <a:schemeClr val="lt1"/>
                </a:solidFill>
                <a:latin typeface="Montserrat"/>
                <a:ea typeface="Montserrat"/>
                <a:cs typeface="Montserrat"/>
                <a:sym typeface="Montserrat"/>
              </a:rPr>
              <a:t> (ámbito de la función) es donde las variables </a:t>
            </a:r>
            <a:r>
              <a:rPr b="1" i="0" lang="es-419" sz="1700" u="none" cap="none" strike="noStrike">
                <a:solidFill>
                  <a:schemeClr val="lt1"/>
                </a:solidFill>
                <a:latin typeface="Montserrat"/>
                <a:ea typeface="Montserrat"/>
                <a:cs typeface="Montserrat"/>
                <a:sym typeface="Montserrat"/>
              </a:rPr>
              <a:t>locales</a:t>
            </a:r>
            <a:r>
              <a:rPr b="0" i="0" lang="es-419" sz="1700" u="none" cap="none" strike="noStrike">
                <a:solidFill>
                  <a:schemeClr val="lt1"/>
                </a:solidFill>
                <a:latin typeface="Montserrat"/>
                <a:ea typeface="Montserrat"/>
                <a:cs typeface="Montserrat"/>
                <a:sym typeface="Montserrat"/>
              </a:rPr>
              <a:t> nacen y mueren, este mismo está separado por </a:t>
            </a:r>
            <a:r>
              <a:rPr b="1" i="0" lang="es-419" sz="1700" u="none" cap="none" strike="noStrike">
                <a:solidFill>
                  <a:schemeClr val="lt1"/>
                </a:solidFill>
                <a:latin typeface="Montserrat"/>
                <a:ea typeface="Montserrat"/>
                <a:cs typeface="Montserrat"/>
                <a:sym typeface="Montserrat"/>
              </a:rPr>
              <a:t>sangría</a:t>
            </a:r>
            <a:r>
              <a:rPr b="0" i="0" lang="es-419" sz="1700" u="none" cap="none" strike="noStrike">
                <a:solidFill>
                  <a:schemeClr val="lt1"/>
                </a:solidFill>
                <a:latin typeface="Montserrat"/>
                <a:ea typeface="Montserrat"/>
                <a:cs typeface="Montserrat"/>
                <a:sym typeface="Montserrat"/>
              </a:rPr>
              <a:t> al igual que las estructuras lógicas y repetitivas.</a:t>
            </a:r>
            <a:endParaRPr b="0" i="0" sz="1700" u="none" cap="none" strike="noStrike">
              <a:solidFill>
                <a:schemeClr val="lt1"/>
              </a:solidFill>
              <a:latin typeface="Montserrat"/>
              <a:ea typeface="Montserrat"/>
              <a:cs typeface="Montserrat"/>
              <a:sym typeface="Montserrat"/>
            </a:endParaRPr>
          </a:p>
          <a:p>
            <a:pPr indent="0" lvl="0" marL="0" marR="0" rtl="0" algn="l">
              <a:lnSpc>
                <a:spcPct val="90000"/>
              </a:lnSpc>
              <a:spcBef>
                <a:spcPts val="0"/>
              </a:spcBef>
              <a:spcAft>
                <a:spcPts val="0"/>
              </a:spcAft>
              <a:buClr>
                <a:schemeClr val="dk1"/>
              </a:buClr>
              <a:buSzPts val="1100"/>
              <a:buFont typeface="Arial"/>
              <a:buNone/>
            </a:pPr>
            <a:r>
              <a:t/>
            </a:r>
            <a:endParaRPr b="0" i="0" sz="1900" u="none" cap="none" strike="noStrike">
              <a:solidFill>
                <a:schemeClr val="lt1"/>
              </a:solidFill>
              <a:latin typeface="Montserrat"/>
              <a:ea typeface="Montserrat"/>
              <a:cs typeface="Montserrat"/>
              <a:sym typeface="Montserrat"/>
            </a:endParaRPr>
          </a:p>
          <a:p>
            <a:pPr indent="0" lvl="0" marL="0" marR="0" rtl="0" algn="l">
              <a:lnSpc>
                <a:spcPct val="90000"/>
              </a:lnSpc>
              <a:spcBef>
                <a:spcPts val="0"/>
              </a:spcBef>
              <a:spcAft>
                <a:spcPts val="0"/>
              </a:spcAft>
              <a:buClr>
                <a:schemeClr val="dk1"/>
              </a:buClr>
              <a:buSzPts val="1100"/>
              <a:buFont typeface="Arial"/>
              <a:buNone/>
            </a:pPr>
            <a:r>
              <a:rPr b="0" i="1" lang="es-419" sz="1400" u="none" cap="none" strike="noStrike">
                <a:solidFill>
                  <a:schemeClr val="lt1"/>
                </a:solidFill>
                <a:latin typeface="Montserrat"/>
                <a:ea typeface="Montserrat"/>
                <a:cs typeface="Montserrat"/>
                <a:sym typeface="Montserrat"/>
              </a:rPr>
              <a:t>Nota: las variables globales, dentro de una función, pueden ser modificadas solo si se las marca como globales dentro del scope de la misma.</a:t>
            </a:r>
            <a:endParaRPr b="0" i="0" sz="1800" u="none" cap="none" strike="noStrike">
              <a:solidFill>
                <a:srgbClr val="FFFFFF"/>
              </a:solidFill>
              <a:latin typeface="Encode Sans"/>
              <a:ea typeface="Encode Sans"/>
              <a:cs typeface="Encode Sans"/>
              <a:sym typeface="Encode Sans"/>
            </a:endParaRPr>
          </a:p>
        </p:txBody>
      </p:sp>
      <p:pic>
        <p:nvPicPr>
          <p:cNvPr id="203" name="Google Shape;203;p19"/>
          <p:cNvPicPr preferRelativeResize="0"/>
          <p:nvPr/>
        </p:nvPicPr>
        <p:blipFill rotWithShape="1">
          <a:blip r:embed="rId3">
            <a:alphaModFix/>
          </a:blip>
          <a:srcRect b="0" l="0" r="0" t="0"/>
          <a:stretch/>
        </p:blipFill>
        <p:spPr>
          <a:xfrm>
            <a:off x="6852650" y="893475"/>
            <a:ext cx="2376774" cy="2295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idx="1" type="subTitle"/>
          </p:nvPr>
        </p:nvSpPr>
        <p:spPr>
          <a:xfrm>
            <a:off x="311700" y="1074625"/>
            <a:ext cx="8520600" cy="1611900"/>
          </a:xfrm>
          <a:prstGeom prst="rect">
            <a:avLst/>
          </a:prstGeom>
          <a:noFill/>
          <a:ln>
            <a:noFill/>
          </a:ln>
        </p:spPr>
        <p:txBody>
          <a:bodyPr anchorCtr="0" anchor="ctr" bIns="91425" lIns="91425" spcFirstLastPara="1" rIns="91425" wrap="square" tIns="91425">
            <a:normAutofit lnSpcReduction="10000"/>
          </a:bodyPr>
          <a:lstStyle/>
          <a:p>
            <a:pPr indent="0" lvl="0" marL="0" rtl="0" algn="ctr">
              <a:lnSpc>
                <a:spcPct val="90000"/>
              </a:lnSpc>
              <a:spcBef>
                <a:spcPts val="0"/>
              </a:spcBef>
              <a:spcAft>
                <a:spcPts val="0"/>
              </a:spcAft>
              <a:buSzPts val="2800"/>
              <a:buNone/>
            </a:pPr>
            <a:r>
              <a:rPr b="1" lang="es-419" sz="3200"/>
              <a:t>Cohesión y Acoplamiento :</a:t>
            </a:r>
            <a:endParaRPr b="1" sz="3200"/>
          </a:p>
          <a:p>
            <a:pPr indent="0" lvl="0" marL="0" rtl="0" algn="just">
              <a:lnSpc>
                <a:spcPct val="90000"/>
              </a:lnSpc>
              <a:spcBef>
                <a:spcPts val="0"/>
              </a:spcBef>
              <a:spcAft>
                <a:spcPts val="0"/>
              </a:spcAft>
              <a:buSzPts val="2800"/>
              <a:buNone/>
            </a:pPr>
            <a:r>
              <a:t/>
            </a:r>
            <a:endParaRPr b="1" sz="3200"/>
          </a:p>
          <a:p>
            <a:pPr indent="0" lvl="0" marL="0" rtl="0" algn="l">
              <a:lnSpc>
                <a:spcPct val="90000"/>
              </a:lnSpc>
              <a:spcBef>
                <a:spcPts val="0"/>
              </a:spcBef>
              <a:spcAft>
                <a:spcPts val="0"/>
              </a:spcAft>
              <a:buSzPts val="2800"/>
              <a:buNone/>
            </a:pPr>
            <a:r>
              <a:t/>
            </a:r>
            <a:endParaRPr sz="2500"/>
          </a:p>
          <a:p>
            <a:pPr indent="0" lvl="0" marL="0" rtl="0" algn="just">
              <a:lnSpc>
                <a:spcPct val="90000"/>
              </a:lnSpc>
              <a:spcBef>
                <a:spcPts val="0"/>
              </a:spcBef>
              <a:spcAft>
                <a:spcPts val="0"/>
              </a:spcAft>
              <a:buSzPts val="2800"/>
              <a:buNone/>
            </a:pPr>
            <a:r>
              <a:t/>
            </a:r>
            <a:endParaRPr sz="2400"/>
          </a:p>
        </p:txBody>
      </p:sp>
      <p:pic>
        <p:nvPicPr>
          <p:cNvPr id="209" name="Google Shape;209;p20"/>
          <p:cNvPicPr preferRelativeResize="0"/>
          <p:nvPr/>
        </p:nvPicPr>
        <p:blipFill rotWithShape="1">
          <a:blip r:embed="rId3">
            <a:alphaModFix/>
          </a:blip>
          <a:srcRect b="0" l="178" r="178" t="0"/>
          <a:stretch/>
        </p:blipFill>
        <p:spPr>
          <a:xfrm>
            <a:off x="140725" y="1698675"/>
            <a:ext cx="3107750" cy="2789424"/>
          </a:xfrm>
          <a:prstGeom prst="rect">
            <a:avLst/>
          </a:prstGeom>
          <a:noFill/>
          <a:ln cap="flat" cmpd="sng" w="28575">
            <a:solidFill>
              <a:schemeClr val="accent4"/>
            </a:solidFill>
            <a:prstDash val="solid"/>
            <a:round/>
            <a:headEnd len="sm" w="sm" type="none"/>
            <a:tailEnd len="sm" w="sm" type="none"/>
          </a:ln>
        </p:spPr>
      </p:pic>
      <p:sp>
        <p:nvSpPr>
          <p:cNvPr id="210" name="Google Shape;210;p20"/>
          <p:cNvSpPr txBox="1"/>
          <p:nvPr/>
        </p:nvSpPr>
        <p:spPr>
          <a:xfrm>
            <a:off x="776500" y="1770675"/>
            <a:ext cx="8138100" cy="2221200"/>
          </a:xfrm>
          <a:prstGeom prst="rect">
            <a:avLst/>
          </a:prstGeom>
          <a:noFill/>
          <a:ln>
            <a:noFill/>
          </a:ln>
        </p:spPr>
        <p:txBody>
          <a:bodyPr anchorCtr="0" anchor="t" bIns="91425" lIns="91425" spcFirstLastPara="1" rIns="91425" wrap="square" tIns="91425">
            <a:spAutoFit/>
          </a:bodyPr>
          <a:lstStyle/>
          <a:p>
            <a:pPr indent="0" lvl="0" marL="2699999" marR="0" rtl="0" algn="l">
              <a:lnSpc>
                <a:spcPct val="90000"/>
              </a:lnSpc>
              <a:spcBef>
                <a:spcPts val="0"/>
              </a:spcBef>
              <a:spcAft>
                <a:spcPts val="0"/>
              </a:spcAft>
              <a:buClr>
                <a:srgbClr val="000000"/>
              </a:buClr>
              <a:buSzPts val="2100"/>
              <a:buFont typeface="Arial"/>
              <a:buNone/>
            </a:pPr>
            <a:r>
              <a:rPr b="1" i="0" lang="es-419" sz="2100" u="none" cap="none" strike="noStrike">
                <a:solidFill>
                  <a:schemeClr val="lt1"/>
                </a:solidFill>
                <a:latin typeface="Montserrat"/>
                <a:ea typeface="Montserrat"/>
                <a:cs typeface="Montserrat"/>
                <a:sym typeface="Montserrat"/>
              </a:rPr>
              <a:t>Cohesión: </a:t>
            </a:r>
            <a:r>
              <a:rPr b="0" i="0" lang="es-419" sz="2100" u="none" cap="none" strike="noStrike">
                <a:solidFill>
                  <a:schemeClr val="lt1"/>
                </a:solidFill>
                <a:latin typeface="Montserrat"/>
                <a:ea typeface="Montserrat"/>
                <a:cs typeface="Montserrat"/>
                <a:sym typeface="Montserrat"/>
              </a:rPr>
              <a:t>Implica una conexión o unión que asegura que las partes de un todo estén bien integradas y funcionen juntas de manera efectiva.</a:t>
            </a:r>
            <a:endParaRPr b="0" i="0" sz="2100" u="none" cap="none" strike="noStrike">
              <a:solidFill>
                <a:schemeClr val="lt1"/>
              </a:solidFill>
              <a:latin typeface="Montserrat"/>
              <a:ea typeface="Montserrat"/>
              <a:cs typeface="Montserrat"/>
              <a:sym typeface="Montserrat"/>
            </a:endParaRPr>
          </a:p>
          <a:p>
            <a:pPr indent="0" lvl="0" marL="2699999" marR="0" rtl="0" algn="l">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Montserrat"/>
              <a:ea typeface="Montserrat"/>
              <a:cs typeface="Montserrat"/>
              <a:sym typeface="Montserrat"/>
            </a:endParaRPr>
          </a:p>
          <a:p>
            <a:pPr indent="0" lvl="0" marL="2699999" marR="0" rtl="0" algn="l">
              <a:lnSpc>
                <a:spcPct val="90000"/>
              </a:lnSpc>
              <a:spcBef>
                <a:spcPts val="0"/>
              </a:spcBef>
              <a:spcAft>
                <a:spcPts val="0"/>
              </a:spcAft>
              <a:buClr>
                <a:schemeClr val="dk1"/>
              </a:buClr>
              <a:buSzPts val="1100"/>
              <a:buFont typeface="Arial"/>
              <a:buNone/>
            </a:pPr>
            <a:r>
              <a:rPr b="1" i="0" lang="es-419" sz="2100" u="none" cap="none" strike="noStrike">
                <a:solidFill>
                  <a:schemeClr val="lt1"/>
                </a:solidFill>
                <a:latin typeface="Montserrat"/>
                <a:ea typeface="Montserrat"/>
                <a:cs typeface="Montserrat"/>
                <a:sym typeface="Montserrat"/>
              </a:rPr>
              <a:t>Acoplamiento: </a:t>
            </a:r>
            <a:r>
              <a:rPr b="0" i="0" lang="es-419" sz="2100" u="none" cap="none" strike="noStrike">
                <a:solidFill>
                  <a:schemeClr val="lt1"/>
                </a:solidFill>
                <a:latin typeface="Montserrat"/>
                <a:ea typeface="Montserrat"/>
                <a:cs typeface="Montserrat"/>
                <a:sym typeface="Montserrat"/>
              </a:rPr>
              <a:t>Es la dependencia que tienen las funciones entre sí.</a:t>
            </a:r>
            <a:endParaRPr b="0" i="0" sz="21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1"/>
          <p:cNvSpPr txBox="1"/>
          <p:nvPr>
            <p:ph idx="1" type="subTitle"/>
          </p:nvPr>
        </p:nvSpPr>
        <p:spPr>
          <a:xfrm>
            <a:off x="434600" y="391825"/>
            <a:ext cx="8342100" cy="43287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a:t>¿Qué es una Referencia?</a:t>
            </a:r>
            <a:endParaRPr sz="2100"/>
          </a:p>
          <a:p>
            <a:pPr indent="0" lvl="0" marL="0" rtl="0" algn="l">
              <a:lnSpc>
                <a:spcPct val="90000"/>
              </a:lnSpc>
              <a:spcBef>
                <a:spcPts val="0"/>
              </a:spcBef>
              <a:spcAft>
                <a:spcPts val="0"/>
              </a:spcAft>
              <a:buSzPts val="2800"/>
              <a:buNone/>
            </a:pPr>
            <a:r>
              <a:t/>
            </a:r>
            <a:endParaRPr sz="2000"/>
          </a:p>
          <a:p>
            <a:pPr indent="0" lvl="0" marL="0" rtl="0" algn="l">
              <a:lnSpc>
                <a:spcPct val="90000"/>
              </a:lnSpc>
              <a:spcBef>
                <a:spcPts val="0"/>
              </a:spcBef>
              <a:spcAft>
                <a:spcPts val="0"/>
              </a:spcAft>
              <a:buSzPts val="2800"/>
              <a:buNone/>
            </a:pPr>
            <a:r>
              <a:rPr lang="es-419" sz="2000"/>
              <a:t>Una referencia en programación es una forma de acceder a un valor mediante su </a:t>
            </a:r>
            <a:r>
              <a:rPr b="1" lang="es-419" sz="2000"/>
              <a:t>dirección de memoria</a:t>
            </a:r>
            <a:r>
              <a:rPr lang="es-419" sz="2000"/>
              <a:t> en lugar de interactuar directamente con el valor. Esto permite manipular el dato original sin crear copias adicionales, lo cual es eficiente en términos de recursos. Al utilizar una referencia, cualquier modificación realizada a través de ella afectará directamente al valor almacenado en esa dirección de memoria.</a:t>
            </a:r>
            <a:endParaRPr sz="1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idx="1" type="subTitle"/>
          </p:nvPr>
        </p:nvSpPr>
        <p:spPr>
          <a:xfrm>
            <a:off x="311700" y="705275"/>
            <a:ext cx="8520600" cy="40821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a:t>Pasaje por valor y por referencia en general :</a:t>
            </a:r>
            <a:endParaRPr sz="2100"/>
          </a:p>
          <a:p>
            <a:pPr indent="0" lvl="0" marL="0" rtl="0" algn="l">
              <a:lnSpc>
                <a:spcPct val="90000"/>
              </a:lnSpc>
              <a:spcBef>
                <a:spcPts val="0"/>
              </a:spcBef>
              <a:spcAft>
                <a:spcPts val="0"/>
              </a:spcAft>
              <a:buSzPts val="2800"/>
              <a:buNone/>
            </a:pPr>
            <a:r>
              <a:t/>
            </a:r>
            <a:endParaRPr sz="2000"/>
          </a:p>
          <a:p>
            <a:pPr indent="0" lvl="0" marL="0" rtl="0" algn="l">
              <a:lnSpc>
                <a:spcPct val="90000"/>
              </a:lnSpc>
              <a:spcBef>
                <a:spcPts val="0"/>
              </a:spcBef>
              <a:spcAft>
                <a:spcPts val="0"/>
              </a:spcAft>
              <a:buSzPts val="2800"/>
              <a:buNone/>
            </a:pPr>
            <a:r>
              <a:rPr lang="es-419" sz="2000"/>
              <a:t>En principio los conceptos de paso por </a:t>
            </a:r>
            <a:r>
              <a:rPr b="1" lang="es-419" sz="2000"/>
              <a:t>valor</a:t>
            </a:r>
            <a:r>
              <a:rPr lang="es-419" sz="2000"/>
              <a:t> y por </a:t>
            </a:r>
            <a:r>
              <a:rPr b="1" lang="es-419" sz="2000"/>
              <a:t>referencia </a:t>
            </a:r>
            <a:r>
              <a:rPr lang="es-419" sz="2000"/>
              <a:t>que aplican a la hora de </a:t>
            </a:r>
            <a:r>
              <a:rPr b="1" lang="es-419" sz="2000"/>
              <a:t>cómo</a:t>
            </a:r>
            <a:r>
              <a:rPr lang="es-419" sz="2000"/>
              <a:t> trata una función a los parámetros que se le pasan como entrada.</a:t>
            </a:r>
            <a:endParaRPr sz="2000"/>
          </a:p>
          <a:p>
            <a:pPr indent="0" lvl="0" marL="0" rtl="0" algn="l">
              <a:lnSpc>
                <a:spcPct val="90000"/>
              </a:lnSpc>
              <a:spcBef>
                <a:spcPts val="0"/>
              </a:spcBef>
              <a:spcAft>
                <a:spcPts val="0"/>
              </a:spcAft>
              <a:buSzPts val="2800"/>
              <a:buNone/>
            </a:pPr>
            <a:r>
              <a:t/>
            </a:r>
            <a:endParaRPr sz="2000"/>
          </a:p>
          <a:p>
            <a:pPr indent="-336550" lvl="0" marL="457200" rtl="0" algn="l">
              <a:lnSpc>
                <a:spcPct val="90000"/>
              </a:lnSpc>
              <a:spcBef>
                <a:spcPts val="0"/>
              </a:spcBef>
              <a:spcAft>
                <a:spcPts val="0"/>
              </a:spcAft>
              <a:buSzPts val="1700"/>
              <a:buChar char="●"/>
            </a:pPr>
            <a:r>
              <a:rPr lang="es-419" sz="1700"/>
              <a:t>Por VALOR: la función creará una copia local de la variable y cualquier modificación sobre ella no tendrá ningún efecto sobre la original.</a:t>
            </a:r>
            <a:endParaRPr sz="1700"/>
          </a:p>
          <a:p>
            <a:pPr indent="0" lvl="0" marL="0" rtl="0" algn="l">
              <a:lnSpc>
                <a:spcPct val="90000"/>
              </a:lnSpc>
              <a:spcBef>
                <a:spcPts val="0"/>
              </a:spcBef>
              <a:spcAft>
                <a:spcPts val="0"/>
              </a:spcAft>
              <a:buSzPts val="2800"/>
              <a:buNone/>
            </a:pPr>
            <a:r>
              <a:t/>
            </a:r>
            <a:endParaRPr sz="2000"/>
          </a:p>
          <a:p>
            <a:pPr indent="-336550" lvl="0" marL="457200" rtl="0" algn="l">
              <a:lnSpc>
                <a:spcPct val="90000"/>
              </a:lnSpc>
              <a:spcBef>
                <a:spcPts val="0"/>
              </a:spcBef>
              <a:spcAft>
                <a:spcPts val="0"/>
              </a:spcAft>
              <a:buSzPts val="1700"/>
              <a:buChar char="●"/>
            </a:pPr>
            <a:r>
              <a:rPr lang="es-419" sz="1700"/>
              <a:t>Por REFERENCIA: la función recibirá la dirección de memoria de la variable original y podrá realizar modificaciones directamente sobre ella.</a:t>
            </a:r>
            <a:endParaRPr sz="17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txBox="1"/>
          <p:nvPr>
            <p:ph idx="1" type="subTitle"/>
          </p:nvPr>
        </p:nvSpPr>
        <p:spPr>
          <a:xfrm>
            <a:off x="311700" y="1068600"/>
            <a:ext cx="8520600" cy="32415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a:t>Pasaje por valor y por referencia en Python :</a:t>
            </a:r>
            <a:endParaRPr b="1">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l">
              <a:lnSpc>
                <a:spcPct val="90000"/>
              </a:lnSpc>
              <a:spcBef>
                <a:spcPts val="0"/>
              </a:spcBef>
              <a:spcAft>
                <a:spcPts val="0"/>
              </a:spcAft>
              <a:buSzPts val="2800"/>
              <a:buNone/>
            </a:pPr>
            <a:r>
              <a:rPr lang="es-419" sz="1700"/>
              <a:t>En Python, </a:t>
            </a:r>
            <a:r>
              <a:rPr b="1" lang="es-419" sz="1700"/>
              <a:t>los parámetros de una función se pasan por referencia</a:t>
            </a:r>
            <a:r>
              <a:rPr lang="es-419" sz="1700"/>
              <a:t>, pero esta referencia es en realidad una referencia al objeto, no a la variable original. Esto significa que cuando se pasa una variable a una función, la función recibe una referencia al objeto al que apunta la variable.</a:t>
            </a:r>
            <a:endParaRPr sz="1700"/>
          </a:p>
          <a:p>
            <a:pPr indent="0" lvl="0" marL="0" rtl="0" algn="l">
              <a:lnSpc>
                <a:spcPct val="90000"/>
              </a:lnSpc>
              <a:spcBef>
                <a:spcPts val="0"/>
              </a:spcBef>
              <a:spcAft>
                <a:spcPts val="0"/>
              </a:spcAft>
              <a:buSzPts val="2800"/>
              <a:buNone/>
            </a:pPr>
            <a:r>
              <a:t/>
            </a:r>
            <a:endParaRPr sz="1700"/>
          </a:p>
          <a:p>
            <a:pPr indent="0" lvl="0" marL="0" rtl="0" algn="l">
              <a:lnSpc>
                <a:spcPct val="90000"/>
              </a:lnSpc>
              <a:spcBef>
                <a:spcPts val="0"/>
              </a:spcBef>
              <a:spcAft>
                <a:spcPts val="0"/>
              </a:spcAft>
              <a:buSzPts val="2800"/>
              <a:buNone/>
            </a:pPr>
            <a:r>
              <a:rPr lang="es-419" sz="1700"/>
              <a:t>Sin embargo, no puede modificar la variable original si el objeto al que apunta es </a:t>
            </a:r>
            <a:r>
              <a:rPr b="1" lang="es-419" sz="1700"/>
              <a:t>inmutable</a:t>
            </a:r>
            <a:r>
              <a:rPr lang="es-419" sz="1700"/>
              <a:t>, como números o cadenas de texto. En cambio, si el objeto es </a:t>
            </a:r>
            <a:r>
              <a:rPr b="1" lang="es-419" sz="1700"/>
              <a:t>mutable</a:t>
            </a:r>
            <a:r>
              <a:rPr lang="es-419" sz="1700"/>
              <a:t>, como una lista, un diccionario o una instancia de una clase, los cambios realizados dentro de la función afectarán al objeto original.</a:t>
            </a:r>
            <a:endParaRPr sz="17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txBox="1"/>
          <p:nvPr>
            <p:ph idx="1" type="subTitle"/>
          </p:nvPr>
        </p:nvSpPr>
        <p:spPr>
          <a:xfrm>
            <a:off x="311700" y="961725"/>
            <a:ext cx="8520600" cy="12537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2800"/>
              <a:buNone/>
            </a:pPr>
            <a:r>
              <a:rPr b="1" lang="es-419" sz="3200"/>
              <a:t>Pasaje por valor y por referencia</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l">
              <a:lnSpc>
                <a:spcPct val="90000"/>
              </a:lnSpc>
              <a:spcBef>
                <a:spcPts val="0"/>
              </a:spcBef>
              <a:spcAft>
                <a:spcPts val="0"/>
              </a:spcAft>
              <a:buSzPts val="2800"/>
              <a:buNone/>
            </a:pPr>
            <a:r>
              <a:t/>
            </a:r>
            <a:endParaRPr sz="2000"/>
          </a:p>
        </p:txBody>
      </p:sp>
      <p:pic>
        <p:nvPicPr>
          <p:cNvPr id="231" name="Google Shape;231;p24"/>
          <p:cNvPicPr preferRelativeResize="0"/>
          <p:nvPr/>
        </p:nvPicPr>
        <p:blipFill rotWithShape="1">
          <a:blip r:embed="rId3">
            <a:alphaModFix/>
          </a:blip>
          <a:srcRect b="13351" l="0" r="1184" t="0"/>
          <a:stretch/>
        </p:blipFill>
        <p:spPr>
          <a:xfrm>
            <a:off x="1593362" y="1712925"/>
            <a:ext cx="5957276" cy="2865125"/>
          </a:xfrm>
          <a:prstGeom prst="rect">
            <a:avLst/>
          </a:prstGeom>
          <a:noFill/>
          <a:ln cap="flat" cmpd="sng" w="28575">
            <a:solidFill>
              <a:srgbClr val="FFE599"/>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5"/>
          <p:cNvSpPr txBox="1"/>
          <p:nvPr>
            <p:ph idx="1" type="subTitle"/>
          </p:nvPr>
        </p:nvSpPr>
        <p:spPr>
          <a:xfrm>
            <a:off x="311700" y="1031075"/>
            <a:ext cx="8520600" cy="3492600"/>
          </a:xfrm>
          <a:prstGeom prst="rect">
            <a:avLst/>
          </a:prstGeom>
          <a:noFill/>
          <a:ln>
            <a:noFill/>
          </a:ln>
        </p:spPr>
        <p:txBody>
          <a:bodyPr anchorCtr="0" anchor="ctr" bIns="91425" lIns="91425" spcFirstLastPara="1" rIns="91425" wrap="square" tIns="91425">
            <a:normAutofit fontScale="92500" lnSpcReduction="20000"/>
          </a:bodyPr>
          <a:lstStyle/>
          <a:p>
            <a:pPr indent="0" lvl="0" marL="0" rtl="0" algn="ctr">
              <a:lnSpc>
                <a:spcPct val="90000"/>
              </a:lnSpc>
              <a:spcBef>
                <a:spcPts val="0"/>
              </a:spcBef>
              <a:spcAft>
                <a:spcPts val="0"/>
              </a:spcAft>
              <a:buSzPct val="87500"/>
              <a:buNone/>
            </a:pPr>
            <a:r>
              <a:rPr b="1" lang="es-419" sz="3200"/>
              <a:t>Documentación</a:t>
            </a:r>
            <a:endParaRPr b="1" sz="3200">
              <a:solidFill>
                <a:srgbClr val="FF0083"/>
              </a:solidFill>
            </a:endParaRPr>
          </a:p>
          <a:p>
            <a:pPr indent="0" lvl="0" marL="0" rtl="0" algn="l">
              <a:lnSpc>
                <a:spcPct val="90000"/>
              </a:lnSpc>
              <a:spcBef>
                <a:spcPts val="0"/>
              </a:spcBef>
              <a:spcAft>
                <a:spcPts val="0"/>
              </a:spcAft>
              <a:buSzPct val="112000"/>
              <a:buNone/>
            </a:pPr>
            <a:r>
              <a:t/>
            </a:r>
            <a:endParaRPr sz="2500"/>
          </a:p>
          <a:p>
            <a:pPr indent="0" lvl="0" marL="0" rtl="0" algn="l">
              <a:lnSpc>
                <a:spcPct val="115000"/>
              </a:lnSpc>
              <a:spcBef>
                <a:spcPts val="0"/>
              </a:spcBef>
              <a:spcAft>
                <a:spcPts val="0"/>
              </a:spcAft>
              <a:buSzPct val="147368"/>
              <a:buNone/>
            </a:pPr>
            <a:r>
              <a:rPr lang="es-419" sz="1900"/>
              <a:t>La documentación de una función es fundamental para la claridad, comprensión, y mantenibilidad del código, facilitando tanto el trabajo individual como la colaboración en equipos de desarrollo.</a:t>
            </a:r>
            <a:endParaRPr sz="1900"/>
          </a:p>
          <a:p>
            <a:pPr indent="0" lvl="0" marL="0" rtl="0" algn="l">
              <a:lnSpc>
                <a:spcPct val="115000"/>
              </a:lnSpc>
              <a:spcBef>
                <a:spcPts val="0"/>
              </a:spcBef>
              <a:spcAft>
                <a:spcPts val="0"/>
              </a:spcAft>
              <a:buSzPct val="147368"/>
              <a:buNone/>
            </a:pPr>
            <a:r>
              <a:t/>
            </a:r>
            <a:endParaRPr sz="1900"/>
          </a:p>
          <a:p>
            <a:pPr indent="0" lvl="0" marL="0" rtl="0" algn="l">
              <a:lnSpc>
                <a:spcPct val="90000"/>
              </a:lnSpc>
              <a:spcBef>
                <a:spcPts val="0"/>
              </a:spcBef>
              <a:spcAft>
                <a:spcPts val="0"/>
              </a:spcAft>
              <a:buSzPct val="140000"/>
              <a:buNone/>
            </a:pPr>
            <a:r>
              <a:t/>
            </a:r>
            <a:endParaRPr sz="2000"/>
          </a:p>
          <a:p>
            <a:pPr indent="0" lvl="0" marL="0" rtl="0" algn="l">
              <a:lnSpc>
                <a:spcPct val="115000"/>
              </a:lnSpc>
              <a:spcBef>
                <a:spcPts val="0"/>
              </a:spcBef>
              <a:spcAft>
                <a:spcPts val="0"/>
              </a:spcAft>
              <a:buSzPct val="140000"/>
              <a:buNone/>
            </a:pPr>
            <a:r>
              <a:t/>
            </a:r>
            <a:endParaRPr sz="2000">
              <a:solidFill>
                <a:srgbClr val="00FFFF"/>
              </a:solidFill>
            </a:endParaRPr>
          </a:p>
          <a:p>
            <a:pPr indent="0" lvl="0" marL="0" rtl="0" algn="l">
              <a:lnSpc>
                <a:spcPct val="115000"/>
              </a:lnSpc>
              <a:spcBef>
                <a:spcPts val="0"/>
              </a:spcBef>
              <a:spcAft>
                <a:spcPts val="0"/>
              </a:spcAft>
              <a:buSzPct val="140000"/>
              <a:buNone/>
            </a:pPr>
            <a:r>
              <a:t/>
            </a:r>
            <a:endParaRPr sz="2000">
              <a:solidFill>
                <a:srgbClr val="00FFFF"/>
              </a:solidFill>
            </a:endParaRPr>
          </a:p>
          <a:p>
            <a:pPr indent="0" lvl="0" marL="0" rtl="0" algn="l">
              <a:lnSpc>
                <a:spcPct val="115000"/>
              </a:lnSpc>
              <a:spcBef>
                <a:spcPts val="0"/>
              </a:spcBef>
              <a:spcAft>
                <a:spcPts val="0"/>
              </a:spcAft>
              <a:buSzPct val="140000"/>
              <a:buNone/>
            </a:pPr>
            <a:r>
              <a:t/>
            </a:r>
            <a:endParaRPr sz="2000">
              <a:solidFill>
                <a:srgbClr val="00FFFF"/>
              </a:solidFill>
            </a:endParaRPr>
          </a:p>
          <a:p>
            <a:pPr indent="0" lvl="0" marL="0" rtl="0" algn="l">
              <a:lnSpc>
                <a:spcPct val="115000"/>
              </a:lnSpc>
              <a:spcBef>
                <a:spcPts val="0"/>
              </a:spcBef>
              <a:spcAft>
                <a:spcPts val="0"/>
              </a:spcAft>
              <a:buSzPct val="140000"/>
              <a:buNone/>
            </a:pPr>
            <a:r>
              <a:t/>
            </a:r>
            <a:endParaRPr sz="2000">
              <a:solidFill>
                <a:srgbClr val="00FFFF"/>
              </a:solidFill>
            </a:endParaRPr>
          </a:p>
          <a:p>
            <a:pPr indent="0" lvl="0" marL="0" rtl="0" algn="l">
              <a:lnSpc>
                <a:spcPct val="115000"/>
              </a:lnSpc>
              <a:spcBef>
                <a:spcPts val="0"/>
              </a:spcBef>
              <a:spcAft>
                <a:spcPts val="0"/>
              </a:spcAft>
              <a:buSzPct val="140000"/>
              <a:buNone/>
            </a:pPr>
            <a:r>
              <a:t/>
            </a:r>
            <a:endParaRPr sz="2000">
              <a:solidFill>
                <a:srgbClr val="00FFFF"/>
              </a:solidFill>
            </a:endParaRPr>
          </a:p>
        </p:txBody>
      </p:sp>
      <p:pic>
        <p:nvPicPr>
          <p:cNvPr id="237" name="Google Shape;237;p25" title="Captura de pantalla 2025-03-27 a la(s) 2.42.53 a. m..png"/>
          <p:cNvPicPr preferRelativeResize="0"/>
          <p:nvPr/>
        </p:nvPicPr>
        <p:blipFill>
          <a:blip r:embed="rId3">
            <a:alphaModFix/>
          </a:blip>
          <a:stretch>
            <a:fillRect/>
          </a:stretch>
        </p:blipFill>
        <p:spPr>
          <a:xfrm>
            <a:off x="2093200" y="2656025"/>
            <a:ext cx="4957601" cy="1780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46b4161e2f_0_2"/>
          <p:cNvSpPr txBox="1"/>
          <p:nvPr>
            <p:ph idx="1" type="subTitle"/>
          </p:nvPr>
        </p:nvSpPr>
        <p:spPr>
          <a:xfrm>
            <a:off x="311700" y="1031075"/>
            <a:ext cx="8520600" cy="3492600"/>
          </a:xfrm>
          <a:prstGeom prst="rect">
            <a:avLst/>
          </a:prstGeom>
          <a:noFill/>
          <a:ln>
            <a:noFill/>
          </a:ln>
        </p:spPr>
        <p:txBody>
          <a:bodyPr anchorCtr="0" anchor="ctr" bIns="91425" lIns="91425" spcFirstLastPara="1" rIns="91425" wrap="square" tIns="91425">
            <a:normAutofit lnSpcReduction="10000"/>
          </a:bodyPr>
          <a:lstStyle/>
          <a:p>
            <a:pPr indent="0" lvl="0" marL="0" rtl="0" algn="ctr">
              <a:lnSpc>
                <a:spcPct val="90000"/>
              </a:lnSpc>
              <a:spcBef>
                <a:spcPts val="0"/>
              </a:spcBef>
              <a:spcAft>
                <a:spcPts val="0"/>
              </a:spcAft>
              <a:buSzPts val="2800"/>
              <a:buNone/>
            </a:pPr>
            <a:r>
              <a:rPr b="1" lang="es-419" sz="3200"/>
              <a:t>Ejemplo documentacion</a:t>
            </a:r>
            <a:endParaRPr b="1" sz="3200">
              <a:solidFill>
                <a:srgbClr val="FF0083"/>
              </a:solidFill>
            </a:endParaRPr>
          </a:p>
          <a:p>
            <a:pPr indent="0" lvl="0" marL="0" rtl="0" algn="l">
              <a:lnSpc>
                <a:spcPct val="90000"/>
              </a:lnSpc>
              <a:spcBef>
                <a:spcPts val="0"/>
              </a:spcBef>
              <a:spcAft>
                <a:spcPts val="0"/>
              </a:spcAft>
              <a:buSzPts val="2800"/>
              <a:buNone/>
            </a:pPr>
            <a:r>
              <a:t/>
            </a:r>
            <a:endParaRPr sz="2500"/>
          </a:p>
          <a:p>
            <a:pPr indent="0" lvl="0" marL="0" rtl="0" algn="l">
              <a:lnSpc>
                <a:spcPct val="115000"/>
              </a:lnSpc>
              <a:spcBef>
                <a:spcPts val="0"/>
              </a:spcBef>
              <a:spcAft>
                <a:spcPts val="0"/>
              </a:spcAft>
              <a:buSzPts val="2800"/>
              <a:buNone/>
            </a:pPr>
            <a:r>
              <a:t/>
            </a:r>
            <a:endParaRPr sz="1900"/>
          </a:p>
          <a:p>
            <a:pPr indent="0" lvl="0" marL="0" rtl="0" algn="l">
              <a:lnSpc>
                <a:spcPct val="115000"/>
              </a:lnSpc>
              <a:spcBef>
                <a:spcPts val="0"/>
              </a:spcBef>
              <a:spcAft>
                <a:spcPts val="0"/>
              </a:spcAft>
              <a:buSzPts val="2800"/>
              <a:buNone/>
            </a:pPr>
            <a:r>
              <a:t/>
            </a:r>
            <a:endParaRPr sz="1900"/>
          </a:p>
          <a:p>
            <a:pPr indent="0" lvl="0" marL="0" rtl="0" algn="l">
              <a:lnSpc>
                <a:spcPct val="90000"/>
              </a:lnSpc>
              <a:spcBef>
                <a:spcPts val="0"/>
              </a:spcBef>
              <a:spcAft>
                <a:spcPts val="0"/>
              </a:spcAft>
              <a:buSzPts val="2800"/>
              <a:buNone/>
            </a:pPr>
            <a:r>
              <a:t/>
            </a:r>
            <a:endParaRPr sz="2000"/>
          </a:p>
          <a:p>
            <a:pPr indent="0" lvl="0" marL="0" rtl="0" algn="l">
              <a:lnSpc>
                <a:spcPct val="115000"/>
              </a:lnSpc>
              <a:spcBef>
                <a:spcPts val="0"/>
              </a:spcBef>
              <a:spcAft>
                <a:spcPts val="0"/>
              </a:spcAft>
              <a:buSzPts val="2800"/>
              <a:buNone/>
            </a:pPr>
            <a:r>
              <a:t/>
            </a:r>
            <a:endParaRPr sz="2000">
              <a:solidFill>
                <a:srgbClr val="00FFFF"/>
              </a:solidFill>
            </a:endParaRPr>
          </a:p>
          <a:p>
            <a:pPr indent="0" lvl="0" marL="0" rtl="0" algn="l">
              <a:lnSpc>
                <a:spcPct val="115000"/>
              </a:lnSpc>
              <a:spcBef>
                <a:spcPts val="0"/>
              </a:spcBef>
              <a:spcAft>
                <a:spcPts val="0"/>
              </a:spcAft>
              <a:buSzPts val="2800"/>
              <a:buNone/>
            </a:pPr>
            <a:r>
              <a:t/>
            </a:r>
            <a:endParaRPr sz="2000">
              <a:solidFill>
                <a:srgbClr val="00FFFF"/>
              </a:solidFill>
            </a:endParaRPr>
          </a:p>
          <a:p>
            <a:pPr indent="0" lvl="0" marL="0" rtl="0" algn="l">
              <a:lnSpc>
                <a:spcPct val="115000"/>
              </a:lnSpc>
              <a:spcBef>
                <a:spcPts val="0"/>
              </a:spcBef>
              <a:spcAft>
                <a:spcPts val="0"/>
              </a:spcAft>
              <a:buSzPts val="2800"/>
              <a:buNone/>
            </a:pPr>
            <a:r>
              <a:t/>
            </a:r>
            <a:endParaRPr sz="2000">
              <a:solidFill>
                <a:srgbClr val="00FFFF"/>
              </a:solidFill>
            </a:endParaRPr>
          </a:p>
          <a:p>
            <a:pPr indent="0" lvl="0" marL="0" rtl="0" algn="l">
              <a:lnSpc>
                <a:spcPct val="115000"/>
              </a:lnSpc>
              <a:spcBef>
                <a:spcPts val="0"/>
              </a:spcBef>
              <a:spcAft>
                <a:spcPts val="0"/>
              </a:spcAft>
              <a:buSzPts val="2800"/>
              <a:buNone/>
            </a:pPr>
            <a:r>
              <a:t/>
            </a:r>
            <a:endParaRPr sz="2000">
              <a:solidFill>
                <a:srgbClr val="00FFFF"/>
              </a:solidFill>
            </a:endParaRPr>
          </a:p>
          <a:p>
            <a:pPr indent="0" lvl="0" marL="0" rtl="0" algn="l">
              <a:lnSpc>
                <a:spcPct val="115000"/>
              </a:lnSpc>
              <a:spcBef>
                <a:spcPts val="0"/>
              </a:spcBef>
              <a:spcAft>
                <a:spcPts val="0"/>
              </a:spcAft>
              <a:buSzPts val="2800"/>
              <a:buNone/>
            </a:pPr>
            <a:r>
              <a:t/>
            </a:r>
            <a:endParaRPr sz="2000">
              <a:solidFill>
                <a:srgbClr val="00FFFF"/>
              </a:solidFill>
            </a:endParaRPr>
          </a:p>
        </p:txBody>
      </p:sp>
      <p:pic>
        <p:nvPicPr>
          <p:cNvPr id="243" name="Google Shape;243;g346b4161e2f_0_2" title="Captura de pantalla 2025-03-27 a la(s) 2.46.00 a. m..png"/>
          <p:cNvPicPr preferRelativeResize="0"/>
          <p:nvPr/>
        </p:nvPicPr>
        <p:blipFill>
          <a:blip r:embed="rId3">
            <a:alphaModFix/>
          </a:blip>
          <a:stretch>
            <a:fillRect/>
          </a:stretch>
        </p:blipFill>
        <p:spPr>
          <a:xfrm>
            <a:off x="989775" y="1142625"/>
            <a:ext cx="7164450" cy="33810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