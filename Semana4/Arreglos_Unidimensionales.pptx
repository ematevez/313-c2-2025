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</p:sldIdLst>
  <p:sldSz cy="5143500" cx="9144000"/>
  <p:notesSz cx="6858000" cy="9144000"/>
  <p:embeddedFontLst>
    <p:embeddedFont>
      <p:font typeface="Roboto"/>
      <p:regular r:id="rId41"/>
      <p:bold r:id="rId42"/>
      <p:italic r:id="rId43"/>
      <p:boldItalic r:id="rId44"/>
    </p:embeddedFont>
    <p:embeddedFont>
      <p:font typeface="Encode Sans"/>
      <p:regular r:id="rId45"/>
      <p:bold r:id="rId46"/>
    </p:embeddedFont>
    <p:embeddedFont>
      <p:font typeface="Montserrat"/>
      <p:regular r:id="rId47"/>
      <p:bold r:id="rId48"/>
      <p:italic r:id="rId49"/>
      <p:boldItalic r:id="rId50"/>
    </p:embeddedFont>
    <p:embeddedFont>
      <p:font typeface="Anaheim"/>
      <p:regular r:id="rId51"/>
      <p:bold r:id="rId52"/>
    </p:embeddedFont>
    <p:embeddedFont>
      <p:font typeface="Montserrat Light"/>
      <p:regular r:id="rId53"/>
      <p:bold r:id="rId54"/>
      <p:italic r:id="rId55"/>
      <p:boldItalic r:id="rId56"/>
    </p:embeddedFont>
    <p:embeddedFont>
      <p:font typeface="Encode Sans ExtraBold"/>
      <p:bold r:id="rId5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58" roundtripDataSignature="AMtx7mgPMLJeo+rSGiJZYuuphIzlvs1gZ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font" Target="fonts/Roboto-bold.fntdata"/><Relationship Id="rId41" Type="http://schemas.openxmlformats.org/officeDocument/2006/relationships/font" Target="fonts/Roboto-regular.fntdata"/><Relationship Id="rId44" Type="http://schemas.openxmlformats.org/officeDocument/2006/relationships/font" Target="fonts/Roboto-boldItalic.fntdata"/><Relationship Id="rId43" Type="http://schemas.openxmlformats.org/officeDocument/2006/relationships/font" Target="fonts/Roboto-italic.fntdata"/><Relationship Id="rId46" Type="http://schemas.openxmlformats.org/officeDocument/2006/relationships/font" Target="fonts/EncodeSans-bold.fntdata"/><Relationship Id="rId45" Type="http://schemas.openxmlformats.org/officeDocument/2006/relationships/font" Target="fonts/EncodeSans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Montserrat-bold.fntdata"/><Relationship Id="rId47" Type="http://schemas.openxmlformats.org/officeDocument/2006/relationships/font" Target="fonts/Montserrat-regular.fntdata"/><Relationship Id="rId49" Type="http://schemas.openxmlformats.org/officeDocument/2006/relationships/font" Target="fonts/Montserra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Anaheim-regular.fntdata"/><Relationship Id="rId50" Type="http://schemas.openxmlformats.org/officeDocument/2006/relationships/font" Target="fonts/Montserrat-boldItalic.fntdata"/><Relationship Id="rId53" Type="http://schemas.openxmlformats.org/officeDocument/2006/relationships/font" Target="fonts/MontserratLight-regular.fntdata"/><Relationship Id="rId52" Type="http://schemas.openxmlformats.org/officeDocument/2006/relationships/font" Target="fonts/Anaheim-bold.fntdata"/><Relationship Id="rId11" Type="http://schemas.openxmlformats.org/officeDocument/2006/relationships/slide" Target="slides/slide6.xml"/><Relationship Id="rId55" Type="http://schemas.openxmlformats.org/officeDocument/2006/relationships/font" Target="fonts/MontserratLight-italic.fntdata"/><Relationship Id="rId10" Type="http://schemas.openxmlformats.org/officeDocument/2006/relationships/slide" Target="slides/slide5.xml"/><Relationship Id="rId54" Type="http://schemas.openxmlformats.org/officeDocument/2006/relationships/font" Target="fonts/MontserratLight-bold.fntdata"/><Relationship Id="rId13" Type="http://schemas.openxmlformats.org/officeDocument/2006/relationships/slide" Target="slides/slide8.xml"/><Relationship Id="rId57" Type="http://schemas.openxmlformats.org/officeDocument/2006/relationships/font" Target="fonts/EncodeSansExtraBold-bold.fntdata"/><Relationship Id="rId12" Type="http://schemas.openxmlformats.org/officeDocument/2006/relationships/slide" Target="slides/slide7.xml"/><Relationship Id="rId56" Type="http://schemas.openxmlformats.org/officeDocument/2006/relationships/font" Target="fonts/MontserratLight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8" Type="http://customschemas.google.com/relationships/presentationmetadata" Target="meta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600">
              <a:solidFill>
                <a:srgbClr val="1C458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600">
              <a:solidFill>
                <a:srgbClr val="1C458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600">
              <a:solidFill>
                <a:srgbClr val="1C458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600">
              <a:solidFill>
                <a:srgbClr val="1C458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600">
              <a:solidFill>
                <a:srgbClr val="1C458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7"/>
          <p:cNvSpPr txBox="1"/>
          <p:nvPr>
            <p:ph type="ctrTitle"/>
          </p:nvPr>
        </p:nvSpPr>
        <p:spPr>
          <a:xfrm>
            <a:off x="311700" y="1197075"/>
            <a:ext cx="8520600" cy="17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Montserrat"/>
              <a:buNone/>
              <a:defRPr b="1" sz="52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4" name="Google Shape;14;p37"/>
          <p:cNvSpPr txBox="1"/>
          <p:nvPr>
            <p:ph idx="1" type="subTitle"/>
          </p:nvPr>
        </p:nvSpPr>
        <p:spPr>
          <a:xfrm>
            <a:off x="311700" y="3307413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sz="28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5" name="Google Shape;15;p37"/>
          <p:cNvSpPr txBox="1"/>
          <p:nvPr>
            <p:ph idx="12" type="sldNum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8"/>
          <p:cNvSpPr txBox="1"/>
          <p:nvPr>
            <p:ph type="title"/>
          </p:nvPr>
        </p:nvSpPr>
        <p:spPr>
          <a:xfrm>
            <a:off x="311700" y="993350"/>
            <a:ext cx="8520600" cy="9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Font typeface="Montserrat"/>
              <a:buNone/>
              <a:defRPr b="1" sz="33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38"/>
          <p:cNvSpPr txBox="1"/>
          <p:nvPr>
            <p:ph idx="1" type="body"/>
          </p:nvPr>
        </p:nvSpPr>
        <p:spPr>
          <a:xfrm>
            <a:off x="311700" y="1969350"/>
            <a:ext cx="8520600" cy="26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Encode Sans"/>
              <a:buChar char="●"/>
              <a:defRPr>
                <a:latin typeface="Encode Sans"/>
                <a:ea typeface="Encode Sans"/>
                <a:cs typeface="Encode Sans"/>
                <a:sym typeface="Encode Sans"/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○"/>
              <a:defRPr>
                <a:latin typeface="Encode Sans"/>
                <a:ea typeface="Encode Sans"/>
                <a:cs typeface="Encode Sans"/>
                <a:sym typeface="Encode Sans"/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■"/>
              <a:defRPr>
                <a:latin typeface="Encode Sans"/>
                <a:ea typeface="Encode Sans"/>
                <a:cs typeface="Encode Sans"/>
                <a:sym typeface="Encode Sans"/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●"/>
              <a:defRPr>
                <a:latin typeface="Encode Sans"/>
                <a:ea typeface="Encode Sans"/>
                <a:cs typeface="Encode Sans"/>
                <a:sym typeface="Encode Sans"/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○"/>
              <a:defRPr>
                <a:latin typeface="Encode Sans"/>
                <a:ea typeface="Encode Sans"/>
                <a:cs typeface="Encode Sans"/>
                <a:sym typeface="Encode Sans"/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■"/>
              <a:defRPr>
                <a:latin typeface="Encode Sans"/>
                <a:ea typeface="Encode Sans"/>
                <a:cs typeface="Encode Sans"/>
                <a:sym typeface="Encode Sans"/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●"/>
              <a:defRPr>
                <a:latin typeface="Encode Sans"/>
                <a:ea typeface="Encode Sans"/>
                <a:cs typeface="Encode Sans"/>
                <a:sym typeface="Encode Sans"/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○"/>
              <a:defRPr>
                <a:latin typeface="Encode Sans"/>
                <a:ea typeface="Encode Sans"/>
                <a:cs typeface="Encode Sans"/>
                <a:sym typeface="Encode Sans"/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■"/>
              <a:defRPr>
                <a:latin typeface="Encode Sans"/>
                <a:ea typeface="Encode Sans"/>
                <a:cs typeface="Encode Sans"/>
                <a:sym typeface="Encode Sans"/>
              </a:defRPr>
            </a:lvl9pPr>
          </a:lstStyle>
          <a:p/>
        </p:txBody>
      </p:sp>
      <p:sp>
        <p:nvSpPr>
          <p:cNvPr id="19" name="Google Shape;19;p38"/>
          <p:cNvSpPr txBox="1"/>
          <p:nvPr>
            <p:ph idx="12" type="sldNum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9"/>
          <p:cNvSpPr txBox="1"/>
          <p:nvPr>
            <p:ph type="title"/>
          </p:nvPr>
        </p:nvSpPr>
        <p:spPr>
          <a:xfrm>
            <a:off x="311700" y="1984800"/>
            <a:ext cx="8520600" cy="11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Montserrat"/>
              <a:buNone/>
              <a:defRPr b="1" sz="36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2" name="Google Shape;22;p39"/>
          <p:cNvSpPr txBox="1"/>
          <p:nvPr>
            <p:ph idx="12" type="sldNum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0"/>
          <p:cNvSpPr txBox="1"/>
          <p:nvPr>
            <p:ph type="title"/>
          </p:nvPr>
        </p:nvSpPr>
        <p:spPr>
          <a:xfrm>
            <a:off x="311700" y="993350"/>
            <a:ext cx="8520600" cy="9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40"/>
          <p:cNvSpPr txBox="1"/>
          <p:nvPr>
            <p:ph idx="1" type="body"/>
          </p:nvPr>
        </p:nvSpPr>
        <p:spPr>
          <a:xfrm>
            <a:off x="311700" y="2054300"/>
            <a:ext cx="3999900" cy="26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●"/>
              <a:defRPr sz="1400">
                <a:latin typeface="Encode Sans"/>
                <a:ea typeface="Encode Sans"/>
                <a:cs typeface="Encode Sans"/>
                <a:sym typeface="Encode Sans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○"/>
              <a:defRPr sz="1200">
                <a:latin typeface="Encode Sans"/>
                <a:ea typeface="Encode Sans"/>
                <a:cs typeface="Encode Sans"/>
                <a:sym typeface="Encode Sans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■"/>
              <a:defRPr sz="1200">
                <a:latin typeface="Encode Sans"/>
                <a:ea typeface="Encode Sans"/>
                <a:cs typeface="Encode Sans"/>
                <a:sym typeface="Encode Sans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●"/>
              <a:defRPr sz="1200">
                <a:latin typeface="Encode Sans"/>
                <a:ea typeface="Encode Sans"/>
                <a:cs typeface="Encode Sans"/>
                <a:sym typeface="Encode Sans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○"/>
              <a:defRPr sz="1200">
                <a:latin typeface="Encode Sans"/>
                <a:ea typeface="Encode Sans"/>
                <a:cs typeface="Encode Sans"/>
                <a:sym typeface="Encode Sans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■"/>
              <a:defRPr sz="1200">
                <a:latin typeface="Encode Sans"/>
                <a:ea typeface="Encode Sans"/>
                <a:cs typeface="Encode Sans"/>
                <a:sym typeface="Encode Sans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●"/>
              <a:defRPr sz="1200">
                <a:latin typeface="Encode Sans"/>
                <a:ea typeface="Encode Sans"/>
                <a:cs typeface="Encode Sans"/>
                <a:sym typeface="Encode Sans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○"/>
              <a:defRPr sz="1200">
                <a:latin typeface="Encode Sans"/>
                <a:ea typeface="Encode Sans"/>
                <a:cs typeface="Encode Sans"/>
                <a:sym typeface="Encode Sans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■"/>
              <a:defRPr sz="1200">
                <a:latin typeface="Encode Sans"/>
                <a:ea typeface="Encode Sans"/>
                <a:cs typeface="Encode Sans"/>
                <a:sym typeface="Encode Sans"/>
              </a:defRPr>
            </a:lvl9pPr>
          </a:lstStyle>
          <a:p/>
        </p:txBody>
      </p:sp>
      <p:sp>
        <p:nvSpPr>
          <p:cNvPr id="26" name="Google Shape;26;p40"/>
          <p:cNvSpPr txBox="1"/>
          <p:nvPr>
            <p:ph idx="2" type="body"/>
          </p:nvPr>
        </p:nvSpPr>
        <p:spPr>
          <a:xfrm>
            <a:off x="4832400" y="2054150"/>
            <a:ext cx="3999900" cy="26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●"/>
              <a:defRPr sz="1400">
                <a:latin typeface="Encode Sans"/>
                <a:ea typeface="Encode Sans"/>
                <a:cs typeface="Encode Sans"/>
                <a:sym typeface="Encode Sans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○"/>
              <a:defRPr sz="1200">
                <a:latin typeface="Encode Sans"/>
                <a:ea typeface="Encode Sans"/>
                <a:cs typeface="Encode Sans"/>
                <a:sym typeface="Encode Sans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■"/>
              <a:defRPr sz="1200">
                <a:latin typeface="Encode Sans"/>
                <a:ea typeface="Encode Sans"/>
                <a:cs typeface="Encode Sans"/>
                <a:sym typeface="Encode Sans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●"/>
              <a:defRPr sz="1200">
                <a:latin typeface="Encode Sans"/>
                <a:ea typeface="Encode Sans"/>
                <a:cs typeface="Encode Sans"/>
                <a:sym typeface="Encode Sans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○"/>
              <a:defRPr sz="1200">
                <a:latin typeface="Encode Sans"/>
                <a:ea typeface="Encode Sans"/>
                <a:cs typeface="Encode Sans"/>
                <a:sym typeface="Encode Sans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■"/>
              <a:defRPr sz="1200">
                <a:latin typeface="Encode Sans"/>
                <a:ea typeface="Encode Sans"/>
                <a:cs typeface="Encode Sans"/>
                <a:sym typeface="Encode Sans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●"/>
              <a:defRPr sz="1200">
                <a:latin typeface="Encode Sans"/>
                <a:ea typeface="Encode Sans"/>
                <a:cs typeface="Encode Sans"/>
                <a:sym typeface="Encode Sans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○"/>
              <a:defRPr sz="1200">
                <a:latin typeface="Encode Sans"/>
                <a:ea typeface="Encode Sans"/>
                <a:cs typeface="Encode Sans"/>
                <a:sym typeface="Encode Sans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■"/>
              <a:defRPr sz="1200">
                <a:latin typeface="Encode Sans"/>
                <a:ea typeface="Encode Sans"/>
                <a:cs typeface="Encode Sans"/>
                <a:sym typeface="Encode Sans"/>
              </a:defRPr>
            </a:lvl9pPr>
          </a:lstStyle>
          <a:p/>
        </p:txBody>
      </p:sp>
      <p:sp>
        <p:nvSpPr>
          <p:cNvPr id="27" name="Google Shape;27;p40"/>
          <p:cNvSpPr txBox="1"/>
          <p:nvPr>
            <p:ph idx="12" type="sldNum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1"/>
          <p:cNvSpPr txBox="1"/>
          <p:nvPr>
            <p:ph type="title"/>
          </p:nvPr>
        </p:nvSpPr>
        <p:spPr>
          <a:xfrm>
            <a:off x="311700" y="993350"/>
            <a:ext cx="8520600" cy="9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0" name="Google Shape;30;p41"/>
          <p:cNvSpPr txBox="1"/>
          <p:nvPr>
            <p:ph idx="12" type="sldNum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2"/>
          <p:cNvSpPr txBox="1"/>
          <p:nvPr>
            <p:ph type="title"/>
          </p:nvPr>
        </p:nvSpPr>
        <p:spPr>
          <a:xfrm>
            <a:off x="311700" y="1042600"/>
            <a:ext cx="2808000" cy="10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b="1" sz="24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42"/>
          <p:cNvSpPr txBox="1"/>
          <p:nvPr>
            <p:ph idx="1" type="body"/>
          </p:nvPr>
        </p:nvSpPr>
        <p:spPr>
          <a:xfrm>
            <a:off x="311700" y="1389600"/>
            <a:ext cx="2808000" cy="31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●"/>
              <a:defRPr sz="1200">
                <a:latin typeface="Encode Sans"/>
                <a:ea typeface="Encode Sans"/>
                <a:cs typeface="Encode Sans"/>
                <a:sym typeface="Encode Sans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○"/>
              <a:defRPr sz="1200">
                <a:latin typeface="Encode Sans"/>
                <a:ea typeface="Encode Sans"/>
                <a:cs typeface="Encode Sans"/>
                <a:sym typeface="Encode Sans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■"/>
              <a:defRPr sz="1200">
                <a:latin typeface="Encode Sans"/>
                <a:ea typeface="Encode Sans"/>
                <a:cs typeface="Encode Sans"/>
                <a:sym typeface="Encode Sans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●"/>
              <a:defRPr sz="1200">
                <a:latin typeface="Encode Sans"/>
                <a:ea typeface="Encode Sans"/>
                <a:cs typeface="Encode Sans"/>
                <a:sym typeface="Encode Sans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○"/>
              <a:defRPr sz="1200">
                <a:latin typeface="Encode Sans"/>
                <a:ea typeface="Encode Sans"/>
                <a:cs typeface="Encode Sans"/>
                <a:sym typeface="Encode Sans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■"/>
              <a:defRPr sz="1200">
                <a:latin typeface="Encode Sans"/>
                <a:ea typeface="Encode Sans"/>
                <a:cs typeface="Encode Sans"/>
                <a:sym typeface="Encode Sans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●"/>
              <a:defRPr sz="1200">
                <a:latin typeface="Encode Sans"/>
                <a:ea typeface="Encode Sans"/>
                <a:cs typeface="Encode Sans"/>
                <a:sym typeface="Encode Sans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○"/>
              <a:defRPr sz="1200">
                <a:latin typeface="Encode Sans"/>
                <a:ea typeface="Encode Sans"/>
                <a:cs typeface="Encode Sans"/>
                <a:sym typeface="Encode Sans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Encode Sans"/>
              <a:buChar char="■"/>
              <a:defRPr sz="1200">
                <a:latin typeface="Encode Sans"/>
                <a:ea typeface="Encode Sans"/>
                <a:cs typeface="Encode Sans"/>
                <a:sym typeface="Encode Sans"/>
              </a:defRPr>
            </a:lvl9pPr>
          </a:lstStyle>
          <a:p/>
        </p:txBody>
      </p:sp>
      <p:sp>
        <p:nvSpPr>
          <p:cNvPr id="34" name="Google Shape;34;p42"/>
          <p:cNvSpPr txBox="1"/>
          <p:nvPr>
            <p:ph idx="12" type="sldNum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3"/>
          <p:cNvSpPr txBox="1"/>
          <p:nvPr>
            <p:ph type="title"/>
          </p:nvPr>
        </p:nvSpPr>
        <p:spPr>
          <a:xfrm>
            <a:off x="490250" y="973100"/>
            <a:ext cx="6367800" cy="338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b="1" sz="48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b="1" sz="48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b="1" sz="48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b="1" sz="48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b="1" sz="48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b="1" sz="48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b="1" sz="48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b="1" sz="48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Font typeface="Montserrat"/>
              <a:buNone/>
              <a:defRPr b="1" sz="48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7" name="Google Shape;37;p43"/>
          <p:cNvSpPr txBox="1"/>
          <p:nvPr>
            <p:ph idx="12" type="sldNum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44"/>
          <p:cNvSpPr txBox="1"/>
          <p:nvPr>
            <p:ph type="title"/>
          </p:nvPr>
        </p:nvSpPr>
        <p:spPr>
          <a:xfrm>
            <a:off x="265500" y="1073500"/>
            <a:ext cx="4045200" cy="17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Encode Sans"/>
              <a:buNone/>
              <a:defRPr b="1" sz="4200">
                <a:latin typeface="Encode Sans"/>
                <a:ea typeface="Encode Sans"/>
                <a:cs typeface="Encode Sans"/>
                <a:sym typeface="Encode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1" name="Google Shape;41;p4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Montserrat"/>
              <a:buNone/>
              <a:defRPr sz="21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" name="Google Shape;42;p4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ncode Sans"/>
              <a:buChar char="●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Char char="○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Char char="■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Char char="●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Char char="○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Char char="■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Char char="●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Char char="○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ncode Sans"/>
              <a:buChar char="■"/>
              <a:defRPr>
                <a:solidFill>
                  <a:schemeClr val="dk1"/>
                </a:solidFill>
                <a:latin typeface="Encode Sans"/>
                <a:ea typeface="Encode Sans"/>
                <a:cs typeface="Encode Sans"/>
                <a:sym typeface="Encode Sans"/>
              </a:defRPr>
            </a:lvl9pPr>
          </a:lstStyle>
          <a:p/>
        </p:txBody>
      </p:sp>
      <p:sp>
        <p:nvSpPr>
          <p:cNvPr id="43" name="Google Shape;43;p44"/>
          <p:cNvSpPr txBox="1"/>
          <p:nvPr>
            <p:ph idx="12" type="sldNum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5"/>
          <p:cNvSpPr txBox="1"/>
          <p:nvPr>
            <p:ph idx="1" type="body"/>
          </p:nvPr>
        </p:nvSpPr>
        <p:spPr>
          <a:xfrm>
            <a:off x="49125" y="4179425"/>
            <a:ext cx="56349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</a:lstStyle>
          <a:p/>
        </p:txBody>
      </p:sp>
      <p:sp>
        <p:nvSpPr>
          <p:cNvPr id="46" name="Google Shape;46;p45"/>
          <p:cNvSpPr txBox="1"/>
          <p:nvPr>
            <p:ph idx="12" type="sldNum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4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Encode Sans ExtraBold"/>
              <a:buNone/>
              <a:defRPr sz="12000">
                <a:latin typeface="Encode Sans ExtraBold"/>
                <a:ea typeface="Encode Sans ExtraBold"/>
                <a:cs typeface="Encode Sans ExtraBold"/>
                <a:sym typeface="Encode Sans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Encode Sans ExtraBold"/>
              <a:buNone/>
              <a:defRPr sz="12000">
                <a:latin typeface="Encode Sans ExtraBold"/>
                <a:ea typeface="Encode Sans ExtraBold"/>
                <a:cs typeface="Encode Sans ExtraBold"/>
                <a:sym typeface="Encode Sans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Encode Sans ExtraBold"/>
              <a:buNone/>
              <a:defRPr sz="12000">
                <a:latin typeface="Encode Sans ExtraBold"/>
                <a:ea typeface="Encode Sans ExtraBold"/>
                <a:cs typeface="Encode Sans ExtraBold"/>
                <a:sym typeface="Encode Sans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Encode Sans ExtraBold"/>
              <a:buNone/>
              <a:defRPr sz="12000">
                <a:latin typeface="Encode Sans ExtraBold"/>
                <a:ea typeface="Encode Sans ExtraBold"/>
                <a:cs typeface="Encode Sans ExtraBold"/>
                <a:sym typeface="Encode Sans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Encode Sans ExtraBold"/>
              <a:buNone/>
              <a:defRPr sz="12000">
                <a:latin typeface="Encode Sans ExtraBold"/>
                <a:ea typeface="Encode Sans ExtraBold"/>
                <a:cs typeface="Encode Sans ExtraBold"/>
                <a:sym typeface="Encode Sans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Encode Sans ExtraBold"/>
              <a:buNone/>
              <a:defRPr sz="12000">
                <a:latin typeface="Encode Sans ExtraBold"/>
                <a:ea typeface="Encode Sans ExtraBold"/>
                <a:cs typeface="Encode Sans ExtraBold"/>
                <a:sym typeface="Encode Sans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Encode Sans ExtraBold"/>
              <a:buNone/>
              <a:defRPr sz="12000">
                <a:latin typeface="Encode Sans ExtraBold"/>
                <a:ea typeface="Encode Sans ExtraBold"/>
                <a:cs typeface="Encode Sans ExtraBold"/>
                <a:sym typeface="Encode Sans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Encode Sans ExtraBold"/>
              <a:buNone/>
              <a:defRPr sz="12000">
                <a:latin typeface="Encode Sans ExtraBold"/>
                <a:ea typeface="Encode Sans ExtraBold"/>
                <a:cs typeface="Encode Sans ExtraBold"/>
                <a:sym typeface="Encode Sans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Encode Sans ExtraBold"/>
              <a:buNone/>
              <a:defRPr sz="12000">
                <a:latin typeface="Encode Sans ExtraBold"/>
                <a:ea typeface="Encode Sans ExtraBold"/>
                <a:cs typeface="Encode Sans ExtraBold"/>
                <a:sym typeface="Encode Sans ExtraBold"/>
              </a:defRPr>
            </a:lvl9pPr>
          </a:lstStyle>
          <a:p>
            <a:r>
              <a:t>xx%</a:t>
            </a:r>
          </a:p>
        </p:txBody>
      </p:sp>
      <p:sp>
        <p:nvSpPr>
          <p:cNvPr id="49" name="Google Shape;49;p4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Encode Sans"/>
              <a:buChar char="●"/>
              <a:defRPr>
                <a:latin typeface="Encode Sans"/>
                <a:ea typeface="Encode Sans"/>
                <a:cs typeface="Encode Sans"/>
                <a:sym typeface="Encode Sans"/>
              </a:defRPr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○"/>
              <a:defRPr>
                <a:latin typeface="Encode Sans"/>
                <a:ea typeface="Encode Sans"/>
                <a:cs typeface="Encode Sans"/>
                <a:sym typeface="Encode Sans"/>
              </a:defRPr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■"/>
              <a:defRPr>
                <a:latin typeface="Encode Sans"/>
                <a:ea typeface="Encode Sans"/>
                <a:cs typeface="Encode Sans"/>
                <a:sym typeface="Encode Sans"/>
              </a:defRPr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●"/>
              <a:defRPr>
                <a:latin typeface="Encode Sans"/>
                <a:ea typeface="Encode Sans"/>
                <a:cs typeface="Encode Sans"/>
                <a:sym typeface="Encode Sans"/>
              </a:defRPr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○"/>
              <a:defRPr>
                <a:latin typeface="Encode Sans"/>
                <a:ea typeface="Encode Sans"/>
                <a:cs typeface="Encode Sans"/>
                <a:sym typeface="Encode Sans"/>
              </a:defRPr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■"/>
              <a:defRPr>
                <a:latin typeface="Encode Sans"/>
                <a:ea typeface="Encode Sans"/>
                <a:cs typeface="Encode Sans"/>
                <a:sym typeface="Encode Sans"/>
              </a:defRPr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●"/>
              <a:defRPr>
                <a:latin typeface="Encode Sans"/>
                <a:ea typeface="Encode Sans"/>
                <a:cs typeface="Encode Sans"/>
                <a:sym typeface="Encode Sans"/>
              </a:defRPr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○"/>
              <a:defRPr>
                <a:latin typeface="Encode Sans"/>
                <a:ea typeface="Encode Sans"/>
                <a:cs typeface="Encode Sans"/>
                <a:sym typeface="Encode Sans"/>
              </a:defRPr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Encode Sans"/>
              <a:buChar char="■"/>
              <a:defRPr>
                <a:latin typeface="Encode Sans"/>
                <a:ea typeface="Encode Sans"/>
                <a:cs typeface="Encode Sans"/>
                <a:sym typeface="Encode Sans"/>
              </a:defRPr>
            </a:lvl9pPr>
          </a:lstStyle>
          <a:p/>
        </p:txBody>
      </p:sp>
      <p:sp>
        <p:nvSpPr>
          <p:cNvPr id="50" name="Google Shape;50;p46"/>
          <p:cNvSpPr txBox="1"/>
          <p:nvPr>
            <p:ph idx="12" type="sldNum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7"/>
          <p:cNvSpPr txBox="1"/>
          <p:nvPr>
            <p:ph idx="12" type="sldNum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6"/>
          <p:cNvSpPr txBox="1"/>
          <p:nvPr>
            <p:ph type="title"/>
          </p:nvPr>
        </p:nvSpPr>
        <p:spPr>
          <a:xfrm>
            <a:off x="311700" y="993350"/>
            <a:ext cx="8520600" cy="9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Montserrat"/>
              <a:buNone/>
              <a:defRPr b="1" i="0" sz="2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1"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1"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1"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1"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1"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1"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1"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1"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36"/>
          <p:cNvSpPr txBox="1"/>
          <p:nvPr>
            <p:ph idx="1" type="body"/>
          </p:nvPr>
        </p:nvSpPr>
        <p:spPr>
          <a:xfrm>
            <a:off x="311700" y="1969350"/>
            <a:ext cx="8520600" cy="26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Encode Sans"/>
              <a:buChar char="●"/>
              <a:defRPr b="0" i="0" sz="1800" u="none" cap="none" strike="noStrik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Encode Sans"/>
              <a:buChar char="○"/>
              <a:defRPr b="0" i="0" sz="1400" u="none" cap="none" strike="noStrik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Encode Sans"/>
              <a:buChar char="■"/>
              <a:defRPr b="0" i="0" sz="1400" u="none" cap="none" strike="noStrik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Encode Sans"/>
              <a:buChar char="●"/>
              <a:defRPr b="0" i="0" sz="1400" u="none" cap="none" strike="noStrik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Encode Sans"/>
              <a:buChar char="○"/>
              <a:defRPr b="0" i="0" sz="1400" u="none" cap="none" strike="noStrik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Encode Sans"/>
              <a:buChar char="■"/>
              <a:defRPr b="0" i="0" sz="1400" u="none" cap="none" strike="noStrik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Encode Sans"/>
              <a:buChar char="●"/>
              <a:defRPr b="0" i="0" sz="1400" u="none" cap="none" strike="noStrik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Encode Sans"/>
              <a:buChar char="○"/>
              <a:defRPr b="0" i="0" sz="1400" u="none" cap="none" strike="noStrik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Encode Sans"/>
              <a:buChar char="■"/>
              <a:defRPr b="0" i="0" sz="1400" u="none" cap="none" strike="noStrik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9pPr>
          </a:lstStyle>
          <a:p/>
        </p:txBody>
      </p:sp>
      <p:sp>
        <p:nvSpPr>
          <p:cNvPr id="8" name="Google Shape;8;p36"/>
          <p:cNvSpPr txBox="1"/>
          <p:nvPr/>
        </p:nvSpPr>
        <p:spPr>
          <a:xfrm>
            <a:off x="1668175" y="84975"/>
            <a:ext cx="74757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419" sz="18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Programación I</a:t>
            </a:r>
            <a:endParaRPr b="0" i="0" sz="1800" u="none" cap="none" strike="noStrike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9" name="Google Shape;9;p36"/>
          <p:cNvSpPr txBox="1"/>
          <p:nvPr/>
        </p:nvSpPr>
        <p:spPr>
          <a:xfrm>
            <a:off x="1668175" y="654446"/>
            <a:ext cx="74757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-419" sz="15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Arreglos Unidimensionales</a:t>
            </a:r>
            <a:endParaRPr b="0" i="0" sz="1500" u="none" cap="none" strike="noStrike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10" name="Google Shape;10;p36"/>
          <p:cNvSpPr txBox="1"/>
          <p:nvPr/>
        </p:nvSpPr>
        <p:spPr>
          <a:xfrm>
            <a:off x="1668175" y="370798"/>
            <a:ext cx="74757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-419" sz="8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Scudero Yanina - Scarafilo Germán - Costello </a:t>
            </a:r>
            <a:r>
              <a:rPr b="0" i="0" lang="es-419" sz="800" u="none" cap="none" strike="noStrike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Patricio </a:t>
            </a:r>
            <a:r>
              <a:rPr b="0" i="0" lang="es-419" sz="8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- Benitez Daniel</a:t>
            </a:r>
            <a:endParaRPr b="0" i="0" sz="800" u="none" cap="none" strike="noStrike">
              <a:solidFill>
                <a:srgbClr val="FFFFF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11" name="Google Shape;11;p36"/>
          <p:cNvSpPr txBox="1"/>
          <p:nvPr>
            <p:ph idx="12" type="sldNum"/>
          </p:nvPr>
        </p:nvSpPr>
        <p:spPr>
          <a:xfrm>
            <a:off x="8472458" y="461020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0.png"/><Relationship Id="rId4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0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8.png"/><Relationship Id="rId4" Type="http://schemas.openxmlformats.org/officeDocument/2006/relationships/image" Target="../media/image2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4.png"/><Relationship Id="rId4" Type="http://schemas.openxmlformats.org/officeDocument/2006/relationships/image" Target="../media/image1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7.gif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6.gif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9.png"/><Relationship Id="rId4" Type="http://schemas.openxmlformats.org/officeDocument/2006/relationships/image" Target="../media/image3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1.png"/><Relationship Id="rId4" Type="http://schemas.openxmlformats.org/officeDocument/2006/relationships/image" Target="../media/image30.png"/><Relationship Id="rId5" Type="http://schemas.openxmlformats.org/officeDocument/2006/relationships/image" Target="../media/image32.png"/><Relationship Id="rId6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"/>
          <p:cNvSpPr txBox="1"/>
          <p:nvPr>
            <p:ph idx="1" type="subTitle"/>
          </p:nvPr>
        </p:nvSpPr>
        <p:spPr>
          <a:xfrm>
            <a:off x="0" y="1139875"/>
            <a:ext cx="8755800" cy="305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266503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s-419" sz="4100">
                <a:solidFill>
                  <a:schemeClr val="lt1"/>
                </a:solidFill>
              </a:rPr>
              <a:t>Arreglos unidimensionales: </a:t>
            </a:r>
            <a:endParaRPr b="1" sz="4100">
              <a:solidFill>
                <a:schemeClr val="lt1"/>
              </a:solidFill>
            </a:endParaRPr>
          </a:p>
          <a:p>
            <a:pPr indent="0" lvl="0" marL="0" marR="266503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4100">
                <a:solidFill>
                  <a:schemeClr val="lt1"/>
                </a:solidFill>
              </a:rPr>
              <a:t>Vectores</a:t>
            </a:r>
            <a:endParaRPr b="1" sz="4100">
              <a:solidFill>
                <a:schemeClr val="lt1"/>
              </a:solidFill>
            </a:endParaRPr>
          </a:p>
        </p:txBody>
      </p:sp>
      <p:pic>
        <p:nvPicPr>
          <p:cNvPr id="58" name="Google Shape;58;p1"/>
          <p:cNvPicPr preferRelativeResize="0"/>
          <p:nvPr/>
        </p:nvPicPr>
        <p:blipFill rotWithShape="1">
          <a:blip r:embed="rId3">
            <a:alphaModFix/>
          </a:blip>
          <a:srcRect b="15460" l="0" r="0" t="0"/>
          <a:stretch/>
        </p:blipFill>
        <p:spPr>
          <a:xfrm>
            <a:off x="5194775" y="1484700"/>
            <a:ext cx="3793025" cy="217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"/>
          <p:cNvSpPr txBox="1"/>
          <p:nvPr/>
        </p:nvSpPr>
        <p:spPr>
          <a:xfrm>
            <a:off x="379925" y="917350"/>
            <a:ext cx="8319300" cy="239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s-419" sz="33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¿Qué es un vector? </a:t>
            </a:r>
            <a:endParaRPr b="1" i="0" sz="33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7"/>
              <a:buFont typeface="Arial"/>
              <a:buNone/>
            </a:pPr>
            <a:r>
              <a:rPr b="0" i="0" lang="es-419" sz="197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 </a:t>
            </a:r>
            <a:r>
              <a:rPr b="1" i="0" lang="es-419" sz="197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arreglo unidimensional</a:t>
            </a:r>
            <a:r>
              <a:rPr b="0" i="0" lang="es-419" sz="197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, también conocido como </a:t>
            </a:r>
            <a:r>
              <a:rPr b="1" i="0" lang="es-419" sz="197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vector</a:t>
            </a:r>
            <a:r>
              <a:rPr b="0" i="0" lang="es-419" sz="197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, es una </a:t>
            </a:r>
            <a:r>
              <a:rPr b="1" i="0" lang="es-419" sz="197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estructura de datos que organiza elementos de manera lineal</a:t>
            </a:r>
            <a:r>
              <a:rPr b="0" i="0" lang="es-419" sz="197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, es decir, dispuestos uno tras otro en una sola dimensión. Cada elemento  tiene una posición única y puede ser accedido utilizando un único índice.</a:t>
            </a:r>
            <a:endParaRPr b="0" i="0" sz="2088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44"/>
              <a:buFont typeface="Arial"/>
              <a:buNone/>
            </a:pPr>
            <a:r>
              <a:t/>
            </a:r>
            <a:endParaRPr b="0" i="0" sz="1644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" name="Google Shape;6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40208" y="3103025"/>
            <a:ext cx="4263574" cy="1250175"/>
          </a:xfrm>
          <a:prstGeom prst="rect">
            <a:avLst/>
          </a:prstGeom>
          <a:noFill/>
          <a:ln cap="flat" cmpd="sng" w="2857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"/>
          <p:cNvSpPr txBox="1"/>
          <p:nvPr/>
        </p:nvSpPr>
        <p:spPr>
          <a:xfrm>
            <a:off x="379925" y="975600"/>
            <a:ext cx="8319300" cy="416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2500"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s-419" sz="33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Beneficios del uso de vectores/listas :</a:t>
            </a:r>
            <a:endParaRPr b="1" i="0" sz="33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481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Arial"/>
              <a:buChar char="●"/>
            </a:pPr>
            <a:r>
              <a:rPr b="1" i="0" lang="es-419" sz="197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Organización y gestión de datos:</a:t>
            </a:r>
            <a:r>
              <a:rPr b="0" i="0" lang="es-419" sz="197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Las listas permiten agrupar datos relacionados en una sola estructura, simplificando su manejo y organización.</a:t>
            </a:r>
            <a:endParaRPr b="0" i="0" sz="1977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481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Arial"/>
              <a:buChar char="●"/>
            </a:pPr>
            <a:r>
              <a:rPr b="1" i="0" lang="es-419" sz="197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Acceso y manipulación eficiente:</a:t>
            </a:r>
            <a:r>
              <a:rPr b="0" i="0" lang="es-419" sz="197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Las listas facilitan el acceso, la iteración y la modificación de datos mediante índices, lo que es más eficiente que manejar variables individuales.</a:t>
            </a:r>
            <a:endParaRPr b="0" i="0" sz="1977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481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Arial"/>
              <a:buChar char="●"/>
            </a:pPr>
            <a:r>
              <a:rPr b="1" i="0" lang="es-419" sz="197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Escalabilidad:</a:t>
            </a:r>
            <a:r>
              <a:rPr b="0" i="0" lang="es-419" sz="197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Las listas son flexibles y escalables, permitiendo ajustar la cantidad de datos sin necesidad de crear nuevas variables.</a:t>
            </a:r>
            <a:endParaRPr b="0" i="0" sz="1977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481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Arial"/>
              <a:buChar char="●"/>
            </a:pPr>
            <a:r>
              <a:rPr b="1" i="0" lang="es-419" sz="197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Operaciones en lote:</a:t>
            </a:r>
            <a:r>
              <a:rPr b="0" i="0" lang="es-419" sz="197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Las listas permiten realizar operaciones en grupo, como ordenar y filtrar, de manera más eficiente que aplicar operaciones individuales a cada variable.</a:t>
            </a:r>
            <a:endParaRPr b="0" i="0" sz="1977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1977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1644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"/>
          <p:cNvSpPr txBox="1"/>
          <p:nvPr/>
        </p:nvSpPr>
        <p:spPr>
          <a:xfrm>
            <a:off x="379925" y="1076425"/>
            <a:ext cx="5158500" cy="350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s-419" sz="33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Arrays en Python </a:t>
            </a:r>
            <a:endParaRPr b="1" i="0" sz="33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t/>
            </a:r>
            <a:endParaRPr b="1" i="0" sz="33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7"/>
              <a:buFont typeface="Arial"/>
              <a:buNone/>
            </a:pPr>
            <a:r>
              <a:rPr b="0" i="0" lang="es-419" sz="197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 Python, utilizaremos listas simples para representar arrays, enfocándonos en su uso algorítmico. Las listas almacenan colecciones de objetos de manera ordenada y accesible, siendo útiles para datos relacionados.</a:t>
            </a:r>
            <a:endParaRPr b="0" i="0" sz="2088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44"/>
              <a:buFont typeface="Arial"/>
              <a:buNone/>
            </a:pPr>
            <a:r>
              <a:t/>
            </a:r>
            <a:endParaRPr b="0" i="0" sz="1644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5" name="Google Shape;7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65425" y="1664775"/>
            <a:ext cx="3065626" cy="2186025"/>
          </a:xfrm>
          <a:prstGeom prst="rect">
            <a:avLst/>
          </a:prstGeom>
          <a:noFill/>
          <a:ln cap="flat" cmpd="sng" w="2857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"/>
          <p:cNvSpPr txBox="1"/>
          <p:nvPr/>
        </p:nvSpPr>
        <p:spPr>
          <a:xfrm>
            <a:off x="140300" y="1717638"/>
            <a:ext cx="5069700" cy="20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4189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78"/>
              <a:buFont typeface="Arial"/>
              <a:buChar char="●"/>
            </a:pPr>
            <a:r>
              <a:rPr b="1" i="0" lang="es-419" sz="197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Las listas son estructuras de datos que almacenan elementos en un orden secuencial.</a:t>
            </a:r>
            <a:endParaRPr b="1" i="0" sz="1977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4189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78"/>
              <a:buFont typeface="Arial"/>
              <a:buChar char="●"/>
            </a:pPr>
            <a:r>
              <a:rPr b="1" i="0" lang="es-419" sz="197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Los elementos dentro de una lista pueden ser de diferentes tipos (enteros, cadenas, booleanos, etc.)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1" name="Google Shape;8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20150" y="1974225"/>
            <a:ext cx="3329299" cy="1485750"/>
          </a:xfrm>
          <a:prstGeom prst="rect">
            <a:avLst/>
          </a:prstGeom>
          <a:noFill/>
          <a:ln cap="flat" cmpd="sng" w="2857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"/>
          <p:cNvSpPr txBox="1"/>
          <p:nvPr/>
        </p:nvSpPr>
        <p:spPr>
          <a:xfrm>
            <a:off x="379925" y="1061475"/>
            <a:ext cx="8319300" cy="37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s-419" sz="33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Características de listas :</a:t>
            </a:r>
            <a:endParaRPr b="1" i="0" sz="33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t/>
            </a:r>
            <a:endParaRPr b="1" i="0" sz="33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4189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78"/>
              <a:buFont typeface="Arial"/>
              <a:buChar char="●"/>
            </a:pPr>
            <a:r>
              <a:rPr b="1" i="0" lang="es-419" sz="197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Mutable:</a:t>
            </a:r>
            <a:r>
              <a:rPr b="0" i="0" lang="es-419" sz="197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los elementos de una lista pueden cambiar luego de su creación.</a:t>
            </a:r>
            <a:endParaRPr b="0" i="0" sz="1977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4189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78"/>
              <a:buFont typeface="Arial"/>
              <a:buChar char="●"/>
            </a:pPr>
            <a:r>
              <a:rPr b="1" i="0" lang="es-419" sz="197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Indexable:</a:t>
            </a:r>
            <a:r>
              <a:rPr b="0" i="0" lang="es-419" sz="197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los elementos de una lista pueden accederse mediante índices (posiciones).</a:t>
            </a:r>
            <a:endParaRPr b="0" i="0" sz="1977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4189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78"/>
              <a:buFont typeface="Arial"/>
              <a:buChar char="●"/>
            </a:pPr>
            <a:r>
              <a:rPr b="1" i="0" lang="es-419" sz="197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Ordenada:</a:t>
            </a:r>
            <a:r>
              <a:rPr b="0" i="0" lang="es-419" sz="197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Los elementos de una lista mantienen un orden específico</a:t>
            </a:r>
            <a:r>
              <a:rPr lang="es-419" sz="1977">
                <a:solidFill>
                  <a:srgbClr val="FFFFFF"/>
                </a:solidFill>
              </a:rPr>
              <a:t> (no significa que los elementos </a:t>
            </a:r>
            <a:r>
              <a:rPr lang="es-419" sz="1977">
                <a:solidFill>
                  <a:srgbClr val="FFFFFF"/>
                </a:solidFill>
              </a:rPr>
              <a:t>están</a:t>
            </a:r>
            <a:r>
              <a:rPr lang="es-419" sz="1977">
                <a:solidFill>
                  <a:srgbClr val="FFFFFF"/>
                </a:solidFill>
              </a:rPr>
              <a:t> ordenados, por ejemplo de menor a mayor)</a:t>
            </a:r>
            <a:endParaRPr b="0" i="0" sz="1977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7"/>
              <a:buFont typeface="Arial"/>
              <a:buNone/>
            </a:pPr>
            <a:r>
              <a:t/>
            </a:r>
            <a:endParaRPr b="0" i="0" sz="1977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44"/>
              <a:buFont typeface="Arial"/>
              <a:buNone/>
            </a:pPr>
            <a:r>
              <a:t/>
            </a:r>
            <a:endParaRPr b="0" i="0" sz="1644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7"/>
          <p:cNvSpPr txBox="1"/>
          <p:nvPr/>
        </p:nvSpPr>
        <p:spPr>
          <a:xfrm>
            <a:off x="379925" y="970375"/>
            <a:ext cx="8622300" cy="40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s-419" sz="33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Problema: gestión de calificaciones de estudiantes</a:t>
            </a:r>
            <a:endParaRPr b="1" i="0" sz="33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t/>
            </a:r>
            <a:endParaRPr b="1" i="0" sz="33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7"/>
              <a:buFont typeface="Arial"/>
              <a:buNone/>
            </a:pPr>
            <a:r>
              <a:rPr b="1" i="0" lang="es-419" sz="197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Imagin</a:t>
            </a:r>
            <a:r>
              <a:rPr b="1" lang="es-419" sz="1977">
                <a:solidFill>
                  <a:srgbClr val="FFFFFF"/>
                </a:solidFill>
              </a:rPr>
              <a:t>á</a:t>
            </a:r>
            <a:r>
              <a:rPr b="1" i="0" lang="es-419" sz="197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que </a:t>
            </a:r>
            <a:r>
              <a:rPr b="1" lang="es-419" sz="1977">
                <a:solidFill>
                  <a:srgbClr val="FFFFFF"/>
                </a:solidFill>
              </a:rPr>
              <a:t>necesitas</a:t>
            </a:r>
            <a:r>
              <a:rPr b="1" i="0" lang="es-419" sz="197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gestionar las calificaciones de 100 estudiantes en una clase. Usar variables individuales para cada calificación sería impráctico y engorroso. Por ejemplo, si intentas hacerlo con variables individuales, tendrías que definir 100 variables, una para cada estudiante, y luego realizar operaciones en cada una de ellas.</a:t>
            </a:r>
            <a:endParaRPr b="0" i="0" sz="1977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77"/>
              <a:buFont typeface="Arial"/>
              <a:buNone/>
            </a:pPr>
            <a:r>
              <a:t/>
            </a:r>
            <a:endParaRPr b="0" i="0" sz="1977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44"/>
              <a:buFont typeface="Arial"/>
              <a:buNone/>
            </a:pPr>
            <a:r>
              <a:t/>
            </a:r>
            <a:endParaRPr b="0" i="0" sz="1644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8"/>
          <p:cNvSpPr txBox="1"/>
          <p:nvPr/>
        </p:nvSpPr>
        <p:spPr>
          <a:xfrm>
            <a:off x="379925" y="975600"/>
            <a:ext cx="8319300" cy="15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s-419" sz="33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Problema: gestión de calificaciones de estudiantes </a:t>
            </a:r>
            <a:endParaRPr b="1" i="0" sz="33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44"/>
              <a:buFont typeface="Arial"/>
              <a:buNone/>
            </a:pPr>
            <a:r>
              <a:rPr b="0" i="0" lang="es-419" sz="164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Aquí, gestionar y operar con tantas variables individuales es extremadamente complicado y propenso a errores.</a:t>
            </a:r>
            <a:endParaRPr b="0" i="0" sz="1644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7" name="Google Shape;97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8488" y="2614862"/>
            <a:ext cx="6662176" cy="2120675"/>
          </a:xfrm>
          <a:prstGeom prst="rect">
            <a:avLst/>
          </a:prstGeom>
          <a:noFill/>
          <a:ln cap="flat" cmpd="sng" w="2857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9"/>
          <p:cNvSpPr txBox="1"/>
          <p:nvPr/>
        </p:nvSpPr>
        <p:spPr>
          <a:xfrm>
            <a:off x="379925" y="662825"/>
            <a:ext cx="8319300" cy="185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s-419" sz="33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Solución con listas</a:t>
            </a:r>
            <a:endParaRPr b="1" i="0" sz="33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44"/>
              <a:buFont typeface="Arial"/>
              <a:buNone/>
            </a:pPr>
            <a:r>
              <a:rPr b="0" i="0" lang="es-419" sz="164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Las listas permiten almacenar todas las calificaciones en una sola estructura, lo que facilita la gestión y manipulación de los datos.</a:t>
            </a:r>
            <a:endParaRPr b="0" i="0" sz="1644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3" name="Google Shape;10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44850" y="2334425"/>
            <a:ext cx="6454287" cy="2319600"/>
          </a:xfrm>
          <a:prstGeom prst="rect">
            <a:avLst/>
          </a:prstGeom>
          <a:noFill/>
          <a:ln cap="flat" cmpd="sng" w="2857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0"/>
          <p:cNvSpPr txBox="1"/>
          <p:nvPr/>
        </p:nvSpPr>
        <p:spPr>
          <a:xfrm>
            <a:off x="379925" y="917350"/>
            <a:ext cx="8297700" cy="39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s-419" sz="33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Explicación</a:t>
            </a:r>
            <a:endParaRPr b="1" i="0" sz="33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t/>
            </a:r>
            <a:endParaRPr b="1" i="0" sz="33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2071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44"/>
              <a:buFont typeface="Arial"/>
              <a:buChar char="●"/>
            </a:pPr>
            <a:r>
              <a:rPr b="1" i="0" lang="es-419" sz="194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Organización:</a:t>
            </a:r>
            <a:r>
              <a:rPr b="0" i="0" lang="es-419" sz="194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Con una lista, podés almacenar todas las calificaciones en un solo lugar, en lugar de tener que definir 100 variables.</a:t>
            </a:r>
            <a:endParaRPr b="0" i="0" sz="1944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2071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44"/>
              <a:buFont typeface="Arial"/>
              <a:buChar char="●"/>
            </a:pPr>
            <a:r>
              <a:rPr b="1" i="0" lang="es-419" sz="194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Acceso y Manipulación:</a:t>
            </a:r>
            <a:r>
              <a:rPr b="0" i="0" lang="es-419" sz="194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Podés acceder a cualquier calificación usando su índice y realizar operaciones en todas las calificaciones de manera eficiente.</a:t>
            </a:r>
            <a:endParaRPr b="0" i="0" sz="1944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2071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44"/>
              <a:buFont typeface="Arial"/>
              <a:buChar char="●"/>
            </a:pPr>
            <a:r>
              <a:rPr b="1" i="0" lang="es-419" sz="194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Escalabilidad:</a:t>
            </a:r>
            <a:r>
              <a:rPr b="0" i="0" lang="es-419" sz="194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Si agregás más estudiantes, solo necesitas añadir elementos a la lista en lugar de crear nuevas variables.</a:t>
            </a:r>
            <a:endParaRPr b="0" i="0" sz="1944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4"/>
              <a:buFont typeface="Arial"/>
              <a:buNone/>
            </a:pPr>
            <a:r>
              <a:t/>
            </a:r>
            <a:endParaRPr b="0" i="0" sz="1944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44"/>
              <a:buFont typeface="Arial"/>
              <a:buNone/>
            </a:pPr>
            <a:r>
              <a:t/>
            </a:r>
            <a:endParaRPr b="0" i="0" sz="1644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1"/>
          <p:cNvSpPr txBox="1"/>
          <p:nvPr/>
        </p:nvSpPr>
        <p:spPr>
          <a:xfrm>
            <a:off x="379925" y="821900"/>
            <a:ext cx="8319300" cy="372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s-419" sz="3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Declaración de una lista vacía en Python</a:t>
            </a:r>
            <a:endParaRPr b="1" i="0" sz="30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1" i="0" sz="30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2071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44"/>
              <a:buFont typeface="Arial"/>
              <a:buChar char="●"/>
            </a:pPr>
            <a:r>
              <a:rPr b="1" i="0" lang="es-419" sz="194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Declaración Básica: </a:t>
            </a:r>
            <a:r>
              <a:rPr b="0" i="0" lang="es-419" sz="194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Crea una lista vacía usando corchetes</a:t>
            </a:r>
            <a:br>
              <a:rPr b="1" i="0" lang="es-419" sz="194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944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2071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44"/>
              <a:buFont typeface="Arial"/>
              <a:buChar char="●"/>
            </a:pPr>
            <a:r>
              <a:rPr b="1" i="0" lang="es-419" sz="194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Uso del Constructor: </a:t>
            </a:r>
            <a:r>
              <a:rPr b="0" i="0" lang="es-419" sz="194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Alternativamente, usa el constructor ‘list()’ para crear una lista vacía</a:t>
            </a:r>
            <a:endParaRPr b="0" i="0" sz="1944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44"/>
              <a:buFont typeface="Arial"/>
              <a:buNone/>
            </a:pPr>
            <a:r>
              <a:t/>
            </a:r>
            <a:endParaRPr b="0" i="0" sz="1644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4" name="Google Shape;114;p11"/>
          <p:cNvPicPr preferRelativeResize="0"/>
          <p:nvPr/>
        </p:nvPicPr>
        <p:blipFill rotWithShape="1">
          <a:blip r:embed="rId3">
            <a:alphaModFix/>
          </a:blip>
          <a:srcRect b="0" l="0" r="27049" t="0"/>
          <a:stretch/>
        </p:blipFill>
        <p:spPr>
          <a:xfrm>
            <a:off x="934200" y="2455000"/>
            <a:ext cx="6448426" cy="515975"/>
          </a:xfrm>
          <a:prstGeom prst="rect">
            <a:avLst/>
          </a:prstGeom>
          <a:noFill/>
          <a:ln cap="flat" cmpd="sng" w="2857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5" name="Google Shape;115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4200" y="3979450"/>
            <a:ext cx="6448426" cy="517100"/>
          </a:xfrm>
          <a:prstGeom prst="rect">
            <a:avLst/>
          </a:prstGeom>
          <a:noFill/>
          <a:ln cap="flat" cmpd="sng" w="2857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2"/>
          <p:cNvSpPr txBox="1"/>
          <p:nvPr/>
        </p:nvSpPr>
        <p:spPr>
          <a:xfrm>
            <a:off x="412350" y="906275"/>
            <a:ext cx="8319300" cy="424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s-419" sz="33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Comportamiento en la memoria - Stack y Heap</a:t>
            </a:r>
            <a:endParaRPr b="1" i="0" sz="33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44"/>
              <a:buFont typeface="Arial"/>
              <a:buNone/>
            </a:pPr>
            <a:r>
              <a:t/>
            </a:r>
            <a:endParaRPr b="0" i="0" sz="1944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8"/>
              <a:buFont typeface="Arial"/>
              <a:buNone/>
            </a:pPr>
            <a:r>
              <a:rPr b="1" i="0" lang="es-419" sz="172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Estas instrucciones crean una lista vacía y asigna esa lista a la variable mi_lista.</a:t>
            </a:r>
            <a:endParaRPr b="1" i="0" sz="1728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8"/>
              <a:buFont typeface="Arial"/>
              <a:buNone/>
            </a:pPr>
            <a:r>
              <a:t/>
            </a:r>
            <a:endParaRPr b="1" i="0" sz="1728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8"/>
              <a:buFont typeface="Arial"/>
              <a:buNone/>
            </a:pPr>
            <a:r>
              <a:rPr b="1" i="0" lang="es-419" sz="172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¿Qué sucede en memoria?</a:t>
            </a:r>
            <a:endParaRPr b="1" i="0" sz="1728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834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28"/>
              <a:buFont typeface="Arial"/>
              <a:buAutoNum type="arabicPeriod"/>
            </a:pPr>
            <a:r>
              <a:rPr b="0" i="0" lang="es-419" sz="172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 reserva un espacio en memoria para almacenar la lista vacía. Este espacio contendrá la información necesaria para administrar la lista, como su tamaño, capacidad (espacio asignado en memoria) y una referencia a los elementos de la lista.</a:t>
            </a:r>
            <a:endParaRPr b="0" i="0" sz="1728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834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28"/>
              <a:buFont typeface="Arial"/>
              <a:buAutoNum type="arabicPeriod"/>
            </a:pPr>
            <a:r>
              <a:rPr b="0" i="0" lang="es-419" sz="172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 asigna un identificador único a esta lista en memoria (su id)</a:t>
            </a:r>
            <a:endParaRPr b="0" i="0" sz="1728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834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28"/>
              <a:buFont typeface="Arial"/>
              <a:buAutoNum type="arabicPeriod"/>
            </a:pPr>
            <a:r>
              <a:rPr b="0" i="0" lang="es-419" sz="172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 asocia la variable con este espacio de memoria que contiene la lista vacía en memoria.</a:t>
            </a:r>
            <a:endParaRPr b="0" i="0" sz="1728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44"/>
              <a:buFont typeface="Arial"/>
              <a:buNone/>
            </a:pPr>
            <a:r>
              <a:t/>
            </a:r>
            <a:endParaRPr b="1" i="0" sz="2044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44"/>
              <a:buFont typeface="Arial"/>
              <a:buNone/>
            </a:pPr>
            <a:r>
              <a:t/>
            </a:r>
            <a:endParaRPr b="0" i="0" sz="1644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128375"/>
            <a:ext cx="8839201" cy="3613233"/>
          </a:xfrm>
          <a:prstGeom prst="rect">
            <a:avLst/>
          </a:prstGeom>
          <a:noFill/>
          <a:ln cap="flat" cmpd="sng" w="2857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14"/>
          <p:cNvPicPr preferRelativeResize="0"/>
          <p:nvPr/>
        </p:nvPicPr>
        <p:blipFill rotWithShape="1">
          <a:blip r:embed="rId3">
            <a:alphaModFix amt="26000"/>
          </a:blip>
          <a:srcRect b="0" l="0" r="0" t="0"/>
          <a:stretch/>
        </p:blipFill>
        <p:spPr>
          <a:xfrm>
            <a:off x="152400" y="1128375"/>
            <a:ext cx="8839201" cy="3613233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31" name="Google Shape;13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58350" y="1465050"/>
            <a:ext cx="3211325" cy="3211325"/>
          </a:xfrm>
          <a:prstGeom prst="rect">
            <a:avLst/>
          </a:prstGeom>
          <a:noFill/>
          <a:ln cap="flat" cmpd="sng" w="2857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5"/>
          <p:cNvPicPr preferRelativeResize="0"/>
          <p:nvPr/>
        </p:nvPicPr>
        <p:blipFill rotWithShape="1">
          <a:blip r:embed="rId3">
            <a:alphaModFix amt="26000"/>
          </a:blip>
          <a:srcRect b="0" l="0" r="0" t="0"/>
          <a:stretch/>
        </p:blipFill>
        <p:spPr>
          <a:xfrm>
            <a:off x="152400" y="1128375"/>
            <a:ext cx="8839201" cy="3613233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37" name="Google Shape;13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7026" y="2250712"/>
            <a:ext cx="2372125" cy="1495475"/>
          </a:xfrm>
          <a:prstGeom prst="rect">
            <a:avLst/>
          </a:prstGeom>
          <a:noFill/>
          <a:ln cap="flat" cmpd="sng" w="2857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38" name="Google Shape;13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33875" y="1113225"/>
            <a:ext cx="4950050" cy="3849374"/>
          </a:xfrm>
          <a:prstGeom prst="rect">
            <a:avLst/>
          </a:prstGeom>
          <a:noFill/>
          <a:ln cap="flat" cmpd="sng" w="2857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9" name="Google Shape;139;p15"/>
          <p:cNvSpPr/>
          <p:nvPr/>
        </p:nvSpPr>
        <p:spPr>
          <a:xfrm>
            <a:off x="2934975" y="2835538"/>
            <a:ext cx="570300" cy="325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C008C"/>
          </a:solidFill>
          <a:ln cap="flat" cmpd="sng" w="2857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 txBox="1"/>
          <p:nvPr>
            <p:ph type="title"/>
          </p:nvPr>
        </p:nvSpPr>
        <p:spPr>
          <a:xfrm>
            <a:off x="311700" y="821900"/>
            <a:ext cx="8520600" cy="96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s-419"/>
              <a:t>Inicialización de una lista</a:t>
            </a:r>
            <a:endParaRPr/>
          </a:p>
        </p:txBody>
      </p:sp>
      <p:sp>
        <p:nvSpPr>
          <p:cNvPr id="145" name="Google Shape;145;p16"/>
          <p:cNvSpPr txBox="1"/>
          <p:nvPr>
            <p:ph idx="1" type="body"/>
          </p:nvPr>
        </p:nvSpPr>
        <p:spPr>
          <a:xfrm>
            <a:off x="311700" y="1649100"/>
            <a:ext cx="8520600" cy="29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s-419"/>
              <a:t>Definición de una lista utilizando corchetes:</a:t>
            </a:r>
            <a:br>
              <a:rPr lang="es-419"/>
            </a:br>
            <a:br>
              <a:rPr lang="es-419"/>
            </a:b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s-419"/>
              <a:t>Inicializar a 0 una lista de 5 elementos:</a:t>
            </a:r>
            <a:endParaRPr/>
          </a:p>
        </p:txBody>
      </p:sp>
      <p:pic>
        <p:nvPicPr>
          <p:cNvPr id="146" name="Google Shape;14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2113" y="2148363"/>
            <a:ext cx="6759771" cy="517100"/>
          </a:xfrm>
          <a:prstGeom prst="rect">
            <a:avLst/>
          </a:prstGeom>
          <a:noFill/>
          <a:ln cap="flat" cmpd="sng" w="2857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47" name="Google Shape;14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92113" y="3182034"/>
            <a:ext cx="6759750" cy="1436441"/>
          </a:xfrm>
          <a:prstGeom prst="rect">
            <a:avLst/>
          </a:prstGeom>
          <a:noFill/>
          <a:ln cap="flat" cmpd="sng" w="2857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"/>
          <p:cNvSpPr txBox="1"/>
          <p:nvPr>
            <p:ph type="title"/>
          </p:nvPr>
        </p:nvSpPr>
        <p:spPr>
          <a:xfrm>
            <a:off x="311700" y="993350"/>
            <a:ext cx="8520600" cy="9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Manipulación de elementos usando índices</a:t>
            </a:r>
            <a:endParaRPr/>
          </a:p>
        </p:txBody>
      </p:sp>
      <p:sp>
        <p:nvSpPr>
          <p:cNvPr id="153" name="Google Shape;153;p17"/>
          <p:cNvSpPr txBox="1"/>
          <p:nvPr>
            <p:ph idx="1" type="body"/>
          </p:nvPr>
        </p:nvSpPr>
        <p:spPr>
          <a:xfrm>
            <a:off x="311700" y="1940800"/>
            <a:ext cx="8520600" cy="27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8421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44"/>
              <a:buFont typeface="Arial"/>
              <a:buChar char="●"/>
            </a:pPr>
            <a:r>
              <a:rPr lang="es-419" sz="2044">
                <a:latin typeface="Arial"/>
                <a:ea typeface="Arial"/>
                <a:cs typeface="Arial"/>
                <a:sym typeface="Arial"/>
              </a:rPr>
              <a:t>Las listas se indexan de forma automática, donde el primer elemento está en la posición 0, el segundo en la posición 1, y así sucesivamente</a:t>
            </a:r>
            <a:endParaRPr sz="2044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4" name="Google Shape;15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601" y="3067650"/>
            <a:ext cx="7932775" cy="1362950"/>
          </a:xfrm>
          <a:prstGeom prst="rect">
            <a:avLst/>
          </a:prstGeom>
          <a:noFill/>
          <a:ln cap="flat" cmpd="sng" w="2857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8"/>
          <p:cNvSpPr txBox="1"/>
          <p:nvPr>
            <p:ph type="title"/>
          </p:nvPr>
        </p:nvSpPr>
        <p:spPr>
          <a:xfrm>
            <a:off x="311700" y="993350"/>
            <a:ext cx="8520600" cy="9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Manipulación de elementos usando índices</a:t>
            </a:r>
            <a:endParaRPr/>
          </a:p>
        </p:txBody>
      </p:sp>
      <p:pic>
        <p:nvPicPr>
          <p:cNvPr id="160" name="Google Shape;16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50350" y="1969250"/>
            <a:ext cx="4643292" cy="2869450"/>
          </a:xfrm>
          <a:prstGeom prst="rect">
            <a:avLst/>
          </a:prstGeom>
          <a:noFill/>
          <a:ln cap="flat" cmpd="sng" w="2857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9"/>
          <p:cNvSpPr txBox="1"/>
          <p:nvPr>
            <p:ph type="title"/>
          </p:nvPr>
        </p:nvSpPr>
        <p:spPr>
          <a:xfrm>
            <a:off x="311700" y="993350"/>
            <a:ext cx="8520600" cy="9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2870"/>
              <a:t>Manipulación de elementos usando índices</a:t>
            </a:r>
            <a:endParaRPr sz="2870"/>
          </a:p>
        </p:txBody>
      </p:sp>
      <p:pic>
        <p:nvPicPr>
          <p:cNvPr id="166" name="Google Shape;16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969250"/>
            <a:ext cx="8839199" cy="2823761"/>
          </a:xfrm>
          <a:prstGeom prst="rect">
            <a:avLst/>
          </a:prstGeom>
          <a:noFill/>
          <a:ln cap="flat" cmpd="sng" w="2857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type="title"/>
          </p:nvPr>
        </p:nvSpPr>
        <p:spPr>
          <a:xfrm>
            <a:off x="311700" y="993350"/>
            <a:ext cx="8520600" cy="9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s-419"/>
              <a:t>Modificación de elementos por índice</a:t>
            </a:r>
            <a:endParaRPr/>
          </a:p>
        </p:txBody>
      </p:sp>
      <p:sp>
        <p:nvSpPr>
          <p:cNvPr id="172" name="Google Shape;172;p20"/>
          <p:cNvSpPr txBox="1"/>
          <p:nvPr/>
        </p:nvSpPr>
        <p:spPr>
          <a:xfrm>
            <a:off x="539475" y="2091400"/>
            <a:ext cx="8070000" cy="4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44"/>
              <a:buFont typeface="Arial"/>
              <a:buNone/>
            </a:pPr>
            <a:r>
              <a:rPr b="0" i="0" lang="es-419" sz="204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Modificar un elemento a través del índice 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3" name="Google Shape;17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1200" y="2750700"/>
            <a:ext cx="6686550" cy="1314450"/>
          </a:xfrm>
          <a:prstGeom prst="rect">
            <a:avLst/>
          </a:prstGeom>
          <a:noFill/>
          <a:ln cap="flat" cmpd="sng" w="2857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1"/>
          <p:cNvSpPr txBox="1"/>
          <p:nvPr>
            <p:ph type="title"/>
          </p:nvPr>
        </p:nvSpPr>
        <p:spPr>
          <a:xfrm>
            <a:off x="311700" y="993350"/>
            <a:ext cx="8520600" cy="9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s-419"/>
              <a:t>Función len() </a:t>
            </a:r>
            <a:endParaRPr/>
          </a:p>
        </p:txBody>
      </p:sp>
      <p:sp>
        <p:nvSpPr>
          <p:cNvPr id="179" name="Google Shape;179;p21"/>
          <p:cNvSpPr txBox="1"/>
          <p:nvPr>
            <p:ph idx="1" type="body"/>
          </p:nvPr>
        </p:nvSpPr>
        <p:spPr>
          <a:xfrm>
            <a:off x="311700" y="1969350"/>
            <a:ext cx="8520600" cy="26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Las listas en Python son dinámicas, lo que significa que puedes agregar o eliminar elementos durante la ejecución.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Para verificar la longitud (cantidad de elementos) actual de una lista, se utiliza la función len().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La función len() toma el nombre de la lista como argumento y devuelve un número entero representando la cantidad de elementos dentro de la lista.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2"/>
          <p:cNvSpPr txBox="1"/>
          <p:nvPr>
            <p:ph type="title"/>
          </p:nvPr>
        </p:nvSpPr>
        <p:spPr>
          <a:xfrm>
            <a:off x="311700" y="993350"/>
            <a:ext cx="8520600" cy="9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s-419"/>
              <a:t>Función len()</a:t>
            </a:r>
            <a:endParaRPr/>
          </a:p>
        </p:txBody>
      </p:sp>
      <p:pic>
        <p:nvPicPr>
          <p:cNvPr id="185" name="Google Shape;18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700" y="2084700"/>
            <a:ext cx="7086600" cy="2219325"/>
          </a:xfrm>
          <a:prstGeom prst="rect">
            <a:avLst/>
          </a:prstGeom>
          <a:noFill/>
          <a:ln cap="flat" cmpd="sng" w="2857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3"/>
          <p:cNvSpPr txBox="1"/>
          <p:nvPr>
            <p:ph type="title"/>
          </p:nvPr>
        </p:nvSpPr>
        <p:spPr>
          <a:xfrm>
            <a:off x="311700" y="616450"/>
            <a:ext cx="8520600" cy="109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s-419"/>
              <a:t>Mostrar una lista</a:t>
            </a:r>
            <a:endParaRPr/>
          </a:p>
        </p:txBody>
      </p:sp>
      <p:grpSp>
        <p:nvGrpSpPr>
          <p:cNvPr id="191" name="Google Shape;191;p23"/>
          <p:cNvGrpSpPr/>
          <p:nvPr/>
        </p:nvGrpSpPr>
        <p:grpSpPr>
          <a:xfrm>
            <a:off x="2068832" y="1514958"/>
            <a:ext cx="4990416" cy="3476066"/>
            <a:chOff x="2068813" y="1128375"/>
            <a:chExt cx="4990416" cy="3862725"/>
          </a:xfrm>
        </p:grpSpPr>
        <p:pic>
          <p:nvPicPr>
            <p:cNvPr id="192" name="Google Shape;192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068813" y="1128375"/>
              <a:ext cx="4990416" cy="3862725"/>
            </a:xfrm>
            <a:prstGeom prst="rect">
              <a:avLst/>
            </a:prstGeom>
            <a:noFill/>
            <a:ln cap="flat" cmpd="sng" w="28575">
              <a:solidFill>
                <a:srgbClr val="4A86E8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193" name="Google Shape;193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348075" y="3509950"/>
              <a:ext cx="2335425" cy="828875"/>
            </a:xfrm>
            <a:prstGeom prst="rect">
              <a:avLst/>
            </a:prstGeom>
            <a:noFill/>
            <a:ln cap="flat" cmpd="sng" w="9525">
              <a:solidFill>
                <a:srgbClr val="4A86E8"/>
              </a:solidFill>
              <a:prstDash val="solid"/>
              <a:round/>
              <a:headEnd len="sm" w="sm" type="none"/>
              <a:tailEnd len="sm" w="sm" type="none"/>
            </a:ln>
          </p:spPr>
        </p:pic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4"/>
          <p:cNvSpPr txBox="1"/>
          <p:nvPr>
            <p:ph type="title"/>
          </p:nvPr>
        </p:nvSpPr>
        <p:spPr>
          <a:xfrm>
            <a:off x="311700" y="993350"/>
            <a:ext cx="8520600" cy="9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Usando el bucle </a:t>
            </a:r>
            <a:r>
              <a:rPr lang="es-419" u="sng"/>
              <a:t>for</a:t>
            </a:r>
            <a:r>
              <a:rPr lang="es-419"/>
              <a:t> para procesar listas</a:t>
            </a:r>
            <a:endParaRPr/>
          </a:p>
        </p:txBody>
      </p:sp>
      <p:sp>
        <p:nvSpPr>
          <p:cNvPr id="199" name="Google Shape;199;p24"/>
          <p:cNvSpPr txBox="1"/>
          <p:nvPr>
            <p:ph idx="1" type="body"/>
          </p:nvPr>
        </p:nvSpPr>
        <p:spPr>
          <a:xfrm>
            <a:off x="311700" y="1969350"/>
            <a:ext cx="8520600" cy="26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El bucle for en Python es una herramienta efectiva para recorrer y procesar listas.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-419"/>
              <a:t>Para calcular la suma de todos los elementos de una lista, se puede usar una variable acumuladora (en este caso total) y un bucle que recorra los elementos de la lista.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/>
              <a:t>Nota:</a:t>
            </a:r>
            <a:r>
              <a:rPr lang="es-419"/>
              <a:t> Es una buena práctica evitar el uso de nombres como sum para variables, ya que esto puede entrar en conflicto con funciones integradas como sum().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5"/>
          <p:cNvSpPr txBox="1"/>
          <p:nvPr>
            <p:ph type="title"/>
          </p:nvPr>
        </p:nvSpPr>
        <p:spPr>
          <a:xfrm>
            <a:off x="311700" y="853725"/>
            <a:ext cx="8520600" cy="11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Usando el bucle </a:t>
            </a:r>
            <a:r>
              <a:rPr lang="es-419" u="sng"/>
              <a:t>for</a:t>
            </a:r>
            <a:r>
              <a:rPr lang="es-419"/>
              <a:t> para procesar listas</a:t>
            </a:r>
            <a:endParaRPr/>
          </a:p>
        </p:txBody>
      </p:sp>
      <p:pic>
        <p:nvPicPr>
          <p:cNvPr id="205" name="Google Shape;20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1013" y="1858203"/>
            <a:ext cx="6901970" cy="2515400"/>
          </a:xfrm>
          <a:prstGeom prst="rect">
            <a:avLst/>
          </a:prstGeom>
          <a:noFill/>
          <a:ln cap="flat" cmpd="sng" w="2857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6"/>
          <p:cNvSpPr txBox="1"/>
          <p:nvPr>
            <p:ph type="title"/>
          </p:nvPr>
        </p:nvSpPr>
        <p:spPr>
          <a:xfrm>
            <a:off x="311700" y="705150"/>
            <a:ext cx="8520600" cy="9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s-419"/>
              <a:t>Cargar una lista de forma secuencial</a:t>
            </a:r>
            <a:endParaRPr/>
          </a:p>
        </p:txBody>
      </p:sp>
      <p:pic>
        <p:nvPicPr>
          <p:cNvPr id="211" name="Google Shape;211;p26"/>
          <p:cNvPicPr preferRelativeResize="0"/>
          <p:nvPr/>
        </p:nvPicPr>
        <p:blipFill rotWithShape="1">
          <a:blip r:embed="rId3">
            <a:alphaModFix/>
          </a:blip>
          <a:srcRect b="4415" l="2475" r="2673" t="0"/>
          <a:stretch/>
        </p:blipFill>
        <p:spPr>
          <a:xfrm>
            <a:off x="1049238" y="1529088"/>
            <a:ext cx="7119425" cy="294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7"/>
          <p:cNvSpPr txBox="1"/>
          <p:nvPr>
            <p:ph type="title"/>
          </p:nvPr>
        </p:nvSpPr>
        <p:spPr>
          <a:xfrm>
            <a:off x="311700" y="705150"/>
            <a:ext cx="8520600" cy="9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s-419"/>
              <a:t>Cargar una lista con acceso aleatorio</a:t>
            </a:r>
            <a:endParaRPr/>
          </a:p>
        </p:txBody>
      </p:sp>
      <p:pic>
        <p:nvPicPr>
          <p:cNvPr id="217" name="Google Shape;21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9150" y="1495425"/>
            <a:ext cx="7505699" cy="308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8"/>
          <p:cNvSpPr txBox="1"/>
          <p:nvPr>
            <p:ph type="title"/>
          </p:nvPr>
        </p:nvSpPr>
        <p:spPr>
          <a:xfrm>
            <a:off x="311700" y="830750"/>
            <a:ext cx="8520600" cy="105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s-419">
                <a:solidFill>
                  <a:schemeClr val="lt1"/>
                </a:solidFill>
              </a:rPr>
              <a:t>Cargar una lista con acceso aleatorio</a:t>
            </a:r>
            <a:endParaRPr/>
          </a:p>
        </p:txBody>
      </p:sp>
      <p:sp>
        <p:nvSpPr>
          <p:cNvPr id="223" name="Google Shape;223;p28"/>
          <p:cNvSpPr txBox="1"/>
          <p:nvPr>
            <p:ph idx="1" type="body"/>
          </p:nvPr>
        </p:nvSpPr>
        <p:spPr>
          <a:xfrm>
            <a:off x="311700" y="1882425"/>
            <a:ext cx="8520600" cy="26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2000"/>
              <a:t>Definir manualmente la posición y valor para cargar en una lista.</a:t>
            </a:r>
            <a:endParaRPr b="1" sz="2000"/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s-419" sz="2000"/>
              <a:t>El usuario puede definir tanto el valor que desea agregar a la lista como la posición en la que desea insertarlo.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419" sz="2000"/>
              <a:t>Esto proporciona al usuario control total sobre la estructura y contenido de la lista.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9"/>
          <p:cNvSpPr txBox="1"/>
          <p:nvPr>
            <p:ph type="ctrTitle"/>
          </p:nvPr>
        </p:nvSpPr>
        <p:spPr>
          <a:xfrm>
            <a:off x="311700" y="1197075"/>
            <a:ext cx="4418100" cy="315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s-419" sz="5000"/>
              <a:t>Operaciones en listas</a:t>
            </a:r>
            <a:endParaRPr sz="5000"/>
          </a:p>
        </p:txBody>
      </p:sp>
      <p:pic>
        <p:nvPicPr>
          <p:cNvPr id="229" name="Google Shape;22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29650" y="1012450"/>
            <a:ext cx="4258699" cy="336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0"/>
          <p:cNvSpPr txBox="1"/>
          <p:nvPr>
            <p:ph type="title"/>
          </p:nvPr>
        </p:nvSpPr>
        <p:spPr>
          <a:xfrm>
            <a:off x="311700" y="727325"/>
            <a:ext cx="8520600" cy="9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s-419"/>
              <a:t>Características clave de las listas</a:t>
            </a:r>
            <a:endParaRPr/>
          </a:p>
        </p:txBody>
      </p:sp>
      <p:sp>
        <p:nvSpPr>
          <p:cNvPr id="235" name="Google Shape;235;p30"/>
          <p:cNvSpPr txBox="1"/>
          <p:nvPr>
            <p:ph idx="1" type="body"/>
          </p:nvPr>
        </p:nvSpPr>
        <p:spPr>
          <a:xfrm>
            <a:off x="311700" y="1574100"/>
            <a:ext cx="8520600" cy="29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0"/>
              <a:buFont typeface="Arial"/>
              <a:buNone/>
            </a:pPr>
            <a:r>
              <a:rPr lang="es-419"/>
              <a:t>Las listas se comportan de manera diferente a las variables ordinarias (escalares).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0"/>
              <a:buFont typeface="Arial"/>
              <a:buNone/>
            </a:pPr>
            <a:r>
              <a:rPr lang="es-419"/>
              <a:t>Ejemplo sorprendente: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Crea una lista de un elemento llamada list_1.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Asigna list_1 a una nueva lista llamada list_2.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Cambia el único elemento de list_1.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Imprime list_2.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0"/>
              <a:buFont typeface="Arial"/>
              <a:buNone/>
            </a:pPr>
            <a:r>
              <a:rPr lang="es-419"/>
              <a:t>Resultado inesperado: list_2 mostrará [2], no [1].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0"/>
              <a:buFont typeface="Arial"/>
              <a:buNone/>
            </a:pPr>
            <a:r>
              <a:rPr b="1" lang="es-419"/>
              <a:t>Razón: Las listas y otras entidades complejas se almacenan de manera diferente que las variables ordinarias.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129032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1"/>
          <p:cNvSpPr txBox="1"/>
          <p:nvPr>
            <p:ph type="title"/>
          </p:nvPr>
        </p:nvSpPr>
        <p:spPr>
          <a:xfrm>
            <a:off x="311700" y="727325"/>
            <a:ext cx="8520600" cy="9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s-419"/>
              <a:t>Características clave de las listas</a:t>
            </a:r>
            <a:endParaRPr/>
          </a:p>
        </p:txBody>
      </p:sp>
      <p:pic>
        <p:nvPicPr>
          <p:cNvPr id="241" name="Google Shape;24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4913" y="1835650"/>
            <a:ext cx="6734175" cy="2481403"/>
          </a:xfrm>
          <a:prstGeom prst="rect">
            <a:avLst/>
          </a:prstGeom>
          <a:noFill/>
          <a:ln cap="flat" cmpd="sng" w="2857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2"/>
          <p:cNvSpPr txBox="1"/>
          <p:nvPr>
            <p:ph type="title"/>
          </p:nvPr>
        </p:nvSpPr>
        <p:spPr>
          <a:xfrm>
            <a:off x="311700" y="727325"/>
            <a:ext cx="8520600" cy="9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s-419"/>
              <a:t>Entender la asignación en listas</a:t>
            </a:r>
            <a:endParaRPr/>
          </a:p>
        </p:txBody>
      </p:sp>
      <p:sp>
        <p:nvSpPr>
          <p:cNvPr id="247" name="Google Shape;247;p32"/>
          <p:cNvSpPr txBox="1"/>
          <p:nvPr/>
        </p:nvSpPr>
        <p:spPr>
          <a:xfrm>
            <a:off x="163625" y="1492775"/>
            <a:ext cx="8720400" cy="3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419" sz="2000" u="none" cap="none" strike="noStrik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rPr>
              <a:t>Cómo funciona la asignación:</a:t>
            </a:r>
            <a:endParaRPr b="1" i="0" sz="2000" u="none" cap="none" strike="noStrike">
              <a:solidFill>
                <a:srgbClr val="FFFFFF"/>
              </a:solidFill>
              <a:latin typeface="Encode Sans"/>
              <a:ea typeface="Encode Sans"/>
              <a:cs typeface="Encode Sans"/>
              <a:sym typeface="Encode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419" sz="2000" u="none" cap="none" strike="noStrik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rPr>
              <a:t>Variables ordinarias:</a:t>
            </a:r>
            <a:endParaRPr b="1" i="0" sz="2000" u="none" cap="none" strike="noStrike">
              <a:solidFill>
                <a:srgbClr val="FFFFFF"/>
              </a:solidFill>
              <a:latin typeface="Encode Sans"/>
              <a:ea typeface="Encode Sans"/>
              <a:cs typeface="Encode Sans"/>
              <a:sym typeface="Encode Sans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Encode Sans"/>
              <a:buChar char="●"/>
            </a:pPr>
            <a:r>
              <a:rPr b="0" i="0" lang="es-419" sz="2000" u="none" cap="none" strike="noStrik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rPr>
              <a:t>El nombre de la variable es el nombre de su contenido.</a:t>
            </a:r>
            <a:endParaRPr b="0" i="0" sz="2000" u="none" cap="none" strike="noStrike">
              <a:solidFill>
                <a:srgbClr val="FFFFFF"/>
              </a:solidFill>
              <a:latin typeface="Encode Sans"/>
              <a:ea typeface="Encode Sans"/>
              <a:cs typeface="Encode Sans"/>
              <a:sym typeface="Encode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419" sz="2000" u="none" cap="none" strike="noStrik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rPr>
              <a:t>Listas:</a:t>
            </a:r>
            <a:endParaRPr b="1" i="0" sz="2000" u="none" cap="none" strike="noStrike">
              <a:solidFill>
                <a:srgbClr val="FFFFFF"/>
              </a:solidFill>
              <a:latin typeface="Encode Sans"/>
              <a:ea typeface="Encode Sans"/>
              <a:cs typeface="Encode Sans"/>
              <a:sym typeface="Encode Sans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Encode Sans"/>
              <a:buChar char="●"/>
            </a:pPr>
            <a:r>
              <a:rPr b="0" i="0" lang="es-419" sz="2000" u="none" cap="none" strike="noStrik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rPr>
              <a:t>El nombre de una lista es el nombre de una ubicación de memoria (su id) donde se almacena la lista.</a:t>
            </a:r>
            <a:endParaRPr b="0" i="0" sz="2000" u="none" cap="none" strike="noStrike">
              <a:solidFill>
                <a:srgbClr val="FFFFFF"/>
              </a:solidFill>
              <a:latin typeface="Encode Sans"/>
              <a:ea typeface="Encode Sans"/>
              <a:cs typeface="Encode Sans"/>
              <a:sym typeface="Encode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3"/>
          <p:cNvSpPr txBox="1"/>
          <p:nvPr>
            <p:ph type="title"/>
          </p:nvPr>
        </p:nvSpPr>
        <p:spPr>
          <a:xfrm>
            <a:off x="311700" y="727325"/>
            <a:ext cx="8520600" cy="9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s-419"/>
              <a:t>Entender la asignación en listas</a:t>
            </a:r>
            <a:endParaRPr/>
          </a:p>
        </p:txBody>
      </p:sp>
      <p:sp>
        <p:nvSpPr>
          <p:cNvPr id="253" name="Google Shape;253;p33"/>
          <p:cNvSpPr txBox="1"/>
          <p:nvPr/>
        </p:nvSpPr>
        <p:spPr>
          <a:xfrm>
            <a:off x="163625" y="1818775"/>
            <a:ext cx="8720400" cy="27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Encode Sans"/>
              <a:buChar char="●"/>
            </a:pPr>
            <a:r>
              <a:rPr b="1" i="0" lang="es-419" sz="2000" u="none" cap="none" strike="noStrik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rPr>
              <a:t>Ejemplo clave:</a:t>
            </a:r>
            <a:endParaRPr b="1" i="0" sz="2000" u="none" cap="none" strike="noStrike">
              <a:solidFill>
                <a:srgbClr val="FFFFFF"/>
              </a:solidFill>
              <a:latin typeface="Encode Sans"/>
              <a:ea typeface="Encode Sans"/>
              <a:cs typeface="Encode Sans"/>
              <a:sym typeface="Encode Sans"/>
            </a:endParaRPr>
          </a:p>
          <a:p>
            <a:pPr indent="-355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Encode Sans"/>
              <a:buChar char="○"/>
            </a:pPr>
            <a:r>
              <a:rPr b="0" i="0" lang="es-419" sz="2000" u="none" cap="none" strike="noStrik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rPr>
              <a:t>lista_2 = lista_1 copia el nombre del arreglo, no su contenido.</a:t>
            </a:r>
            <a:endParaRPr b="0" i="0" sz="2000" u="none" cap="none" strike="noStrike">
              <a:solidFill>
                <a:srgbClr val="FFFFFF"/>
              </a:solidFill>
              <a:latin typeface="Encode Sans"/>
              <a:ea typeface="Encode Sans"/>
              <a:cs typeface="Encode Sans"/>
              <a:sym typeface="Encode Sans"/>
            </a:endParaRPr>
          </a:p>
          <a:p>
            <a:pPr indent="-3556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Encode Sans"/>
              <a:buChar char="○"/>
            </a:pPr>
            <a:r>
              <a:rPr b="0" i="0" lang="es-419" sz="2000" u="none" cap="none" strike="noStrik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rPr>
              <a:t>Ambos nombres (lista_1 y lista_2) identifican la misma ubicación en la memoria.</a:t>
            </a:r>
            <a:endParaRPr b="0" i="0" sz="2000" u="none" cap="none" strike="noStrike">
              <a:solidFill>
                <a:srgbClr val="FFFFFF"/>
              </a:solidFill>
              <a:latin typeface="Encode Sans"/>
              <a:ea typeface="Encode Sans"/>
              <a:cs typeface="Encode Sans"/>
              <a:sym typeface="Encode Sans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Encode Sans"/>
              <a:buChar char="●"/>
            </a:pPr>
            <a:r>
              <a:rPr b="1" i="0" lang="es-419" sz="2000" u="none" cap="none" strike="noStrik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rPr>
              <a:t>Implicación: modificar uno afecta al otro.</a:t>
            </a:r>
            <a:endParaRPr b="1" i="0" sz="2000" u="none" cap="none" strike="noStrike">
              <a:solidFill>
                <a:srgbClr val="FFFFFF"/>
              </a:solidFill>
              <a:latin typeface="Encode Sans"/>
              <a:ea typeface="Encode Sans"/>
              <a:cs typeface="Encode Sans"/>
              <a:sym typeface="Encode San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FFFFFF"/>
              </a:solidFill>
              <a:latin typeface="Encode Sans"/>
              <a:ea typeface="Encode Sans"/>
              <a:cs typeface="Encode Sans"/>
              <a:sym typeface="Encode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4"/>
          <p:cNvSpPr txBox="1"/>
          <p:nvPr>
            <p:ph type="title"/>
          </p:nvPr>
        </p:nvSpPr>
        <p:spPr>
          <a:xfrm>
            <a:off x="311700" y="764750"/>
            <a:ext cx="8520600" cy="9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s-419"/>
              <a:t>Listas y funciones</a:t>
            </a:r>
            <a:endParaRPr/>
          </a:p>
        </p:txBody>
      </p:sp>
      <p:pic>
        <p:nvPicPr>
          <p:cNvPr id="259" name="Google Shape;25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79325" y="1877525"/>
            <a:ext cx="3870274" cy="2869450"/>
          </a:xfrm>
          <a:prstGeom prst="rect">
            <a:avLst/>
          </a:prstGeom>
          <a:noFill/>
          <a:ln cap="flat" cmpd="sng" w="2857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60" name="Google Shape;260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61600" y="3782150"/>
            <a:ext cx="2147701" cy="109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34"/>
          <p:cNvSpPr txBox="1"/>
          <p:nvPr/>
        </p:nvSpPr>
        <p:spPr>
          <a:xfrm>
            <a:off x="0" y="1740650"/>
            <a:ext cx="4382700" cy="28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Encode Sans"/>
              <a:buChar char="●"/>
            </a:pPr>
            <a:r>
              <a:rPr b="0" i="0" lang="es-419" sz="1400" u="none" cap="none" strike="noStrik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rPr>
              <a:t>Las listas son objetos parametrizables, esto significa que es posible pasarlas como parámetros de una función.</a:t>
            </a:r>
            <a:endParaRPr b="0" i="0" sz="1400" u="none" cap="none" strike="noStrike">
              <a:solidFill>
                <a:srgbClr val="FFFFFF"/>
              </a:solidFill>
              <a:latin typeface="Encode Sans"/>
              <a:ea typeface="Encode Sans"/>
              <a:cs typeface="Encode Sans"/>
              <a:sym typeface="Encode Sans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Encode Sans"/>
              <a:buChar char="●"/>
            </a:pPr>
            <a:r>
              <a:rPr b="0" i="0" lang="es-419" sz="1400" u="none" cap="none" strike="noStrik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rPr>
              <a:t>Siempre es recomendable realizar un control de tipo sobre el parámetro, es decir verificar si el type del parámetro es del tipo list.</a:t>
            </a:r>
            <a:endParaRPr b="0" i="0" sz="1400" u="none" cap="none" strike="noStrike">
              <a:solidFill>
                <a:srgbClr val="FFFFFF"/>
              </a:solidFill>
              <a:latin typeface="Encode Sans"/>
              <a:ea typeface="Encode Sans"/>
              <a:cs typeface="Encode Sans"/>
              <a:sym typeface="Encode Sans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Encode Sans"/>
              <a:buChar char="●"/>
            </a:pPr>
            <a:r>
              <a:rPr b="0" i="0" lang="es-419" sz="1400" u="none" cap="none" strike="noStrik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rPr>
              <a:t>Según su procesamiento, estas funciones podrán retorna todos los tipos conocidos, incluyendo otras listas.</a:t>
            </a:r>
            <a:endParaRPr b="0" i="0" sz="1400" u="none" cap="none" strike="noStrike">
              <a:solidFill>
                <a:srgbClr val="FFFFFF"/>
              </a:solidFill>
              <a:latin typeface="Encode Sans"/>
              <a:ea typeface="Encode Sans"/>
              <a:cs typeface="Encode Sans"/>
              <a:sym typeface="Encode Sans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Encode Sans"/>
              <a:buChar char="●"/>
            </a:pPr>
            <a:r>
              <a:rPr b="0" i="0" lang="es-419" sz="1400" u="none" cap="none" strike="noStrik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rPr>
              <a:t>No olvidar el carácter mutable de las listas.</a:t>
            </a:r>
            <a:endParaRPr b="0" i="0" sz="1400" u="none" cap="none" strike="noStrike">
              <a:solidFill>
                <a:srgbClr val="FFFFFF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5"/>
          <p:cNvSpPr txBox="1"/>
          <p:nvPr>
            <p:ph type="title"/>
          </p:nvPr>
        </p:nvSpPr>
        <p:spPr>
          <a:xfrm>
            <a:off x="311700" y="764750"/>
            <a:ext cx="8520600" cy="97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es-419"/>
              <a:t>Algoritmos de búsqueda</a:t>
            </a:r>
            <a:endParaRPr/>
          </a:p>
        </p:txBody>
      </p:sp>
      <p:sp>
        <p:nvSpPr>
          <p:cNvPr id="267" name="Google Shape;267;p35"/>
          <p:cNvSpPr txBox="1"/>
          <p:nvPr/>
        </p:nvSpPr>
        <p:spPr>
          <a:xfrm>
            <a:off x="188875" y="1734450"/>
            <a:ext cx="8861400" cy="16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419" sz="1800" u="none" cap="none" strike="noStrike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rPr>
              <a:t>Según la naturaleza de la búsqueda, es posible implementar distintos algoritmos sobre las listas.</a:t>
            </a:r>
            <a:endParaRPr b="0" i="0" sz="1800" u="none" cap="none" strike="noStrike">
              <a:solidFill>
                <a:srgbClr val="FFFFFF"/>
              </a:solidFill>
              <a:latin typeface="Encode Sans"/>
              <a:ea typeface="Encode Sans"/>
              <a:cs typeface="Encode Sans"/>
              <a:sym typeface="Encode San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FFFFFF"/>
              </a:solidFill>
              <a:latin typeface="Encode Sans"/>
              <a:ea typeface="Encode Sans"/>
              <a:cs typeface="Encode Sans"/>
              <a:sym typeface="Encode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8" name="Google Shape;26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8825" y="2539046"/>
            <a:ext cx="1652983" cy="165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37550" y="2493525"/>
            <a:ext cx="1744050" cy="174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55675" y="2789625"/>
            <a:ext cx="1151850" cy="115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3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27725" y="2651425"/>
            <a:ext cx="1428250" cy="142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