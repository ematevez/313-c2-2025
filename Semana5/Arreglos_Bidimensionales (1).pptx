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Encode Sans"/>
      <p:regular r:id="rId22"/>
      <p:bold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Light"/>
      <p:regular r:id="rId28"/>
      <p:bold r:id="rId29"/>
      <p:italic r:id="rId30"/>
      <p:boldItalic r:id="rId31"/>
    </p:embeddedFont>
    <p:embeddedFont>
      <p:font typeface="Encode Sans ExtraBold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gGt2+PWqK4xBzb8DKSZkFQDBYT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ncodeSans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font" Target="fonts/Encod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Light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Light-boldItalic.fntdata"/><Relationship Id="rId30" Type="http://schemas.openxmlformats.org/officeDocument/2006/relationships/font" Target="fonts/MontserratLight-italic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EncodeSansExtra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Código: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def inicializar_matriz(cant_filas:int, cant_columnas:int)-&gt;list: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	matriz = []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	for _ in range(cant_filas):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fila = [0] * cant_columnas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matriz += [fila]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	return matriz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mi_matriz = inicializar_matriz(2, 4)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Código:</a:t>
            </a:r>
            <a:br>
              <a:rPr lang="es-419"/>
            </a:br>
            <a:r>
              <a:rPr lang="es-419"/>
              <a:t>def cargar_matriz_secuencialmente(matriz:list):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# Agregar las validaciones/retorno que sean necesarias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	for i in range(len(matriz)):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for j in range(len(matriz[i])):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			matriz[i][j] = int(input(f"Fila {i} Columna {j}: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cargar_matriz_secuencialmente(mi_matriz)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def cargar_matriz_aleatoriamente(matriz:list):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	# Agregar las validaciones/retorno que sean necesarias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	seguir = "S"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	while seguir == "S":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fila = int(input("Indice de fila: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columna = int(input("Indice de columna: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dato = int(input("Ingrese el numero a cargar: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matriz[fila][columna] = dato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seguir = input("Desea seguir cargando? S/N: 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cargar_matriz_aleatoriamente(mi_matriz)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def buscar_valor_entero(matriz:list, valor:int):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	for i in range(len(matriz)):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		for j in range(len(matriz[i])):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			if matriz[i][j] == valor: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    			print(f"Se encontró el número en fila {i} columna {j}!")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buscar_valor_entero(mi_matriz, 5)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 txBox="1"/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18"/>
          <p:cNvSpPr txBox="1"/>
          <p:nvPr>
            <p:ph idx="1" type="subTitle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b="1"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2" type="body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5"/>
          <p:cNvSpPr txBox="1"/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b="1" sz="4200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idx="1" type="body"/>
          </p:nvPr>
        </p:nvSpPr>
        <p:spPr>
          <a:xfrm>
            <a:off x="49125" y="4179425"/>
            <a:ext cx="563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b="0" i="0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8" name="Google Shape;8;p17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I</a:t>
            </a:r>
            <a:endParaRPr b="0" i="0" sz="1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7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Arreglos bidimensionales</a:t>
            </a:r>
            <a:endParaRPr b="0" i="0" sz="15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17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Scarafilo Germán - Scudero Yanina - Cardozo Natali - Pavlov Valeriy</a:t>
            </a:r>
            <a:endParaRPr b="0" i="0" sz="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1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youtu.be/EgokLSfRE54" TargetMode="External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hyperlink" Target="https://www.geeksforgeeks.org/matrix/" TargetMode="External"/><Relationship Id="rId5" Type="http://schemas.openxmlformats.org/officeDocument/2006/relationships/hyperlink" Target="https://www.ing.ula.ve/~aguilar/actividad-docente/AYDA/Clase7MiniSem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311700" y="1095549"/>
            <a:ext cx="85206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266503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4800"/>
              <a:t>Arreglos bidimensionales: Matrices</a:t>
            </a:r>
            <a:endParaRPr b="1" sz="4800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7350" y="1279775"/>
            <a:ext cx="2684950" cy="268495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ctrTitle"/>
          </p:nvPr>
        </p:nvSpPr>
        <p:spPr>
          <a:xfrm>
            <a:off x="379925" y="790750"/>
            <a:ext cx="8319300" cy="22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 sz="3300"/>
              <a:t>¿Qué es una matriz? </a:t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s-419" sz="197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una estructura de datos bidimensional que </a:t>
            </a:r>
            <a:endParaRPr b="0" sz="197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lang="es-419" sz="197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contiene elementos dispuestos en filas y columnas formando una tabla.</a:t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311700" y="2743725"/>
            <a:ext cx="83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8450" y="2608375"/>
            <a:ext cx="27622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ctrTitle"/>
          </p:nvPr>
        </p:nvSpPr>
        <p:spPr>
          <a:xfrm>
            <a:off x="611850" y="1959100"/>
            <a:ext cx="8319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5084"/>
              <a:buNone/>
            </a:pPr>
            <a:r>
              <a:rPr lang="es-419" sz="3300"/>
              <a:t>Matrices en Python: </a:t>
            </a:r>
            <a:r>
              <a:rPr b="0" lang="es-419" sz="2000"/>
              <a:t>Una de las formas que nos ofrece Python para representar matrices es con listas anidadas.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713"/>
              <a:buNone/>
            </a:pPr>
            <a:r>
              <a:t/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298050" y="2371650"/>
            <a:ext cx="83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>
            <p:ph type="ctrTitle"/>
          </p:nvPr>
        </p:nvSpPr>
        <p:spPr>
          <a:xfrm>
            <a:off x="557275" y="2913700"/>
            <a:ext cx="8319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18029"/>
              <a:buNone/>
            </a:pPr>
            <a:r>
              <a:rPr lang="es-419" sz="2650"/>
              <a:t>¿Cómo se componen?</a:t>
            </a:r>
            <a:r>
              <a:rPr lang="es-419" sz="3300"/>
              <a:t> 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8"/>
              <a:buNone/>
            </a:pPr>
            <a:r>
              <a:rPr b="0" lang="es-419" sz="2000"/>
              <a:t>Las matrices se componen por listas internas que representan filas donde cada uno de los elementos de esa lista interna compone los elementos individuales de las columnas de esa matriz.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713"/>
              <a:buNone/>
            </a:pPr>
            <a:r>
              <a:t/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ctrTitle"/>
          </p:nvPr>
        </p:nvSpPr>
        <p:spPr>
          <a:xfrm>
            <a:off x="292075" y="1239575"/>
            <a:ext cx="8584500" cy="35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18029"/>
              <a:buNone/>
            </a:pPr>
            <a:r>
              <a:rPr lang="es-419" sz="2650"/>
              <a:t>Tipos de datos:</a:t>
            </a:r>
            <a:r>
              <a:rPr lang="es-419" sz="3300"/>
              <a:t> </a:t>
            </a:r>
            <a:r>
              <a:rPr b="0" lang="es-419" sz="2000"/>
              <a:t>Pueden contener tipos de datos básicos, como números y cadenas de texto, también podemos incluir otras estructuras como listas, diccionarios u objetos personalizados creados por el programador. 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8"/>
              <a:buNone/>
            </a:pPr>
            <a:r>
              <a:t/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88888"/>
              <a:buNone/>
            </a:pPr>
            <a:r>
              <a:rPr i="1" lang="es-419" sz="2000"/>
              <a:t>Nota</a:t>
            </a:r>
            <a:r>
              <a:rPr b="0" lang="es-419" sz="2000"/>
              <a:t>: Tener en cuenta que Python también permite almacenar distintos tipos de datos en una misma lista/matriz. Por ejemplo: una matriz donde cada fila representa una persona y cada columna los datos individuales de esa persona como nombre (str), edad (int), estado (bool), etc.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79617"/>
              <a:buNone/>
            </a:pPr>
            <a:r>
              <a:t/>
            </a:r>
            <a:endParaRPr b="0" sz="1522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713"/>
              <a:buNone/>
            </a:pPr>
            <a:r>
              <a:t/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ctrTitle"/>
          </p:nvPr>
        </p:nvSpPr>
        <p:spPr>
          <a:xfrm>
            <a:off x="406075" y="1576375"/>
            <a:ext cx="85251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5084"/>
              <a:buNone/>
            </a:pPr>
            <a:r>
              <a:rPr lang="es-419" sz="3300"/>
              <a:t>Cómo declaramos una matriz en Python: 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713"/>
              <a:buNone/>
            </a:pPr>
            <a:r>
              <a:t/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 txBox="1"/>
          <p:nvPr>
            <p:ph type="ctrTitle"/>
          </p:nvPr>
        </p:nvSpPr>
        <p:spPr>
          <a:xfrm>
            <a:off x="557275" y="2571738"/>
            <a:ext cx="83193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713"/>
              <a:buNone/>
            </a:pPr>
            <a:r>
              <a:t/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5700" l="0" r="14536" t="8455"/>
          <a:stretch/>
        </p:blipFill>
        <p:spPr>
          <a:xfrm>
            <a:off x="4664600" y="2475525"/>
            <a:ext cx="3492325" cy="111135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75" y="2280875"/>
            <a:ext cx="2762250" cy="165735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5"/>
          <p:cNvSpPr/>
          <p:nvPr/>
        </p:nvSpPr>
        <p:spPr>
          <a:xfrm>
            <a:off x="3509113" y="2909450"/>
            <a:ext cx="8733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ctrTitle"/>
          </p:nvPr>
        </p:nvSpPr>
        <p:spPr>
          <a:xfrm>
            <a:off x="312775" y="1503150"/>
            <a:ext cx="8808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5084"/>
              <a:buNone/>
            </a:pPr>
            <a:r>
              <a:rPr lang="es-419" sz="3300"/>
              <a:t>Cómo mostrar una matriz por terminal :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713"/>
              <a:buNone/>
            </a:pPr>
            <a:r>
              <a:t/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276" y="1649750"/>
            <a:ext cx="4274501" cy="3308599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" name="Google Shape;93;p6"/>
          <p:cNvSpPr/>
          <p:nvPr/>
        </p:nvSpPr>
        <p:spPr>
          <a:xfrm>
            <a:off x="4914300" y="3885525"/>
            <a:ext cx="8733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4">
            <a:alphaModFix/>
          </a:blip>
          <a:srcRect b="0" l="0" r="3548" t="0"/>
          <a:stretch/>
        </p:blipFill>
        <p:spPr>
          <a:xfrm>
            <a:off x="5870125" y="2233250"/>
            <a:ext cx="3098925" cy="492175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6"/>
          <p:cNvSpPr/>
          <p:nvPr/>
        </p:nvSpPr>
        <p:spPr>
          <a:xfrm>
            <a:off x="4914300" y="2279238"/>
            <a:ext cx="8733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63550" y="3683175"/>
            <a:ext cx="2466750" cy="804925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6"/>
          <p:cNvPicPr preferRelativeResize="0"/>
          <p:nvPr/>
        </p:nvPicPr>
        <p:blipFill rotWithShape="1">
          <a:blip r:embed="rId6">
            <a:alphaModFix/>
          </a:blip>
          <a:srcRect b="0" l="0" r="3464" t="0"/>
          <a:stretch/>
        </p:blipFill>
        <p:spPr>
          <a:xfrm>
            <a:off x="6390675" y="3554250"/>
            <a:ext cx="1588150" cy="106275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3550" y="1909150"/>
            <a:ext cx="2466750" cy="1140407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ctrTitle"/>
          </p:nvPr>
        </p:nvSpPr>
        <p:spPr>
          <a:xfrm>
            <a:off x="312775" y="1367800"/>
            <a:ext cx="88083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5084"/>
              <a:buNone/>
            </a:pPr>
            <a:r>
              <a:rPr lang="es-419" sz="3300"/>
              <a:t>Cómo mostrar un elemento de la matriz :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marR="5503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9"/>
              <a:buFont typeface="Arial"/>
              <a:buNone/>
            </a:pPr>
            <a:r>
              <a:t/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 rot="5400000">
            <a:off x="5254350" y="3285025"/>
            <a:ext cx="5193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465375" y="1912425"/>
            <a:ext cx="7885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503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Posición: [índice fila]  [índice columna]</a:t>
            </a:r>
            <a:endParaRPr b="0" i="0" sz="1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06" name="Google Shape;106;p7"/>
          <p:cNvPicPr preferRelativeResize="0"/>
          <p:nvPr/>
        </p:nvPicPr>
        <p:blipFill rotWithShape="1">
          <a:blip r:embed="rId3">
            <a:alphaModFix/>
          </a:blip>
          <a:srcRect b="8624" l="0" r="9254" t="0"/>
          <a:stretch/>
        </p:blipFill>
        <p:spPr>
          <a:xfrm>
            <a:off x="4026275" y="2501575"/>
            <a:ext cx="3275775" cy="661475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225" y="2501575"/>
            <a:ext cx="2762250" cy="165735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p7"/>
          <p:cNvPicPr preferRelativeResize="0"/>
          <p:nvPr/>
        </p:nvPicPr>
        <p:blipFill rotWithShape="1">
          <a:blip r:embed="rId5">
            <a:alphaModFix/>
          </a:blip>
          <a:srcRect b="0" l="0" r="26659" t="0"/>
          <a:stretch/>
        </p:blipFill>
        <p:spPr>
          <a:xfrm>
            <a:off x="5199638" y="3835925"/>
            <a:ext cx="628725" cy="38100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7"/>
          <p:cNvSpPr/>
          <p:nvPr/>
        </p:nvSpPr>
        <p:spPr>
          <a:xfrm>
            <a:off x="1426950" y="3553625"/>
            <a:ext cx="311400" cy="282300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ctrTitle"/>
          </p:nvPr>
        </p:nvSpPr>
        <p:spPr>
          <a:xfrm>
            <a:off x="312775" y="1310800"/>
            <a:ext cx="88083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5084"/>
              <a:buNone/>
            </a:pPr>
            <a:r>
              <a:rPr lang="es-419" sz="3300"/>
              <a:t>Cómo modificar un elemento de la matriz :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9642"/>
              <a:buNone/>
            </a:pPr>
            <a:r>
              <a:t/>
            </a:r>
            <a:endParaRPr b="0" sz="2411"/>
          </a:p>
          <a:p>
            <a:pPr indent="0" lvl="0" marL="0" marR="5503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76713"/>
              <a:buNone/>
            </a:pPr>
            <a:r>
              <a:t/>
            </a:r>
            <a:endParaRPr b="0" sz="2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0" sz="16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465375" y="1709750"/>
            <a:ext cx="78858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503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419" sz="2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Posición: [índice fila]  [índice columna]</a:t>
            </a:r>
            <a:endParaRPr b="0" i="0" sz="1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225" y="2501575"/>
            <a:ext cx="2762250" cy="165735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8"/>
          <p:cNvSpPr/>
          <p:nvPr/>
        </p:nvSpPr>
        <p:spPr>
          <a:xfrm>
            <a:off x="1434050" y="3550275"/>
            <a:ext cx="286500" cy="285900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6625" y="2229050"/>
            <a:ext cx="4232015" cy="2202375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" name="Google Shape;119;p8"/>
          <p:cNvSpPr/>
          <p:nvPr/>
        </p:nvSpPr>
        <p:spPr>
          <a:xfrm>
            <a:off x="3443599" y="3130125"/>
            <a:ext cx="9099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idx="1" type="subTitle"/>
          </p:nvPr>
        </p:nvSpPr>
        <p:spPr>
          <a:xfrm>
            <a:off x="190650" y="1141225"/>
            <a:ext cx="8762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9481"/>
              <a:buNone/>
            </a:pPr>
            <a:r>
              <a:rPr b="1" lang="es-419" sz="3300"/>
              <a:t>Cómo crear e inicializar una matriz en Python :</a:t>
            </a:r>
            <a:endParaRPr b="1" sz="3300"/>
          </a:p>
        </p:txBody>
      </p:sp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850" y="1844775"/>
            <a:ext cx="7416675" cy="202965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" name="Google Shape;1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4125" y="4216400"/>
            <a:ext cx="1762125" cy="74295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7" name="Google Shape;127;p9"/>
          <p:cNvSpPr/>
          <p:nvPr/>
        </p:nvSpPr>
        <p:spPr>
          <a:xfrm rot="5400000">
            <a:off x="4513800" y="3685997"/>
            <a:ext cx="512400" cy="39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idx="1" type="subTitle"/>
          </p:nvPr>
        </p:nvSpPr>
        <p:spPr>
          <a:xfrm>
            <a:off x="231600" y="990225"/>
            <a:ext cx="8680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503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3300"/>
          </a:p>
          <a:p>
            <a:pPr indent="0" lvl="0" marL="0" marR="5503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3300"/>
              <a:t>Carga secuencial</a:t>
            </a:r>
            <a:endParaRPr b="1" sz="3300"/>
          </a:p>
        </p:txBody>
      </p:sp>
      <p:sp>
        <p:nvSpPr>
          <p:cNvPr id="133" name="Google Shape;133;p10"/>
          <p:cNvSpPr txBox="1"/>
          <p:nvPr/>
        </p:nvSpPr>
        <p:spPr>
          <a:xfrm>
            <a:off x="349075" y="1645625"/>
            <a:ext cx="86058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419" sz="19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Es el proceso de agregar valores a una matriz de manera ordenada, desde la primera celda hacia la última.</a:t>
            </a:r>
            <a:endParaRPr b="0" i="0" sz="19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050" y="2495975"/>
            <a:ext cx="7151900" cy="202000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idx="1" type="subTitle"/>
          </p:nvPr>
        </p:nvSpPr>
        <p:spPr>
          <a:xfrm>
            <a:off x="231600" y="676775"/>
            <a:ext cx="8680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503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3300"/>
          </a:p>
          <a:p>
            <a:pPr indent="0" lvl="0" marL="0" marR="5503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3300"/>
              <a:t>Carga aleatoria</a:t>
            </a:r>
            <a:endParaRPr b="1" sz="3300"/>
          </a:p>
        </p:txBody>
      </p:sp>
      <p:sp>
        <p:nvSpPr>
          <p:cNvPr id="140" name="Google Shape;140;p11"/>
          <p:cNvSpPr txBox="1"/>
          <p:nvPr/>
        </p:nvSpPr>
        <p:spPr>
          <a:xfrm>
            <a:off x="5870150" y="2151425"/>
            <a:ext cx="31914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419" sz="19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Es posible cargar valores a una matriz inicializada de forma aleatoria, indicando el valor a incorporar y su ubicación en la matriz (fila y columna).</a:t>
            </a:r>
            <a:endParaRPr b="0" i="0" sz="19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41" name="Google Shape;1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50" y="1831175"/>
            <a:ext cx="5565351" cy="2602253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idx="1" type="subTitle"/>
          </p:nvPr>
        </p:nvSpPr>
        <p:spPr>
          <a:xfrm>
            <a:off x="231600" y="555675"/>
            <a:ext cx="8680800" cy="12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503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3300"/>
          </a:p>
          <a:p>
            <a:pPr indent="0" lvl="0" marL="0" marR="5503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3300"/>
              <a:t>Búsqueda en matrices </a:t>
            </a:r>
            <a:endParaRPr b="1" sz="3300"/>
          </a:p>
        </p:txBody>
      </p:sp>
      <p:pic>
        <p:nvPicPr>
          <p:cNvPr id="147" name="Google Shape;1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00" y="1720375"/>
            <a:ext cx="6138024" cy="2138679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12"/>
          <p:cNvSpPr txBox="1"/>
          <p:nvPr/>
        </p:nvSpPr>
        <p:spPr>
          <a:xfrm>
            <a:off x="6340325" y="2107400"/>
            <a:ext cx="2678700" cy="21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Mediante las búsquedas tenemos la posibilidad de comprobar si el dato existe en la matriz y además obtener su ubicación exacta.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49" name="Google Shape;149;p12"/>
          <p:cNvPicPr preferRelativeResize="0"/>
          <p:nvPr/>
        </p:nvPicPr>
        <p:blipFill rotWithShape="1">
          <a:blip r:embed="rId4">
            <a:alphaModFix/>
          </a:blip>
          <a:srcRect b="0" l="0" r="0" t="10426"/>
          <a:stretch/>
        </p:blipFill>
        <p:spPr>
          <a:xfrm>
            <a:off x="88300" y="4103400"/>
            <a:ext cx="6138025" cy="341275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idx="1" type="subTitle"/>
          </p:nvPr>
        </p:nvSpPr>
        <p:spPr>
          <a:xfrm>
            <a:off x="182575" y="968850"/>
            <a:ext cx="88098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5503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000"/>
          </a:p>
          <a:p>
            <a:pPr indent="0" lvl="0" marL="0" marR="5503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3000"/>
              <a:t>Suma de matrices :</a:t>
            </a:r>
            <a:endParaRPr b="1" sz="3000"/>
          </a:p>
        </p:txBody>
      </p:sp>
      <p:pic>
        <p:nvPicPr>
          <p:cNvPr id="155" name="Google Shape;1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575" y="1074775"/>
            <a:ext cx="865475" cy="874775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8001" y="1949550"/>
            <a:ext cx="5787999" cy="2326050"/>
          </a:xfrm>
          <a:prstGeom prst="rect">
            <a:avLst/>
          </a:prstGeom>
          <a:noFill/>
          <a:ln cap="flat" cmpd="sng" w="2857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idx="1" type="subTitle"/>
          </p:nvPr>
        </p:nvSpPr>
        <p:spPr>
          <a:xfrm>
            <a:off x="231600" y="961725"/>
            <a:ext cx="8680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503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750"/>
          </a:p>
          <a:p>
            <a:pPr indent="0" lvl="0" marL="0" marR="5503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-419" sz="2750"/>
              <a:t>Multiplicación matriz - escalar :</a:t>
            </a:r>
            <a:endParaRPr b="1" sz="2750"/>
          </a:p>
        </p:txBody>
      </p:sp>
      <p:pic>
        <p:nvPicPr>
          <p:cNvPr id="162" name="Google Shape;1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950" y="1952850"/>
            <a:ext cx="7229475" cy="2238375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/>
        </p:nvSpPr>
        <p:spPr>
          <a:xfrm>
            <a:off x="0" y="4089175"/>
            <a:ext cx="6233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                            Video explicativo: </a:t>
            </a:r>
            <a:r>
              <a:rPr b="0" i="0" lang="es-419" sz="1800" u="sng" cap="none" strike="noStrike">
                <a:solidFill>
                  <a:srgbClr val="00FFFF"/>
                </a:solidFill>
                <a:latin typeface="Encode Sans"/>
                <a:ea typeface="Encode Sans"/>
                <a:cs typeface="Encode Sans"/>
                <a:sym typeface="Encod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enlace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.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68" name="Google Shape;1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4625" y="1008325"/>
            <a:ext cx="68961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idx="1" type="subTitle"/>
          </p:nvPr>
        </p:nvSpPr>
        <p:spPr>
          <a:xfrm>
            <a:off x="311700" y="1317925"/>
            <a:ext cx="8520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5503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/>
              <a:t>Contenido adicional :</a:t>
            </a:r>
            <a:endParaRPr b="1"/>
          </a:p>
        </p:txBody>
      </p:sp>
      <p:pic>
        <p:nvPicPr>
          <p:cNvPr descr="icon-dictionary.pn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825" y="3127275"/>
            <a:ext cx="441900" cy="4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2673550" y="2350800"/>
            <a:ext cx="4594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Matrices (en inglés): </a:t>
            </a:r>
            <a:r>
              <a:rPr b="0" i="0" lang="es-419" sz="2000" u="sng" cap="none" strike="noStrike">
                <a:solidFill>
                  <a:srgbClr val="00FFFF"/>
                </a:solidFill>
                <a:latin typeface="Encode Sans"/>
                <a:ea typeface="Encode Sans"/>
                <a:cs typeface="Encode Sans"/>
                <a:sym typeface="Encod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Geek for geeks</a:t>
            </a:r>
            <a:endParaRPr b="0" i="0" sz="2000" u="none" cap="none" strike="noStrike">
              <a:solidFill>
                <a:srgbClr val="00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descr="icon-dictionary.png"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825" y="2336450"/>
            <a:ext cx="441900" cy="4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2673550" y="3084675"/>
            <a:ext cx="5656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Algoritmos matemáticos: </a:t>
            </a:r>
            <a:r>
              <a:rPr b="0" i="0" lang="es-419" sz="2000" u="sng" cap="none" strike="noStrike">
                <a:solidFill>
                  <a:srgbClr val="00FFFF"/>
                </a:solidFill>
                <a:latin typeface="Encode Sans"/>
                <a:ea typeface="Encode Sans"/>
                <a:cs typeface="Encode Sans"/>
                <a:sym typeface="Encode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Apunte</a:t>
            </a:r>
            <a:endParaRPr b="0" i="0" sz="2000" u="none" cap="none" strike="noStrike">
              <a:solidFill>
                <a:srgbClr val="00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