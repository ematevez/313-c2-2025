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  <p:embeddedFont>
      <p:font typeface="Encode Sans"/>
      <p:regular r:id="rId21"/>
      <p:bold r:id="rId22"/>
    </p:embeddedFont>
    <p:embeddedFont>
      <p:font typeface="Montserrat"/>
      <p:regular r:id="rId23"/>
      <p:bold r:id="rId24"/>
      <p:italic r:id="rId25"/>
      <p:boldItalic r:id="rId26"/>
    </p:embeddedFont>
    <p:embeddedFont>
      <p:font typeface="Montserrat Light"/>
      <p:regular r:id="rId27"/>
      <p:bold r:id="rId28"/>
      <p:italic r:id="rId29"/>
      <p:boldItalic r:id="rId30"/>
    </p:embeddedFont>
    <p:embeddedFont>
      <p:font typeface="Encode Sans ExtraBold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2" roundtripDataSignature="AMtx7miHqmoMN+bqzQEF4YdA31jnIBdp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22" Type="http://schemas.openxmlformats.org/officeDocument/2006/relationships/font" Target="fonts/EncodeSans-bold.fntdata"/><Relationship Id="rId21" Type="http://schemas.openxmlformats.org/officeDocument/2006/relationships/font" Target="fonts/EncodeSans-regular.fntdata"/><Relationship Id="rId24" Type="http://schemas.openxmlformats.org/officeDocument/2006/relationships/font" Target="fonts/Montserrat-bold.fntdata"/><Relationship Id="rId23" Type="http://schemas.openxmlformats.org/officeDocument/2006/relationships/font" Target="fonts/Montserra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italic.fntdata"/><Relationship Id="rId28" Type="http://schemas.openxmlformats.org/officeDocument/2006/relationships/font" Target="fonts/MontserratLight-bold.fntdata"/><Relationship Id="rId27" Type="http://schemas.openxmlformats.org/officeDocument/2006/relationships/font" Target="fonts/MontserratLigh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Ligh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EncodeSansExtraBold-bold.fntdata"/><Relationship Id="rId30" Type="http://schemas.openxmlformats.org/officeDocument/2006/relationships/font" Target="fonts/MontserratLight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slide" Target="slides/slide11.xml"/><Relationship Id="rId19" Type="http://schemas.openxmlformats.org/officeDocument/2006/relationships/font" Target="fonts/Roboto-italic.fntdata"/><Relationship Id="rId1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4690d3a443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4690d3a443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2"/>
          <p:cNvSpPr txBox="1"/>
          <p:nvPr>
            <p:ph type="ctrTitle"/>
          </p:nvPr>
        </p:nvSpPr>
        <p:spPr>
          <a:xfrm>
            <a:off x="311700" y="1197075"/>
            <a:ext cx="8520600" cy="17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Montserrat"/>
              <a:buNone/>
              <a:defRPr b="1" sz="5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12"/>
          <p:cNvSpPr txBox="1"/>
          <p:nvPr>
            <p:ph idx="1" type="subTitle"/>
          </p:nvPr>
        </p:nvSpPr>
        <p:spPr>
          <a:xfrm>
            <a:off x="311700" y="3307413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12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3"/>
          <p:cNvSpPr txBox="1"/>
          <p:nvPr>
            <p:ph type="title"/>
          </p:nvPr>
        </p:nvSpPr>
        <p:spPr>
          <a:xfrm>
            <a:off x="311700" y="1984800"/>
            <a:ext cx="8520600" cy="11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b="1" sz="36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13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/>
          <p:cNvSpPr txBox="1"/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" type="body"/>
          </p:nvPr>
        </p:nvSpPr>
        <p:spPr>
          <a:xfrm>
            <a:off x="311700" y="1969350"/>
            <a:ext cx="8520600" cy="26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/>
        </p:txBody>
      </p:sp>
      <p:sp>
        <p:nvSpPr>
          <p:cNvPr id="22" name="Google Shape;22;p14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" type="body"/>
          </p:nvPr>
        </p:nvSpPr>
        <p:spPr>
          <a:xfrm>
            <a:off x="311700" y="2054300"/>
            <a:ext cx="3999900" cy="26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 sz="1400">
                <a:latin typeface="Encode Sans"/>
                <a:ea typeface="Encode Sans"/>
                <a:cs typeface="Encode Sans"/>
                <a:sym typeface="Encode Sans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/>
        </p:txBody>
      </p:sp>
      <p:sp>
        <p:nvSpPr>
          <p:cNvPr id="26" name="Google Shape;26;p15"/>
          <p:cNvSpPr txBox="1"/>
          <p:nvPr>
            <p:ph idx="2" type="body"/>
          </p:nvPr>
        </p:nvSpPr>
        <p:spPr>
          <a:xfrm>
            <a:off x="4832400" y="2054150"/>
            <a:ext cx="3999900" cy="26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 sz="1400">
                <a:latin typeface="Encode Sans"/>
                <a:ea typeface="Encode Sans"/>
                <a:cs typeface="Encode Sans"/>
                <a:sym typeface="Encode Sans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/>
        </p:txBody>
      </p:sp>
      <p:sp>
        <p:nvSpPr>
          <p:cNvPr id="27" name="Google Shape;27;p15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 txBox="1"/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/>
          <p:nvPr>
            <p:ph type="title"/>
          </p:nvPr>
        </p:nvSpPr>
        <p:spPr>
          <a:xfrm>
            <a:off x="311700" y="1042600"/>
            <a:ext cx="2808000" cy="10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17"/>
          <p:cNvSpPr txBox="1"/>
          <p:nvPr>
            <p:ph idx="1" type="body"/>
          </p:nvPr>
        </p:nvSpPr>
        <p:spPr>
          <a:xfrm>
            <a:off x="311700" y="1389600"/>
            <a:ext cx="2808000" cy="31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/>
        </p:txBody>
      </p:sp>
      <p:sp>
        <p:nvSpPr>
          <p:cNvPr id="34" name="Google Shape;34;p17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8"/>
          <p:cNvSpPr txBox="1"/>
          <p:nvPr>
            <p:ph type="title"/>
          </p:nvPr>
        </p:nvSpPr>
        <p:spPr>
          <a:xfrm>
            <a:off x="490250" y="973100"/>
            <a:ext cx="6367800" cy="338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b="1" sz="48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b="1" sz="48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b="1" sz="48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b="1" sz="48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b="1" sz="48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b="1" sz="48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b="1" sz="48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b="1" sz="48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b="1" sz="4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7" name="Google Shape;37;p18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9"/>
          <p:cNvSpPr txBox="1"/>
          <p:nvPr>
            <p:ph type="title"/>
          </p:nvPr>
        </p:nvSpPr>
        <p:spPr>
          <a:xfrm>
            <a:off x="265500" y="1073500"/>
            <a:ext cx="4045200" cy="17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Encode Sans"/>
              <a:buNone/>
              <a:defRPr b="1" sz="4200">
                <a:latin typeface="Encode Sans"/>
                <a:ea typeface="Encode Sans"/>
                <a:cs typeface="Encode Sans"/>
                <a:sym typeface="Encode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" name="Google Shape;41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ncode Sans"/>
              <a:buChar char="●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○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■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●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○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■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●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○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■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/>
        </p:txBody>
      </p:sp>
      <p:sp>
        <p:nvSpPr>
          <p:cNvPr id="43" name="Google Shape;43;p19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0"/>
          <p:cNvSpPr txBox="1"/>
          <p:nvPr>
            <p:ph idx="1" type="body"/>
          </p:nvPr>
        </p:nvSpPr>
        <p:spPr>
          <a:xfrm>
            <a:off x="49125" y="4179425"/>
            <a:ext cx="5634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</a:lstStyle>
          <a:p/>
        </p:txBody>
      </p:sp>
      <p:sp>
        <p:nvSpPr>
          <p:cNvPr id="46" name="Google Shape;46;p20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9pPr>
          </a:lstStyle>
          <a:p>
            <a:r>
              <a:t>xx%</a:t>
            </a:r>
          </a:p>
        </p:txBody>
      </p:sp>
      <p:sp>
        <p:nvSpPr>
          <p:cNvPr id="49" name="Google Shape;49;p2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/>
        </p:txBody>
      </p:sp>
      <p:sp>
        <p:nvSpPr>
          <p:cNvPr id="50" name="Google Shape;50;p21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2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6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ontserrat"/>
              <a:buNone/>
              <a:defRPr b="1" i="0" sz="2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311700" y="1969350"/>
            <a:ext cx="8520600" cy="26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Encode Sans"/>
              <a:buChar char="●"/>
              <a:defRPr b="0" i="0" sz="18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○"/>
              <a:defRPr b="0" i="0" sz="14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■"/>
              <a:defRPr b="0" i="0" sz="14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●"/>
              <a:defRPr b="0" i="0" sz="14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○"/>
              <a:defRPr b="0" i="0" sz="14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■"/>
              <a:defRPr b="0" i="0" sz="14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●"/>
              <a:defRPr b="0" i="0" sz="14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○"/>
              <a:defRPr b="0" i="0" sz="14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■"/>
              <a:defRPr b="0" i="0" sz="14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/>
        </p:txBody>
      </p:sp>
      <p:sp>
        <p:nvSpPr>
          <p:cNvPr id="8" name="Google Shape;8;p11"/>
          <p:cNvSpPr txBox="1"/>
          <p:nvPr/>
        </p:nvSpPr>
        <p:spPr>
          <a:xfrm>
            <a:off x="1668175" y="84975"/>
            <a:ext cx="74757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419" sz="18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Programación I</a:t>
            </a:r>
            <a:endParaRPr b="0" i="0" sz="1800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9" name="Google Shape;9;p11"/>
          <p:cNvSpPr txBox="1"/>
          <p:nvPr/>
        </p:nvSpPr>
        <p:spPr>
          <a:xfrm>
            <a:off x="1668175" y="654446"/>
            <a:ext cx="74757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419" sz="15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Algoritmos de ordenamiento</a:t>
            </a:r>
            <a:endParaRPr b="0" i="0" sz="1500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0" name="Google Shape;10;p11"/>
          <p:cNvSpPr txBox="1"/>
          <p:nvPr/>
        </p:nvSpPr>
        <p:spPr>
          <a:xfrm>
            <a:off x="1668175" y="370798"/>
            <a:ext cx="74757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419" sz="8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Scarafilo </a:t>
            </a:r>
            <a:r>
              <a:rPr b="0" i="0" lang="es-419" sz="800" u="none" cap="none" strike="noStrike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Germán</a:t>
            </a:r>
            <a:r>
              <a:rPr b="0" i="0" lang="es-419" sz="8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. Editores: Guevara Mariano, Lucchetta Giovanni.</a:t>
            </a:r>
            <a:endParaRPr b="0" i="0" sz="800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1" name="Google Shape;11;p11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youtu.be/Myy-eU-SWbE?feature=shared" TargetMode="External"/><Relationship Id="rId4" Type="http://schemas.openxmlformats.org/officeDocument/2006/relationships/hyperlink" Target="https://youtu.be/pqZ04TT15PQ?feature=shared" TargetMode="External"/><Relationship Id="rId5" Type="http://schemas.openxmlformats.org/officeDocument/2006/relationships/hyperlink" Target="https://youtu.be/UrPJLhKF1jY?feature=shared" TargetMode="External"/><Relationship Id="rId6" Type="http://schemas.openxmlformats.org/officeDocument/2006/relationships/hyperlink" Target="https://youtu.be/ACFZn_xQcz8?feature=shared" TargetMode="External"/><Relationship Id="rId7" Type="http://schemas.openxmlformats.org/officeDocument/2006/relationships/hyperlink" Target="https://youtu.be/6GU6AGEWYJY?feature=shared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"/>
          <p:cNvSpPr txBox="1"/>
          <p:nvPr>
            <p:ph type="ctrTitle"/>
          </p:nvPr>
        </p:nvSpPr>
        <p:spPr>
          <a:xfrm>
            <a:off x="-577825" y="1713750"/>
            <a:ext cx="5957700" cy="17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Algoritmos de ordenamiento</a:t>
            </a:r>
            <a:endParaRPr/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3">
            <a:alphaModFix/>
          </a:blip>
          <a:srcRect b="15175" l="0" r="0" t="0"/>
          <a:stretch/>
        </p:blipFill>
        <p:spPr>
          <a:xfrm>
            <a:off x="4758700" y="1632327"/>
            <a:ext cx="4168150" cy="198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/>
          <p:nvPr>
            <p:ph type="ctrTitle"/>
          </p:nvPr>
        </p:nvSpPr>
        <p:spPr>
          <a:xfrm>
            <a:off x="-2475925" y="1269700"/>
            <a:ext cx="8520600" cy="17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-419"/>
              <a:t>¿</a:t>
            </a:r>
            <a:r>
              <a:rPr lang="es-419" sz="4500"/>
              <a:t>Qué son?</a:t>
            </a:r>
            <a:endParaRPr sz="4500"/>
          </a:p>
        </p:txBody>
      </p:sp>
      <p:sp>
        <p:nvSpPr>
          <p:cNvPr id="64" name="Google Shape;64;p2"/>
          <p:cNvSpPr txBox="1"/>
          <p:nvPr>
            <p:ph idx="1" type="subTitle"/>
          </p:nvPr>
        </p:nvSpPr>
        <p:spPr>
          <a:xfrm>
            <a:off x="311700" y="3307413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s-419" sz="2040"/>
              <a:t>Los algoritmos de ordenamiento son un conjunto de instrucciones que buscan organizar elementos en un orden particular (criterio de ordenamiento).</a:t>
            </a:r>
            <a:endParaRPr sz="2040"/>
          </a:p>
        </p:txBody>
      </p:sp>
      <p:pic>
        <p:nvPicPr>
          <p:cNvPr id="65" name="Google Shape;6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495" y="1332175"/>
            <a:ext cx="5106055" cy="1716000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 txBox="1"/>
          <p:nvPr>
            <p:ph type="ctrTitle"/>
          </p:nvPr>
        </p:nvSpPr>
        <p:spPr>
          <a:xfrm>
            <a:off x="-1476325" y="1306925"/>
            <a:ext cx="8520600" cy="17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419" sz="4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¿Para qué sirven?</a:t>
            </a:r>
            <a:endParaRPr sz="4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 txBox="1"/>
          <p:nvPr>
            <p:ph idx="1" type="subTitle"/>
          </p:nvPr>
        </p:nvSpPr>
        <p:spPr>
          <a:xfrm>
            <a:off x="395250" y="2688713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s-419" sz="202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El ordenamiento cumple un rol muy importante, ya sea como un fin en sí (ej. Ordenar una lista de mayor a menor) o como parte de otros procedimientos más complejos permitiendo simplificar la solución al contar con un conjunto ordenado de datos.</a:t>
            </a:r>
            <a:endParaRPr sz="2029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 txBox="1"/>
          <p:nvPr>
            <p:ph type="ctrTitle"/>
          </p:nvPr>
        </p:nvSpPr>
        <p:spPr>
          <a:xfrm>
            <a:off x="311700" y="662950"/>
            <a:ext cx="8520600" cy="17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-419" sz="4500"/>
              <a:t>¿Cuántos hay?</a:t>
            </a:r>
            <a:endParaRPr sz="4500"/>
          </a:p>
        </p:txBody>
      </p:sp>
      <p:sp>
        <p:nvSpPr>
          <p:cNvPr id="77" name="Google Shape;77;p4"/>
          <p:cNvSpPr txBox="1"/>
          <p:nvPr>
            <p:ph idx="1" type="subTitle"/>
          </p:nvPr>
        </p:nvSpPr>
        <p:spPr>
          <a:xfrm>
            <a:off x="813950" y="1904825"/>
            <a:ext cx="3303300" cy="263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-3556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Char char="●"/>
            </a:pPr>
            <a:r>
              <a:rPr lang="es-419" sz="2000">
                <a:solidFill>
                  <a:schemeClr val="lt1"/>
                </a:solidFill>
              </a:rPr>
              <a:t>Bubble sort                    </a:t>
            </a:r>
            <a:endParaRPr sz="2000">
              <a:solidFill>
                <a:schemeClr val="lt1"/>
              </a:solidFill>
            </a:endParaRPr>
          </a:p>
          <a:p>
            <a:pPr indent="-3556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Char char="●"/>
            </a:pPr>
            <a:r>
              <a:rPr lang="es-419" sz="2000">
                <a:solidFill>
                  <a:schemeClr val="lt1"/>
                </a:solidFill>
              </a:rPr>
              <a:t>Selection sort</a:t>
            </a:r>
            <a:endParaRPr sz="2000">
              <a:solidFill>
                <a:schemeClr val="lt1"/>
              </a:solidFill>
            </a:endParaRPr>
          </a:p>
          <a:p>
            <a:pPr indent="-3556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Char char="●"/>
            </a:pPr>
            <a:r>
              <a:rPr lang="es-419" sz="2000">
                <a:solidFill>
                  <a:schemeClr val="lt1"/>
                </a:solidFill>
              </a:rPr>
              <a:t>Insertion sort</a:t>
            </a:r>
            <a:endParaRPr sz="2000">
              <a:solidFill>
                <a:schemeClr val="lt1"/>
              </a:solidFill>
            </a:endParaRPr>
          </a:p>
          <a:p>
            <a:pPr indent="-3556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Char char="●"/>
            </a:pPr>
            <a:r>
              <a:rPr lang="es-419" sz="2000">
                <a:solidFill>
                  <a:schemeClr val="lt1"/>
                </a:solidFill>
              </a:rPr>
              <a:t>Merge sort</a:t>
            </a:r>
            <a:endParaRPr sz="2000">
              <a:solidFill>
                <a:schemeClr val="lt1"/>
              </a:solidFill>
            </a:endParaRPr>
          </a:p>
          <a:p>
            <a:pPr indent="-3556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Char char="●"/>
            </a:pPr>
            <a:r>
              <a:rPr lang="es-419" sz="2000">
                <a:solidFill>
                  <a:schemeClr val="lt1"/>
                </a:solidFill>
              </a:rPr>
              <a:t>Quick sort</a:t>
            </a:r>
            <a:endParaRPr sz="8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 txBox="1"/>
          <p:nvPr/>
        </p:nvSpPr>
        <p:spPr>
          <a:xfrm>
            <a:off x="5454825" y="2163925"/>
            <a:ext cx="3000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Char char="●"/>
            </a:pPr>
            <a:r>
              <a:rPr b="0" i="0" lang="es-419" sz="2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Heap sort</a:t>
            </a:r>
            <a:endParaRPr b="0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Char char="●"/>
            </a:pPr>
            <a:r>
              <a:rPr b="0" i="0" lang="es-419" sz="2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Counting sort</a:t>
            </a:r>
            <a:endParaRPr b="0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Char char="●"/>
            </a:pPr>
            <a:r>
              <a:rPr b="0" i="0" lang="es-419" sz="2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Radix sort</a:t>
            </a:r>
            <a:endParaRPr b="0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Char char="●"/>
            </a:pPr>
            <a:r>
              <a:rPr b="0" i="0" lang="es-419" sz="2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Bucket sort</a:t>
            </a:r>
            <a:endParaRPr b="0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"/>
          <p:cNvSpPr txBox="1"/>
          <p:nvPr>
            <p:ph type="ctrTitle"/>
          </p:nvPr>
        </p:nvSpPr>
        <p:spPr>
          <a:xfrm>
            <a:off x="1942875" y="1129175"/>
            <a:ext cx="5080200" cy="11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000"/>
              <a:buFont typeface="Arial"/>
              <a:buNone/>
            </a:pPr>
            <a:r>
              <a:rPr lang="es-419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Clasificación</a:t>
            </a:r>
            <a:endParaRPr sz="4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 txBox="1"/>
          <p:nvPr>
            <p:ph idx="1" type="subTitle"/>
          </p:nvPr>
        </p:nvSpPr>
        <p:spPr>
          <a:xfrm>
            <a:off x="108000" y="1963404"/>
            <a:ext cx="8520600" cy="238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65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s-419" sz="1700">
                <a:solidFill>
                  <a:schemeClr val="lt1"/>
                </a:solidFill>
              </a:rPr>
              <a:t>La cantidad de </a:t>
            </a:r>
            <a:r>
              <a:rPr b="1" lang="es-419" sz="1700">
                <a:solidFill>
                  <a:schemeClr val="lt1"/>
                </a:solidFill>
              </a:rPr>
              <a:t>intercambios</a:t>
            </a:r>
            <a:r>
              <a:rPr lang="es-419" sz="1700">
                <a:solidFill>
                  <a:schemeClr val="lt1"/>
                </a:solidFill>
              </a:rPr>
              <a:t>: esta es la cantidad de veces que el algoritmo intercambia elementos.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s-419" sz="1700">
                <a:solidFill>
                  <a:schemeClr val="lt1"/>
                </a:solidFill>
              </a:rPr>
              <a:t>El número de </a:t>
            </a:r>
            <a:r>
              <a:rPr b="1" lang="es-419" sz="1700">
                <a:solidFill>
                  <a:schemeClr val="lt1"/>
                </a:solidFill>
              </a:rPr>
              <a:t>comparaciones</a:t>
            </a:r>
            <a:r>
              <a:rPr lang="es-419" sz="1700">
                <a:solidFill>
                  <a:schemeClr val="lt1"/>
                </a:solidFill>
              </a:rPr>
              <a:t>: este es el número de veces que el algoritmo compara elementos. 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s-419" sz="1700">
                <a:solidFill>
                  <a:schemeClr val="lt1"/>
                </a:solidFill>
              </a:rPr>
              <a:t>La cantidad de </a:t>
            </a:r>
            <a:r>
              <a:rPr b="1" lang="es-419" sz="1700">
                <a:solidFill>
                  <a:schemeClr val="lt1"/>
                </a:solidFill>
              </a:rPr>
              <a:t>espacio</a:t>
            </a:r>
            <a:r>
              <a:rPr lang="es-419" sz="1700">
                <a:solidFill>
                  <a:schemeClr val="lt1"/>
                </a:solidFill>
              </a:rPr>
              <a:t> adicional requerido: algunos algoritmos pueden ordenar una lista sin la necesidad de crear listas nuevas. 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s-419" sz="1700">
                <a:solidFill>
                  <a:schemeClr val="lt1"/>
                </a:solidFill>
              </a:rPr>
              <a:t>Utilizan </a:t>
            </a:r>
            <a:r>
              <a:rPr b="1" lang="es-419" sz="1700">
                <a:solidFill>
                  <a:schemeClr val="lt1"/>
                </a:solidFill>
              </a:rPr>
              <a:t>recursividad</a:t>
            </a:r>
            <a:r>
              <a:rPr lang="es-419" sz="1700">
                <a:solidFill>
                  <a:schemeClr val="lt1"/>
                </a:solidFill>
              </a:rPr>
              <a:t> o no: algunos algoritmos usan técnicas recursivas y otros no.</a:t>
            </a:r>
            <a:endParaRPr sz="1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 txBox="1"/>
          <p:nvPr>
            <p:ph type="ctrTitle"/>
          </p:nvPr>
        </p:nvSpPr>
        <p:spPr>
          <a:xfrm>
            <a:off x="1595750" y="727150"/>
            <a:ext cx="6219900" cy="13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-419"/>
              <a:t>Bubble sort</a:t>
            </a:r>
            <a:endParaRPr/>
          </a:p>
        </p:txBody>
      </p:sp>
      <p:sp>
        <p:nvSpPr>
          <p:cNvPr id="90" name="Google Shape;90;p6"/>
          <p:cNvSpPr txBox="1"/>
          <p:nvPr>
            <p:ph idx="1" type="subTitle"/>
          </p:nvPr>
        </p:nvSpPr>
        <p:spPr>
          <a:xfrm>
            <a:off x="77150" y="1824225"/>
            <a:ext cx="6754800" cy="27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25000"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s-419" sz="7600"/>
              <a:t>● Se basa en recorrer el array ("realizar una pasada") un cierto número de veces, comparando pares de valores que ocupan posiciones adyacentes (0-1,1-2, ...).</a:t>
            </a:r>
            <a:endParaRPr sz="7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7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7368"/>
              <a:buNone/>
            </a:pPr>
            <a:r>
              <a:rPr lang="es-419" sz="7600"/>
              <a:t>● Si ambos datos no están ordenados, se intercambian.</a:t>
            </a:r>
            <a:endParaRPr sz="7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7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s-419" sz="7600"/>
              <a:t>● Esta operación se repite n-1 veces, siendo n el tamaño del conjunto de datos de entrada.</a:t>
            </a:r>
            <a:endParaRPr sz="7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91" name="Google Shape;9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1950" y="2101750"/>
            <a:ext cx="2082524" cy="2082524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"/>
          <p:cNvSpPr txBox="1"/>
          <p:nvPr>
            <p:ph type="ctrTitle"/>
          </p:nvPr>
        </p:nvSpPr>
        <p:spPr>
          <a:xfrm>
            <a:off x="311700" y="477825"/>
            <a:ext cx="8520600" cy="17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-419"/>
              <a:t>Selección</a:t>
            </a:r>
            <a:endParaRPr/>
          </a:p>
        </p:txBody>
      </p:sp>
      <p:sp>
        <p:nvSpPr>
          <p:cNvPr id="97" name="Google Shape;97;p7"/>
          <p:cNvSpPr txBox="1"/>
          <p:nvPr>
            <p:ph idx="1" type="subTitle"/>
          </p:nvPr>
        </p:nvSpPr>
        <p:spPr>
          <a:xfrm>
            <a:off x="311700" y="2749850"/>
            <a:ext cx="8520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s-419" sz="1800"/>
              <a:t>● Buscas el elemento más pequeño de la lista.</a:t>
            </a:r>
            <a:endParaRPr sz="18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s-419" sz="1800"/>
              <a:t>● Lo intercambias con el elemento ubicado en la primera</a:t>
            </a:r>
            <a:endParaRPr sz="18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s-419" sz="1800"/>
              <a:t>posición de la lista.</a:t>
            </a:r>
            <a:endParaRPr sz="18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s-419" sz="1800"/>
              <a:t>● Buscas el segundo elemento más pequeño de la lista.</a:t>
            </a:r>
            <a:endParaRPr sz="18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s-419" sz="1800"/>
              <a:t>● Lo intercambias con el elemento que ocupa la segunda</a:t>
            </a:r>
            <a:endParaRPr sz="18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s-419" sz="1800"/>
              <a:t>posición en la lista.</a:t>
            </a:r>
            <a:endParaRPr sz="18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s-419" sz="1800"/>
              <a:t>● Este se proceso hasta que hayas ordenado toda la</a:t>
            </a:r>
            <a:endParaRPr sz="18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s-419" sz="1800"/>
              <a:t>lista.</a:t>
            </a:r>
            <a:endParaRPr sz="18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700"/>
          </a:p>
        </p:txBody>
      </p:sp>
      <p:pic>
        <p:nvPicPr>
          <p:cNvPr id="98" name="Google Shape;98;p7"/>
          <p:cNvPicPr preferRelativeResize="0"/>
          <p:nvPr/>
        </p:nvPicPr>
        <p:blipFill rotWithShape="1">
          <a:blip r:embed="rId3">
            <a:alphaModFix/>
          </a:blip>
          <a:srcRect b="3751" l="4071" r="4236" t="7556"/>
          <a:stretch/>
        </p:blipFill>
        <p:spPr>
          <a:xfrm>
            <a:off x="7121450" y="2193825"/>
            <a:ext cx="1863900" cy="1802825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/>
          <p:cNvSpPr txBox="1"/>
          <p:nvPr>
            <p:ph type="ctrTitle"/>
          </p:nvPr>
        </p:nvSpPr>
        <p:spPr>
          <a:xfrm>
            <a:off x="311700" y="963475"/>
            <a:ext cx="3413400" cy="9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Quick sort</a:t>
            </a:r>
            <a:endParaRPr/>
          </a:p>
        </p:txBody>
      </p:sp>
      <p:sp>
        <p:nvSpPr>
          <p:cNvPr id="104" name="Google Shape;104;p8"/>
          <p:cNvSpPr txBox="1"/>
          <p:nvPr>
            <p:ph idx="1" type="subTitle"/>
          </p:nvPr>
        </p:nvSpPr>
        <p:spPr>
          <a:xfrm>
            <a:off x="311700" y="2729675"/>
            <a:ext cx="5658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s-419" sz="1700"/>
              <a:t>En general, este método puede ordenar una lista de datos mucho más rápido que cualquier otro método.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s-419" sz="1700"/>
              <a:t>Se basa en la estrategia típica de "divide y vencerás": la lista a ordenar se divide en dos partes, una contendrá todos los valores menores o iguales a un cierto valor (que se suele denominar pivote) y la otra con los valores mayores que dicho valor.</a:t>
            </a:r>
            <a:endParaRPr sz="17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7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900"/>
          </a:p>
        </p:txBody>
      </p:sp>
      <p:pic>
        <p:nvPicPr>
          <p:cNvPr id="105" name="Google Shape;105;p8"/>
          <p:cNvPicPr preferRelativeResize="0"/>
          <p:nvPr/>
        </p:nvPicPr>
        <p:blipFill rotWithShape="1">
          <a:blip r:embed="rId3">
            <a:alphaModFix/>
          </a:blip>
          <a:srcRect b="0" l="11167" r="30665" t="0"/>
          <a:stretch/>
        </p:blipFill>
        <p:spPr>
          <a:xfrm>
            <a:off x="6044500" y="1510800"/>
            <a:ext cx="2659375" cy="2571750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5450" y="1538538"/>
            <a:ext cx="4244201" cy="2801925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1" name="Google Shape;111;p9"/>
          <p:cNvSpPr txBox="1"/>
          <p:nvPr/>
        </p:nvSpPr>
        <p:spPr>
          <a:xfrm>
            <a:off x="145950" y="919000"/>
            <a:ext cx="43386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419" sz="18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rPr>
              <a:t>Pasos:</a:t>
            </a:r>
            <a:endParaRPr b="0" i="0" sz="1800" u="none" cap="none" strike="noStrike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419" sz="18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rPr>
              <a:t>Elegir un Pivote: </a:t>
            </a:r>
            <a:r>
              <a:rPr lang="es-419" sz="1800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rPr>
              <a:t>s</a:t>
            </a:r>
            <a:r>
              <a:rPr b="0" i="0" lang="es-419" sz="18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rPr>
              <a:t>elecciona un elemento de la lista (puede ser el primero, el último, o un elemento aleatorio).</a:t>
            </a:r>
            <a:endParaRPr b="0" i="0" sz="1800" u="none" cap="none" strike="noStrike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419" sz="18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rPr>
              <a:t>Partición: </a:t>
            </a:r>
            <a:r>
              <a:rPr lang="es-419" sz="1800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rPr>
              <a:t>r</a:t>
            </a:r>
            <a:r>
              <a:rPr b="0" i="0" lang="es-419" sz="18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rPr>
              <a:t>eorganiza la lista de modo que todos los elementos menores que el pivote queden a su izquierda y los mayores a su derecha.</a:t>
            </a:r>
            <a:endParaRPr b="0" i="0" sz="1800" u="none" cap="none" strike="noStrike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419" sz="18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rPr>
              <a:t>Recursividad: </a:t>
            </a:r>
            <a:r>
              <a:rPr lang="es-419" sz="1800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rPr>
              <a:t>a</a:t>
            </a:r>
            <a:r>
              <a:rPr b="0" i="0" lang="es-419" sz="18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rPr>
              <a:t>plicar QuickSort recursivamente en las sublistas izquierda y derecha hasta que estén ordenadas.</a:t>
            </a:r>
            <a:endParaRPr b="0" i="0" sz="1800" u="none" cap="none" strike="noStrike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"/>
          <p:cNvSpPr txBox="1"/>
          <p:nvPr>
            <p:ph type="ctrTitle"/>
          </p:nvPr>
        </p:nvSpPr>
        <p:spPr>
          <a:xfrm>
            <a:off x="311700" y="996525"/>
            <a:ext cx="8640900" cy="16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4500"/>
              <a:t>¿Cómo elegir el algoritmo correcto?</a:t>
            </a:r>
            <a:endParaRPr sz="4500"/>
          </a:p>
        </p:txBody>
      </p:sp>
      <p:sp>
        <p:nvSpPr>
          <p:cNvPr id="117" name="Google Shape;117;p10"/>
          <p:cNvSpPr txBox="1"/>
          <p:nvPr>
            <p:ph idx="1" type="subTitle"/>
          </p:nvPr>
        </p:nvSpPr>
        <p:spPr>
          <a:xfrm>
            <a:off x="782550" y="2495550"/>
            <a:ext cx="7578900" cy="238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s-419" sz="1800">
                <a:solidFill>
                  <a:schemeClr val="lt1"/>
                </a:solidFill>
              </a:rPr>
              <a:t>Si </a:t>
            </a:r>
            <a:r>
              <a:rPr b="1" lang="es-419" sz="1800">
                <a:solidFill>
                  <a:schemeClr val="lt1"/>
                </a:solidFill>
              </a:rPr>
              <a:t>tu lista es pequeña o está casi ordenada</a:t>
            </a:r>
            <a:r>
              <a:rPr lang="es-419" sz="1800">
                <a:solidFill>
                  <a:schemeClr val="lt1"/>
                </a:solidFill>
              </a:rPr>
              <a:t>: </a:t>
            </a:r>
            <a:r>
              <a:rPr i="1" lang="es-419" sz="1800">
                <a:solidFill>
                  <a:schemeClr val="lt1"/>
                </a:solidFill>
              </a:rPr>
              <a:t>Selection Sort</a:t>
            </a:r>
            <a:r>
              <a:rPr lang="es-419" sz="1800">
                <a:solidFill>
                  <a:schemeClr val="lt1"/>
                </a:solidFill>
              </a:rPr>
              <a:t> o </a:t>
            </a:r>
            <a:r>
              <a:rPr i="1" lang="es-419" sz="1800">
                <a:solidFill>
                  <a:schemeClr val="lt1"/>
                </a:solidFill>
              </a:rPr>
              <a:t>Bubble Sort Mejorado</a:t>
            </a:r>
            <a:r>
              <a:rPr lang="es-419" sz="1800">
                <a:solidFill>
                  <a:schemeClr val="lt1"/>
                </a:solidFill>
              </a:rPr>
              <a:t>.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s-419" sz="1800">
                <a:solidFill>
                  <a:schemeClr val="lt1"/>
                </a:solidFill>
              </a:rPr>
              <a:t>Si </a:t>
            </a:r>
            <a:r>
              <a:rPr b="1" lang="es-419" sz="1800">
                <a:solidFill>
                  <a:schemeClr val="lt1"/>
                </a:solidFill>
              </a:rPr>
              <a:t>necesitás eficiencia en listas grandes y desordenadas</a:t>
            </a:r>
            <a:r>
              <a:rPr lang="es-419" sz="1800">
                <a:solidFill>
                  <a:schemeClr val="lt1"/>
                </a:solidFill>
              </a:rPr>
              <a:t>: </a:t>
            </a:r>
            <a:r>
              <a:rPr i="1" lang="es-419" sz="1800">
                <a:solidFill>
                  <a:schemeClr val="lt1"/>
                </a:solidFill>
              </a:rPr>
              <a:t>QuickSort</a:t>
            </a:r>
            <a:r>
              <a:rPr lang="es-419" sz="1800">
                <a:solidFill>
                  <a:schemeClr val="lt1"/>
                </a:solidFill>
              </a:rPr>
              <a:t> o </a:t>
            </a:r>
            <a:r>
              <a:rPr i="1" lang="es-419" sz="1800">
                <a:solidFill>
                  <a:schemeClr val="lt1"/>
                </a:solidFill>
              </a:rPr>
              <a:t>MergeSort</a:t>
            </a:r>
            <a:r>
              <a:rPr lang="es-419" sz="1800">
                <a:solidFill>
                  <a:schemeClr val="lt1"/>
                </a:solidFill>
              </a:rPr>
              <a:t>.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s-419" sz="1800">
                <a:solidFill>
                  <a:schemeClr val="lt1"/>
                </a:solidFill>
              </a:rPr>
              <a:t>Si </a:t>
            </a:r>
            <a:r>
              <a:rPr b="1" lang="es-419" sz="1800">
                <a:solidFill>
                  <a:schemeClr val="lt1"/>
                </a:solidFill>
              </a:rPr>
              <a:t>te preocupa la estabilidad</a:t>
            </a:r>
            <a:r>
              <a:rPr lang="es-419" sz="1800">
                <a:solidFill>
                  <a:schemeClr val="lt1"/>
                </a:solidFill>
              </a:rPr>
              <a:t>: </a:t>
            </a:r>
            <a:r>
              <a:rPr i="1" lang="es-419" sz="1800">
                <a:solidFill>
                  <a:schemeClr val="lt1"/>
                </a:solidFill>
              </a:rPr>
              <a:t>MergeSort</a:t>
            </a:r>
            <a:r>
              <a:rPr lang="es-419" sz="1800">
                <a:solidFill>
                  <a:schemeClr val="lt1"/>
                </a:solidFill>
              </a:rPr>
              <a:t>.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s-419" sz="1800">
                <a:solidFill>
                  <a:schemeClr val="lt1"/>
                </a:solidFill>
              </a:rPr>
              <a:t>Si </a:t>
            </a:r>
            <a:r>
              <a:rPr b="1" lang="es-419" sz="1800">
                <a:solidFill>
                  <a:schemeClr val="lt1"/>
                </a:solidFill>
              </a:rPr>
              <a:t>tenés restricciones de memoria</a:t>
            </a:r>
            <a:r>
              <a:rPr lang="es-419" sz="1800">
                <a:solidFill>
                  <a:schemeClr val="lt1"/>
                </a:solidFill>
              </a:rPr>
              <a:t>: </a:t>
            </a:r>
            <a:r>
              <a:rPr i="1" lang="es-419" sz="1800">
                <a:solidFill>
                  <a:schemeClr val="lt1"/>
                </a:solidFill>
              </a:rPr>
              <a:t>QuickSort</a:t>
            </a:r>
            <a:r>
              <a:rPr lang="es-419" sz="1800">
                <a:solidFill>
                  <a:schemeClr val="lt1"/>
                </a:solidFill>
              </a:rPr>
              <a:t>.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242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4690d3a443_2_0"/>
          <p:cNvSpPr txBox="1"/>
          <p:nvPr>
            <p:ph type="ctrTitle"/>
          </p:nvPr>
        </p:nvSpPr>
        <p:spPr>
          <a:xfrm>
            <a:off x="332700" y="1069075"/>
            <a:ext cx="86409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t/>
            </a:r>
            <a:endParaRPr sz="45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s-419" sz="4500"/>
              <a:t>R</a:t>
            </a:r>
            <a:r>
              <a:rPr lang="es-419" sz="4500"/>
              <a:t>ecursos</a:t>
            </a:r>
            <a:endParaRPr sz="4500"/>
          </a:p>
        </p:txBody>
      </p:sp>
      <p:sp>
        <p:nvSpPr>
          <p:cNvPr id="123" name="Google Shape;123;g34690d3a443_2_0"/>
          <p:cNvSpPr txBox="1"/>
          <p:nvPr>
            <p:ph idx="1" type="subTitle"/>
          </p:nvPr>
        </p:nvSpPr>
        <p:spPr>
          <a:xfrm>
            <a:off x="73200" y="2242800"/>
            <a:ext cx="8997600" cy="29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s-419" sz="1800">
                <a:solidFill>
                  <a:srgbClr val="FFFFFF"/>
                </a:solidFill>
              </a:rPr>
              <a:t> </a:t>
            </a:r>
            <a:r>
              <a:rPr i="1" lang="es-419" sz="1800">
                <a:solidFill>
                  <a:srgbClr val="FFFFFF"/>
                </a:solidFill>
              </a:rPr>
              <a:t>Selection Sort</a:t>
            </a:r>
            <a:r>
              <a:rPr lang="es-419" sz="1800">
                <a:solidFill>
                  <a:srgbClr val="FFFFFF"/>
                </a:solidFill>
              </a:rPr>
              <a:t>  </a:t>
            </a:r>
            <a:r>
              <a:rPr lang="es-419" sz="1800" u="sng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https://youtu.be/Myy-eU-SWbE?feature=shared</a:t>
            </a:r>
            <a:endParaRPr sz="1800">
              <a:solidFill>
                <a:srgbClr val="FFFFFF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i="1" lang="es-419" sz="1800">
                <a:solidFill>
                  <a:srgbClr val="FFFFFF"/>
                </a:solidFill>
              </a:rPr>
              <a:t>Bubble Sort Mejorado</a:t>
            </a:r>
            <a:r>
              <a:rPr lang="es-419" sz="1800">
                <a:solidFill>
                  <a:srgbClr val="FFFFFF"/>
                </a:solidFill>
              </a:rPr>
              <a:t> </a:t>
            </a:r>
            <a:r>
              <a:rPr lang="es-419" sz="1800" u="sng">
                <a:solidFill>
                  <a:srgbClr val="FFFFFF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https://youtu.be/pqZ04TT15PQ?feature=shared</a:t>
            </a:r>
            <a:endParaRPr sz="1800">
              <a:solidFill>
                <a:srgbClr val="FFFFFF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i="1" lang="es-419" sz="1800">
                <a:solidFill>
                  <a:srgbClr val="FFFFFF"/>
                </a:solidFill>
              </a:rPr>
              <a:t>QuickSort</a:t>
            </a:r>
            <a:r>
              <a:rPr lang="es-419" sz="1800">
                <a:solidFill>
                  <a:srgbClr val="FFFFFF"/>
                </a:solidFill>
              </a:rPr>
              <a:t>  </a:t>
            </a:r>
            <a:r>
              <a:rPr lang="es-419" sz="1800" u="sng">
                <a:solidFill>
                  <a:srgbClr val="FFFFFF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https://youtu.be/UrPJLhKF1jY?feature=shared</a:t>
            </a:r>
            <a:endParaRPr sz="1800">
              <a:solidFill>
                <a:srgbClr val="FFFFFF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i="1" lang="es-419" sz="1800">
                <a:solidFill>
                  <a:srgbClr val="FFFFFF"/>
                </a:solidFill>
              </a:rPr>
              <a:t>MergeSort  </a:t>
            </a:r>
            <a:r>
              <a:rPr i="1" lang="es-419" sz="1800" u="sng">
                <a:solidFill>
                  <a:srgbClr val="FFFFFF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https://youtu.be/ACFZn_xQcz8?feature=shared</a:t>
            </a:r>
            <a:endParaRPr i="1" sz="1800">
              <a:solidFill>
                <a:srgbClr val="FFFFFF"/>
              </a:solidFill>
            </a:endParaRPr>
          </a:p>
          <a:p>
            <a:pPr indent="-457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s-419" sz="2000">
                <a:solidFill>
                  <a:srgbClr val="FFFFFF"/>
                </a:solidFill>
              </a:rPr>
              <a:t>Insertion sort </a:t>
            </a:r>
            <a:r>
              <a:rPr lang="es-419" sz="2000" u="sng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https://youtu.be/6GU6AGEWYJY?feature=shared</a:t>
            </a:r>
            <a:endParaRPr sz="2000">
              <a:solidFill>
                <a:srgbClr val="FFFFFF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</a:rPr>
              <a:t>      </a:t>
            </a:r>
            <a:endParaRPr i="1" sz="18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24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