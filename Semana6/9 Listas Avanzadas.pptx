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y="5143500" cx="9144000"/>
  <p:notesSz cx="6858000" cy="9144000"/>
  <p:embeddedFontLst>
    <p:embeddedFont>
      <p:font typeface="Encode Sans"/>
      <p:regular r:id="rId35"/>
      <p:bold r:id="rId36"/>
    </p:embeddedFont>
    <p:embeddedFont>
      <p:font typeface="Montserrat"/>
      <p:regular r:id="rId37"/>
      <p:bold r:id="rId38"/>
      <p:italic r:id="rId39"/>
      <p:boldItalic r:id="rId40"/>
    </p:embeddedFont>
    <p:embeddedFont>
      <p:font typeface="Montserrat Light"/>
      <p:regular r:id="rId41"/>
      <p:bold r:id="rId42"/>
      <p:italic r:id="rId43"/>
      <p:boldItalic r:id="rId44"/>
    </p:embeddedFont>
    <p:embeddedFont>
      <p:font typeface="Encode Sans ExtraBold"/>
      <p:bold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6" roundtripDataSignature="AMtx7mjRf9HmvuWxuq98rumyoGJh2v/w4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Germán Scarafilo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85FD33B-799A-4F91-B277-7E8931FB64D7}">
  <a:tblStyle styleId="{F85FD33B-799A-4F91-B277-7E8931FB64D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boldItalic.fntdata"/><Relationship Id="rId20" Type="http://schemas.openxmlformats.org/officeDocument/2006/relationships/slide" Target="slides/slide13.xml"/><Relationship Id="rId42" Type="http://schemas.openxmlformats.org/officeDocument/2006/relationships/font" Target="fonts/MontserratLight-bold.fntdata"/><Relationship Id="rId41" Type="http://schemas.openxmlformats.org/officeDocument/2006/relationships/font" Target="fonts/MontserratLight-regular.fntdata"/><Relationship Id="rId22" Type="http://schemas.openxmlformats.org/officeDocument/2006/relationships/slide" Target="slides/slide15.xml"/><Relationship Id="rId44" Type="http://schemas.openxmlformats.org/officeDocument/2006/relationships/font" Target="fonts/MontserratLight-boldItalic.fntdata"/><Relationship Id="rId21" Type="http://schemas.openxmlformats.org/officeDocument/2006/relationships/slide" Target="slides/slide14.xml"/><Relationship Id="rId43" Type="http://schemas.openxmlformats.org/officeDocument/2006/relationships/font" Target="fonts/MontserratLight-italic.fntdata"/><Relationship Id="rId24" Type="http://schemas.openxmlformats.org/officeDocument/2006/relationships/slide" Target="slides/slide17.xml"/><Relationship Id="rId46" Type="http://customschemas.google.com/relationships/presentationmetadata" Target="metadata"/><Relationship Id="rId23" Type="http://schemas.openxmlformats.org/officeDocument/2006/relationships/slide" Target="slides/slide16.xml"/><Relationship Id="rId45" Type="http://schemas.openxmlformats.org/officeDocument/2006/relationships/font" Target="fonts/EncodeSansExtra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font" Target="fonts/EncodeSans-regular.fntdata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font" Target="fonts/Montserrat-regular.fntdata"/><Relationship Id="rId14" Type="http://schemas.openxmlformats.org/officeDocument/2006/relationships/slide" Target="slides/slide7.xml"/><Relationship Id="rId36" Type="http://schemas.openxmlformats.org/officeDocument/2006/relationships/font" Target="fonts/EncodeSans-bold.fntdata"/><Relationship Id="rId17" Type="http://schemas.openxmlformats.org/officeDocument/2006/relationships/slide" Target="slides/slide10.xml"/><Relationship Id="rId39" Type="http://schemas.openxmlformats.org/officeDocument/2006/relationships/font" Target="fonts/Montserrat-italic.fntdata"/><Relationship Id="rId16" Type="http://schemas.openxmlformats.org/officeDocument/2006/relationships/slide" Target="slides/slide9.xml"/><Relationship Id="rId38" Type="http://schemas.openxmlformats.org/officeDocument/2006/relationships/font" Target="fonts/Montserrat-bold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5-26T18:16:04.479">
    <p:pos x="196" y="1073"/>
    <p:text>No se si es tan asi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kO_Ph0c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d44f28aae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2d44f28aae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d44f28aae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2d44f28aae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d44f28aae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2d44f28aae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d44f28aae5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2d44f28aae5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d44f28aae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2d44f28aae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d44f28aae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2d44f28aae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d44f28aae5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2d44f28aae5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d44f28aae5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2d44f28aae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d44f28aae5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2d44f28aae5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d44f28aae5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2d44f28aae5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d44f28aae5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2d44f28aae5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d44f28aae5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2d44f28aae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d44f28aae5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2d44f28aae5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d44f28aae5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2d44f28aae5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d44f28aae5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2d44f28aae5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d44f28aae5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2d44f28aae5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d44f28aae5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2d44f28aae5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d44f28aae5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2d44f28aae5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d44f28aae5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2d44f28aae5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d44f28aae5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2d44f28aae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d44f28aae5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2d44f28aae5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d44f28aae5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2d44f28aae5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d44f28aae5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2d44f28aae5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d44f28aae5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2d44f28aae5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d44f28aae5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g2d44f28aae5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7"/>
          <p:cNvSpPr txBox="1"/>
          <p:nvPr>
            <p:ph type="ctrTitle"/>
          </p:nvPr>
        </p:nvSpPr>
        <p:spPr>
          <a:xfrm>
            <a:off x="311700" y="1197075"/>
            <a:ext cx="8520600" cy="17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Montserrat"/>
              <a:buNone/>
              <a:defRPr b="1" sz="5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37"/>
          <p:cNvSpPr txBox="1"/>
          <p:nvPr>
            <p:ph idx="1" type="subTitle"/>
          </p:nvPr>
        </p:nvSpPr>
        <p:spPr>
          <a:xfrm>
            <a:off x="311700" y="330741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37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8"/>
          <p:cNvSpPr txBox="1"/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Montserrat"/>
              <a:buNone/>
              <a:defRPr b="1" sz="33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38"/>
          <p:cNvSpPr txBox="1"/>
          <p:nvPr>
            <p:ph idx="1" type="body"/>
          </p:nvPr>
        </p:nvSpPr>
        <p:spPr>
          <a:xfrm>
            <a:off x="311700" y="1969350"/>
            <a:ext cx="8520600" cy="26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/>
        </p:txBody>
      </p:sp>
      <p:sp>
        <p:nvSpPr>
          <p:cNvPr id="19" name="Google Shape;19;p38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9"/>
          <p:cNvSpPr txBox="1"/>
          <p:nvPr>
            <p:ph type="title"/>
          </p:nvPr>
        </p:nvSpPr>
        <p:spPr>
          <a:xfrm>
            <a:off x="311700" y="1984800"/>
            <a:ext cx="8520600" cy="11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b="1" sz="36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" name="Google Shape;22;p39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0"/>
          <p:cNvSpPr txBox="1"/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0"/>
          <p:cNvSpPr txBox="1"/>
          <p:nvPr>
            <p:ph idx="1" type="body"/>
          </p:nvPr>
        </p:nvSpPr>
        <p:spPr>
          <a:xfrm>
            <a:off x="311700" y="2054300"/>
            <a:ext cx="3999900" cy="26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 sz="1400">
                <a:latin typeface="Encode Sans"/>
                <a:ea typeface="Encode Sans"/>
                <a:cs typeface="Encode Sans"/>
                <a:sym typeface="Encode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/>
        </p:txBody>
      </p:sp>
      <p:sp>
        <p:nvSpPr>
          <p:cNvPr id="26" name="Google Shape;26;p40"/>
          <p:cNvSpPr txBox="1"/>
          <p:nvPr>
            <p:ph idx="2" type="body"/>
          </p:nvPr>
        </p:nvSpPr>
        <p:spPr>
          <a:xfrm>
            <a:off x="4832400" y="2054150"/>
            <a:ext cx="3999900" cy="26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 sz="1400">
                <a:latin typeface="Encode Sans"/>
                <a:ea typeface="Encode Sans"/>
                <a:cs typeface="Encode Sans"/>
                <a:sym typeface="Encode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/>
        </p:txBody>
      </p:sp>
      <p:sp>
        <p:nvSpPr>
          <p:cNvPr id="27" name="Google Shape;27;p40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1"/>
          <p:cNvSpPr txBox="1"/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0" name="Google Shape;30;p41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2"/>
          <p:cNvSpPr txBox="1"/>
          <p:nvPr>
            <p:ph type="title"/>
          </p:nvPr>
        </p:nvSpPr>
        <p:spPr>
          <a:xfrm>
            <a:off x="311700" y="1042600"/>
            <a:ext cx="2808000" cy="10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42"/>
          <p:cNvSpPr txBox="1"/>
          <p:nvPr>
            <p:ph idx="1" type="body"/>
          </p:nvPr>
        </p:nvSpPr>
        <p:spPr>
          <a:xfrm>
            <a:off x="311700" y="1389600"/>
            <a:ext cx="2808000" cy="31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/>
        </p:txBody>
      </p:sp>
      <p:sp>
        <p:nvSpPr>
          <p:cNvPr id="34" name="Google Shape;34;p42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3"/>
          <p:cNvSpPr txBox="1"/>
          <p:nvPr>
            <p:ph type="title"/>
          </p:nvPr>
        </p:nvSpPr>
        <p:spPr>
          <a:xfrm>
            <a:off x="490250" y="973100"/>
            <a:ext cx="6367800" cy="338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7" name="Google Shape;37;p43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4"/>
          <p:cNvSpPr txBox="1"/>
          <p:nvPr>
            <p:ph type="title"/>
          </p:nvPr>
        </p:nvSpPr>
        <p:spPr>
          <a:xfrm>
            <a:off x="265500" y="1073500"/>
            <a:ext cx="4045200" cy="17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Encode Sans"/>
              <a:buNone/>
              <a:defRPr b="1" sz="4200">
                <a:latin typeface="Encode Sans"/>
                <a:ea typeface="Encode Sans"/>
                <a:cs typeface="Encode Sans"/>
                <a:sym typeface="Encode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4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4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ncode Sans"/>
              <a:buChar char="●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○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■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●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○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■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●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○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■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/>
        </p:txBody>
      </p:sp>
      <p:sp>
        <p:nvSpPr>
          <p:cNvPr id="43" name="Google Shape;43;p44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5"/>
          <p:cNvSpPr txBox="1"/>
          <p:nvPr>
            <p:ph idx="1" type="body"/>
          </p:nvPr>
        </p:nvSpPr>
        <p:spPr>
          <a:xfrm>
            <a:off x="49125" y="4179425"/>
            <a:ext cx="5634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</a:lstStyle>
          <a:p/>
        </p:txBody>
      </p:sp>
      <p:sp>
        <p:nvSpPr>
          <p:cNvPr id="46" name="Google Shape;46;p45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/>
        </p:txBody>
      </p:sp>
      <p:sp>
        <p:nvSpPr>
          <p:cNvPr id="50" name="Google Shape;50;p46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7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4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/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ontserrat"/>
              <a:buNone/>
              <a:defRPr b="1" i="0" sz="2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36"/>
          <p:cNvSpPr txBox="1"/>
          <p:nvPr>
            <p:ph idx="1" type="body"/>
          </p:nvPr>
        </p:nvSpPr>
        <p:spPr>
          <a:xfrm>
            <a:off x="311700" y="1969350"/>
            <a:ext cx="8520600" cy="26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Encode Sans"/>
              <a:buChar char="●"/>
              <a:defRPr b="0" i="0" sz="18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○"/>
              <a:defRPr b="0" i="0" sz="14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■"/>
              <a:defRPr b="0" i="0" sz="14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●"/>
              <a:defRPr b="0" i="0" sz="14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○"/>
              <a:defRPr b="0" i="0" sz="14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■"/>
              <a:defRPr b="0" i="0" sz="14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●"/>
              <a:defRPr b="0" i="0" sz="14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○"/>
              <a:defRPr b="0" i="0" sz="14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■"/>
              <a:defRPr b="0" i="0" sz="14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/>
        </p:txBody>
      </p:sp>
      <p:sp>
        <p:nvSpPr>
          <p:cNvPr id="8" name="Google Shape;8;p36"/>
          <p:cNvSpPr txBox="1"/>
          <p:nvPr/>
        </p:nvSpPr>
        <p:spPr>
          <a:xfrm>
            <a:off x="1668175" y="84975"/>
            <a:ext cx="7475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419" sz="18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Programación I</a:t>
            </a:r>
            <a:endParaRPr b="0" i="0" sz="18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9" name="Google Shape;9;p36"/>
          <p:cNvSpPr txBox="1"/>
          <p:nvPr/>
        </p:nvSpPr>
        <p:spPr>
          <a:xfrm>
            <a:off x="1668175" y="654446"/>
            <a:ext cx="7475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419" sz="15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Listas uso Avanzado</a:t>
            </a:r>
            <a:endParaRPr b="0" i="0" sz="15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0" name="Google Shape;10;p36"/>
          <p:cNvSpPr txBox="1"/>
          <p:nvPr/>
        </p:nvSpPr>
        <p:spPr>
          <a:xfrm>
            <a:off x="1668175" y="370798"/>
            <a:ext cx="7475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Scudero Yanina - Scarafilo Germán - Costello </a:t>
            </a:r>
            <a:r>
              <a:rPr b="0" i="0" lang="es-419" sz="800" u="none" cap="none" strike="noStrike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Patricio </a:t>
            </a:r>
            <a:r>
              <a:rPr b="0" i="0" lang="es-419" sz="8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- Benitez Daniel</a:t>
            </a:r>
            <a:endParaRPr b="0" i="0" sz="8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1" name="Google Shape;11;p36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comments" Target="../comments/comment1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"/>
          <p:cNvSpPr txBox="1"/>
          <p:nvPr>
            <p:ph idx="1" type="subTitle"/>
          </p:nvPr>
        </p:nvSpPr>
        <p:spPr>
          <a:xfrm>
            <a:off x="31125" y="1289325"/>
            <a:ext cx="4998600" cy="30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-419" sz="4100">
                <a:solidFill>
                  <a:schemeClr val="lt1"/>
                </a:solidFill>
              </a:rPr>
              <a:t>Listas Uso Avanzado</a:t>
            </a:r>
            <a:endParaRPr b="1" sz="4100">
              <a:solidFill>
                <a:schemeClr val="lt1"/>
              </a:solidFill>
            </a:endParaRPr>
          </a:p>
          <a:p>
            <a:pPr indent="0" lvl="0" marL="0" marR="266503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100">
              <a:solidFill>
                <a:schemeClr val="lt1"/>
              </a:solidFill>
            </a:endParaRPr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 b="15460" l="0" r="0" t="0"/>
          <a:stretch/>
        </p:blipFill>
        <p:spPr>
          <a:xfrm>
            <a:off x="5194775" y="1484700"/>
            <a:ext cx="3793025" cy="217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/>
          <p:nvPr/>
        </p:nvSpPr>
        <p:spPr>
          <a:xfrm>
            <a:off x="379925" y="917350"/>
            <a:ext cx="8319300" cy="23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s-419" sz="3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Definición de Tipo de Dato Abstracto </a:t>
            </a:r>
            <a:endParaRPr b="1" i="0" sz="33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419" sz="197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 </a:t>
            </a:r>
            <a:r>
              <a:rPr b="0" i="0" lang="es-419" sz="1977" u="none" cap="none" strike="noStrike">
                <a:solidFill>
                  <a:srgbClr val="FFD966"/>
                </a:solidFill>
                <a:latin typeface="Arial"/>
                <a:ea typeface="Arial"/>
                <a:cs typeface="Arial"/>
                <a:sym typeface="Arial"/>
              </a:rPr>
              <a:t>Tipo de Dato Abstracto</a:t>
            </a:r>
            <a:r>
              <a:rPr b="0" i="0" lang="es-419" sz="197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(TDA) es un modelo teórico que define un conjunto de datos y las operaciones que se pueden realizar sobre ellos, sin especificar cómo se implementan internamente.</a:t>
            </a:r>
            <a:endParaRPr b="0" i="0" sz="1977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7"/>
              <a:buFont typeface="Arial"/>
              <a:buNone/>
            </a:pPr>
            <a:r>
              <a:t/>
            </a:r>
            <a:endParaRPr b="0" i="0" sz="1977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44"/>
              <a:buFont typeface="Arial"/>
              <a:buNone/>
            </a:pPr>
            <a:r>
              <a:t/>
            </a:r>
            <a:endParaRPr b="0" i="0" sz="164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" name="Google Shape;6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67556" y="2817051"/>
            <a:ext cx="3208874" cy="15580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d44f28aae5_0_2"/>
          <p:cNvSpPr txBox="1"/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s-419"/>
              <a:t>Lista: entre los TDA más comunes</a:t>
            </a:r>
            <a:endParaRPr/>
          </a:p>
        </p:txBody>
      </p:sp>
      <p:sp>
        <p:nvSpPr>
          <p:cNvPr id="70" name="Google Shape;70;g2d44f28aae5_0_2"/>
          <p:cNvSpPr txBox="1"/>
          <p:nvPr>
            <p:ph idx="1" type="body"/>
          </p:nvPr>
        </p:nvSpPr>
        <p:spPr>
          <a:xfrm>
            <a:off x="311700" y="1768475"/>
            <a:ext cx="8520600" cy="28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419"/>
              <a:t>Definición de Lista como TDA: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Una lista es una colección </a:t>
            </a:r>
            <a:r>
              <a:rPr b="1" lang="es-419">
                <a:solidFill>
                  <a:srgbClr val="FFD966"/>
                </a:solidFill>
              </a:rPr>
              <a:t>ordenada</a:t>
            </a:r>
            <a:r>
              <a:rPr lang="es-419"/>
              <a:t> de elementos, donde cada uno tiene una posición </a:t>
            </a:r>
            <a:r>
              <a:rPr b="1" lang="es-419">
                <a:solidFill>
                  <a:srgbClr val="FFD966"/>
                </a:solidFill>
              </a:rPr>
              <a:t>definida</a:t>
            </a:r>
            <a:r>
              <a:rPr lang="es-419"/>
              <a:t> por un índice.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-419">
                <a:solidFill>
                  <a:srgbClr val="FFD966"/>
                </a:solidFill>
              </a:rPr>
              <a:t>Mutabilidad</a:t>
            </a:r>
            <a:r>
              <a:rPr b="1" lang="es-419"/>
              <a:t>: </a:t>
            </a:r>
            <a:r>
              <a:rPr lang="es-419"/>
              <a:t>los elementos pueden ser modificados después de su creación.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-419">
                <a:solidFill>
                  <a:srgbClr val="FFD966"/>
                </a:solidFill>
              </a:rPr>
              <a:t>Acceso secuencial</a:t>
            </a:r>
            <a:r>
              <a:rPr b="1" lang="es-419"/>
              <a:t>: </a:t>
            </a:r>
            <a:r>
              <a:rPr lang="es-419"/>
              <a:t>Se puede acceder a los elementos mediante un </a:t>
            </a:r>
            <a:r>
              <a:rPr lang="es-419">
                <a:solidFill>
                  <a:srgbClr val="FFD966"/>
                </a:solidFill>
              </a:rPr>
              <a:t>índice</a:t>
            </a:r>
            <a:r>
              <a:rPr lang="es-419"/>
              <a:t>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-419">
                <a:solidFill>
                  <a:srgbClr val="FFD966"/>
                </a:solidFill>
              </a:rPr>
              <a:t>Tamaño dinámico</a:t>
            </a:r>
            <a:r>
              <a:rPr b="1" lang="es-419"/>
              <a:t>: </a:t>
            </a:r>
            <a:r>
              <a:rPr lang="es-419"/>
              <a:t>Se pueden agregar o eliminar elementos durante la ejecución.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Permite almacenar datos </a:t>
            </a:r>
            <a:r>
              <a:rPr b="1" lang="es-419">
                <a:solidFill>
                  <a:srgbClr val="FFD966"/>
                </a:solidFill>
              </a:rPr>
              <a:t>heterogéneos</a:t>
            </a:r>
            <a:r>
              <a:rPr b="1" lang="es-419"/>
              <a:t> </a:t>
            </a:r>
            <a:r>
              <a:rPr lang="es-419"/>
              <a:t>(de diferentes tipos).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d44f28aae5_0_7"/>
          <p:cNvSpPr txBox="1"/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s-419"/>
              <a:t>Operaciones Comunes</a:t>
            </a:r>
            <a:endParaRPr/>
          </a:p>
        </p:txBody>
      </p:sp>
      <p:sp>
        <p:nvSpPr>
          <p:cNvPr id="76" name="Google Shape;76;g2d44f28aae5_0_7"/>
          <p:cNvSpPr txBox="1"/>
          <p:nvPr>
            <p:ph idx="1" type="body"/>
          </p:nvPr>
        </p:nvSpPr>
        <p:spPr>
          <a:xfrm>
            <a:off x="311700" y="1969350"/>
            <a:ext cx="8520600" cy="26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316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-419">
                <a:solidFill>
                  <a:srgbClr val="FFD966"/>
                </a:solidFill>
              </a:rPr>
              <a:t>Acceso</a:t>
            </a:r>
            <a:r>
              <a:rPr lang="es-419"/>
              <a:t>: Obtener el valor en una posición específica.</a:t>
            </a:r>
            <a:endParaRPr/>
          </a:p>
          <a:p>
            <a:pPr indent="-342900" lvl="0" marL="457200" marR="316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-419">
                <a:solidFill>
                  <a:srgbClr val="FFD966"/>
                </a:solidFill>
              </a:rPr>
              <a:t>Inserción</a:t>
            </a:r>
            <a:r>
              <a:rPr lang="es-419"/>
              <a:t>: Añadir un nuevo elemento en una posición dada.</a:t>
            </a:r>
            <a:endParaRPr/>
          </a:p>
          <a:p>
            <a:pPr indent="-342900" lvl="0" marL="457200" marR="316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-419">
                <a:solidFill>
                  <a:srgbClr val="FFD966"/>
                </a:solidFill>
              </a:rPr>
              <a:t>Eliminación</a:t>
            </a:r>
            <a:r>
              <a:rPr lang="es-419"/>
              <a:t>: Remover elementos de la lista.</a:t>
            </a:r>
            <a:endParaRPr/>
          </a:p>
          <a:p>
            <a:pPr indent="-342900" lvl="0" marL="457200" marR="316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-419">
                <a:solidFill>
                  <a:srgbClr val="FFD966"/>
                </a:solidFill>
              </a:rPr>
              <a:t>Recorrido</a:t>
            </a:r>
            <a:r>
              <a:rPr lang="es-419"/>
              <a:t>: Iterar sobre todos los elementos de manera secuencial.</a:t>
            </a:r>
            <a:endParaRPr/>
          </a:p>
        </p:txBody>
      </p:sp>
      <p:pic>
        <p:nvPicPr>
          <p:cNvPr id="77" name="Google Shape;77;g2d44f28aae5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1000" y="1969350"/>
            <a:ext cx="2441001" cy="234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d44f28aae5_0_14"/>
          <p:cNvSpPr txBox="1"/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s-419"/>
              <a:t>¿Qué es un método?</a:t>
            </a:r>
            <a:endParaRPr/>
          </a:p>
        </p:txBody>
      </p:sp>
      <p:sp>
        <p:nvSpPr>
          <p:cNvPr id="83" name="Google Shape;83;g2d44f28aae5_0_14"/>
          <p:cNvSpPr txBox="1"/>
          <p:nvPr>
            <p:ph idx="1" type="body"/>
          </p:nvPr>
        </p:nvSpPr>
        <p:spPr>
          <a:xfrm>
            <a:off x="311700" y="1969350"/>
            <a:ext cx="8520600" cy="26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419" sz="2400"/>
              <a:t>Un </a:t>
            </a:r>
            <a:r>
              <a:rPr b="1" lang="es-419" sz="2400">
                <a:solidFill>
                  <a:srgbClr val="FFD966"/>
                </a:solidFill>
              </a:rPr>
              <a:t>método</a:t>
            </a:r>
            <a:r>
              <a:rPr lang="es-419" sz="2400"/>
              <a:t> es una función que pertenece a un objeto o clase y que opera sobre los datos que ese objeto contiene. Los métodos definen el comportamiento que un tipo de dato o estructura, permitiendo manipular sus elementos o interactuar con ellos de manera específica.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d44f28aae5_0_82"/>
          <p:cNvSpPr txBox="1"/>
          <p:nvPr>
            <p:ph type="title"/>
          </p:nvPr>
        </p:nvSpPr>
        <p:spPr>
          <a:xfrm>
            <a:off x="311700" y="751475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s-419"/>
              <a:t>¿Cómo funciona un Método en listas?</a:t>
            </a:r>
            <a:endParaRPr/>
          </a:p>
        </p:txBody>
      </p:sp>
      <p:sp>
        <p:nvSpPr>
          <p:cNvPr id="89" name="Google Shape;89;g2d44f28aae5_0_82"/>
          <p:cNvSpPr txBox="1"/>
          <p:nvPr>
            <p:ph idx="1" type="body"/>
          </p:nvPr>
        </p:nvSpPr>
        <p:spPr>
          <a:xfrm>
            <a:off x="279875" y="1657450"/>
            <a:ext cx="4144200" cy="26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100"/>
              <a:t>Cuando llamamos a un método sobre una lista, se está invocando una función que pertenece a esa lista y que puede modificarla o devolver información sobre </a:t>
            </a:r>
            <a:r>
              <a:rPr b="1" lang="es-419" sz="2100">
                <a:solidFill>
                  <a:srgbClr val="FFD966"/>
                </a:solidFill>
              </a:rPr>
              <a:t>su contenido</a:t>
            </a:r>
            <a:r>
              <a:rPr lang="es-419" sz="2100"/>
              <a:t>.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</p:txBody>
      </p:sp>
      <p:pic>
        <p:nvPicPr>
          <p:cNvPr id="90" name="Google Shape;90;g2d44f28aae5_0_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8750" y="1727375"/>
            <a:ext cx="4144075" cy="233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d44f28aae5_0_20"/>
          <p:cNvSpPr txBox="1"/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Métodos de Inserción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>
                <a:solidFill>
                  <a:srgbClr val="FFD966"/>
                </a:solidFill>
              </a:rPr>
              <a:t>append</a:t>
            </a:r>
            <a:endParaRPr>
              <a:solidFill>
                <a:srgbClr val="FFD966"/>
              </a:solidFill>
            </a:endParaRPr>
          </a:p>
        </p:txBody>
      </p:sp>
      <p:sp>
        <p:nvSpPr>
          <p:cNvPr id="96" name="Google Shape;96;g2d44f28aae5_0_20"/>
          <p:cNvSpPr txBox="1"/>
          <p:nvPr>
            <p:ph idx="1" type="body"/>
          </p:nvPr>
        </p:nvSpPr>
        <p:spPr>
          <a:xfrm>
            <a:off x="311700" y="1969350"/>
            <a:ext cx="87594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419"/>
              <a:t>El método </a:t>
            </a:r>
            <a:r>
              <a:rPr b="1" lang="es-419">
                <a:solidFill>
                  <a:srgbClr val="FFD966"/>
                </a:solidFill>
              </a:rPr>
              <a:t>append</a:t>
            </a:r>
            <a:r>
              <a:rPr b="1" lang="es-419">
                <a:solidFill>
                  <a:schemeClr val="lt1"/>
                </a:solidFill>
              </a:rPr>
              <a:t> </a:t>
            </a:r>
            <a:r>
              <a:rPr lang="es-419">
                <a:solidFill>
                  <a:schemeClr val="lt2"/>
                </a:solidFill>
              </a:rPr>
              <a:t>agrega un elemento al final de la lista:</a:t>
            </a:r>
            <a:endParaRPr>
              <a:solidFill>
                <a:schemeClr val="lt2"/>
              </a:solidFill>
            </a:endParaRPr>
          </a:p>
        </p:txBody>
      </p:sp>
      <p:pic>
        <p:nvPicPr>
          <p:cNvPr id="97" name="Google Shape;97;g2d44f28aae5_0_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6350" y="2655650"/>
            <a:ext cx="5170100" cy="153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d44f28aae5_0_26"/>
          <p:cNvSpPr txBox="1"/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Métodos de Inserción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>
                <a:solidFill>
                  <a:srgbClr val="FFD966"/>
                </a:solidFill>
              </a:rPr>
              <a:t>insert</a:t>
            </a:r>
            <a:endParaRPr>
              <a:solidFill>
                <a:srgbClr val="FFD966"/>
              </a:solidFill>
            </a:endParaRPr>
          </a:p>
        </p:txBody>
      </p:sp>
      <p:sp>
        <p:nvSpPr>
          <p:cNvPr id="103" name="Google Shape;103;g2d44f28aae5_0_26"/>
          <p:cNvSpPr txBox="1"/>
          <p:nvPr>
            <p:ph idx="1" type="body"/>
          </p:nvPr>
        </p:nvSpPr>
        <p:spPr>
          <a:xfrm>
            <a:off x="311700" y="1969350"/>
            <a:ext cx="87594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419"/>
              <a:t>El método </a:t>
            </a:r>
            <a:r>
              <a:rPr b="1" lang="es-419">
                <a:solidFill>
                  <a:srgbClr val="FFD966"/>
                </a:solidFill>
              </a:rPr>
              <a:t>insert</a:t>
            </a:r>
            <a:r>
              <a:rPr b="1" lang="es-419">
                <a:solidFill>
                  <a:schemeClr val="lt1"/>
                </a:solidFill>
              </a:rPr>
              <a:t> </a:t>
            </a:r>
            <a:r>
              <a:rPr lang="es-419">
                <a:solidFill>
                  <a:schemeClr val="lt2"/>
                </a:solidFill>
              </a:rPr>
              <a:t>inserta un elemento en la posición especificada:</a:t>
            </a:r>
            <a:endParaRPr>
              <a:solidFill>
                <a:schemeClr val="lt2"/>
              </a:solidFill>
            </a:endParaRPr>
          </a:p>
        </p:txBody>
      </p:sp>
      <p:pic>
        <p:nvPicPr>
          <p:cNvPr id="104" name="Google Shape;104;g2d44f28aae5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6350" y="2655650"/>
            <a:ext cx="5100925" cy="151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d44f28aae5_0_154"/>
          <p:cNvSpPr txBox="1"/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Métodos de Inserción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>
                <a:solidFill>
                  <a:srgbClr val="FFD966"/>
                </a:solidFill>
              </a:rPr>
              <a:t>extend</a:t>
            </a:r>
            <a:endParaRPr>
              <a:solidFill>
                <a:srgbClr val="FFD966"/>
              </a:solidFill>
            </a:endParaRPr>
          </a:p>
        </p:txBody>
      </p:sp>
      <p:sp>
        <p:nvSpPr>
          <p:cNvPr id="110" name="Google Shape;110;g2d44f28aae5_0_154"/>
          <p:cNvSpPr txBox="1"/>
          <p:nvPr>
            <p:ph idx="1" type="body"/>
          </p:nvPr>
        </p:nvSpPr>
        <p:spPr>
          <a:xfrm>
            <a:off x="311700" y="1969350"/>
            <a:ext cx="87594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419"/>
              <a:t>El método </a:t>
            </a:r>
            <a:r>
              <a:rPr b="1" lang="es-419">
                <a:solidFill>
                  <a:srgbClr val="FFD966"/>
                </a:solidFill>
              </a:rPr>
              <a:t>extend</a:t>
            </a:r>
            <a:r>
              <a:rPr b="1" lang="es-419">
                <a:solidFill>
                  <a:schemeClr val="lt1"/>
                </a:solidFill>
              </a:rPr>
              <a:t> </a:t>
            </a:r>
            <a:r>
              <a:rPr lang="es-419">
                <a:solidFill>
                  <a:schemeClr val="lt2"/>
                </a:solidFill>
              </a:rPr>
              <a:t>permite añadir una lista a la lista inicial.</a:t>
            </a:r>
            <a:endParaRPr>
              <a:solidFill>
                <a:schemeClr val="lt2"/>
              </a:solidFill>
            </a:endParaRPr>
          </a:p>
        </p:txBody>
      </p:sp>
      <p:pic>
        <p:nvPicPr>
          <p:cNvPr id="111" name="Google Shape;111;g2d44f28aae5_0_1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6425" y="2381525"/>
            <a:ext cx="5591175" cy="192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d44f28aae5_0_34"/>
          <p:cNvSpPr txBox="1"/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Métodos de Eliminación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>
                <a:solidFill>
                  <a:srgbClr val="FFD966"/>
                </a:solidFill>
              </a:rPr>
              <a:t>remove</a:t>
            </a:r>
            <a:endParaRPr>
              <a:solidFill>
                <a:srgbClr val="FFD966"/>
              </a:solidFill>
            </a:endParaRPr>
          </a:p>
        </p:txBody>
      </p:sp>
      <p:sp>
        <p:nvSpPr>
          <p:cNvPr id="117" name="Google Shape;117;g2d44f28aae5_0_34"/>
          <p:cNvSpPr txBox="1"/>
          <p:nvPr>
            <p:ph idx="1" type="body"/>
          </p:nvPr>
        </p:nvSpPr>
        <p:spPr>
          <a:xfrm>
            <a:off x="311700" y="1969350"/>
            <a:ext cx="87594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419"/>
              <a:t>El método </a:t>
            </a:r>
            <a:r>
              <a:rPr b="1" lang="es-419">
                <a:solidFill>
                  <a:srgbClr val="FFD966"/>
                </a:solidFill>
              </a:rPr>
              <a:t>remove </a:t>
            </a:r>
            <a:r>
              <a:rPr lang="es-419">
                <a:solidFill>
                  <a:schemeClr val="lt2"/>
                </a:solidFill>
              </a:rPr>
              <a:t>elimina la primer ocurrencia del elemento especificado:</a:t>
            </a:r>
            <a:endParaRPr>
              <a:solidFill>
                <a:schemeClr val="lt2"/>
              </a:solidFill>
            </a:endParaRPr>
          </a:p>
        </p:txBody>
      </p:sp>
      <p:pic>
        <p:nvPicPr>
          <p:cNvPr id="118" name="Google Shape;118;g2d44f28aae5_0_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7675" y="2571750"/>
            <a:ext cx="5146550" cy="160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d44f28aae5_0_47"/>
          <p:cNvSpPr txBox="1"/>
          <p:nvPr>
            <p:ph type="title"/>
          </p:nvPr>
        </p:nvSpPr>
        <p:spPr>
          <a:xfrm>
            <a:off x="311700" y="93260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Métodos de Eliminación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>
                <a:solidFill>
                  <a:srgbClr val="FFD966"/>
                </a:solidFill>
              </a:rPr>
              <a:t>pop</a:t>
            </a:r>
            <a:endParaRPr>
              <a:solidFill>
                <a:srgbClr val="FFD966"/>
              </a:solidFill>
            </a:endParaRPr>
          </a:p>
        </p:txBody>
      </p:sp>
      <p:sp>
        <p:nvSpPr>
          <p:cNvPr id="124" name="Google Shape;124;g2d44f28aae5_0_47"/>
          <p:cNvSpPr txBox="1"/>
          <p:nvPr>
            <p:ph idx="1" type="body"/>
          </p:nvPr>
        </p:nvSpPr>
        <p:spPr>
          <a:xfrm>
            <a:off x="311700" y="1838475"/>
            <a:ext cx="87594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419"/>
              <a:t>El método </a:t>
            </a:r>
            <a:r>
              <a:rPr b="1" lang="es-419">
                <a:solidFill>
                  <a:srgbClr val="FFD966"/>
                </a:solidFill>
              </a:rPr>
              <a:t>pop</a:t>
            </a:r>
            <a:r>
              <a:rPr b="1" lang="es-419">
                <a:solidFill>
                  <a:schemeClr val="lt1"/>
                </a:solidFill>
              </a:rPr>
              <a:t> </a:t>
            </a:r>
            <a:r>
              <a:rPr lang="es-419">
                <a:solidFill>
                  <a:schemeClr val="lt2"/>
                </a:solidFill>
              </a:rPr>
              <a:t>elimina y devuelve el elemento en la posición dada. Si no se especifica un índice, se elimina y devuelve el último elemento. </a:t>
            </a:r>
            <a:endParaRPr>
              <a:solidFill>
                <a:schemeClr val="lt2"/>
              </a:solidFill>
            </a:endParaRPr>
          </a:p>
        </p:txBody>
      </p:sp>
      <p:pic>
        <p:nvPicPr>
          <p:cNvPr id="125" name="Google Shape;125;g2d44f28aae5_0_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7675" y="2571675"/>
            <a:ext cx="5146550" cy="16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d44f28aae5_0_88"/>
          <p:cNvSpPr txBox="1"/>
          <p:nvPr>
            <p:ph type="title"/>
          </p:nvPr>
        </p:nvSpPr>
        <p:spPr>
          <a:xfrm>
            <a:off x="311700" y="945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Métodos de Eliminación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>
                <a:solidFill>
                  <a:srgbClr val="FFD966"/>
                </a:solidFill>
              </a:rPr>
              <a:t>clear</a:t>
            </a:r>
            <a:endParaRPr>
              <a:solidFill>
                <a:srgbClr val="FFD966"/>
              </a:solidFill>
            </a:endParaRPr>
          </a:p>
        </p:txBody>
      </p:sp>
      <p:sp>
        <p:nvSpPr>
          <p:cNvPr id="131" name="Google Shape;131;g2d44f28aae5_0_88"/>
          <p:cNvSpPr txBox="1"/>
          <p:nvPr>
            <p:ph idx="1" type="body"/>
          </p:nvPr>
        </p:nvSpPr>
        <p:spPr>
          <a:xfrm>
            <a:off x="311700" y="1860300"/>
            <a:ext cx="87594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419"/>
              <a:t>El método </a:t>
            </a:r>
            <a:r>
              <a:rPr b="1" lang="es-419">
                <a:solidFill>
                  <a:srgbClr val="FFD966"/>
                </a:solidFill>
              </a:rPr>
              <a:t>clear</a:t>
            </a:r>
            <a:r>
              <a:rPr b="1" lang="es-419">
                <a:solidFill>
                  <a:schemeClr val="lt1"/>
                </a:solidFill>
              </a:rPr>
              <a:t> </a:t>
            </a:r>
            <a:r>
              <a:rPr lang="es-419">
                <a:solidFill>
                  <a:schemeClr val="lt2"/>
                </a:solidFill>
              </a:rPr>
              <a:t>elimina </a:t>
            </a:r>
            <a:r>
              <a:rPr b="1" lang="es-419">
                <a:solidFill>
                  <a:srgbClr val="FFD966"/>
                </a:solidFill>
              </a:rPr>
              <a:t>todos los elementos de la lista,</a:t>
            </a:r>
            <a:r>
              <a:rPr b="1" lang="es-419">
                <a:solidFill>
                  <a:schemeClr val="lt2"/>
                </a:solidFill>
              </a:rPr>
              <a:t> </a:t>
            </a:r>
            <a:r>
              <a:rPr lang="es-419">
                <a:solidFill>
                  <a:schemeClr val="lt2"/>
                </a:solidFill>
              </a:rPr>
              <a:t>dejándola vacía.</a:t>
            </a:r>
            <a:endParaRPr>
              <a:solidFill>
                <a:schemeClr val="lt2"/>
              </a:solidFill>
            </a:endParaRPr>
          </a:p>
        </p:txBody>
      </p:sp>
      <p:pic>
        <p:nvPicPr>
          <p:cNvPr id="132" name="Google Shape;132;g2d44f28aae5_0_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2525" y="2593500"/>
            <a:ext cx="4857750" cy="165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d44f28aae5_0_54"/>
          <p:cNvSpPr txBox="1"/>
          <p:nvPr>
            <p:ph type="title"/>
          </p:nvPr>
        </p:nvSpPr>
        <p:spPr>
          <a:xfrm>
            <a:off x="311700" y="104080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Métodos de Acceso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>
                <a:solidFill>
                  <a:srgbClr val="FFD966"/>
                </a:solidFill>
              </a:rPr>
              <a:t>index</a:t>
            </a:r>
            <a:endParaRPr>
              <a:solidFill>
                <a:srgbClr val="FFD966"/>
              </a:solidFill>
            </a:endParaRPr>
          </a:p>
        </p:txBody>
      </p:sp>
      <p:sp>
        <p:nvSpPr>
          <p:cNvPr id="138" name="Google Shape;138;g2d44f28aae5_0_54"/>
          <p:cNvSpPr txBox="1"/>
          <p:nvPr>
            <p:ph idx="1" type="body"/>
          </p:nvPr>
        </p:nvSpPr>
        <p:spPr>
          <a:xfrm>
            <a:off x="311700" y="1838475"/>
            <a:ext cx="87594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419"/>
              <a:t>El método </a:t>
            </a:r>
            <a:r>
              <a:rPr b="1" lang="es-419">
                <a:solidFill>
                  <a:srgbClr val="FFD966"/>
                </a:solidFill>
              </a:rPr>
              <a:t>index</a:t>
            </a:r>
            <a:r>
              <a:rPr b="1" lang="es-419">
                <a:solidFill>
                  <a:schemeClr val="lt1"/>
                </a:solidFill>
              </a:rPr>
              <a:t> </a:t>
            </a:r>
            <a:r>
              <a:rPr lang="es-419">
                <a:solidFill>
                  <a:schemeClr val="lt2"/>
                </a:solidFill>
              </a:rPr>
              <a:t>devuelve el índice de la primera ocurrencia del elemento especificado. </a:t>
            </a:r>
            <a:endParaRPr>
              <a:solidFill>
                <a:schemeClr val="lt2"/>
              </a:solidFill>
            </a:endParaRPr>
          </a:p>
        </p:txBody>
      </p:sp>
      <p:pic>
        <p:nvPicPr>
          <p:cNvPr id="139" name="Google Shape;139;g2d44f28aae5_0_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1550" y="2615325"/>
            <a:ext cx="5219700" cy="160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d44f28aae5_0_61"/>
          <p:cNvSpPr txBox="1"/>
          <p:nvPr>
            <p:ph type="title"/>
          </p:nvPr>
        </p:nvSpPr>
        <p:spPr>
          <a:xfrm>
            <a:off x="311700" y="91350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Métodos de Acceso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>
                <a:solidFill>
                  <a:srgbClr val="FFD966"/>
                </a:solidFill>
              </a:rPr>
              <a:t>index</a:t>
            </a:r>
            <a:endParaRPr>
              <a:solidFill>
                <a:srgbClr val="FFD966"/>
              </a:solidFill>
            </a:endParaRPr>
          </a:p>
        </p:txBody>
      </p:sp>
      <p:sp>
        <p:nvSpPr>
          <p:cNvPr id="145" name="Google Shape;145;g2d44f28aae5_0_61"/>
          <p:cNvSpPr txBox="1"/>
          <p:nvPr>
            <p:ph idx="1" type="body"/>
          </p:nvPr>
        </p:nvSpPr>
        <p:spPr>
          <a:xfrm>
            <a:off x="311700" y="1860300"/>
            <a:ext cx="87594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419"/>
              <a:t>El método </a:t>
            </a:r>
            <a:r>
              <a:rPr b="1" lang="es-419">
                <a:solidFill>
                  <a:srgbClr val="FFD966"/>
                </a:solidFill>
              </a:rPr>
              <a:t>index</a:t>
            </a:r>
            <a:r>
              <a:rPr b="1" lang="es-419">
                <a:solidFill>
                  <a:schemeClr val="lt1"/>
                </a:solidFill>
              </a:rPr>
              <a:t> </a:t>
            </a:r>
            <a:r>
              <a:rPr lang="es-419">
                <a:solidFill>
                  <a:schemeClr val="lt2"/>
                </a:solidFill>
              </a:rPr>
              <a:t>tiene parámetros opcionales. </a:t>
            </a:r>
            <a:r>
              <a:rPr b="1" lang="es-419">
                <a:solidFill>
                  <a:schemeClr val="lt2"/>
                </a:solidFill>
              </a:rPr>
              <a:t>lista.index(elemento, inicio, fin).</a:t>
            </a:r>
            <a:endParaRPr b="1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419">
                <a:solidFill>
                  <a:schemeClr val="lt2"/>
                </a:solidFill>
              </a:rPr>
              <a:t>Inicio: </a:t>
            </a:r>
            <a:r>
              <a:rPr lang="es-419">
                <a:solidFill>
                  <a:schemeClr val="lt2"/>
                </a:solidFill>
              </a:rPr>
              <a:t>Desde que posición comenzar a buscar. </a:t>
            </a:r>
            <a:r>
              <a:rPr b="1" lang="es-419">
                <a:solidFill>
                  <a:schemeClr val="lt2"/>
                </a:solidFill>
              </a:rPr>
              <a:t>fin: </a:t>
            </a:r>
            <a:r>
              <a:rPr lang="es-419">
                <a:solidFill>
                  <a:schemeClr val="lt2"/>
                </a:solidFill>
              </a:rPr>
              <a:t>Hasta que posición buscar</a:t>
            </a:r>
            <a:endParaRPr>
              <a:solidFill>
                <a:schemeClr val="lt2"/>
              </a:solidFill>
            </a:endParaRPr>
          </a:p>
        </p:txBody>
      </p:sp>
      <p:pic>
        <p:nvPicPr>
          <p:cNvPr id="146" name="Google Shape;146;g2d44f28aae5_0_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4550" y="2615324"/>
            <a:ext cx="6343650" cy="158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d44f28aae5_0_68"/>
          <p:cNvSpPr txBox="1"/>
          <p:nvPr>
            <p:ph type="title"/>
          </p:nvPr>
        </p:nvSpPr>
        <p:spPr>
          <a:xfrm>
            <a:off x="311700" y="945325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Métodos de Ordenamiento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>
                <a:solidFill>
                  <a:srgbClr val="FFD966"/>
                </a:solidFill>
              </a:rPr>
              <a:t>sort</a:t>
            </a:r>
            <a:endParaRPr>
              <a:solidFill>
                <a:srgbClr val="FFD966"/>
              </a:solidFill>
            </a:endParaRPr>
          </a:p>
        </p:txBody>
      </p:sp>
      <p:sp>
        <p:nvSpPr>
          <p:cNvPr id="152" name="Google Shape;152;g2d44f28aae5_0_68"/>
          <p:cNvSpPr txBox="1"/>
          <p:nvPr>
            <p:ph idx="1" type="body"/>
          </p:nvPr>
        </p:nvSpPr>
        <p:spPr>
          <a:xfrm>
            <a:off x="311700" y="1860300"/>
            <a:ext cx="87594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419"/>
              <a:t>El método </a:t>
            </a:r>
            <a:r>
              <a:rPr b="1" lang="es-419">
                <a:solidFill>
                  <a:srgbClr val="FFD966"/>
                </a:solidFill>
              </a:rPr>
              <a:t>sort</a:t>
            </a:r>
            <a:r>
              <a:rPr b="1" lang="es-419">
                <a:solidFill>
                  <a:schemeClr val="lt1"/>
                </a:solidFill>
              </a:rPr>
              <a:t> </a:t>
            </a:r>
            <a:r>
              <a:rPr lang="es-419">
                <a:solidFill>
                  <a:schemeClr val="lt2"/>
                </a:solidFill>
              </a:rPr>
              <a:t>ordena la lista en orden ascendente.</a:t>
            </a:r>
            <a:endParaRPr>
              <a:solidFill>
                <a:schemeClr val="lt2"/>
              </a:solidFill>
            </a:endParaRPr>
          </a:p>
        </p:txBody>
      </p:sp>
      <p:pic>
        <p:nvPicPr>
          <p:cNvPr id="153" name="Google Shape;153;g2d44f28aae5_0_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8844" y="2615332"/>
            <a:ext cx="6225125" cy="158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d44f28aae5_0_75"/>
          <p:cNvSpPr txBox="1"/>
          <p:nvPr>
            <p:ph type="title"/>
          </p:nvPr>
        </p:nvSpPr>
        <p:spPr>
          <a:xfrm>
            <a:off x="311700" y="97080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Métodos de Ordenamiento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>
                <a:solidFill>
                  <a:srgbClr val="FFD966"/>
                </a:solidFill>
              </a:rPr>
              <a:t>reverse</a:t>
            </a:r>
            <a:endParaRPr>
              <a:solidFill>
                <a:srgbClr val="FFD966"/>
              </a:solidFill>
            </a:endParaRPr>
          </a:p>
        </p:txBody>
      </p:sp>
      <p:sp>
        <p:nvSpPr>
          <p:cNvPr id="159" name="Google Shape;159;g2d44f28aae5_0_75"/>
          <p:cNvSpPr txBox="1"/>
          <p:nvPr>
            <p:ph idx="1" type="body"/>
          </p:nvPr>
        </p:nvSpPr>
        <p:spPr>
          <a:xfrm>
            <a:off x="311700" y="1860300"/>
            <a:ext cx="87594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419"/>
              <a:t>El método </a:t>
            </a:r>
            <a:r>
              <a:rPr b="1" lang="es-419">
                <a:solidFill>
                  <a:srgbClr val="FFD966"/>
                </a:solidFill>
              </a:rPr>
              <a:t>reverse</a:t>
            </a:r>
            <a:r>
              <a:rPr b="1" lang="es-419">
                <a:solidFill>
                  <a:schemeClr val="lt1"/>
                </a:solidFill>
              </a:rPr>
              <a:t> </a:t>
            </a:r>
            <a:r>
              <a:rPr lang="es-419">
                <a:solidFill>
                  <a:schemeClr val="lt2"/>
                </a:solidFill>
              </a:rPr>
              <a:t>invierte el orden de los elementos de la lista</a:t>
            </a:r>
            <a:endParaRPr>
              <a:solidFill>
                <a:schemeClr val="lt2"/>
              </a:solidFill>
            </a:endParaRPr>
          </a:p>
        </p:txBody>
      </p:sp>
      <p:pic>
        <p:nvPicPr>
          <p:cNvPr id="160" name="Google Shape;160;g2d44f28aae5_0_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2525" y="2615325"/>
            <a:ext cx="4857750" cy="16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d44f28aae5_0_102"/>
          <p:cNvSpPr txBox="1"/>
          <p:nvPr>
            <p:ph type="title"/>
          </p:nvPr>
        </p:nvSpPr>
        <p:spPr>
          <a:xfrm>
            <a:off x="311700" y="926225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Otra forma de Eliminación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>
                <a:solidFill>
                  <a:srgbClr val="FFD966"/>
                </a:solidFill>
              </a:rPr>
              <a:t>del lista[índice]</a:t>
            </a:r>
            <a:endParaRPr>
              <a:solidFill>
                <a:srgbClr val="FFD966"/>
              </a:solidFill>
            </a:endParaRPr>
          </a:p>
        </p:txBody>
      </p:sp>
      <p:sp>
        <p:nvSpPr>
          <p:cNvPr id="166" name="Google Shape;166;g2d44f28aae5_0_102"/>
          <p:cNvSpPr txBox="1"/>
          <p:nvPr>
            <p:ph idx="1" type="body"/>
          </p:nvPr>
        </p:nvSpPr>
        <p:spPr>
          <a:xfrm>
            <a:off x="311700" y="1860300"/>
            <a:ext cx="87594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419"/>
              <a:t>La keyword</a:t>
            </a:r>
            <a:r>
              <a:rPr lang="es-419">
                <a:solidFill>
                  <a:srgbClr val="FFD966"/>
                </a:solidFill>
              </a:rPr>
              <a:t> </a:t>
            </a:r>
            <a:r>
              <a:rPr b="1" lang="es-419">
                <a:solidFill>
                  <a:srgbClr val="FFD966"/>
                </a:solidFill>
              </a:rPr>
              <a:t>del lista[índice]</a:t>
            </a:r>
            <a:r>
              <a:rPr b="1" lang="es-419">
                <a:solidFill>
                  <a:schemeClr val="lt1"/>
                </a:solidFill>
              </a:rPr>
              <a:t> </a:t>
            </a:r>
            <a:r>
              <a:rPr lang="es-419">
                <a:solidFill>
                  <a:schemeClr val="lt2"/>
                </a:solidFill>
              </a:rPr>
              <a:t>elimina </a:t>
            </a:r>
            <a:r>
              <a:rPr b="1" lang="es-419">
                <a:solidFill>
                  <a:srgbClr val="FFD966"/>
                </a:solidFill>
              </a:rPr>
              <a:t>el elemento de la posición indicada</a:t>
            </a:r>
            <a:r>
              <a:rPr lang="es-419">
                <a:solidFill>
                  <a:schemeClr val="lt2"/>
                </a:solidFill>
              </a:rPr>
              <a:t> usando la palabra clave del. (No es un método)</a:t>
            </a:r>
            <a:endParaRPr>
              <a:solidFill>
                <a:schemeClr val="lt2"/>
              </a:solidFill>
            </a:endParaRPr>
          </a:p>
        </p:txBody>
      </p:sp>
      <p:pic>
        <p:nvPicPr>
          <p:cNvPr id="167" name="Google Shape;167;g2d44f28aae5_0_102"/>
          <p:cNvPicPr preferRelativeResize="0"/>
          <p:nvPr/>
        </p:nvPicPr>
        <p:blipFill rotWithShape="1">
          <a:blip r:embed="rId3">
            <a:alphaModFix/>
          </a:blip>
          <a:srcRect b="0" l="2324" r="0" t="0"/>
          <a:stretch/>
        </p:blipFill>
        <p:spPr>
          <a:xfrm>
            <a:off x="2365000" y="2615325"/>
            <a:ext cx="4521575" cy="150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d44f28aae5_0_110"/>
          <p:cNvSpPr txBox="1"/>
          <p:nvPr>
            <p:ph type="title"/>
          </p:nvPr>
        </p:nvSpPr>
        <p:spPr>
          <a:xfrm>
            <a:off x="311700" y="88440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Métodos de Eliminación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>
                <a:solidFill>
                  <a:srgbClr val="FFD966"/>
                </a:solidFill>
              </a:rPr>
              <a:t>del lista[inicio: fin]</a:t>
            </a:r>
            <a:endParaRPr>
              <a:solidFill>
                <a:srgbClr val="FFD966"/>
              </a:solidFill>
            </a:endParaRPr>
          </a:p>
        </p:txBody>
      </p:sp>
      <p:sp>
        <p:nvSpPr>
          <p:cNvPr id="173" name="Google Shape;173;g2d44f28aae5_0_110"/>
          <p:cNvSpPr txBox="1"/>
          <p:nvPr>
            <p:ph idx="1" type="body"/>
          </p:nvPr>
        </p:nvSpPr>
        <p:spPr>
          <a:xfrm>
            <a:off x="311700" y="1860300"/>
            <a:ext cx="87594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419"/>
              <a:t>También se puede utilizar para eliminar </a:t>
            </a:r>
            <a:r>
              <a:rPr b="1" lang="es-419">
                <a:solidFill>
                  <a:srgbClr val="FFD966"/>
                </a:solidFill>
              </a:rPr>
              <a:t>varios elementos</a:t>
            </a:r>
            <a:r>
              <a:rPr b="1" lang="es-419"/>
              <a:t> </a:t>
            </a:r>
            <a:r>
              <a:rPr lang="es-419"/>
              <a:t>con </a:t>
            </a:r>
            <a:r>
              <a:rPr b="1" lang="es-419">
                <a:solidFill>
                  <a:srgbClr val="FFD966"/>
                </a:solidFill>
              </a:rPr>
              <a:t>slicing</a:t>
            </a:r>
            <a:r>
              <a:rPr b="1" lang="es-419"/>
              <a:t>:</a:t>
            </a:r>
            <a:endParaRPr b="1">
              <a:solidFill>
                <a:schemeClr val="lt2"/>
              </a:solidFill>
            </a:endParaRPr>
          </a:p>
        </p:txBody>
      </p:sp>
      <p:pic>
        <p:nvPicPr>
          <p:cNvPr id="174" name="Google Shape;174;g2d44f28aae5_0_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7425" y="2615325"/>
            <a:ext cx="4629150" cy="151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d44f28aae5_0_117"/>
          <p:cNvSpPr txBox="1"/>
          <p:nvPr>
            <p:ph type="title"/>
          </p:nvPr>
        </p:nvSpPr>
        <p:spPr>
          <a:xfrm>
            <a:off x="311700" y="862575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s-419"/>
              <a:t>Copiar listas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80" name="Google Shape;180;g2d44f28aae5_0_117"/>
          <p:cNvSpPr txBox="1"/>
          <p:nvPr>
            <p:ph idx="1" type="body"/>
          </p:nvPr>
        </p:nvSpPr>
        <p:spPr>
          <a:xfrm>
            <a:off x="311700" y="1891425"/>
            <a:ext cx="4583400" cy="19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s-419" sz="1729"/>
              <a:t>Recordemos que no es posible copiar una lista simplemente escribiendo </a:t>
            </a:r>
            <a:endParaRPr sz="1729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b="1" lang="es-419" sz="1729">
                <a:solidFill>
                  <a:srgbClr val="FFFF00"/>
                </a:solidFill>
              </a:rPr>
              <a:t>l</a:t>
            </a:r>
            <a:r>
              <a:rPr b="1" lang="es-419" sz="1729">
                <a:solidFill>
                  <a:srgbClr val="FFD966"/>
                </a:solidFill>
              </a:rPr>
              <a:t>ista_2 = lista_1</a:t>
            </a:r>
            <a:r>
              <a:rPr lang="es-419" sz="1729"/>
              <a:t>, que en ese caso </a:t>
            </a:r>
            <a:r>
              <a:rPr lang="es-419" sz="1729">
                <a:solidFill>
                  <a:srgbClr val="FFD966"/>
                </a:solidFill>
              </a:rPr>
              <a:t>lista_2</a:t>
            </a:r>
            <a:r>
              <a:rPr lang="es-419" sz="1729"/>
              <a:t> solo será </a:t>
            </a:r>
            <a:r>
              <a:rPr b="1" lang="es-419" sz="1729"/>
              <a:t>una referencia </a:t>
            </a:r>
            <a:r>
              <a:rPr lang="es-419" sz="1729"/>
              <a:t>a</a:t>
            </a:r>
            <a:r>
              <a:rPr lang="es-419" sz="1729">
                <a:solidFill>
                  <a:srgbClr val="FFFF00"/>
                </a:solidFill>
              </a:rPr>
              <a:t> </a:t>
            </a:r>
            <a:r>
              <a:rPr lang="es-419" sz="1729">
                <a:solidFill>
                  <a:srgbClr val="FFD966"/>
                </a:solidFill>
              </a:rPr>
              <a:t>lista_1</a:t>
            </a:r>
            <a:r>
              <a:rPr lang="es-419" sz="1729"/>
              <a:t>.</a:t>
            </a:r>
            <a:endParaRPr sz="1729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1729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b="1" lang="es-419" sz="1729"/>
              <a:t>Existen dos tipos de copias posibles:</a:t>
            </a:r>
            <a:endParaRPr b="1" sz="1729"/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30"/>
              <a:buChar char="●"/>
            </a:pPr>
            <a:r>
              <a:rPr lang="es-419" sz="1729">
                <a:solidFill>
                  <a:srgbClr val="FFD966"/>
                </a:solidFill>
              </a:rPr>
              <a:t>Superficial</a:t>
            </a:r>
            <a:r>
              <a:rPr lang="es-419" sz="1729"/>
              <a:t> (Shallow copy)</a:t>
            </a:r>
            <a:endParaRPr sz="1729"/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30"/>
              <a:buChar char="●"/>
            </a:pPr>
            <a:r>
              <a:rPr lang="es-419" sz="1729">
                <a:solidFill>
                  <a:srgbClr val="FFD966"/>
                </a:solidFill>
              </a:rPr>
              <a:t>Profunda</a:t>
            </a:r>
            <a:r>
              <a:rPr lang="es-419" sz="1729"/>
              <a:t> (deep copy)</a:t>
            </a:r>
            <a:endParaRPr sz="1729"/>
          </a:p>
        </p:txBody>
      </p:sp>
      <p:pic>
        <p:nvPicPr>
          <p:cNvPr id="181" name="Google Shape;181;g2d44f28aae5_0_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7500" y="1838475"/>
            <a:ext cx="3944100" cy="2218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d44f28aae5_0_123"/>
          <p:cNvSpPr txBox="1"/>
          <p:nvPr>
            <p:ph type="title"/>
          </p:nvPr>
        </p:nvSpPr>
        <p:spPr>
          <a:xfrm>
            <a:off x="311700" y="862575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s-419">
                <a:solidFill>
                  <a:srgbClr val="FFD966"/>
                </a:solidFill>
              </a:rPr>
              <a:t>Superficial (shallow copy)</a:t>
            </a:r>
            <a:endParaRPr>
              <a:solidFill>
                <a:srgbClr val="FFD966"/>
              </a:solidFill>
            </a:endParaRPr>
          </a:p>
        </p:txBody>
      </p:sp>
      <p:sp>
        <p:nvSpPr>
          <p:cNvPr id="187" name="Google Shape;187;g2d44f28aae5_0_123"/>
          <p:cNvSpPr txBox="1"/>
          <p:nvPr>
            <p:ph idx="1" type="body"/>
          </p:nvPr>
        </p:nvSpPr>
        <p:spPr>
          <a:xfrm>
            <a:off x="311700" y="1704600"/>
            <a:ext cx="8759400" cy="19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419" sz="2100"/>
              <a:t>Una </a:t>
            </a:r>
            <a:r>
              <a:rPr lang="es-419" sz="2100">
                <a:solidFill>
                  <a:srgbClr val="FFD966"/>
                </a:solidFill>
              </a:rPr>
              <a:t>shallow copy</a:t>
            </a:r>
            <a:r>
              <a:rPr lang="es-419" sz="2100"/>
              <a:t> (copia superficial) crea </a:t>
            </a:r>
            <a:r>
              <a:rPr lang="es-419" sz="2100">
                <a:solidFill>
                  <a:srgbClr val="FFD966"/>
                </a:solidFill>
              </a:rPr>
              <a:t>una nueva lista</a:t>
            </a:r>
            <a:r>
              <a:rPr lang="es-419" sz="2100"/>
              <a:t> que contiene referencias a los mismos elementos que la lista original. Esto significa que, si modificamos los </a:t>
            </a:r>
            <a:r>
              <a:rPr lang="es-419" sz="2100">
                <a:solidFill>
                  <a:srgbClr val="FFD966"/>
                </a:solidFill>
              </a:rPr>
              <a:t>objetos internos</a:t>
            </a:r>
            <a:r>
              <a:rPr lang="es-419" sz="2100"/>
              <a:t> de la nueva lista, los cambios se verán también en la lista original, porque ambos comparten los mismos objetos.</a:t>
            </a:r>
            <a:endParaRPr sz="2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d44f28aae5_0_130"/>
          <p:cNvSpPr txBox="1"/>
          <p:nvPr>
            <p:ph type="title"/>
          </p:nvPr>
        </p:nvSpPr>
        <p:spPr>
          <a:xfrm>
            <a:off x="1342200" y="740450"/>
            <a:ext cx="78018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>
                <a:solidFill>
                  <a:srgbClr val="FFD966"/>
                </a:solidFill>
              </a:rPr>
              <a:t>Superficial (shallow copy): Ejemplo</a:t>
            </a:r>
            <a:endParaRPr>
              <a:solidFill>
                <a:srgbClr val="FFD966"/>
              </a:solidFill>
            </a:endParaRPr>
          </a:p>
        </p:txBody>
      </p:sp>
      <p:pic>
        <p:nvPicPr>
          <p:cNvPr id="193" name="Google Shape;193;g2d44f28aae5_0_1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91425" y="1716338"/>
            <a:ext cx="5200940" cy="30002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2d44f28aae5_0_130"/>
          <p:cNvSpPr txBox="1"/>
          <p:nvPr/>
        </p:nvSpPr>
        <p:spPr>
          <a:xfrm>
            <a:off x="191500" y="1838475"/>
            <a:ext cx="35868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419" sz="18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Resultado</a:t>
            </a:r>
            <a:r>
              <a:rPr b="0" i="0" lang="es-419" sz="18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:</a:t>
            </a:r>
            <a:endParaRPr b="0" i="0" sz="1800" u="none" cap="none" strike="noStrike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419" sz="18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Ambas listas (la original y la copia) </a:t>
            </a:r>
            <a:r>
              <a:rPr i="0" lang="es-419" sz="1800" u="none" cap="none" strike="noStrike">
                <a:solidFill>
                  <a:srgbClr val="FFD966"/>
                </a:solidFill>
                <a:latin typeface="Encode Sans"/>
                <a:ea typeface="Encode Sans"/>
                <a:cs typeface="Encode Sans"/>
                <a:sym typeface="Encode Sans"/>
              </a:rPr>
              <a:t>reflejan los mismos cambios</a:t>
            </a:r>
            <a:r>
              <a:rPr b="0" i="0" lang="es-419" sz="18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 porque se realizó una </a:t>
            </a:r>
            <a:r>
              <a:rPr i="0" lang="es-419" sz="1800" u="none" cap="none" strike="noStrike">
                <a:solidFill>
                  <a:srgbClr val="FFD966"/>
                </a:solidFill>
                <a:latin typeface="Encode Sans"/>
                <a:ea typeface="Encode Sans"/>
                <a:cs typeface="Encode Sans"/>
                <a:sym typeface="Encode Sans"/>
              </a:rPr>
              <a:t>copia superficial</a:t>
            </a:r>
            <a:r>
              <a:rPr b="0" i="0" lang="es-419" sz="18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: los elementos anidados no fueron duplicados, sino que ambas listas comparten las </a:t>
            </a:r>
            <a:r>
              <a:rPr i="0" lang="es-419" sz="1800" u="none" cap="none" strike="noStrike">
                <a:solidFill>
                  <a:srgbClr val="FFD966"/>
                </a:solidFill>
                <a:latin typeface="Encode Sans"/>
                <a:ea typeface="Encode Sans"/>
                <a:cs typeface="Encode Sans"/>
                <a:sym typeface="Encode Sans"/>
              </a:rPr>
              <a:t>mismas referencias</a:t>
            </a:r>
            <a:r>
              <a:rPr b="0" i="0" lang="es-419" sz="18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.</a:t>
            </a:r>
            <a:endParaRPr b="0" i="0" sz="1800" u="none" cap="none" strike="noStrike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d44f28aae5_0_42"/>
          <p:cNvSpPr txBox="1"/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s-419">
                <a:solidFill>
                  <a:srgbClr val="FFD966"/>
                </a:solidFill>
              </a:rPr>
              <a:t>Deep Copy (Copia Profunda)</a:t>
            </a:r>
            <a:endParaRPr>
              <a:solidFill>
                <a:srgbClr val="FFD966"/>
              </a:solidFill>
            </a:endParaRPr>
          </a:p>
        </p:txBody>
      </p:sp>
      <p:sp>
        <p:nvSpPr>
          <p:cNvPr id="200" name="Google Shape;200;g2d44f28aae5_0_42"/>
          <p:cNvSpPr txBox="1"/>
          <p:nvPr>
            <p:ph idx="1" type="body"/>
          </p:nvPr>
        </p:nvSpPr>
        <p:spPr>
          <a:xfrm>
            <a:off x="311700" y="1969350"/>
            <a:ext cx="8520600" cy="26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419" sz="2400"/>
              <a:t>Una </a:t>
            </a:r>
            <a:r>
              <a:rPr lang="es-419" sz="2400">
                <a:solidFill>
                  <a:srgbClr val="FFD966"/>
                </a:solidFill>
              </a:rPr>
              <a:t>deep copy</a:t>
            </a:r>
            <a:r>
              <a:rPr b="1" lang="es-419" sz="2400"/>
              <a:t> </a:t>
            </a:r>
            <a:r>
              <a:rPr lang="es-419" sz="2400"/>
              <a:t>(copia profunda) crea una nueva lista </a:t>
            </a:r>
            <a:r>
              <a:rPr lang="es-419" sz="2400">
                <a:solidFill>
                  <a:srgbClr val="FFD966"/>
                </a:solidFill>
              </a:rPr>
              <a:t>independiente</a:t>
            </a:r>
            <a:r>
              <a:rPr lang="es-419" sz="2400"/>
              <a:t>, duplicando todos los objetos, incluso los anidados. A diferencia de la </a:t>
            </a:r>
            <a:r>
              <a:rPr lang="es-419" sz="2400">
                <a:solidFill>
                  <a:srgbClr val="FFD966"/>
                </a:solidFill>
              </a:rPr>
              <a:t>shallow copy</a:t>
            </a:r>
            <a:r>
              <a:rPr lang="es-419" sz="2400"/>
              <a:t>, en una deep copy los cambios en los elementos internos de la lista copiada </a:t>
            </a:r>
            <a:r>
              <a:rPr lang="es-419" sz="2400">
                <a:solidFill>
                  <a:srgbClr val="FFD966"/>
                </a:solidFill>
              </a:rPr>
              <a:t>no afectan a la lista original</a:t>
            </a:r>
            <a:r>
              <a:rPr b="1" lang="es-419" sz="2400"/>
              <a:t>.</a:t>
            </a:r>
            <a:endParaRPr b="1" sz="2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d44f28aae5_0_140"/>
          <p:cNvSpPr txBox="1"/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s-419">
                <a:solidFill>
                  <a:srgbClr val="FFD966"/>
                </a:solidFill>
              </a:rPr>
              <a:t>Deep Copy (Copia Profunda)</a:t>
            </a:r>
            <a:endParaRPr>
              <a:solidFill>
                <a:srgbClr val="FFD966"/>
              </a:solidFill>
            </a:endParaRPr>
          </a:p>
        </p:txBody>
      </p:sp>
      <p:sp>
        <p:nvSpPr>
          <p:cNvPr id="206" name="Google Shape;206;g2d44f28aae5_0_140"/>
          <p:cNvSpPr txBox="1"/>
          <p:nvPr>
            <p:ph idx="1" type="body"/>
          </p:nvPr>
        </p:nvSpPr>
        <p:spPr>
          <a:xfrm>
            <a:off x="311700" y="1851025"/>
            <a:ext cx="4260300" cy="26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b="1" lang="es-419" sz="2400"/>
              <a:t>Resultado</a:t>
            </a:r>
            <a:endParaRPr b="1" sz="2400"/>
          </a:p>
          <a:p>
            <a:pPr indent="-3352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 sz="2400"/>
              <a:t>deepcopy() crea una copia </a:t>
            </a:r>
            <a:r>
              <a:rPr lang="es-419" sz="2400">
                <a:solidFill>
                  <a:srgbClr val="FFD966"/>
                </a:solidFill>
              </a:rPr>
              <a:t>completamente independiente de la lista</a:t>
            </a:r>
            <a:r>
              <a:rPr lang="es-419" sz="2400"/>
              <a:t>, incluyendo los objetos anidados.</a:t>
            </a:r>
            <a:endParaRPr sz="2400"/>
          </a:p>
          <a:p>
            <a:pPr indent="-3352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 sz="2400"/>
              <a:t>En este caso, al modificar un elemento en la lista copiada, </a:t>
            </a:r>
            <a:r>
              <a:rPr lang="es-419" sz="2400">
                <a:solidFill>
                  <a:srgbClr val="FFD966"/>
                </a:solidFill>
              </a:rPr>
              <a:t>la lista original no cambia</a:t>
            </a:r>
            <a:r>
              <a:rPr lang="es-419" sz="2400"/>
              <a:t>, ya que ambos objetos son totalmente separados.</a:t>
            </a:r>
            <a:endParaRPr sz="2400"/>
          </a:p>
        </p:txBody>
      </p:sp>
      <p:pic>
        <p:nvPicPr>
          <p:cNvPr id="207" name="Google Shape;207;g2d44f28aae5_0_1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4750" y="1822775"/>
            <a:ext cx="4483800" cy="316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d44f28aae5_0_147"/>
          <p:cNvSpPr txBox="1"/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Comparación entre Shallow Copy y Deep Copy</a:t>
            </a:r>
            <a:endParaRPr/>
          </a:p>
        </p:txBody>
      </p:sp>
      <p:graphicFrame>
        <p:nvGraphicFramePr>
          <p:cNvPr id="213" name="Google Shape;213;g2d44f28aae5_0_147"/>
          <p:cNvGraphicFramePr/>
          <p:nvPr/>
        </p:nvGraphicFramePr>
        <p:xfrm>
          <a:off x="952500" y="2138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{F85FD33B-799A-4F91-B277-7E8931FB64D7}</a:tableStyleId>
              </a:tblPr>
              <a:tblGrid>
                <a:gridCol w="1702950"/>
                <a:gridCol w="3123050"/>
                <a:gridCol w="2413000"/>
              </a:tblGrid>
              <a:tr h="357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s-419" sz="1800" u="none" cap="none" strike="noStrike"/>
                        <a:t>Tipo de Copia</a:t>
                      </a:r>
                      <a:endParaRPr b="1" sz="1800" u="none" cap="none" strike="noStrike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s-419" sz="1800" u="none" cap="none" strike="noStrike"/>
                        <a:t>Descripción</a:t>
                      </a:r>
                      <a:endParaRPr b="1" sz="1800" u="none" cap="none" strike="noStrike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s-419" sz="1800" u="none" cap="none" strike="noStrike"/>
                        <a:t>Efecto de Objetos Internos</a:t>
                      </a:r>
                      <a:endParaRPr b="1" sz="1800" u="none" cap="none" strike="noStrike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55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419" sz="1800" u="none" cap="none" strike="noStrike"/>
                        <a:t>Shallow Copy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419" sz="1800" u="none" cap="none" strike="noStrike"/>
                        <a:t>Copia solo las referencias a los objetos internos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419" sz="1800" u="none" cap="none" strike="noStrike"/>
                        <a:t>Comparte los mismos objetos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55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419" sz="1800" u="none" cap="none" strike="noStrike"/>
                        <a:t>Deep Copy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419" sz="1800" u="none" cap="none" strike="noStrike"/>
                        <a:t>Crea una copia completa, duplica todos los objetos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419" sz="1800" u="none" cap="none" strike="noStrike"/>
                        <a:t>Independencia completa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d44f28aae5_0_161"/>
          <p:cNvSpPr txBox="1"/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s-419"/>
              <a:t>Función enumerate</a:t>
            </a:r>
            <a:endParaRPr/>
          </a:p>
        </p:txBody>
      </p:sp>
      <p:sp>
        <p:nvSpPr>
          <p:cNvPr id="219" name="Google Shape;219;g2d44f28aae5_0_161"/>
          <p:cNvSpPr txBox="1"/>
          <p:nvPr>
            <p:ph idx="1" type="body"/>
          </p:nvPr>
        </p:nvSpPr>
        <p:spPr>
          <a:xfrm>
            <a:off x="311700" y="1969350"/>
            <a:ext cx="8520600" cy="26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419"/>
              <a:t>La función enumerate() agrega un contador (índice) a un iterable, como una lista, devolviendo un objeto enumerado. Esto es especialmente útil cuando necesitas acceder a los índices de los elementos mientras iteras sobre ellos.</a:t>
            </a:r>
            <a:endParaRPr/>
          </a:p>
        </p:txBody>
      </p:sp>
      <p:pic>
        <p:nvPicPr>
          <p:cNvPr id="220" name="Google Shape;220;g2d44f28aae5_0_1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9288" y="3054063"/>
            <a:ext cx="4200525" cy="14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g2d44f28aae5_0_1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2275" y="3054075"/>
            <a:ext cx="4120025" cy="147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d44f28aae5_0_170"/>
          <p:cNvSpPr txBox="1"/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s-419"/>
              <a:t>Función zip</a:t>
            </a:r>
            <a:endParaRPr/>
          </a:p>
        </p:txBody>
      </p:sp>
      <p:sp>
        <p:nvSpPr>
          <p:cNvPr id="227" name="Google Shape;227;g2d44f28aae5_0_170"/>
          <p:cNvSpPr txBox="1"/>
          <p:nvPr>
            <p:ph idx="1" type="body"/>
          </p:nvPr>
        </p:nvSpPr>
        <p:spPr>
          <a:xfrm>
            <a:off x="311700" y="1969350"/>
            <a:ext cx="8520600" cy="26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419"/>
              <a:t>Permite iterar múltiples listas a la vez</a:t>
            </a:r>
            <a:endParaRPr/>
          </a:p>
        </p:txBody>
      </p:sp>
      <p:pic>
        <p:nvPicPr>
          <p:cNvPr id="228" name="Google Shape;228;g2d44f28aae5_0_1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5900" y="2462505"/>
            <a:ext cx="4162425" cy="202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g2d44f28aae5_0_1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79075" y="2487525"/>
            <a:ext cx="4053225" cy="200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d44f28aae5_0_177"/>
          <p:cNvSpPr txBox="1"/>
          <p:nvPr>
            <p:ph type="title"/>
          </p:nvPr>
        </p:nvSpPr>
        <p:spPr>
          <a:xfrm>
            <a:off x="311700" y="899950"/>
            <a:ext cx="85206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Conclusión </a:t>
            </a:r>
            <a:endParaRPr/>
          </a:p>
        </p:txBody>
      </p:sp>
      <p:sp>
        <p:nvSpPr>
          <p:cNvPr id="235" name="Google Shape;235;g2d44f28aae5_0_177"/>
          <p:cNvSpPr txBox="1"/>
          <p:nvPr>
            <p:ph idx="1" type="body"/>
          </p:nvPr>
        </p:nvSpPr>
        <p:spPr>
          <a:xfrm>
            <a:off x="311700" y="1550525"/>
            <a:ext cx="8520600" cy="30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Las listas son una </a:t>
            </a:r>
            <a:r>
              <a:rPr b="1" lang="es-419"/>
              <a:t>estructura fundamental</a:t>
            </a:r>
            <a:r>
              <a:rPr lang="es-419"/>
              <a:t> por su flexibilidad y facilidad de uso. Los métodos asociados permiten </a:t>
            </a:r>
            <a:r>
              <a:rPr b="1" lang="es-419"/>
              <a:t>manipular y gestionar</a:t>
            </a:r>
            <a:r>
              <a:rPr lang="es-419"/>
              <a:t> los elementos de forma eficiente, facilitando el trabajo con conjuntos de datos dinámicos.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7"/>
              <a:buNone/>
            </a:pPr>
            <a:r>
              <a:t/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El uso adecuado de los métodos de listas en Python permite resolver </a:t>
            </a:r>
            <a:r>
              <a:rPr b="1" lang="es-419"/>
              <a:t>problemas complejos</a:t>
            </a:r>
            <a:r>
              <a:rPr lang="es-419"/>
              <a:t> de forma eficiente y clara. Estos métodos simplifican el desarrollo de aplicaciones que manejan datos dinámicos, como inventarios, registros, listas de tareas o procesamiento de información.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7"/>
              <a:buNone/>
            </a:pPr>
            <a:r>
              <a:t/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Aprender y dominar estos métodos es fundamental para </a:t>
            </a:r>
            <a:r>
              <a:rPr b="1" lang="es-419"/>
              <a:t>mejorar la calidad del código </a:t>
            </a:r>
            <a:r>
              <a:rPr lang="es-419"/>
              <a:t>y asegurar que las soluciones sean </a:t>
            </a:r>
            <a:r>
              <a:rPr b="1" lang="es-419"/>
              <a:t>escalables y mantenibles</a:t>
            </a:r>
            <a:r>
              <a:rPr lang="es-419"/>
              <a:t> en el tiempo.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