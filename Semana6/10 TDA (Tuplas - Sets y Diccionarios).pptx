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Encode Sans"/>
      <p:regular r:id="rId29"/>
      <p:bold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Montserrat Light"/>
      <p:regular r:id="rId35"/>
      <p:bold r:id="rId36"/>
      <p:italic r:id="rId37"/>
      <p:boldItalic r:id="rId38"/>
    </p:embeddedFont>
    <p:embeddedFont>
      <p:font typeface="Encode Sans ExtraBold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9A16C8-2F48-4FF2-8245-A7673DA786A6}">
  <a:tblStyle styleId="{119A16C8-2F48-4FF2-8245-A7673DA786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Encode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font" Target="fonts/EncodeSans-bold.fntdata"/><Relationship Id="rId11" Type="http://schemas.openxmlformats.org/officeDocument/2006/relationships/slide" Target="slides/slide5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MontserratLight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37" Type="http://schemas.openxmlformats.org/officeDocument/2006/relationships/font" Target="fonts/MontserratLight-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Light-bold.fntdata"/><Relationship Id="rId17" Type="http://schemas.openxmlformats.org/officeDocument/2006/relationships/slide" Target="slides/slide11.xml"/><Relationship Id="rId39" Type="http://schemas.openxmlformats.org/officeDocument/2006/relationships/font" Target="fonts/EncodeSansExtraBold-bold.fntdata"/><Relationship Id="rId16" Type="http://schemas.openxmlformats.org/officeDocument/2006/relationships/slide" Target="slides/slide10.xml"/><Relationship Id="rId38" Type="http://schemas.openxmlformats.org/officeDocument/2006/relationships/font" Target="fonts/Montserrat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ff2e3002e6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ff2e3002e6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ea084eb55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0ea084eb55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ea084eb55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ea084eb55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ea084eb55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0ea084eb55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ea084eb55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ea084eb55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0ea084eb55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0ea084eb55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ea084eb55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ea084eb55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ea084eb55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0ea084eb55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ea084eb55_2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ea084eb55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ea084eb55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0ea084eb55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ea084eb55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ea084eb55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ea084eb55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0ea084eb55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ea084eb55_2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ea084eb55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ea084eb55_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0ea084eb55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ea084eb55_2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0ea084eb55_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ea084eb55_2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0ea084eb55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0ea084eb55_2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0ea084eb55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0ea084eb55_2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0ea084eb55_2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b="1" sz="5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b="1"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b="1" sz="4200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9125" y="4179425"/>
            <a:ext cx="5634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9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b="1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I</a:t>
            </a:r>
            <a:endParaRPr sz="18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Tipos de Datos Avanzados</a:t>
            </a:r>
            <a:endParaRPr sz="15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Germán Scarafilo - Lucas Ferrini - Alex Roberts</a:t>
            </a:r>
            <a:endParaRPr sz="8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/>
        </p:nvSpPr>
        <p:spPr>
          <a:xfrm>
            <a:off x="1872475" y="1546150"/>
            <a:ext cx="65421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17575" y="3946975"/>
            <a:ext cx="44754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9150" y="1546150"/>
            <a:ext cx="84057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3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Tipos de datos </a:t>
            </a:r>
            <a:endParaRPr b="1" i="1" sz="3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3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avanzados: Tuplas, </a:t>
            </a:r>
            <a:endParaRPr b="1" i="1" sz="3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3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sets y diccionarios</a:t>
            </a:r>
            <a:endParaRPr b="1" i="1" sz="3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1075" y="1333175"/>
            <a:ext cx="3394800" cy="32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769900" y="10379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Tuplas: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tuple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6175" y="1792225"/>
            <a:ext cx="4823400" cy="24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Las Tuplas son muy similares a las listas, son una colección de elementos ordenados e inmutables, lo que significa que no pueden ser modificadas una vez declaradas.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Las Tuplas son útiles para </a:t>
            </a: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almacenar</a:t>
            </a: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datos que no </a:t>
            </a: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deben</a:t>
            </a: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cambiar a lo largo del ciclo de vida del programa.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b="15311" l="0" r="0" t="0"/>
          <a:stretch/>
        </p:blipFill>
        <p:spPr>
          <a:xfrm>
            <a:off x="5197550" y="1958325"/>
            <a:ext cx="3710198" cy="20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Tuplas: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tuple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43850" y="1798250"/>
            <a:ext cx="8572500" cy="23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22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Características de las Tuplas:</a:t>
            </a:r>
            <a:endParaRPr b="1" i="1" sz="22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b="1" i="1"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Inmutabilidad</a:t>
            </a:r>
            <a:r>
              <a:rPr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Una vez creada, no se pueden modificar sus elementos.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b="1" i="1"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Ordenada</a:t>
            </a:r>
            <a:r>
              <a:rPr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Los elementos de una tupla están ordenados y mantienen el orden en el que se añadieron.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b="1" i="1"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Pueden contener cualquier tipo de dato</a:t>
            </a:r>
            <a:r>
              <a:rPr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Una tupla puede contener elementos de diferentes tipos de datos.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Tuplas: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tuple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249937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718425" y="1824963"/>
            <a:ext cx="3844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¿Que ocurre en el siguiente caso?</a:t>
            </a:r>
            <a:endParaRPr sz="1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675" y="2500925"/>
            <a:ext cx="672465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Tuplas: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tuple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213350" y="1746475"/>
            <a:ext cx="873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1" i="1" lang="es-419" sz="22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Desempaquetado de Tuplas:</a:t>
            </a:r>
            <a:endParaRPr b="1" i="1" sz="22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 Python, podemos asignar los elementos de una tupla a variables individuales en un solo paso (a esto se llama “desempaquetado de tuplas”).</a:t>
            </a:r>
            <a:endParaRPr sz="19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400" y="3057250"/>
            <a:ext cx="40671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Conjuntos</a:t>
            </a: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set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249937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76175" y="1792225"/>
            <a:ext cx="4823400" cy="24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Los elementos de un set son únicos, no contiene elementos duplicados.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Los set no respetan el orden que tenían al ser declarados.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Sus elementos son mutables.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b="15218" l="0" r="0" t="0"/>
          <a:stretch/>
        </p:blipFill>
        <p:spPr>
          <a:xfrm>
            <a:off x="5143500" y="1969300"/>
            <a:ext cx="3696226" cy="19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Conjuntos: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set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249937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2297050" y="1882100"/>
            <a:ext cx="5293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¿Que ocurre en el siguiente caso?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25" y="2615225"/>
            <a:ext cx="3714750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Conjuntos: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set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249937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274275" y="1746475"/>
            <a:ext cx="8671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 set también se puede crear haciendo uso de la palabra reservada </a:t>
            </a:r>
            <a:r>
              <a:rPr b="1" lang="es-419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set </a:t>
            </a:r>
            <a:r>
              <a:rPr lang="es-419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cual permite transformar cualquier objeto iterable en un </a:t>
            </a:r>
            <a:r>
              <a:rPr b="1" lang="es-419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set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3300" y="2942700"/>
            <a:ext cx="4841525" cy="113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 rotWithShape="1">
          <a:blip r:embed="rId4">
            <a:alphaModFix/>
          </a:blip>
          <a:srcRect b="0" l="0" r="0" t="27599"/>
          <a:stretch/>
        </p:blipFill>
        <p:spPr>
          <a:xfrm>
            <a:off x="322100" y="2791850"/>
            <a:ext cx="3456550" cy="192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249937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graphicFrame>
        <p:nvGraphicFramePr>
          <p:cNvPr id="139" name="Google Shape;139;p21"/>
          <p:cNvGraphicFramePr/>
          <p:nvPr/>
        </p:nvGraphicFramePr>
        <p:xfrm>
          <a:off x="190125" y="14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{119A16C8-2F48-4FF2-8245-A7673DA786A6}</a:tableStyleId>
              </a:tblPr>
              <a:tblGrid>
                <a:gridCol w="1530925"/>
                <a:gridCol w="7232825"/>
              </a:tblGrid>
              <a:tr h="3885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i="1"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add()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Agrega un elemento al set.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i="1"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remove()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Elimina un elemento específico del </a:t>
                      </a:r>
                      <a:r>
                        <a:rPr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set</a:t>
                      </a:r>
                      <a:r>
                        <a:rPr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Da error si el elemento no existe.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49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i="1"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discard()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Elimina un elemento sin dar error si el elemento no está presente.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i="1"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pop()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Elimina y devuelve un elemento aleatorio del set.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58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i="1"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clear()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Vacía el set, eliminando todos sus elementos.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58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i="1"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union()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Devuelve un nuevo set con los elementos de dos sets.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447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i="1"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intersection()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Devuelve un nuevo set con los elementos que están en ambos sets.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58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i="1"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update()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Añade varios elementos de otro set o lista al set original</a:t>
                      </a:r>
                      <a:endParaRPr sz="1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" name="Google Shape;140;p21"/>
          <p:cNvSpPr txBox="1"/>
          <p:nvPr/>
        </p:nvSpPr>
        <p:spPr>
          <a:xfrm>
            <a:off x="2887975" y="960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162225" y="960125"/>
            <a:ext cx="3063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 u="sng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Métodos más Importantes</a:t>
            </a:r>
            <a:endParaRPr b="1" sz="1800" u="sng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Diccionarios</a:t>
            </a: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dict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249937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99025" y="1699200"/>
            <a:ext cx="49989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 diccionario es una colección de elementos compuesto por una clave (key), que es única, y un valor (value). </a:t>
            </a: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Contenidos</a:t>
            </a: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entre { } llaves.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 ventaja en el uso de diccionario es que se pueden acceder a sus valores utilizando su clave en lugar de su posición en la estructura, lo cual facilita enormemente la búsqueda y manipulación de los datos.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 rotWithShape="1">
          <a:blip r:embed="rId3">
            <a:alphaModFix/>
          </a:blip>
          <a:srcRect b="14871" l="0" r="0" t="0"/>
          <a:stretch/>
        </p:blipFill>
        <p:spPr>
          <a:xfrm>
            <a:off x="5391675" y="2103125"/>
            <a:ext cx="3569098" cy="19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Diccionarios: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dict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2295500" y="1661125"/>
            <a:ext cx="80544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Existen dos forma de crear un diccionario.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Una  de las formas es utilizando -&gt; </a:t>
            </a:r>
            <a:r>
              <a:rPr b="1"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dict( ):</a:t>
            </a:r>
            <a:endParaRPr b="1" sz="19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025" y="2478050"/>
            <a:ext cx="6051949" cy="21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Diccionarios: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dict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544788" y="1639025"/>
            <a:ext cx="8054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 segunda forma es:</a:t>
            </a:r>
            <a:endParaRPr b="1" sz="19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300" y="2174050"/>
            <a:ext cx="5027425" cy="236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Diccionarios: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dict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2002200" y="1952250"/>
            <a:ext cx="5139600" cy="1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Puedes usar estos métodos para iterar diccionario en Python: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-"/>
            </a:pPr>
            <a:r>
              <a:rPr lang="es-419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keys():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-"/>
            </a:pPr>
            <a:r>
              <a:rPr lang="es-419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values():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-"/>
            </a:pPr>
            <a:r>
              <a:rPr lang="es-419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items():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Diccionarios: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dict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160275" y="1661100"/>
            <a:ext cx="8899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keys() :</a:t>
            </a:r>
            <a:endParaRPr sz="1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Utiliza el método keys() cuando solo necesitas las claves del diccionario. 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Devuelve una vista iterable de las claves. 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Útil para verificar si una clave específica existe en el diccionario.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450" y="3423150"/>
            <a:ext cx="4113082" cy="7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Diccionarios: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dict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72450" y="1661100"/>
            <a:ext cx="89991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values() :</a:t>
            </a:r>
            <a:endParaRPr sz="1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Emplea el método values() cuando solo te interesan los valores del diccionario. 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Devuelve una vista iterable de los valores. 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Útil cuando no necesitas las claves, solo los datos asociados.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463" y="3386875"/>
            <a:ext cx="4057067" cy="7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2769900" y="1045500"/>
            <a:ext cx="36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Diccionarios: </a:t>
            </a:r>
            <a:r>
              <a:rPr b="1" lang="es-419" sz="2800">
                <a:solidFill>
                  <a:srgbClr val="3AF191"/>
                </a:solidFill>
                <a:latin typeface="Roboto"/>
                <a:ea typeface="Roboto"/>
                <a:cs typeface="Roboto"/>
                <a:sym typeface="Roboto"/>
              </a:rPr>
              <a:t>dict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114275" y="1621850"/>
            <a:ext cx="88995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items():</a:t>
            </a:r>
            <a:endParaRPr sz="1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Usa items() cuando necesitas tanto las claves como los valores. 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Devuelve una vista iterable de pares clave-valor. 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Roboto"/>
              <a:buChar char="●"/>
            </a:pPr>
            <a:r>
              <a:rPr lang="es-419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Ideal para recorrer todo el diccionario y trabajar con ambos componentes. </a:t>
            </a:r>
            <a:r>
              <a:rPr lang="es-419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1" name="Google Shape;21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4938" y="3364000"/>
            <a:ext cx="4654114" cy="7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2638500" y="1007400"/>
            <a:ext cx="386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Diccionarios </a:t>
            </a:r>
            <a:r>
              <a:rPr b="1" lang="es-419" sz="2800">
                <a:solidFill>
                  <a:srgbClr val="EA9999"/>
                </a:solidFill>
                <a:latin typeface="Roboto"/>
                <a:ea typeface="Roboto"/>
                <a:cs typeface="Roboto"/>
                <a:sym typeface="Roboto"/>
              </a:rPr>
              <a:t>vs</a:t>
            </a: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Listas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220" name="Google Shape;220;p29"/>
          <p:cNvPicPr preferRelativeResize="0"/>
          <p:nvPr/>
        </p:nvPicPr>
        <p:blipFill rotWithShape="1">
          <a:blip r:embed="rId3">
            <a:alphaModFix/>
          </a:blip>
          <a:srcRect b="6453" l="0" r="0" t="6453"/>
          <a:stretch/>
        </p:blipFill>
        <p:spPr>
          <a:xfrm>
            <a:off x="628825" y="1751925"/>
            <a:ext cx="7886350" cy="286202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/>
        </p:nvSpPr>
        <p:spPr>
          <a:xfrm>
            <a:off x="2446025" y="495300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2790725" y="931188"/>
            <a:ext cx="404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Diccionarios </a:t>
            </a:r>
            <a:r>
              <a:rPr b="1" lang="es-419" sz="2800">
                <a:solidFill>
                  <a:srgbClr val="EA9999"/>
                </a:solidFill>
                <a:latin typeface="Roboto"/>
                <a:ea typeface="Roboto"/>
                <a:cs typeface="Roboto"/>
                <a:sym typeface="Roboto"/>
              </a:rPr>
              <a:t>vs</a:t>
            </a:r>
            <a:r>
              <a:rPr b="1" lang="es-419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Objetos</a:t>
            </a:r>
            <a:endParaRPr sz="2800">
              <a:solidFill>
                <a:srgbClr val="3AF191"/>
              </a:solidFill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2415525" y="21031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2446025" y="1851625"/>
            <a:ext cx="438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 b="0" l="1058" r="901" t="0"/>
          <a:stretch/>
        </p:blipFill>
        <p:spPr>
          <a:xfrm>
            <a:off x="1049500" y="1500325"/>
            <a:ext cx="7844174" cy="2276475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8575" y="3891100"/>
            <a:ext cx="1954725" cy="87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2350" y="3891101"/>
            <a:ext cx="2197071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0"/>
          <p:cNvPicPr preferRelativeResize="0"/>
          <p:nvPr/>
        </p:nvPicPr>
        <p:blipFill rotWithShape="1">
          <a:blip r:embed="rId6">
            <a:alphaModFix/>
          </a:blip>
          <a:srcRect b="18813" l="4618" r="6039" t="9706"/>
          <a:stretch/>
        </p:blipFill>
        <p:spPr>
          <a:xfrm>
            <a:off x="3864550" y="3891100"/>
            <a:ext cx="1954702" cy="8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