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Encode Sans"/>
      <p:regular r:id="rId21"/>
      <p:bold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Light"/>
      <p:regular r:id="rId27"/>
      <p:bold r:id="rId28"/>
      <p:italic r:id="rId29"/>
      <p:boldItalic r:id="rId30"/>
    </p:embeddedFont>
    <p:embeddedFont>
      <p:font typeface="Encode Sans ExtraBold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AMPNTq7+TNe/0hpN/Gr5WeT89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ncodeSans-bold.fntdata"/><Relationship Id="rId21" Type="http://schemas.openxmlformats.org/officeDocument/2006/relationships/font" Target="fonts/EncodeSans-regular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Light-bold.fntdata"/><Relationship Id="rId27" Type="http://schemas.openxmlformats.org/officeDocument/2006/relationships/font" Target="fonts/Montserrat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ncodeSansExtraBold-bold.fntdata"/><Relationship Id="rId30" Type="http://schemas.openxmlformats.org/officeDocument/2006/relationships/font" Target="fonts/Montserrat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46d5b5528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46d5b5528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6d5b552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46d5b552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 txBox="1"/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b="1" sz="5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15"/>
          <p:cNvSpPr txBox="1"/>
          <p:nvPr>
            <p:ph idx="1" type="subTitle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15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b="1"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2" type="body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/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2"/>
          <p:cNvSpPr txBox="1"/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b="1" sz="4200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idx="1" type="body"/>
          </p:nvPr>
        </p:nvSpPr>
        <p:spPr>
          <a:xfrm>
            <a:off x="49125" y="4179425"/>
            <a:ext cx="563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46" name="Google Shape;46;p23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b="0" i="0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8" name="Google Shape;8;p14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I</a:t>
            </a:r>
            <a:endParaRPr b="0" i="0" sz="18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14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Cadenas de caracteres</a:t>
            </a:r>
            <a:endParaRPr b="0" i="0" sz="15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10;p14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Rodríguez </a:t>
            </a:r>
            <a:r>
              <a:rPr b="0" i="0" lang="es-419" sz="800" u="none" cap="none" strike="noStrik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Marcos </a:t>
            </a:r>
            <a:r>
              <a:rPr b="0" i="0" lang="es-419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- Ochoa </a:t>
            </a:r>
            <a:r>
              <a:rPr b="0" i="0" lang="es-419" sz="800" u="none" cap="none" strike="noStrik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Gonzalo</a:t>
            </a:r>
            <a:endParaRPr b="0" i="0" sz="8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" name="Google Shape;11;p14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type="ctrTitle"/>
          </p:nvPr>
        </p:nvSpPr>
        <p:spPr>
          <a:xfrm>
            <a:off x="-1877062" y="2233138"/>
            <a:ext cx="8520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600"/>
              <a:t>Cadenas</a:t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600"/>
              <a:t> de </a:t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600"/>
              <a:t>caracteres</a:t>
            </a:r>
            <a:endParaRPr sz="3600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15816" l="0" r="0" t="0"/>
          <a:stretch/>
        </p:blipFill>
        <p:spPr>
          <a:xfrm>
            <a:off x="4890325" y="1976925"/>
            <a:ext cx="3740774" cy="15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1" type="subTitle"/>
          </p:nvPr>
        </p:nvSpPr>
        <p:spPr>
          <a:xfrm>
            <a:off x="1345825" y="1440275"/>
            <a:ext cx="60810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1800"/>
              <a:t>Un </a:t>
            </a:r>
            <a:r>
              <a:rPr lang="es-419" sz="1800">
                <a:solidFill>
                  <a:srgbClr val="FFD966"/>
                </a:solidFill>
              </a:rPr>
              <a:t>carácter </a:t>
            </a:r>
            <a:r>
              <a:rPr lang="es-419" sz="1800"/>
              <a:t>es una </a:t>
            </a:r>
            <a:r>
              <a:rPr lang="es-419" sz="1800">
                <a:solidFill>
                  <a:srgbClr val="FFD966"/>
                </a:solidFill>
              </a:rPr>
              <a:t>unidad de información</a:t>
            </a:r>
            <a:r>
              <a:rPr lang="es-419" sz="1800"/>
              <a:t> que corresponde a una letra, un número o un signo de puntuación.</a:t>
            </a:r>
            <a:endParaRPr sz="1800"/>
          </a:p>
        </p:txBody>
      </p:sp>
      <p:sp>
        <p:nvSpPr>
          <p:cNvPr id="64" name="Google Shape;64;p2"/>
          <p:cNvSpPr txBox="1"/>
          <p:nvPr/>
        </p:nvSpPr>
        <p:spPr>
          <a:xfrm>
            <a:off x="2536725" y="1008225"/>
            <a:ext cx="42408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-419" sz="31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¿Que es un carácter?</a:t>
            </a:r>
            <a:endParaRPr b="0" i="0" sz="31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65" name="Google Shape;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9725" y="2880591"/>
            <a:ext cx="1224297" cy="1159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6075" y="2793575"/>
            <a:ext cx="1491400" cy="141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9525" y="2952450"/>
            <a:ext cx="1159524" cy="115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59663" y="2714650"/>
            <a:ext cx="1580475" cy="149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idx="1" type="subTitle"/>
          </p:nvPr>
        </p:nvSpPr>
        <p:spPr>
          <a:xfrm>
            <a:off x="425875" y="2266528"/>
            <a:ext cx="85206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s-419" sz="1729"/>
              <a:t>Una cadena de caracteres es una </a:t>
            </a:r>
            <a:r>
              <a:rPr lang="es-419" sz="1729">
                <a:solidFill>
                  <a:srgbClr val="FFD966"/>
                </a:solidFill>
              </a:rPr>
              <a:t>secuencia </a:t>
            </a:r>
            <a:r>
              <a:rPr lang="es-419" sz="1729"/>
              <a:t>de símbolos alfanuméricos, signos de puntuación, espacios, etc. En Python se escriben </a:t>
            </a:r>
            <a:r>
              <a:rPr lang="es-419" sz="1729">
                <a:solidFill>
                  <a:srgbClr val="FFD966"/>
                </a:solidFill>
              </a:rPr>
              <a:t>entre comillas</a:t>
            </a:r>
            <a:r>
              <a:rPr lang="es-419" sz="1729"/>
              <a:t> simples (‘ ’) o dobles (“ ”). Estas cadenas pueden pensarse como </a:t>
            </a:r>
            <a:r>
              <a:rPr lang="es-419" sz="1729">
                <a:solidFill>
                  <a:srgbClr val="FFD966"/>
                </a:solidFill>
              </a:rPr>
              <a:t>listas de caracteres</a:t>
            </a:r>
            <a:r>
              <a:rPr lang="es-419" sz="1729"/>
              <a:t>, las cuales se pueden recorrer, separar, leer, etc.</a:t>
            </a:r>
            <a:endParaRPr sz="1729"/>
          </a:p>
        </p:txBody>
      </p:sp>
      <p:sp>
        <p:nvSpPr>
          <p:cNvPr id="74" name="Google Shape;74;p3"/>
          <p:cNvSpPr txBox="1"/>
          <p:nvPr/>
        </p:nvSpPr>
        <p:spPr>
          <a:xfrm>
            <a:off x="2531100" y="3437500"/>
            <a:ext cx="4081800" cy="899400"/>
          </a:xfrm>
          <a:prstGeom prst="rect">
            <a:avLst/>
          </a:prstGeom>
          <a:solidFill>
            <a:srgbClr val="1F1F1F"/>
          </a:solidFill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s-419" sz="12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cadena_uno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"Hello World"</a:t>
            </a:r>
            <a:endParaRPr b="0" i="0" sz="12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s-419" sz="12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cadena_dos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"Python es divertido!"</a:t>
            </a:r>
            <a:endParaRPr b="0" i="0" sz="12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s-419" sz="12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cadena_tres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"123 ABC abc"</a:t>
            </a:r>
            <a:endParaRPr b="0" i="0" sz="12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2036575" y="1109000"/>
            <a:ext cx="5299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-419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¿Qué es una cadena de caracteres?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6d5b5528a_0_21"/>
          <p:cNvSpPr txBox="1"/>
          <p:nvPr>
            <p:ph idx="1" type="subTitle"/>
          </p:nvPr>
        </p:nvSpPr>
        <p:spPr>
          <a:xfrm>
            <a:off x="425875" y="1706003"/>
            <a:ext cx="85206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s-419" sz="1729"/>
              <a:t>Puede darse el caso que dentro de una cadena de caracteres se requiera escribir con </a:t>
            </a:r>
            <a:r>
              <a:rPr lang="es-419" sz="1729">
                <a:solidFill>
                  <a:srgbClr val="FFD966"/>
                </a:solidFill>
              </a:rPr>
              <a:t>comillas</a:t>
            </a:r>
            <a:r>
              <a:rPr lang="es-419" sz="1729"/>
              <a:t>, pero no es tan sencillo. </a:t>
            </a:r>
            <a:endParaRPr sz="1729"/>
          </a:p>
        </p:txBody>
      </p:sp>
      <p:sp>
        <p:nvSpPr>
          <p:cNvPr id="81" name="Google Shape;81;g346d5b5528a_0_21"/>
          <p:cNvSpPr txBox="1"/>
          <p:nvPr/>
        </p:nvSpPr>
        <p:spPr>
          <a:xfrm>
            <a:off x="2410400" y="2571750"/>
            <a:ext cx="4081800" cy="377100"/>
          </a:xfrm>
          <a:prstGeom prst="rect">
            <a:avLst/>
          </a:prstGeom>
          <a:solidFill>
            <a:srgbClr val="1F1F1F"/>
          </a:solidFill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s-419" sz="12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"Hello </a:t>
            </a:r>
            <a:r>
              <a:rPr lang="es-419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es-419" sz="1250" u="none" cap="none" strike="noStrike">
                <a:solidFill>
                  <a:srgbClr val="FFFF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World</a:t>
            </a:r>
            <a:r>
              <a:rPr lang="es-419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es-419" sz="12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s-419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#❌SyntaxError</a:t>
            </a:r>
            <a:endParaRPr b="0" i="0" sz="12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g346d5b5528a_0_21"/>
          <p:cNvSpPr txBox="1"/>
          <p:nvPr/>
        </p:nvSpPr>
        <p:spPr>
          <a:xfrm>
            <a:off x="2036575" y="1109000"/>
            <a:ext cx="5299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s-419" sz="3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Comillas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g346d5b5528a_0_21"/>
          <p:cNvSpPr txBox="1"/>
          <p:nvPr>
            <p:ph idx="1" type="subTitle"/>
          </p:nvPr>
        </p:nvSpPr>
        <p:spPr>
          <a:xfrm>
            <a:off x="425875" y="2851828"/>
            <a:ext cx="85206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s-419" sz="1729"/>
              <a:t>Ya que esto causará que la cadena se considere cerrada y, en este caso, la palabra “World” esté por fuera de la misma.</a:t>
            </a:r>
            <a:endParaRPr sz="1729"/>
          </a:p>
        </p:txBody>
      </p:sp>
      <p:sp>
        <p:nvSpPr>
          <p:cNvPr id="84" name="Google Shape;84;g346d5b5528a_0_21"/>
          <p:cNvSpPr txBox="1"/>
          <p:nvPr/>
        </p:nvSpPr>
        <p:spPr>
          <a:xfrm>
            <a:off x="2410400" y="3726850"/>
            <a:ext cx="4081800" cy="638100"/>
          </a:xfrm>
          <a:prstGeom prst="rect">
            <a:avLst/>
          </a:prstGeom>
          <a:solidFill>
            <a:srgbClr val="1F1F1F"/>
          </a:solidFill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s-419" sz="12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"Hello </a:t>
            </a:r>
            <a:r>
              <a:rPr lang="es-419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‘World’</a:t>
            </a:r>
            <a:r>
              <a:rPr b="0" i="0" lang="es-419" sz="12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s-419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#✔</a:t>
            </a:r>
            <a:br>
              <a:rPr lang="es-419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419" sz="12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cadena_dos</a:t>
            </a:r>
            <a:r>
              <a:rPr lang="es-419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-419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"Hello \"World\"" #✔</a:t>
            </a:r>
            <a:endParaRPr b="0" i="0" sz="12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idx="1" type="subTitle"/>
          </p:nvPr>
        </p:nvSpPr>
        <p:spPr>
          <a:xfrm>
            <a:off x="333300" y="1770975"/>
            <a:ext cx="8477400" cy="26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Acceso a caracteres individuales -&gt; </a:t>
            </a:r>
            <a:r>
              <a:rPr lang="es-419" sz="1800">
                <a:solidFill>
                  <a:srgbClr val="FFD966"/>
                </a:solidFill>
              </a:rPr>
              <a:t>Indexación </a:t>
            </a:r>
            <a:r>
              <a:rPr lang="es-419" sz="1800">
                <a:solidFill>
                  <a:schemeClr val="lt1"/>
                </a:solidFill>
              </a:rPr>
              <a:t>[0]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Slicing (subcadenas) -&gt; </a:t>
            </a:r>
            <a:r>
              <a:rPr lang="es-419" sz="1800">
                <a:solidFill>
                  <a:srgbClr val="FFD966"/>
                </a:solidFill>
              </a:rPr>
              <a:t>[1:3] </a:t>
            </a:r>
            <a:r>
              <a:rPr b="1" baseline="30000" lang="es-419" sz="1800">
                <a:solidFill>
                  <a:schemeClr val="lt1"/>
                </a:solidFill>
              </a:rPr>
              <a:t>(py)</a:t>
            </a:r>
            <a:endParaRPr b="1" baseline="30000" sz="1800">
              <a:solidFill>
                <a:schemeClr val="lt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Longitud de la cadena -&gt; </a:t>
            </a:r>
            <a:r>
              <a:rPr lang="es-419" sz="1800">
                <a:solidFill>
                  <a:srgbClr val="FFD966"/>
                </a:solidFill>
              </a:rPr>
              <a:t>Función len()</a:t>
            </a:r>
            <a:endParaRPr sz="1800">
              <a:solidFill>
                <a:srgbClr val="FFD966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Concatenación -&gt; </a:t>
            </a:r>
            <a:r>
              <a:rPr lang="es-419" sz="1800">
                <a:solidFill>
                  <a:srgbClr val="FFD966"/>
                </a:solidFill>
              </a:rPr>
              <a:t>Operador +</a:t>
            </a:r>
            <a:r>
              <a:rPr lang="es-419" sz="1800">
                <a:solidFill>
                  <a:schemeClr val="lt1"/>
                </a:solidFill>
              </a:rPr>
              <a:t> 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Repetición de cadenas -&gt; </a:t>
            </a:r>
            <a:r>
              <a:rPr lang="es-419" sz="1800">
                <a:solidFill>
                  <a:srgbClr val="FFD966"/>
                </a:solidFill>
              </a:rPr>
              <a:t>Operador *</a:t>
            </a:r>
            <a:r>
              <a:rPr lang="es-419" sz="1800">
                <a:solidFill>
                  <a:schemeClr val="lt1"/>
                </a:solidFill>
              </a:rPr>
              <a:t> </a:t>
            </a:r>
            <a:r>
              <a:rPr b="1" baseline="30000" lang="es-419" sz="1800">
                <a:solidFill>
                  <a:schemeClr val="lt1"/>
                </a:solidFill>
              </a:rPr>
              <a:t>(py)</a:t>
            </a:r>
            <a:endParaRPr b="1" baseline="30000"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Comparación de cadenas -&gt; </a:t>
            </a:r>
            <a:r>
              <a:rPr lang="es-419" sz="1800">
                <a:solidFill>
                  <a:srgbClr val="FFD966"/>
                </a:solidFill>
              </a:rPr>
              <a:t>Operadores relacionales</a:t>
            </a:r>
            <a:r>
              <a:rPr lang="es-419" sz="1800">
                <a:solidFill>
                  <a:schemeClr val="lt1"/>
                </a:solidFill>
              </a:rPr>
              <a:t> (&lt;,&gt;,!=,==,&lt;=,&gt;=)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s-419" sz="1800">
                <a:solidFill>
                  <a:schemeClr val="lt1"/>
                </a:solidFill>
              </a:rPr>
              <a:t>Recorrido y búsqueda -&gt; </a:t>
            </a:r>
            <a:r>
              <a:rPr lang="es-419" sz="1800">
                <a:solidFill>
                  <a:srgbClr val="FFD966"/>
                </a:solidFill>
              </a:rPr>
              <a:t>For</a:t>
            </a:r>
            <a:endParaRPr sz="2900"/>
          </a:p>
        </p:txBody>
      </p:sp>
      <p:sp>
        <p:nvSpPr>
          <p:cNvPr id="90" name="Google Shape;90;p4"/>
          <p:cNvSpPr txBox="1"/>
          <p:nvPr/>
        </p:nvSpPr>
        <p:spPr>
          <a:xfrm>
            <a:off x="2232300" y="1085675"/>
            <a:ext cx="46794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-419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Operaciones básicas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idx="1" type="subTitle"/>
          </p:nvPr>
        </p:nvSpPr>
        <p:spPr>
          <a:xfrm>
            <a:off x="311700" y="18715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-419" sz="2040"/>
              <a:t>Las cadenas de caracteres tienen </a:t>
            </a:r>
            <a:r>
              <a:rPr lang="es-419" sz="2040">
                <a:solidFill>
                  <a:srgbClr val="FFD966"/>
                </a:solidFill>
              </a:rPr>
              <a:t>indexación con base 0</a:t>
            </a:r>
            <a:r>
              <a:rPr lang="es-419" sz="2040"/>
              <a:t>, como una lista, lo que quiere decir que los caracteres de la cadena tienen un </a:t>
            </a:r>
            <a:r>
              <a:rPr lang="es-419" sz="2040">
                <a:solidFill>
                  <a:srgbClr val="FFD966"/>
                </a:solidFill>
              </a:rPr>
              <a:t>índice </a:t>
            </a:r>
            <a:r>
              <a:rPr lang="es-419" sz="2040"/>
              <a:t>asignado comenzando desde el 0.</a:t>
            </a:r>
            <a:endParaRPr sz="2040"/>
          </a:p>
        </p:txBody>
      </p:sp>
      <p:sp>
        <p:nvSpPr>
          <p:cNvPr id="96" name="Google Shape;96;p5"/>
          <p:cNvSpPr txBox="1"/>
          <p:nvPr/>
        </p:nvSpPr>
        <p:spPr>
          <a:xfrm>
            <a:off x="3072000" y="3072225"/>
            <a:ext cx="3000000" cy="10824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1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1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"Cadena de caracteres"</a:t>
            </a:r>
            <a:endParaRPr b="0" i="0" sz="11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1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s-419" sz="11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s-419" sz="11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C</a:t>
            </a:r>
            <a:endParaRPr b="0" i="0" sz="11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1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s-419" sz="11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s-419" sz="11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a</a:t>
            </a:r>
            <a:endParaRPr b="0" i="0" sz="11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1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s-419" sz="11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19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r>
              <a:rPr b="0" i="0" lang="es-419" sz="11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s</a:t>
            </a:r>
            <a:endParaRPr b="0" i="0" sz="11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2820300" y="1085675"/>
            <a:ext cx="35034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-419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Indexación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idx="1" type="subTitle"/>
          </p:nvPr>
        </p:nvSpPr>
        <p:spPr>
          <a:xfrm>
            <a:off x="1062738" y="1752049"/>
            <a:ext cx="70185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s-419" sz="1620">
                <a:solidFill>
                  <a:schemeClr val="lt1"/>
                </a:solidFill>
              </a:rPr>
              <a:t>Las cadenas de caracteres son </a:t>
            </a:r>
            <a:r>
              <a:rPr lang="es-419" sz="1620">
                <a:solidFill>
                  <a:srgbClr val="FFD966"/>
                </a:solidFill>
              </a:rPr>
              <a:t>inmutables</a:t>
            </a:r>
            <a:r>
              <a:rPr lang="es-419" sz="1620">
                <a:solidFill>
                  <a:schemeClr val="lt1"/>
                </a:solidFill>
              </a:rPr>
              <a:t>, esto quiere decir que </a:t>
            </a:r>
            <a:r>
              <a:rPr lang="es-419" sz="1620">
                <a:solidFill>
                  <a:srgbClr val="FFD966"/>
                </a:solidFill>
              </a:rPr>
              <a:t>no pueden ser modificadas</a:t>
            </a:r>
            <a:r>
              <a:rPr lang="es-419" sz="1620">
                <a:solidFill>
                  <a:schemeClr val="lt1"/>
                </a:solidFill>
              </a:rPr>
              <a:t> de ninguna manera. Cualquier modificación realizada                                                                                      dentro de una cadena de caracteres </a:t>
            </a:r>
            <a:r>
              <a:rPr lang="es-419" sz="1620">
                <a:solidFill>
                  <a:srgbClr val="FFD966"/>
                </a:solidFill>
              </a:rPr>
              <a:t>arrojará una excepción.</a:t>
            </a:r>
            <a:endParaRPr sz="3100">
              <a:solidFill>
                <a:srgbClr val="FFD966"/>
              </a:solidFill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425763" y="3229550"/>
            <a:ext cx="3000000" cy="5655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"Nueva"</a:t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s-419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'C'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#Excepcion</a:t>
            </a:r>
            <a:endParaRPr b="0" i="0" sz="10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9212" y="3253525"/>
            <a:ext cx="4109025" cy="51755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" name="Google Shape;105;p6"/>
          <p:cNvSpPr/>
          <p:nvPr/>
        </p:nvSpPr>
        <p:spPr>
          <a:xfrm>
            <a:off x="3670975" y="3408350"/>
            <a:ext cx="693000" cy="20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1C232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2820300" y="1093375"/>
            <a:ext cx="35034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-419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Inmutabilidad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idx="1" type="subTitle"/>
          </p:nvPr>
        </p:nvSpPr>
        <p:spPr>
          <a:xfrm>
            <a:off x="480750" y="1707750"/>
            <a:ext cx="82602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700"/>
              <a:t>Existe una técnica llamada </a:t>
            </a:r>
            <a:r>
              <a:rPr lang="es-419" sz="1700">
                <a:solidFill>
                  <a:srgbClr val="FFD966"/>
                </a:solidFill>
              </a:rPr>
              <a:t>slicing</a:t>
            </a:r>
            <a:r>
              <a:rPr lang="es-419" sz="1700"/>
              <a:t> la cual permite </a:t>
            </a:r>
            <a:r>
              <a:rPr lang="es-419" sz="1700">
                <a:solidFill>
                  <a:srgbClr val="FFD966"/>
                </a:solidFill>
              </a:rPr>
              <a:t>separar una cadena</a:t>
            </a:r>
            <a:r>
              <a:rPr lang="es-419" sz="1700"/>
              <a:t> en partes.</a:t>
            </a:r>
            <a:endParaRPr sz="17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-419" sz="1700"/>
              <a:t>La sintaxis es </a:t>
            </a:r>
            <a:r>
              <a:rPr lang="es-419" sz="1700">
                <a:solidFill>
                  <a:srgbClr val="FFD966"/>
                </a:solidFill>
              </a:rPr>
              <a:t>[Inicio : Fin]</a:t>
            </a:r>
            <a:r>
              <a:rPr lang="es-419" sz="1700"/>
              <a:t>, el </a:t>
            </a:r>
            <a:r>
              <a:rPr lang="es-419" sz="1700">
                <a:solidFill>
                  <a:srgbClr val="FFD966"/>
                </a:solidFill>
              </a:rPr>
              <a:t>inicio es incluido</a:t>
            </a:r>
            <a:r>
              <a:rPr lang="es-419" sz="1700"/>
              <a:t> en el corte, mientras que </a:t>
            </a:r>
            <a:r>
              <a:rPr lang="es-419" sz="1700">
                <a:solidFill>
                  <a:srgbClr val="FFD966"/>
                </a:solidFill>
              </a:rPr>
              <a:t>el final no</a:t>
            </a:r>
            <a:r>
              <a:rPr lang="es-419" sz="1700"/>
              <a:t>.</a:t>
            </a:r>
            <a:endParaRPr sz="1700"/>
          </a:p>
        </p:txBody>
      </p:sp>
      <p:sp>
        <p:nvSpPr>
          <p:cNvPr id="112" name="Google Shape;112;p7"/>
          <p:cNvSpPr txBox="1"/>
          <p:nvPr/>
        </p:nvSpPr>
        <p:spPr>
          <a:xfrm>
            <a:off x="1760948" y="3047525"/>
            <a:ext cx="3570900" cy="11466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1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1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"Separar en partes"</a:t>
            </a:r>
            <a:endParaRPr b="0" i="0" sz="11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1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s-419" sz="11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s-419" sz="11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s-419" sz="11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Separar</a:t>
            </a:r>
            <a:endParaRPr b="0" i="0" sz="11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1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s-419" sz="11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s-419" sz="11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s-419" sz="11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en</a:t>
            </a:r>
            <a:endParaRPr b="0" i="0" sz="11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s-419" sz="11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1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s-419" sz="11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s-419" sz="11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b="0" i="0" lang="es-419" sz="11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r>
              <a:rPr b="0" i="0" lang="es-419" sz="11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partes</a:t>
            </a:r>
            <a:endParaRPr b="0" i="0" sz="11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2820300" y="1047175"/>
            <a:ext cx="35034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-419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Slicing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idx="1" type="subTitle"/>
          </p:nvPr>
        </p:nvSpPr>
        <p:spPr>
          <a:xfrm>
            <a:off x="594150" y="1854675"/>
            <a:ext cx="7955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1900"/>
              <a:t>Para conocer el </a:t>
            </a:r>
            <a:r>
              <a:rPr lang="es-419" sz="1900">
                <a:solidFill>
                  <a:srgbClr val="FFD966"/>
                </a:solidFill>
              </a:rPr>
              <a:t>largo de una cadena</a:t>
            </a:r>
            <a:r>
              <a:rPr lang="es-419" sz="1900"/>
              <a:t> podemos utilizar la función </a:t>
            </a:r>
            <a:r>
              <a:rPr lang="es-419" sz="1900">
                <a:solidFill>
                  <a:srgbClr val="FFD966"/>
                </a:solidFill>
              </a:rPr>
              <a:t>len.</a:t>
            </a:r>
            <a:endParaRPr sz="1900">
              <a:solidFill>
                <a:srgbClr val="FFD966"/>
              </a:solidFill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2583600" y="2842375"/>
            <a:ext cx="3976800" cy="6381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s-419" sz="12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2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"Aprendamos cadenas"</a:t>
            </a:r>
            <a:endParaRPr b="0" i="0" sz="12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s-419" sz="12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2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2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2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0" i="0" lang="es-419" sz="12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18</a:t>
            </a:r>
            <a:endParaRPr b="0" i="0" sz="12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2820300" y="1062575"/>
            <a:ext cx="35034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-419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Función len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311700" y="17236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1500"/>
              <a:t>Las cadenas son </a:t>
            </a:r>
            <a:r>
              <a:rPr lang="es-419" sz="1500">
                <a:solidFill>
                  <a:srgbClr val="FFD966"/>
                </a:solidFill>
              </a:rPr>
              <a:t>inmutables </a:t>
            </a:r>
            <a:r>
              <a:rPr lang="es-419" sz="1500"/>
              <a:t>pero pueden ser </a:t>
            </a:r>
            <a:r>
              <a:rPr lang="es-419" sz="1500">
                <a:solidFill>
                  <a:srgbClr val="FFD966"/>
                </a:solidFill>
              </a:rPr>
              <a:t>concatenadas </a:t>
            </a:r>
            <a:r>
              <a:rPr lang="es-419" sz="1500"/>
              <a:t>para formar nuevas cadenas. Es importante saber que </a:t>
            </a:r>
            <a:r>
              <a:rPr lang="es-419" sz="1500">
                <a:solidFill>
                  <a:srgbClr val="FFD966"/>
                </a:solidFill>
              </a:rPr>
              <a:t>al concatenar cadenas</a:t>
            </a:r>
            <a:r>
              <a:rPr lang="es-419" sz="1500"/>
              <a:t> se está creando una </a:t>
            </a:r>
            <a:r>
              <a:rPr lang="es-419" sz="1500">
                <a:solidFill>
                  <a:srgbClr val="FFD966"/>
                </a:solidFill>
              </a:rPr>
              <a:t>nueva variable</a:t>
            </a:r>
            <a:r>
              <a:rPr lang="es-419" sz="1500"/>
              <a:t>.</a:t>
            </a:r>
            <a:endParaRPr sz="1500"/>
          </a:p>
        </p:txBody>
      </p:sp>
      <p:sp>
        <p:nvSpPr>
          <p:cNvPr id="126" name="Google Shape;126;p9"/>
          <p:cNvSpPr txBox="1"/>
          <p:nvPr/>
        </p:nvSpPr>
        <p:spPr>
          <a:xfrm>
            <a:off x="2857125" y="2333600"/>
            <a:ext cx="2884800" cy="21009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"Que tal"</a:t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#ID: 1650653612336</a:t>
            </a:r>
            <a:endParaRPr b="0" i="0" sz="10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#Cadena: Que tal</a:t>
            </a:r>
            <a:endParaRPr b="0" i="0" sz="10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'?'</a:t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#ID: 1650653612208</a:t>
            </a:r>
            <a:endParaRPr b="0" i="0" sz="10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#Cadena: Que tal?</a:t>
            </a:r>
            <a:endParaRPr b="0" i="0" sz="1050" u="none" cap="none" strike="noStrike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2820300" y="993275"/>
            <a:ext cx="3503400" cy="5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-419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Concatenación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/>
        </p:nvSpPr>
        <p:spPr>
          <a:xfrm>
            <a:off x="2820300" y="1024075"/>
            <a:ext cx="35034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-419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Repetición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3396900" y="2743875"/>
            <a:ext cx="2463000" cy="56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"Repetir "</a:t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10"/>
          <p:cNvSpPr/>
          <p:nvPr/>
        </p:nvSpPr>
        <p:spPr>
          <a:xfrm rot="5400000">
            <a:off x="4300990" y="3699606"/>
            <a:ext cx="482400" cy="24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1C232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pic>
        <p:nvPicPr>
          <p:cNvPr id="135" name="Google Shape;1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6918" y="4288686"/>
            <a:ext cx="2463065" cy="24778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 txBox="1"/>
          <p:nvPr/>
        </p:nvSpPr>
        <p:spPr>
          <a:xfrm>
            <a:off x="1258351" y="1809450"/>
            <a:ext cx="72381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Con el operador de </a:t>
            </a:r>
            <a:r>
              <a:rPr b="0" i="0" lang="es-419" sz="1800" u="none" cap="none" strike="noStrike">
                <a:solidFill>
                  <a:srgbClr val="FFD966"/>
                </a:solidFill>
                <a:latin typeface="Encode Sans"/>
                <a:ea typeface="Encode Sans"/>
                <a:cs typeface="Encode Sans"/>
                <a:sym typeface="Encode Sans"/>
              </a:rPr>
              <a:t>multiplicación (*)</a:t>
            </a: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 podemos repetir una cadena </a:t>
            </a:r>
            <a:r>
              <a:rPr b="0" i="0" lang="es-419" sz="1800" u="none" cap="none" strike="noStrike">
                <a:solidFill>
                  <a:srgbClr val="FFD966"/>
                </a:solidFill>
                <a:latin typeface="Encode Sans"/>
                <a:ea typeface="Encode Sans"/>
                <a:cs typeface="Encode Sans"/>
                <a:sym typeface="Encode Sans"/>
              </a:rPr>
              <a:t>tantas veces como queramos.</a:t>
            </a:r>
            <a:endParaRPr b="0" i="0" sz="1800" u="none" cap="none" strike="noStrike">
              <a:solidFill>
                <a:srgbClr val="FFD966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>
            <p:ph idx="1" type="subTitle"/>
          </p:nvPr>
        </p:nvSpPr>
        <p:spPr>
          <a:xfrm>
            <a:off x="654600" y="1675050"/>
            <a:ext cx="7834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1600"/>
              <a:t>Utilizando los </a:t>
            </a:r>
            <a:r>
              <a:rPr lang="es-419" sz="1600">
                <a:solidFill>
                  <a:srgbClr val="FFD966"/>
                </a:solidFill>
              </a:rPr>
              <a:t>comparadores lógicos</a:t>
            </a:r>
            <a:r>
              <a:rPr lang="es-419" sz="1600"/>
              <a:t> (&lt;, &gt;, ==, etc) </a:t>
            </a:r>
            <a:r>
              <a:rPr lang="es-419" sz="1600">
                <a:solidFill>
                  <a:srgbClr val="FFD966"/>
                </a:solidFill>
              </a:rPr>
              <a:t>comparamos </a:t>
            </a:r>
            <a:r>
              <a:rPr lang="es-419" sz="1600"/>
              <a:t>cadenas.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1600"/>
              <a:t>Estas comparaciones trabajan lexicográficamente, es decir, se hacen basadas en los valores </a:t>
            </a:r>
            <a:r>
              <a:rPr lang="es-419" sz="1600">
                <a:solidFill>
                  <a:srgbClr val="FFD966"/>
                </a:solidFill>
              </a:rPr>
              <a:t>ASCII </a:t>
            </a:r>
            <a:r>
              <a:rPr lang="es-419" sz="1600"/>
              <a:t>de los caracteres.</a:t>
            </a:r>
            <a:endParaRPr sz="1600"/>
          </a:p>
        </p:txBody>
      </p:sp>
      <p:sp>
        <p:nvSpPr>
          <p:cNvPr id="142" name="Google Shape;142;p11"/>
          <p:cNvSpPr txBox="1"/>
          <p:nvPr/>
        </p:nvSpPr>
        <p:spPr>
          <a:xfrm>
            <a:off x="2982000" y="2872025"/>
            <a:ext cx="3180000" cy="1223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"Procesador"</a:t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"Procesador"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s-419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#True</a:t>
            </a:r>
            <a:endParaRPr b="0" i="0" sz="10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"Procesador"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s-419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#False</a:t>
            </a:r>
            <a:endParaRPr b="0" i="0" sz="10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"Mother"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s-419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#True</a:t>
            </a:r>
            <a:endParaRPr b="0" i="0" sz="10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"procesador"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s-419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#True</a:t>
            </a:r>
            <a:endParaRPr b="0" i="0" sz="10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" name="Google Shape;143;p11"/>
          <p:cNvSpPr txBox="1"/>
          <p:nvPr/>
        </p:nvSpPr>
        <p:spPr>
          <a:xfrm>
            <a:off x="2820300" y="1024075"/>
            <a:ext cx="35034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s-419" sz="3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Comparación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6d5b5528a_0_0"/>
          <p:cNvSpPr txBox="1"/>
          <p:nvPr>
            <p:ph idx="1" type="subTitle"/>
          </p:nvPr>
        </p:nvSpPr>
        <p:spPr>
          <a:xfrm>
            <a:off x="654600" y="1675050"/>
            <a:ext cx="78348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1600"/>
              <a:t>Las comparaciones entre cadenas son </a:t>
            </a:r>
            <a:r>
              <a:rPr lang="es-419" sz="1600">
                <a:solidFill>
                  <a:srgbClr val="FFD966"/>
                </a:solidFill>
              </a:rPr>
              <a:t>Case Sensitive</a:t>
            </a:r>
            <a:r>
              <a:rPr lang="es-419" sz="1600">
                <a:solidFill>
                  <a:srgbClr val="FFFFFF"/>
                </a:solidFill>
              </a:rPr>
              <a:t>, es decir, distinguirá entre mayúsculas y minúsculas.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149" name="Google Shape;149;g346d5b5528a_0_0"/>
          <p:cNvSpPr txBox="1"/>
          <p:nvPr/>
        </p:nvSpPr>
        <p:spPr>
          <a:xfrm>
            <a:off x="2673900" y="2442450"/>
            <a:ext cx="3562500" cy="56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Caracteres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caracteres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s-419" sz="1050" u="none" cap="none" strike="noStrike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s-419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050" u="none" cap="none" strike="noStrike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Google Shape;150;g346d5b5528a_0_0"/>
          <p:cNvSpPr txBox="1"/>
          <p:nvPr/>
        </p:nvSpPr>
        <p:spPr>
          <a:xfrm>
            <a:off x="2820300" y="1024075"/>
            <a:ext cx="35034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s-419" sz="3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Normalización</a:t>
            </a:r>
            <a:endParaRPr b="0" i="0" sz="31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346d5b5528a_0_0"/>
          <p:cNvSpPr txBox="1"/>
          <p:nvPr>
            <p:ph idx="1" type="subTitle"/>
          </p:nvPr>
        </p:nvSpPr>
        <p:spPr>
          <a:xfrm>
            <a:off x="654600" y="3145825"/>
            <a:ext cx="78348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1600"/>
              <a:t>Por lo cual, si se busca ignorar esa diferencia, hay que aplicar una </a:t>
            </a:r>
            <a:r>
              <a:rPr lang="es-419" sz="1600">
                <a:solidFill>
                  <a:srgbClr val="FFD966"/>
                </a:solidFill>
              </a:rPr>
              <a:t>normalización</a:t>
            </a:r>
            <a:r>
              <a:rPr lang="es-419" sz="1600">
                <a:solidFill>
                  <a:srgbClr val="FFFFFF"/>
                </a:solidFill>
              </a:rPr>
              <a:t>, llevando ambas cadenas a comparar a un mismo formato.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7576" y="1301025"/>
            <a:ext cx="4838950" cy="336255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" name="Google Shape;157;p12"/>
          <p:cNvSpPr txBox="1"/>
          <p:nvPr/>
        </p:nvSpPr>
        <p:spPr>
          <a:xfrm>
            <a:off x="243450" y="1248725"/>
            <a:ext cx="35034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419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Código ASCII</a:t>
            </a:r>
            <a:endParaRPr b="0" i="0" sz="2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8" name="Google Shape;15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075" y="2010550"/>
            <a:ext cx="3094824" cy="202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idx="1" type="subTitle"/>
          </p:nvPr>
        </p:nvSpPr>
        <p:spPr>
          <a:xfrm>
            <a:off x="311700" y="16827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1600"/>
              <a:t>Las cadenas de caracteres pueden ser </a:t>
            </a:r>
            <a:r>
              <a:rPr lang="es-419" sz="1600">
                <a:solidFill>
                  <a:srgbClr val="FFD966"/>
                </a:solidFill>
              </a:rPr>
              <a:t>recorridas </a:t>
            </a:r>
            <a:r>
              <a:rPr lang="es-419" sz="1600"/>
              <a:t>caracter por caracter, utilizando un bucle </a:t>
            </a:r>
            <a:r>
              <a:rPr lang="es-419" sz="1600">
                <a:solidFill>
                  <a:srgbClr val="FFD966"/>
                </a:solidFill>
              </a:rPr>
              <a:t>for, </a:t>
            </a:r>
            <a:r>
              <a:rPr lang="es-419" sz="1600">
                <a:solidFill>
                  <a:schemeClr val="lt1"/>
                </a:solidFill>
              </a:rPr>
              <a:t>como si fueran una </a:t>
            </a:r>
            <a:r>
              <a:rPr lang="es-419" sz="1600">
                <a:solidFill>
                  <a:srgbClr val="FFD966"/>
                </a:solidFill>
              </a:rPr>
              <a:t>lista</a:t>
            </a:r>
            <a:r>
              <a:rPr lang="es-419" sz="1600">
                <a:solidFill>
                  <a:schemeClr val="lt1"/>
                </a:solidFill>
              </a:rPr>
              <a:t>.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164" name="Google Shape;1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0500" y="2879738"/>
            <a:ext cx="457200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 txBox="1"/>
          <p:nvPr/>
        </p:nvSpPr>
        <p:spPr>
          <a:xfrm>
            <a:off x="1326075" y="3180050"/>
            <a:ext cx="2505600" cy="785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 contar"</a:t>
            </a:r>
            <a:endParaRPr b="0" i="0" sz="1050" u="none" cap="none" strike="noStrike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b="0" i="0" lang="es-419" sz="1050" u="none" cap="none" strike="noStrike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s-419" sz="1050" u="none" cap="none" strike="noStrike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)):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s-419" sz="1050" u="none" cap="none" strike="noStrike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cadena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i="0" lang="es-419" sz="1050" u="none" cap="none" strike="noStrike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0" i="0" lang="es-419" sz="1050" u="none" cap="none" strike="noStrike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1050" u="none" cap="none" strike="noStrike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4413312" y="3459500"/>
            <a:ext cx="733200" cy="22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1C232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2820300" y="1024075"/>
            <a:ext cx="35034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419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Recorrer cadenas</a:t>
            </a:r>
            <a:endParaRPr b="0" i="0" sz="2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