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Encode Sans" panose="020B0604020202020204" charset="0"/>
      <p:regular r:id="rId14"/>
      <p:bold r:id="rId15"/>
    </p:embeddedFont>
    <p:embeddedFont>
      <p:font typeface="Encode Sans ExtraBold" panose="020B0604020202020204" charset="0"/>
      <p:bold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Light" panose="00000400000000000000" pitchFamily="2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HqmoMN+bqzQEF4YdA31jnIBdp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690d3a44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4690d3a44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ubTitle" idx="1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>
            <a:spLocks noGrp="1"/>
          </p:cNvSpPr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body" idx="2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>
            <a:spLocks noGrp="1"/>
          </p:cNvSpPr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9"/>
          <p:cNvSpPr txBox="1">
            <a:spLocks noGrp="1"/>
          </p:cNvSpPr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sz="4200" b="1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>
            <a:off x="49125" y="4179425"/>
            <a:ext cx="5634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sz="1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sz="14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sz="14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sz="14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sz="14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sz="14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sz="14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sz="14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sz="14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I</a:t>
            </a:r>
            <a:endParaRPr sz="1800" b="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11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419" sz="15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Algoritmos de ordenamiento</a:t>
            </a:r>
            <a:endParaRPr sz="1500" b="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10;p11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419" sz="8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Scarafilo </a:t>
            </a:r>
            <a:r>
              <a:rPr lang="es-419" sz="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Germán</a:t>
            </a:r>
            <a:r>
              <a:rPr lang="es-419" sz="8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 Editores: Guevara Mariano, Lucchetta Giovanni.</a:t>
            </a:r>
            <a:endParaRPr sz="800" b="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Myy-eU-SWbE?feature=shared" TargetMode="External"/><Relationship Id="rId7" Type="http://schemas.openxmlformats.org/officeDocument/2006/relationships/hyperlink" Target="https://youtu.be/6GU6AGEWYJY?feature=share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ACFZn_xQcz8?feature=shared" TargetMode="External"/><Relationship Id="rId5" Type="http://schemas.openxmlformats.org/officeDocument/2006/relationships/hyperlink" Target="https://youtu.be/UrPJLhKF1jY?feature=shared" TargetMode="External"/><Relationship Id="rId4" Type="http://schemas.openxmlformats.org/officeDocument/2006/relationships/hyperlink" Target="https://youtu.be/pqZ04TT15PQ?feature=shar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-577825" y="1713750"/>
            <a:ext cx="5957700" cy="17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Algoritmos de ordenamiento</a:t>
            </a:r>
            <a:endParaRPr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15175"/>
          <a:stretch/>
        </p:blipFill>
        <p:spPr>
          <a:xfrm>
            <a:off x="4758700" y="1632327"/>
            <a:ext cx="4168150" cy="198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ctrTitle"/>
          </p:nvPr>
        </p:nvSpPr>
        <p:spPr>
          <a:xfrm>
            <a:off x="-2475925" y="1269700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/>
              <a:t>¿</a:t>
            </a:r>
            <a:r>
              <a:rPr lang="es-419" sz="4500"/>
              <a:t>Qué son?</a:t>
            </a:r>
            <a:endParaRPr sz="4500"/>
          </a:p>
        </p:txBody>
      </p:sp>
      <p:sp>
        <p:nvSpPr>
          <p:cNvPr id="64" name="Google Shape;64;p2"/>
          <p:cNvSpPr txBox="1">
            <a:spLocks noGrp="1"/>
          </p:cNvSpPr>
          <p:nvPr>
            <p:ph type="subTitle" idx="1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-419" sz="2040"/>
              <a:t>Los algoritmos de ordenamiento son un conjunto de instrucciones que buscan organizar elementos en un orden particular (criterio de ordenamiento).</a:t>
            </a:r>
            <a:endParaRPr sz="2040"/>
          </a:p>
        </p:txBody>
      </p:sp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495" y="1332175"/>
            <a:ext cx="5106055" cy="17160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ctrTitle"/>
          </p:nvPr>
        </p:nvSpPr>
        <p:spPr>
          <a:xfrm>
            <a:off x="-1476325" y="1306925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419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¿Para qué sirven?</a:t>
            </a:r>
            <a:endParaRPr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71" name="Google Shape;71;p3"/>
          <p:cNvSpPr txBox="1">
            <a:spLocks noGrp="1"/>
          </p:cNvSpPr>
          <p:nvPr>
            <p:ph type="subTitle" idx="1"/>
          </p:nvPr>
        </p:nvSpPr>
        <p:spPr>
          <a:xfrm>
            <a:off x="395250" y="26887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s-419" sz="202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 ordenamiento cumple un rol muy importante, ya sea como un fin en sí (ej. Ordenar una lista de mayor a menor) o como parte de otros procedimientos más complejos permitiendo simplificar la solución al contar con un conjunto ordenado de datos.</a:t>
            </a:r>
            <a:endParaRPr sz="202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>
            <a:spLocks noGrp="1"/>
          </p:cNvSpPr>
          <p:nvPr>
            <p:ph type="ctrTitle"/>
          </p:nvPr>
        </p:nvSpPr>
        <p:spPr>
          <a:xfrm>
            <a:off x="311700" y="662950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 sz="4500"/>
              <a:t>¿Cuántos hay?</a:t>
            </a:r>
            <a:endParaRPr sz="4500"/>
          </a:p>
        </p:txBody>
      </p:sp>
      <p:sp>
        <p:nvSpPr>
          <p:cNvPr id="77" name="Google Shape;77;p4"/>
          <p:cNvSpPr txBox="1">
            <a:spLocks noGrp="1"/>
          </p:cNvSpPr>
          <p:nvPr>
            <p:ph type="subTitle" idx="1"/>
          </p:nvPr>
        </p:nvSpPr>
        <p:spPr>
          <a:xfrm>
            <a:off x="813950" y="1904825"/>
            <a:ext cx="3303300" cy="26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20000"/>
          </a:bodyPr>
          <a:lstStyle/>
          <a:p>
            <a:pPr marL="457200" marR="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>
                <a:solidFill>
                  <a:schemeClr val="lt1"/>
                </a:solidFill>
              </a:rPr>
              <a:t>Bubble sort                    </a:t>
            </a:r>
            <a:endParaRPr sz="2000">
              <a:solidFill>
                <a:schemeClr val="lt1"/>
              </a:solidFill>
            </a:endParaRPr>
          </a:p>
          <a:p>
            <a:pPr marL="457200" marR="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>
                <a:solidFill>
                  <a:schemeClr val="lt1"/>
                </a:solidFill>
              </a:rPr>
              <a:t>Selection sort</a:t>
            </a:r>
            <a:endParaRPr sz="2000">
              <a:solidFill>
                <a:schemeClr val="lt1"/>
              </a:solidFill>
            </a:endParaRPr>
          </a:p>
          <a:p>
            <a:pPr marL="457200" marR="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>
                <a:solidFill>
                  <a:schemeClr val="lt1"/>
                </a:solidFill>
              </a:rPr>
              <a:t>Insertion sort</a:t>
            </a:r>
            <a:endParaRPr sz="2000">
              <a:solidFill>
                <a:schemeClr val="lt1"/>
              </a:solidFill>
            </a:endParaRPr>
          </a:p>
          <a:p>
            <a:pPr marL="457200" marR="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>
                <a:solidFill>
                  <a:schemeClr val="lt1"/>
                </a:solidFill>
              </a:rPr>
              <a:t>Merge sort</a:t>
            </a:r>
            <a:endParaRPr sz="2000">
              <a:solidFill>
                <a:schemeClr val="lt1"/>
              </a:solidFill>
            </a:endParaRPr>
          </a:p>
          <a:p>
            <a:pPr marL="457200" marR="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>
                <a:solidFill>
                  <a:schemeClr val="lt1"/>
                </a:solidFill>
              </a:rPr>
              <a:t>Quick sort</a:t>
            </a:r>
            <a:endParaRPr sz="8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5454825" y="216392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Heap sort</a:t>
            </a: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Counting sort</a:t>
            </a: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Radix sort</a:t>
            </a: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●"/>
            </a:pPr>
            <a:r>
              <a:rPr lang="es-419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Bucket sort</a:t>
            </a: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>
            <a:spLocks noGrp="1"/>
          </p:cNvSpPr>
          <p:nvPr>
            <p:ph type="ctrTitle"/>
          </p:nvPr>
        </p:nvSpPr>
        <p:spPr>
          <a:xfrm>
            <a:off x="1942875" y="1129175"/>
            <a:ext cx="5080200" cy="1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000"/>
              <a:buFont typeface="Arial"/>
              <a:buNone/>
            </a:pPr>
            <a:r>
              <a:rPr lang="es-419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Clasificación</a:t>
            </a:r>
            <a:endParaRPr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1"/>
          </p:nvPr>
        </p:nvSpPr>
        <p:spPr>
          <a:xfrm>
            <a:off x="108000" y="1963404"/>
            <a:ext cx="8520600" cy="23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65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419" sz="1700">
                <a:solidFill>
                  <a:schemeClr val="lt1"/>
                </a:solidFill>
              </a:rPr>
              <a:t>La cantidad de </a:t>
            </a:r>
            <a:r>
              <a:rPr lang="es-419" sz="1700" b="1">
                <a:solidFill>
                  <a:schemeClr val="lt1"/>
                </a:solidFill>
              </a:rPr>
              <a:t>intercambios</a:t>
            </a:r>
            <a:r>
              <a:rPr lang="es-419" sz="1700">
                <a:solidFill>
                  <a:schemeClr val="lt1"/>
                </a:solidFill>
              </a:rPr>
              <a:t>: esta es la cantidad de veces que el algoritmo intercambia elementos.</a:t>
            </a:r>
            <a:endParaRPr sz="1700">
              <a:solidFill>
                <a:schemeClr val="lt1"/>
              </a:solidFill>
            </a:endParaRPr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419" sz="1700">
                <a:solidFill>
                  <a:schemeClr val="lt1"/>
                </a:solidFill>
              </a:rPr>
              <a:t>El número de </a:t>
            </a:r>
            <a:r>
              <a:rPr lang="es-419" sz="1700" b="1">
                <a:solidFill>
                  <a:schemeClr val="lt1"/>
                </a:solidFill>
              </a:rPr>
              <a:t>comparaciones</a:t>
            </a:r>
            <a:r>
              <a:rPr lang="es-419" sz="1700">
                <a:solidFill>
                  <a:schemeClr val="lt1"/>
                </a:solidFill>
              </a:rPr>
              <a:t>: este es el número de veces que el algoritmo compara elementos. </a:t>
            </a:r>
            <a:endParaRPr sz="1700">
              <a:solidFill>
                <a:schemeClr val="lt1"/>
              </a:solidFill>
            </a:endParaRPr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419" sz="1700">
                <a:solidFill>
                  <a:schemeClr val="lt1"/>
                </a:solidFill>
              </a:rPr>
              <a:t>La cantidad de </a:t>
            </a:r>
            <a:r>
              <a:rPr lang="es-419" sz="1700" b="1">
                <a:solidFill>
                  <a:schemeClr val="lt1"/>
                </a:solidFill>
              </a:rPr>
              <a:t>espacio</a:t>
            </a:r>
            <a:r>
              <a:rPr lang="es-419" sz="1700">
                <a:solidFill>
                  <a:schemeClr val="lt1"/>
                </a:solidFill>
              </a:rPr>
              <a:t> adicional requerido: algunos algoritmos pueden ordenar una lista sin la necesidad de crear listas nuevas. </a:t>
            </a:r>
            <a:endParaRPr sz="1700">
              <a:solidFill>
                <a:schemeClr val="lt1"/>
              </a:solidFill>
            </a:endParaRPr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419" sz="1700">
                <a:solidFill>
                  <a:schemeClr val="lt1"/>
                </a:solidFill>
              </a:rPr>
              <a:t>Utilizan </a:t>
            </a:r>
            <a:r>
              <a:rPr lang="es-419" sz="1700" b="1">
                <a:solidFill>
                  <a:schemeClr val="lt1"/>
                </a:solidFill>
              </a:rPr>
              <a:t>recursividad</a:t>
            </a:r>
            <a:r>
              <a:rPr lang="es-419" sz="1700">
                <a:solidFill>
                  <a:schemeClr val="lt1"/>
                </a:solidFill>
              </a:rPr>
              <a:t> o no: algunos algoritmos usan técnicas recursivas y otros no.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ctrTitle"/>
          </p:nvPr>
        </p:nvSpPr>
        <p:spPr>
          <a:xfrm>
            <a:off x="1595750" y="727150"/>
            <a:ext cx="6219900" cy="1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/>
              <a:t>Bubble sort</a:t>
            </a:r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subTitle" idx="1"/>
          </p:nvPr>
        </p:nvSpPr>
        <p:spPr>
          <a:xfrm>
            <a:off x="77150" y="1824225"/>
            <a:ext cx="6754800" cy="27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25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7600"/>
              <a:t>● Se basa en recorrer el array ("realizar una pasada") un cierto número de veces, comparando pares de valores que ocupan posiciones adyacentes (0-1,1-2, ...).</a:t>
            </a:r>
            <a:endParaRPr sz="7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7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7368"/>
              <a:buNone/>
            </a:pPr>
            <a:r>
              <a:rPr lang="es-419" sz="7600"/>
              <a:t>● Si ambos datos no están ordenados, se intercambian.</a:t>
            </a:r>
            <a:endParaRPr sz="7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7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7600"/>
              <a:t>● Esta operación se repite n-1 veces, siendo n el tamaño del conjunto de datos de entrada.</a:t>
            </a:r>
            <a:endParaRPr sz="7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1950" y="2101750"/>
            <a:ext cx="2082524" cy="2082524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>
            <a:spLocks noGrp="1"/>
          </p:cNvSpPr>
          <p:nvPr>
            <p:ph type="ctrTitle"/>
          </p:nvPr>
        </p:nvSpPr>
        <p:spPr>
          <a:xfrm>
            <a:off x="311700" y="477825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/>
              <a:t>Selección</a:t>
            </a:r>
            <a:endParaRPr/>
          </a:p>
        </p:txBody>
      </p:sp>
      <p:sp>
        <p:nvSpPr>
          <p:cNvPr id="97" name="Google Shape;97;p7"/>
          <p:cNvSpPr txBox="1">
            <a:spLocks noGrp="1"/>
          </p:cNvSpPr>
          <p:nvPr>
            <p:ph type="subTitle" idx="1"/>
          </p:nvPr>
        </p:nvSpPr>
        <p:spPr>
          <a:xfrm>
            <a:off x="311700" y="2749850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800"/>
              <a:t>● Buscas el elemento más pequeño de la lista.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1800"/>
              <a:t>● Lo intercambias con el elemento ubicado en la primera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800"/>
              <a:t>posición de la lista.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800"/>
              <a:t>● Buscas el segundo elemento más pequeño de la lista.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1800"/>
              <a:t>● Lo intercambias con el elemento que ocupa la segunda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800"/>
              <a:t>posición en la lista.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1800"/>
              <a:t>● Este se proceso hasta que hayas ordenado toda la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1800"/>
              <a:t>lista.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700"/>
          </a:p>
        </p:txBody>
      </p:sp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 l="4071" t="7556" r="4236" b="3751"/>
          <a:stretch/>
        </p:blipFill>
        <p:spPr>
          <a:xfrm>
            <a:off x="7121450" y="2193825"/>
            <a:ext cx="1863900" cy="1802825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>
            <a:spLocks noGrp="1"/>
          </p:cNvSpPr>
          <p:nvPr>
            <p:ph type="ctrTitle"/>
          </p:nvPr>
        </p:nvSpPr>
        <p:spPr>
          <a:xfrm>
            <a:off x="311699" y="891557"/>
            <a:ext cx="5863069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 dirty="0"/>
              <a:t>Quick </a:t>
            </a:r>
            <a:r>
              <a:rPr lang="es-419" dirty="0" err="1"/>
              <a:t>sort</a:t>
            </a:r>
            <a:endParaRPr dirty="0"/>
          </a:p>
        </p:txBody>
      </p:sp>
      <p:sp>
        <p:nvSpPr>
          <p:cNvPr id="104" name="Google Shape;104;p8"/>
          <p:cNvSpPr txBox="1">
            <a:spLocks noGrp="1"/>
          </p:cNvSpPr>
          <p:nvPr>
            <p:ph type="subTitle" idx="1"/>
          </p:nvPr>
        </p:nvSpPr>
        <p:spPr>
          <a:xfrm>
            <a:off x="311700" y="2729675"/>
            <a:ext cx="565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700" dirty="0"/>
              <a:t>En general, este método puede ordenar una lista de datos mucho más rápido que cualquier otro método.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-419" sz="1700" dirty="0"/>
              <a:t>Se basa en la estrategia típica de "divide y vencerás": la lista a ordenar se divide en dos partes, una contendrá todos los valores menores o iguales a un cierto valor (que se suele denominar pivote) y la otra con los valores mayores que dicho valor.</a:t>
            </a:r>
            <a:endParaRPr sz="170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900" dirty="0"/>
          </a:p>
        </p:txBody>
      </p:sp>
      <p:pic>
        <p:nvPicPr>
          <p:cNvPr id="105" name="Google Shape;105;p8"/>
          <p:cNvPicPr preferRelativeResize="0"/>
          <p:nvPr/>
        </p:nvPicPr>
        <p:blipFill rotWithShape="1">
          <a:blip r:embed="rId3">
            <a:alphaModFix/>
          </a:blip>
          <a:srcRect l="11167" r="30665"/>
          <a:stretch/>
        </p:blipFill>
        <p:spPr>
          <a:xfrm>
            <a:off x="6044500" y="1510800"/>
            <a:ext cx="2659375" cy="257175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5450" y="1538538"/>
            <a:ext cx="4244201" cy="2801925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1" name="Google Shape;111;p9"/>
          <p:cNvSpPr txBox="1"/>
          <p:nvPr/>
        </p:nvSpPr>
        <p:spPr>
          <a:xfrm>
            <a:off x="145950" y="919000"/>
            <a:ext cx="43386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Pasos:</a:t>
            </a:r>
            <a:endParaRPr sz="1800" b="0" i="0" u="none" strike="noStrike" cap="non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Elegir un Pivote: </a:t>
            </a:r>
            <a:r>
              <a:rPr lang="es-419"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s</a:t>
            </a:r>
            <a:r>
              <a:rPr lang="es-419" sz="1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elecciona un elemento de la lista (puede ser el primero, el último, o un elemento aleatorio).</a:t>
            </a:r>
            <a:endParaRPr sz="1800" b="0" i="0" u="none" strike="noStrike" cap="non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Partición: </a:t>
            </a:r>
            <a:r>
              <a:rPr lang="es-419"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r</a:t>
            </a:r>
            <a:r>
              <a:rPr lang="es-419" sz="1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eorganiza la lista de modo que todos los elementos menores que el pivote queden a su izquierda y los mayores a su derecha.</a:t>
            </a:r>
            <a:endParaRPr sz="1800" b="0" i="0" u="none" strike="noStrike" cap="non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Recursividad: </a:t>
            </a:r>
            <a:r>
              <a:rPr lang="es-419"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a</a:t>
            </a:r>
            <a:r>
              <a:rPr lang="es-419" sz="1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plicar QuickSort recursivamente en las sublistas izquierda y derecha hasta que estén ordenadas.</a:t>
            </a:r>
            <a:endParaRPr sz="1800" b="0" i="0" u="none" strike="noStrike" cap="non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>
            <a:spLocks noGrp="1"/>
          </p:cNvSpPr>
          <p:nvPr>
            <p:ph type="ctrTitle"/>
          </p:nvPr>
        </p:nvSpPr>
        <p:spPr>
          <a:xfrm>
            <a:off x="311700" y="996525"/>
            <a:ext cx="8640900" cy="16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4500"/>
              <a:t>¿Cómo elegir el algoritmo correcto?</a:t>
            </a:r>
            <a:endParaRPr sz="4500"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782550" y="2495550"/>
            <a:ext cx="7578900" cy="23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Si </a:t>
            </a:r>
            <a:r>
              <a:rPr lang="es-419" sz="1800" b="1">
                <a:solidFill>
                  <a:schemeClr val="lt1"/>
                </a:solidFill>
              </a:rPr>
              <a:t>tu lista es pequeña o está casi ordenada</a:t>
            </a:r>
            <a:r>
              <a:rPr lang="es-419" sz="1800">
                <a:solidFill>
                  <a:schemeClr val="lt1"/>
                </a:solidFill>
              </a:rPr>
              <a:t>: </a:t>
            </a:r>
            <a:r>
              <a:rPr lang="es-419" sz="1800" i="1">
                <a:solidFill>
                  <a:schemeClr val="lt1"/>
                </a:solidFill>
              </a:rPr>
              <a:t>Selection Sort</a:t>
            </a:r>
            <a:r>
              <a:rPr lang="es-419" sz="1800">
                <a:solidFill>
                  <a:schemeClr val="lt1"/>
                </a:solidFill>
              </a:rPr>
              <a:t> o </a:t>
            </a:r>
            <a:r>
              <a:rPr lang="es-419" sz="1800" i="1">
                <a:solidFill>
                  <a:schemeClr val="lt1"/>
                </a:solidFill>
              </a:rPr>
              <a:t>Bubble Sort Mejorado</a:t>
            </a:r>
            <a:r>
              <a:rPr lang="es-419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Si </a:t>
            </a:r>
            <a:r>
              <a:rPr lang="es-419" sz="1800" b="1">
                <a:solidFill>
                  <a:schemeClr val="lt1"/>
                </a:solidFill>
              </a:rPr>
              <a:t>necesitás eficiencia en listas grandes y desordenadas</a:t>
            </a:r>
            <a:r>
              <a:rPr lang="es-419" sz="1800">
                <a:solidFill>
                  <a:schemeClr val="lt1"/>
                </a:solidFill>
              </a:rPr>
              <a:t>: </a:t>
            </a:r>
            <a:r>
              <a:rPr lang="es-419" sz="1800" i="1">
                <a:solidFill>
                  <a:schemeClr val="lt1"/>
                </a:solidFill>
              </a:rPr>
              <a:t>QuickSort</a:t>
            </a:r>
            <a:r>
              <a:rPr lang="es-419" sz="1800">
                <a:solidFill>
                  <a:schemeClr val="lt1"/>
                </a:solidFill>
              </a:rPr>
              <a:t> o </a:t>
            </a:r>
            <a:r>
              <a:rPr lang="es-419" sz="1800" i="1">
                <a:solidFill>
                  <a:schemeClr val="lt1"/>
                </a:solidFill>
              </a:rPr>
              <a:t>MergeSort</a:t>
            </a:r>
            <a:r>
              <a:rPr lang="es-419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Si </a:t>
            </a:r>
            <a:r>
              <a:rPr lang="es-419" sz="1800" b="1">
                <a:solidFill>
                  <a:schemeClr val="lt1"/>
                </a:solidFill>
              </a:rPr>
              <a:t>te preocupa la estabilidad</a:t>
            </a:r>
            <a:r>
              <a:rPr lang="es-419" sz="1800">
                <a:solidFill>
                  <a:schemeClr val="lt1"/>
                </a:solidFill>
              </a:rPr>
              <a:t>: </a:t>
            </a:r>
            <a:r>
              <a:rPr lang="es-419" sz="1800" i="1">
                <a:solidFill>
                  <a:schemeClr val="lt1"/>
                </a:solidFill>
              </a:rPr>
              <a:t>MergeSort</a:t>
            </a:r>
            <a:r>
              <a:rPr lang="es-419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Si </a:t>
            </a:r>
            <a:r>
              <a:rPr lang="es-419" sz="1800" b="1">
                <a:solidFill>
                  <a:schemeClr val="lt1"/>
                </a:solidFill>
              </a:rPr>
              <a:t>tenés restricciones de memoria</a:t>
            </a:r>
            <a:r>
              <a:rPr lang="es-419" sz="1800">
                <a:solidFill>
                  <a:schemeClr val="lt1"/>
                </a:solidFill>
              </a:rPr>
              <a:t>: </a:t>
            </a:r>
            <a:r>
              <a:rPr lang="es-419" sz="1800" i="1">
                <a:solidFill>
                  <a:schemeClr val="lt1"/>
                </a:solidFill>
              </a:rPr>
              <a:t>QuickSort</a:t>
            </a:r>
            <a:r>
              <a:rPr lang="es-419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sz="24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690d3a443_2_0"/>
          <p:cNvSpPr txBox="1">
            <a:spLocks noGrp="1"/>
          </p:cNvSpPr>
          <p:nvPr>
            <p:ph type="ctrTitle"/>
          </p:nvPr>
        </p:nvSpPr>
        <p:spPr>
          <a:xfrm>
            <a:off x="332700" y="1069075"/>
            <a:ext cx="86409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endParaRPr sz="45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4500"/>
              <a:t>Recursos</a:t>
            </a:r>
            <a:endParaRPr sz="4500"/>
          </a:p>
        </p:txBody>
      </p:sp>
      <p:sp>
        <p:nvSpPr>
          <p:cNvPr id="123" name="Google Shape;123;g34690d3a443_2_0"/>
          <p:cNvSpPr txBox="1">
            <a:spLocks noGrp="1"/>
          </p:cNvSpPr>
          <p:nvPr>
            <p:ph type="subTitle" idx="1"/>
          </p:nvPr>
        </p:nvSpPr>
        <p:spPr>
          <a:xfrm>
            <a:off x="73200" y="2242800"/>
            <a:ext cx="8997600" cy="29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s-419" sz="1800">
                <a:solidFill>
                  <a:srgbClr val="FFFFFF"/>
                </a:solidFill>
              </a:rPr>
              <a:t> </a:t>
            </a:r>
            <a:r>
              <a:rPr lang="es-419" sz="1800" i="1">
                <a:solidFill>
                  <a:srgbClr val="FFFFFF"/>
                </a:solidFill>
              </a:rPr>
              <a:t>Selection Sort</a:t>
            </a:r>
            <a:r>
              <a:rPr lang="es-419" sz="1800">
                <a:solidFill>
                  <a:srgbClr val="FFFFFF"/>
                </a:solidFill>
              </a:rPr>
              <a:t>  </a:t>
            </a:r>
            <a:r>
              <a:rPr lang="es-419" sz="1800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https://youtu.be/Myy-eU-SWbE?feature=shared</a:t>
            </a:r>
            <a:endParaRPr sz="1800">
              <a:solidFill>
                <a:srgbClr val="FFFFFF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s-419" sz="1800" i="1">
                <a:solidFill>
                  <a:srgbClr val="FFFFFF"/>
                </a:solidFill>
              </a:rPr>
              <a:t>Bubble Sort Mejorado</a:t>
            </a:r>
            <a:r>
              <a:rPr lang="es-419" sz="1800">
                <a:solidFill>
                  <a:srgbClr val="FFFFFF"/>
                </a:solidFill>
              </a:rPr>
              <a:t> </a:t>
            </a:r>
            <a:r>
              <a:rPr lang="es-419" sz="1800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https://youtu.be/pqZ04TT15PQ?feature=shared</a:t>
            </a:r>
            <a:endParaRPr sz="1800">
              <a:solidFill>
                <a:srgbClr val="FFFFFF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s-419" sz="1800" i="1">
                <a:solidFill>
                  <a:srgbClr val="FFFFFF"/>
                </a:solidFill>
              </a:rPr>
              <a:t>QuickSort</a:t>
            </a:r>
            <a:r>
              <a:rPr lang="es-419" sz="1800">
                <a:solidFill>
                  <a:srgbClr val="FFFFFF"/>
                </a:solidFill>
              </a:rPr>
              <a:t>  </a:t>
            </a:r>
            <a:r>
              <a:rPr lang="es-419" sz="1800" u="sng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https://youtu.be/UrPJLhKF1jY?feature=shared</a:t>
            </a:r>
            <a:endParaRPr sz="1800">
              <a:solidFill>
                <a:srgbClr val="FFFFFF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s-419" sz="1800" i="1">
                <a:solidFill>
                  <a:srgbClr val="FFFFFF"/>
                </a:solidFill>
              </a:rPr>
              <a:t>MergeSort  </a:t>
            </a:r>
            <a:r>
              <a:rPr lang="es-419" sz="1800" i="1" u="sng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https://youtu.be/ACFZn_xQcz8?feature=shared</a:t>
            </a:r>
            <a:endParaRPr sz="1800" i="1">
              <a:solidFill>
                <a:srgbClr val="FFFFFF"/>
              </a:solidFill>
            </a:endParaRPr>
          </a:p>
          <a:p>
            <a:pPr marL="4572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s-419" sz="2000">
                <a:solidFill>
                  <a:srgbClr val="FFFFFF"/>
                </a:solidFill>
              </a:rPr>
              <a:t>Insertion sort </a:t>
            </a:r>
            <a:r>
              <a:rPr lang="es-419" sz="2000" u="sng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https://youtu.be/6GU6AGEWYJY?feature=shared</a:t>
            </a:r>
            <a:endParaRPr sz="2000">
              <a:solidFill>
                <a:srgbClr val="FFFFFF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      </a:t>
            </a:r>
            <a:endParaRPr sz="1800" i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sz="24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PresentationFormat>Presentación en pantalla (16:9)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Roboto</vt:lpstr>
      <vt:lpstr>Arial</vt:lpstr>
      <vt:lpstr>Encode Sans ExtraBold</vt:lpstr>
      <vt:lpstr>Montserrat</vt:lpstr>
      <vt:lpstr>Encode Sans</vt:lpstr>
      <vt:lpstr>Montserrat Light</vt:lpstr>
      <vt:lpstr>Simple Light</vt:lpstr>
      <vt:lpstr>Algoritmos de ordenamiento</vt:lpstr>
      <vt:lpstr>¿Qué son?</vt:lpstr>
      <vt:lpstr>¿Para qué sirven? </vt:lpstr>
      <vt:lpstr>¿Cuántos hay?</vt:lpstr>
      <vt:lpstr>Clasificación </vt:lpstr>
      <vt:lpstr>Bubble sort</vt:lpstr>
      <vt:lpstr>Selección</vt:lpstr>
      <vt:lpstr>Quick sort</vt:lpstr>
      <vt:lpstr>Presentación de PowerPoint</vt:lpstr>
      <vt:lpstr>¿Cómo elegir el algoritmo correcto?</vt:lpstr>
      <vt:lpstr> Recursos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Emanuel Tevez</cp:lastModifiedBy>
  <cp:revision>1</cp:revision>
  <dcterms:modified xsi:type="dcterms:W3CDTF">2025-09-23T22:13:07Z</dcterms:modified>
</cp:coreProperties>
</file>